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Lst>
  <p:notesMasterIdLst>
    <p:notesMasterId r:id="rId78"/>
  </p:notesMasterIdLst>
  <p:sldIdLst>
    <p:sldId id="256" r:id="rId2"/>
    <p:sldId id="257" r:id="rId3"/>
    <p:sldId id="258" r:id="rId4"/>
    <p:sldId id="259"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328" r:id="rId20"/>
    <p:sldId id="275" r:id="rId21"/>
    <p:sldId id="276" r:id="rId22"/>
    <p:sldId id="277" r:id="rId23"/>
    <p:sldId id="278" r:id="rId24"/>
    <p:sldId id="279" r:id="rId25"/>
    <p:sldId id="280" r:id="rId26"/>
    <p:sldId id="281" r:id="rId27"/>
    <p:sldId id="329" r:id="rId28"/>
    <p:sldId id="330" r:id="rId29"/>
    <p:sldId id="282"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33" r:id="rId52"/>
    <p:sldId id="305" r:id="rId53"/>
    <p:sldId id="306" r:id="rId54"/>
    <p:sldId id="307" r:id="rId55"/>
    <p:sldId id="334" r:id="rId56"/>
    <p:sldId id="335" r:id="rId57"/>
    <p:sldId id="336" r:id="rId58"/>
    <p:sldId id="331" r:id="rId59"/>
    <p:sldId id="332" r:id="rId60"/>
    <p:sldId id="337" r:id="rId61"/>
    <p:sldId id="338" r:id="rId62"/>
    <p:sldId id="339" r:id="rId63"/>
    <p:sldId id="340"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9" d="100"/>
          <a:sy n="69" d="100"/>
        </p:scale>
        <p:origin x="56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notesMaster" Target="notesMasters/notesMaster1.xml"/><Relationship Id="rId8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AE14D29-057C-4B2B-B3A7-628ABB9CC47B}" type="datetimeFigureOut">
              <a:rPr lang="en-IN" smtClean="0"/>
              <a:t>30-07-2026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365226D-8D0E-4D8A-9429-87C7ACAC9A99}" type="slidenum">
              <a:rPr lang="en-IN" smtClean="0"/>
              <a:t>‹#›</a:t>
            </a:fld>
            <a:endParaRPr lang="en-IN"/>
          </a:p>
        </p:txBody>
      </p:sp>
    </p:spTree>
    <p:extLst>
      <p:ext uri="{BB962C8B-B14F-4D97-AF65-F5344CB8AC3E}">
        <p14:creationId xmlns:p14="http://schemas.microsoft.com/office/powerpoint/2010/main" val="37392482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a:extLst>
              <a:ext uri="{FF2B5EF4-FFF2-40B4-BE49-F238E27FC236}">
                <a16:creationId xmlns="" xmlns:a16="http://schemas.microsoft.com/office/drawing/2014/main" id="{C3264286-007E-4E18-8CE0-BCAC4E2B2D20}"/>
              </a:ext>
            </a:extLst>
          </p:cNvPr>
          <p:cNvSpPr>
            <a:spLocks noGrp="1" noRot="1" noChangeAspect="1" noChangeArrowheads="1" noTextEdit="1"/>
          </p:cNvSpPr>
          <p:nvPr>
            <p:ph type="sldImg"/>
          </p:nvPr>
        </p:nvSpPr>
        <p:spPr>
          <a:xfrm>
            <a:off x="342900" y="696913"/>
            <a:ext cx="6197600" cy="3486150"/>
          </a:xfrm>
          <a:ln/>
        </p:spPr>
      </p:sp>
      <p:sp>
        <p:nvSpPr>
          <p:cNvPr id="92163" name="Rectangle 3">
            <a:extLst>
              <a:ext uri="{FF2B5EF4-FFF2-40B4-BE49-F238E27FC236}">
                <a16:creationId xmlns="" xmlns:a16="http://schemas.microsoft.com/office/drawing/2014/main" id="{E1547EDC-9501-4193-B8FF-59FE15214416}"/>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6117727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a:extLst>
              <a:ext uri="{FF2B5EF4-FFF2-40B4-BE49-F238E27FC236}">
                <a16:creationId xmlns="" xmlns:a16="http://schemas.microsoft.com/office/drawing/2014/main" id="{BB1AB2A8-1CF1-4F95-A4F8-E07203769F9B}"/>
              </a:ext>
            </a:extLst>
          </p:cNvPr>
          <p:cNvSpPr>
            <a:spLocks noGrp="1" noRot="1" noChangeAspect="1" noChangeArrowheads="1" noTextEdit="1"/>
          </p:cNvSpPr>
          <p:nvPr>
            <p:ph type="sldImg"/>
          </p:nvPr>
        </p:nvSpPr>
        <p:spPr>
          <a:xfrm>
            <a:off x="342900" y="696913"/>
            <a:ext cx="6197600" cy="3486150"/>
          </a:xfrm>
          <a:ln/>
        </p:spPr>
      </p:sp>
      <p:sp>
        <p:nvSpPr>
          <p:cNvPr id="93187" name="Rectangle 3">
            <a:extLst>
              <a:ext uri="{FF2B5EF4-FFF2-40B4-BE49-F238E27FC236}">
                <a16:creationId xmlns="" xmlns:a16="http://schemas.microsoft.com/office/drawing/2014/main" id="{85216539-5ED1-4510-BD76-02D46495544E}"/>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3531118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a:extLst>
              <a:ext uri="{FF2B5EF4-FFF2-40B4-BE49-F238E27FC236}">
                <a16:creationId xmlns="" xmlns:a16="http://schemas.microsoft.com/office/drawing/2014/main" id="{682F96FB-6840-48C5-8056-D3BF1E770F7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Calibri" panose="020F0502020204030204" pitchFamily="34" charset="0"/>
              </a:defRPr>
            </a:lvl1pPr>
            <a:lvl2pPr marL="742950" indent="-285750" defTabSz="923925">
              <a:defRPr>
                <a:solidFill>
                  <a:schemeClr val="tx1"/>
                </a:solidFill>
                <a:latin typeface="Calibri" panose="020F0502020204030204" pitchFamily="34" charset="0"/>
              </a:defRPr>
            </a:lvl2pPr>
            <a:lvl3pPr marL="1143000" indent="-228600" defTabSz="923925">
              <a:defRPr>
                <a:solidFill>
                  <a:schemeClr val="tx1"/>
                </a:solidFill>
                <a:latin typeface="Calibri" panose="020F0502020204030204" pitchFamily="34" charset="0"/>
              </a:defRPr>
            </a:lvl3pPr>
            <a:lvl4pPr marL="1600200" indent="-228600" defTabSz="923925">
              <a:defRPr>
                <a:solidFill>
                  <a:schemeClr val="tx1"/>
                </a:solidFill>
                <a:latin typeface="Calibri" panose="020F0502020204030204" pitchFamily="34" charset="0"/>
              </a:defRPr>
            </a:lvl4pPr>
            <a:lvl5pPr marL="2057400" indent="-228600" defTabSz="923925">
              <a:defRPr>
                <a:solidFill>
                  <a:schemeClr val="tx1"/>
                </a:solidFill>
                <a:latin typeface="Calibri" panose="020F0502020204030204" pitchFamily="34" charset="0"/>
              </a:defRPr>
            </a:lvl5pPr>
            <a:lvl6pPr marL="2514600" indent="-228600" defTabSz="923925" fontAlgn="base">
              <a:spcBef>
                <a:spcPct val="0"/>
              </a:spcBef>
              <a:spcAft>
                <a:spcPct val="0"/>
              </a:spcAft>
              <a:defRPr>
                <a:solidFill>
                  <a:schemeClr val="tx1"/>
                </a:solidFill>
                <a:latin typeface="Calibri" panose="020F0502020204030204" pitchFamily="34" charset="0"/>
              </a:defRPr>
            </a:lvl6pPr>
            <a:lvl7pPr marL="2971800" indent="-228600" defTabSz="923925" fontAlgn="base">
              <a:spcBef>
                <a:spcPct val="0"/>
              </a:spcBef>
              <a:spcAft>
                <a:spcPct val="0"/>
              </a:spcAft>
              <a:defRPr>
                <a:solidFill>
                  <a:schemeClr val="tx1"/>
                </a:solidFill>
                <a:latin typeface="Calibri" panose="020F0502020204030204" pitchFamily="34" charset="0"/>
              </a:defRPr>
            </a:lvl7pPr>
            <a:lvl8pPr marL="3429000" indent="-228600" defTabSz="923925" fontAlgn="base">
              <a:spcBef>
                <a:spcPct val="0"/>
              </a:spcBef>
              <a:spcAft>
                <a:spcPct val="0"/>
              </a:spcAft>
              <a:defRPr>
                <a:solidFill>
                  <a:schemeClr val="tx1"/>
                </a:solidFill>
                <a:latin typeface="Calibri" panose="020F0502020204030204" pitchFamily="34" charset="0"/>
              </a:defRPr>
            </a:lvl8pPr>
            <a:lvl9pPr marL="3886200" indent="-228600" defTabSz="923925"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5119568F-FC41-4B6C-B6DD-5B85E009D51E}" type="slidenum">
              <a:rPr lang="en-US" altLang="en-US">
                <a:latin typeface="Times New Roman" panose="02020603050405020304" pitchFamily="18" charset="0"/>
                <a:ea typeface="MS PGothic" panose="020B0600070205080204" pitchFamily="34" charset="-128"/>
              </a:rPr>
              <a:pPr fontAlgn="base">
                <a:spcBef>
                  <a:spcPct val="0"/>
                </a:spcBef>
                <a:spcAft>
                  <a:spcPct val="0"/>
                </a:spcAft>
              </a:pPr>
              <a:t>64</a:t>
            </a:fld>
            <a:endParaRPr lang="en-US" altLang="en-US">
              <a:latin typeface="Times New Roman" panose="02020603050405020304" pitchFamily="18" charset="0"/>
              <a:ea typeface="MS PGothic" panose="020B0600070205080204" pitchFamily="34" charset="-128"/>
            </a:endParaRPr>
          </a:p>
        </p:txBody>
      </p:sp>
      <p:sp>
        <p:nvSpPr>
          <p:cNvPr id="7171" name="Rectangle 2">
            <a:extLst>
              <a:ext uri="{FF2B5EF4-FFF2-40B4-BE49-F238E27FC236}">
                <a16:creationId xmlns="" xmlns:a16="http://schemas.microsoft.com/office/drawing/2014/main" id="{F664AD6B-D8A9-4ABD-8B84-AEA7F4155721}"/>
              </a:ext>
            </a:extLst>
          </p:cNvPr>
          <p:cNvSpPr>
            <a:spLocks noGrp="1" noRot="1" noChangeAspect="1" noChangeArrowheads="1" noTextEdit="1"/>
          </p:cNvSpPr>
          <p:nvPr>
            <p:ph type="sldImg"/>
          </p:nvPr>
        </p:nvSpPr>
        <p:spPr>
          <a:ln/>
        </p:spPr>
      </p:sp>
      <p:sp>
        <p:nvSpPr>
          <p:cNvPr id="7172" name="Rectangle 3">
            <a:extLst>
              <a:ext uri="{FF2B5EF4-FFF2-40B4-BE49-F238E27FC236}">
                <a16:creationId xmlns="" xmlns:a16="http://schemas.microsoft.com/office/drawing/2014/main" id="{5DA9E817-FE25-495D-81E1-5A00DEBC654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395232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a:extLst>
              <a:ext uri="{FF2B5EF4-FFF2-40B4-BE49-F238E27FC236}">
                <a16:creationId xmlns="" xmlns:a16="http://schemas.microsoft.com/office/drawing/2014/main" id="{352284AA-E818-4468-94B7-A770C366D14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Calibri" panose="020F0502020204030204" pitchFamily="34" charset="0"/>
              </a:defRPr>
            </a:lvl1pPr>
            <a:lvl2pPr marL="742950" indent="-285750" defTabSz="923925">
              <a:defRPr>
                <a:solidFill>
                  <a:schemeClr val="tx1"/>
                </a:solidFill>
                <a:latin typeface="Calibri" panose="020F0502020204030204" pitchFamily="34" charset="0"/>
              </a:defRPr>
            </a:lvl2pPr>
            <a:lvl3pPr marL="1143000" indent="-228600" defTabSz="923925">
              <a:defRPr>
                <a:solidFill>
                  <a:schemeClr val="tx1"/>
                </a:solidFill>
                <a:latin typeface="Calibri" panose="020F0502020204030204" pitchFamily="34" charset="0"/>
              </a:defRPr>
            </a:lvl3pPr>
            <a:lvl4pPr marL="1600200" indent="-228600" defTabSz="923925">
              <a:defRPr>
                <a:solidFill>
                  <a:schemeClr val="tx1"/>
                </a:solidFill>
                <a:latin typeface="Calibri" panose="020F0502020204030204" pitchFamily="34" charset="0"/>
              </a:defRPr>
            </a:lvl4pPr>
            <a:lvl5pPr marL="2057400" indent="-228600" defTabSz="923925">
              <a:defRPr>
                <a:solidFill>
                  <a:schemeClr val="tx1"/>
                </a:solidFill>
                <a:latin typeface="Calibri" panose="020F0502020204030204" pitchFamily="34" charset="0"/>
              </a:defRPr>
            </a:lvl5pPr>
            <a:lvl6pPr marL="2514600" indent="-228600" defTabSz="923925" fontAlgn="base">
              <a:spcBef>
                <a:spcPct val="0"/>
              </a:spcBef>
              <a:spcAft>
                <a:spcPct val="0"/>
              </a:spcAft>
              <a:defRPr>
                <a:solidFill>
                  <a:schemeClr val="tx1"/>
                </a:solidFill>
                <a:latin typeface="Calibri" panose="020F0502020204030204" pitchFamily="34" charset="0"/>
              </a:defRPr>
            </a:lvl6pPr>
            <a:lvl7pPr marL="2971800" indent="-228600" defTabSz="923925" fontAlgn="base">
              <a:spcBef>
                <a:spcPct val="0"/>
              </a:spcBef>
              <a:spcAft>
                <a:spcPct val="0"/>
              </a:spcAft>
              <a:defRPr>
                <a:solidFill>
                  <a:schemeClr val="tx1"/>
                </a:solidFill>
                <a:latin typeface="Calibri" panose="020F0502020204030204" pitchFamily="34" charset="0"/>
              </a:defRPr>
            </a:lvl7pPr>
            <a:lvl8pPr marL="3429000" indent="-228600" defTabSz="923925" fontAlgn="base">
              <a:spcBef>
                <a:spcPct val="0"/>
              </a:spcBef>
              <a:spcAft>
                <a:spcPct val="0"/>
              </a:spcAft>
              <a:defRPr>
                <a:solidFill>
                  <a:schemeClr val="tx1"/>
                </a:solidFill>
                <a:latin typeface="Calibri" panose="020F0502020204030204" pitchFamily="34" charset="0"/>
              </a:defRPr>
            </a:lvl8pPr>
            <a:lvl9pPr marL="3886200" indent="-228600" defTabSz="923925"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086C296D-8D4F-4BDB-B88B-F9EC48FA62B1}" type="slidenum">
              <a:rPr lang="en-US" altLang="en-US">
                <a:latin typeface="Times New Roman" panose="02020603050405020304" pitchFamily="18" charset="0"/>
                <a:ea typeface="MS PGothic" panose="020B0600070205080204" pitchFamily="34" charset="-128"/>
              </a:rPr>
              <a:pPr fontAlgn="base">
                <a:spcBef>
                  <a:spcPct val="0"/>
                </a:spcBef>
                <a:spcAft>
                  <a:spcPct val="0"/>
                </a:spcAft>
              </a:pPr>
              <a:t>65</a:t>
            </a:fld>
            <a:endParaRPr lang="en-US" altLang="en-US">
              <a:latin typeface="Times New Roman" panose="02020603050405020304" pitchFamily="18" charset="0"/>
              <a:ea typeface="MS PGothic" panose="020B0600070205080204" pitchFamily="34" charset="-128"/>
            </a:endParaRPr>
          </a:p>
        </p:txBody>
      </p:sp>
      <p:sp>
        <p:nvSpPr>
          <p:cNvPr id="9219" name="Rectangle 2">
            <a:extLst>
              <a:ext uri="{FF2B5EF4-FFF2-40B4-BE49-F238E27FC236}">
                <a16:creationId xmlns="" xmlns:a16="http://schemas.microsoft.com/office/drawing/2014/main" id="{8B20A446-69FF-4397-BE5F-3545BFF35A42}"/>
              </a:ext>
            </a:extLst>
          </p:cNvPr>
          <p:cNvSpPr>
            <a:spLocks noGrp="1" noRot="1" noChangeAspect="1" noChangeArrowheads="1" noTextEdit="1"/>
          </p:cNvSpPr>
          <p:nvPr>
            <p:ph type="sldImg"/>
          </p:nvPr>
        </p:nvSpPr>
        <p:spPr>
          <a:ln/>
        </p:spPr>
      </p:sp>
      <p:sp>
        <p:nvSpPr>
          <p:cNvPr id="9220" name="Rectangle 3">
            <a:extLst>
              <a:ext uri="{FF2B5EF4-FFF2-40B4-BE49-F238E27FC236}">
                <a16:creationId xmlns="" xmlns:a16="http://schemas.microsoft.com/office/drawing/2014/main" id="{4410C4AA-D6AA-4121-88CC-7C1322D4DDA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2177163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a:extLst>
              <a:ext uri="{FF2B5EF4-FFF2-40B4-BE49-F238E27FC236}">
                <a16:creationId xmlns="" xmlns:a16="http://schemas.microsoft.com/office/drawing/2014/main" id="{BBACE1DC-AFB5-41F1-8A1D-3E59A3D5355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Calibri" panose="020F0502020204030204" pitchFamily="34" charset="0"/>
              </a:defRPr>
            </a:lvl1pPr>
            <a:lvl2pPr marL="742950" indent="-285750" defTabSz="923925">
              <a:defRPr>
                <a:solidFill>
                  <a:schemeClr val="tx1"/>
                </a:solidFill>
                <a:latin typeface="Calibri" panose="020F0502020204030204" pitchFamily="34" charset="0"/>
              </a:defRPr>
            </a:lvl2pPr>
            <a:lvl3pPr marL="1143000" indent="-228600" defTabSz="923925">
              <a:defRPr>
                <a:solidFill>
                  <a:schemeClr val="tx1"/>
                </a:solidFill>
                <a:latin typeface="Calibri" panose="020F0502020204030204" pitchFamily="34" charset="0"/>
              </a:defRPr>
            </a:lvl3pPr>
            <a:lvl4pPr marL="1600200" indent="-228600" defTabSz="923925">
              <a:defRPr>
                <a:solidFill>
                  <a:schemeClr val="tx1"/>
                </a:solidFill>
                <a:latin typeface="Calibri" panose="020F0502020204030204" pitchFamily="34" charset="0"/>
              </a:defRPr>
            </a:lvl4pPr>
            <a:lvl5pPr marL="2057400" indent="-228600" defTabSz="923925">
              <a:defRPr>
                <a:solidFill>
                  <a:schemeClr val="tx1"/>
                </a:solidFill>
                <a:latin typeface="Calibri" panose="020F0502020204030204" pitchFamily="34" charset="0"/>
              </a:defRPr>
            </a:lvl5pPr>
            <a:lvl6pPr marL="2514600" indent="-228600" defTabSz="923925" fontAlgn="base">
              <a:spcBef>
                <a:spcPct val="0"/>
              </a:spcBef>
              <a:spcAft>
                <a:spcPct val="0"/>
              </a:spcAft>
              <a:defRPr>
                <a:solidFill>
                  <a:schemeClr val="tx1"/>
                </a:solidFill>
                <a:latin typeface="Calibri" panose="020F0502020204030204" pitchFamily="34" charset="0"/>
              </a:defRPr>
            </a:lvl6pPr>
            <a:lvl7pPr marL="2971800" indent="-228600" defTabSz="923925" fontAlgn="base">
              <a:spcBef>
                <a:spcPct val="0"/>
              </a:spcBef>
              <a:spcAft>
                <a:spcPct val="0"/>
              </a:spcAft>
              <a:defRPr>
                <a:solidFill>
                  <a:schemeClr val="tx1"/>
                </a:solidFill>
                <a:latin typeface="Calibri" panose="020F0502020204030204" pitchFamily="34" charset="0"/>
              </a:defRPr>
            </a:lvl7pPr>
            <a:lvl8pPr marL="3429000" indent="-228600" defTabSz="923925" fontAlgn="base">
              <a:spcBef>
                <a:spcPct val="0"/>
              </a:spcBef>
              <a:spcAft>
                <a:spcPct val="0"/>
              </a:spcAft>
              <a:defRPr>
                <a:solidFill>
                  <a:schemeClr val="tx1"/>
                </a:solidFill>
                <a:latin typeface="Calibri" panose="020F0502020204030204" pitchFamily="34" charset="0"/>
              </a:defRPr>
            </a:lvl8pPr>
            <a:lvl9pPr marL="3886200" indent="-228600" defTabSz="923925"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98799E67-116E-4DC6-A61D-64DFED57B3D7}" type="slidenum">
              <a:rPr lang="en-US" altLang="en-US">
                <a:latin typeface="Times New Roman" panose="02020603050405020304" pitchFamily="18" charset="0"/>
                <a:ea typeface="MS PGothic" panose="020B0600070205080204" pitchFamily="34" charset="-128"/>
              </a:rPr>
              <a:pPr fontAlgn="base">
                <a:spcBef>
                  <a:spcPct val="0"/>
                </a:spcBef>
                <a:spcAft>
                  <a:spcPct val="0"/>
                </a:spcAft>
              </a:pPr>
              <a:t>66</a:t>
            </a:fld>
            <a:endParaRPr lang="en-US" altLang="en-US">
              <a:latin typeface="Times New Roman" panose="02020603050405020304" pitchFamily="18" charset="0"/>
              <a:ea typeface="MS PGothic" panose="020B0600070205080204" pitchFamily="34" charset="-128"/>
            </a:endParaRPr>
          </a:p>
        </p:txBody>
      </p:sp>
      <p:sp>
        <p:nvSpPr>
          <p:cNvPr id="11267" name="Rectangle 2">
            <a:extLst>
              <a:ext uri="{FF2B5EF4-FFF2-40B4-BE49-F238E27FC236}">
                <a16:creationId xmlns="" xmlns:a16="http://schemas.microsoft.com/office/drawing/2014/main" id="{BB6DC811-5493-4C6A-A05E-9334C8DA7541}"/>
              </a:ext>
            </a:extLst>
          </p:cNvPr>
          <p:cNvSpPr>
            <a:spLocks noGrp="1" noRot="1" noChangeAspect="1" noChangeArrowheads="1" noTextEdit="1"/>
          </p:cNvSpPr>
          <p:nvPr>
            <p:ph type="sldImg"/>
          </p:nvPr>
        </p:nvSpPr>
        <p:spPr>
          <a:ln/>
        </p:spPr>
      </p:sp>
      <p:sp>
        <p:nvSpPr>
          <p:cNvPr id="11268" name="Rectangle 3">
            <a:extLst>
              <a:ext uri="{FF2B5EF4-FFF2-40B4-BE49-F238E27FC236}">
                <a16:creationId xmlns="" xmlns:a16="http://schemas.microsoft.com/office/drawing/2014/main" id="{1811AA6D-D710-442E-A288-7658F9F6A25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9905596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a:extLst>
              <a:ext uri="{FF2B5EF4-FFF2-40B4-BE49-F238E27FC236}">
                <a16:creationId xmlns="" xmlns:a16="http://schemas.microsoft.com/office/drawing/2014/main" id="{EED28796-6349-4754-9600-910A1B1C61D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Calibri" panose="020F0502020204030204" pitchFamily="34" charset="0"/>
              </a:defRPr>
            </a:lvl1pPr>
            <a:lvl2pPr marL="742950" indent="-285750" defTabSz="923925">
              <a:defRPr>
                <a:solidFill>
                  <a:schemeClr val="tx1"/>
                </a:solidFill>
                <a:latin typeface="Calibri" panose="020F0502020204030204" pitchFamily="34" charset="0"/>
              </a:defRPr>
            </a:lvl2pPr>
            <a:lvl3pPr marL="1143000" indent="-228600" defTabSz="923925">
              <a:defRPr>
                <a:solidFill>
                  <a:schemeClr val="tx1"/>
                </a:solidFill>
                <a:latin typeface="Calibri" panose="020F0502020204030204" pitchFamily="34" charset="0"/>
              </a:defRPr>
            </a:lvl3pPr>
            <a:lvl4pPr marL="1600200" indent="-228600" defTabSz="923925">
              <a:defRPr>
                <a:solidFill>
                  <a:schemeClr val="tx1"/>
                </a:solidFill>
                <a:latin typeface="Calibri" panose="020F0502020204030204" pitchFamily="34" charset="0"/>
              </a:defRPr>
            </a:lvl4pPr>
            <a:lvl5pPr marL="2057400" indent="-228600" defTabSz="923925">
              <a:defRPr>
                <a:solidFill>
                  <a:schemeClr val="tx1"/>
                </a:solidFill>
                <a:latin typeface="Calibri" panose="020F0502020204030204" pitchFamily="34" charset="0"/>
              </a:defRPr>
            </a:lvl5pPr>
            <a:lvl6pPr marL="2514600" indent="-228600" defTabSz="923925" fontAlgn="base">
              <a:spcBef>
                <a:spcPct val="0"/>
              </a:spcBef>
              <a:spcAft>
                <a:spcPct val="0"/>
              </a:spcAft>
              <a:defRPr>
                <a:solidFill>
                  <a:schemeClr val="tx1"/>
                </a:solidFill>
                <a:latin typeface="Calibri" panose="020F0502020204030204" pitchFamily="34" charset="0"/>
              </a:defRPr>
            </a:lvl6pPr>
            <a:lvl7pPr marL="2971800" indent="-228600" defTabSz="923925" fontAlgn="base">
              <a:spcBef>
                <a:spcPct val="0"/>
              </a:spcBef>
              <a:spcAft>
                <a:spcPct val="0"/>
              </a:spcAft>
              <a:defRPr>
                <a:solidFill>
                  <a:schemeClr val="tx1"/>
                </a:solidFill>
                <a:latin typeface="Calibri" panose="020F0502020204030204" pitchFamily="34" charset="0"/>
              </a:defRPr>
            </a:lvl7pPr>
            <a:lvl8pPr marL="3429000" indent="-228600" defTabSz="923925" fontAlgn="base">
              <a:spcBef>
                <a:spcPct val="0"/>
              </a:spcBef>
              <a:spcAft>
                <a:spcPct val="0"/>
              </a:spcAft>
              <a:defRPr>
                <a:solidFill>
                  <a:schemeClr val="tx1"/>
                </a:solidFill>
                <a:latin typeface="Calibri" panose="020F0502020204030204" pitchFamily="34" charset="0"/>
              </a:defRPr>
            </a:lvl8pPr>
            <a:lvl9pPr marL="3886200" indent="-228600" defTabSz="923925"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64C3E9C7-7456-4EB7-A24B-59F410C354D6}" type="slidenum">
              <a:rPr lang="en-US" altLang="en-US">
                <a:latin typeface="Times New Roman" panose="02020603050405020304" pitchFamily="18" charset="0"/>
                <a:ea typeface="MS PGothic" panose="020B0600070205080204" pitchFamily="34" charset="-128"/>
              </a:rPr>
              <a:pPr fontAlgn="base">
                <a:spcBef>
                  <a:spcPct val="0"/>
                </a:spcBef>
                <a:spcAft>
                  <a:spcPct val="0"/>
                </a:spcAft>
              </a:pPr>
              <a:t>67</a:t>
            </a:fld>
            <a:endParaRPr lang="en-US" altLang="en-US">
              <a:latin typeface="Times New Roman" panose="02020603050405020304" pitchFamily="18" charset="0"/>
              <a:ea typeface="MS PGothic" panose="020B0600070205080204" pitchFamily="34" charset="-128"/>
            </a:endParaRPr>
          </a:p>
        </p:txBody>
      </p:sp>
      <p:sp>
        <p:nvSpPr>
          <p:cNvPr id="13315" name="Rectangle 2">
            <a:extLst>
              <a:ext uri="{FF2B5EF4-FFF2-40B4-BE49-F238E27FC236}">
                <a16:creationId xmlns="" xmlns:a16="http://schemas.microsoft.com/office/drawing/2014/main" id="{FA34427C-DE0D-4B13-A4FD-F30ED29F6F69}"/>
              </a:ext>
            </a:extLst>
          </p:cNvPr>
          <p:cNvSpPr>
            <a:spLocks noGrp="1" noRot="1" noChangeAspect="1" noChangeArrowheads="1" noTextEdit="1"/>
          </p:cNvSpPr>
          <p:nvPr>
            <p:ph type="sldImg"/>
          </p:nvPr>
        </p:nvSpPr>
        <p:spPr>
          <a:ln/>
        </p:spPr>
      </p:sp>
      <p:sp>
        <p:nvSpPr>
          <p:cNvPr id="13316" name="Rectangle 3">
            <a:extLst>
              <a:ext uri="{FF2B5EF4-FFF2-40B4-BE49-F238E27FC236}">
                <a16:creationId xmlns="" xmlns:a16="http://schemas.microsoft.com/office/drawing/2014/main" id="{9E366EC0-390F-40F3-B970-45720ABB00B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1086519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a:extLst>
              <a:ext uri="{FF2B5EF4-FFF2-40B4-BE49-F238E27FC236}">
                <a16:creationId xmlns="" xmlns:a16="http://schemas.microsoft.com/office/drawing/2014/main" id="{FC93AE56-5F70-4408-A9AB-C5E237D610D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Calibri" panose="020F0502020204030204" pitchFamily="34" charset="0"/>
              </a:defRPr>
            </a:lvl1pPr>
            <a:lvl2pPr marL="742950" indent="-285750" defTabSz="923925">
              <a:defRPr>
                <a:solidFill>
                  <a:schemeClr val="tx1"/>
                </a:solidFill>
                <a:latin typeface="Calibri" panose="020F0502020204030204" pitchFamily="34" charset="0"/>
              </a:defRPr>
            </a:lvl2pPr>
            <a:lvl3pPr marL="1143000" indent="-228600" defTabSz="923925">
              <a:defRPr>
                <a:solidFill>
                  <a:schemeClr val="tx1"/>
                </a:solidFill>
                <a:latin typeface="Calibri" panose="020F0502020204030204" pitchFamily="34" charset="0"/>
              </a:defRPr>
            </a:lvl3pPr>
            <a:lvl4pPr marL="1600200" indent="-228600" defTabSz="923925">
              <a:defRPr>
                <a:solidFill>
                  <a:schemeClr val="tx1"/>
                </a:solidFill>
                <a:latin typeface="Calibri" panose="020F0502020204030204" pitchFamily="34" charset="0"/>
              </a:defRPr>
            </a:lvl4pPr>
            <a:lvl5pPr marL="2057400" indent="-228600" defTabSz="923925">
              <a:defRPr>
                <a:solidFill>
                  <a:schemeClr val="tx1"/>
                </a:solidFill>
                <a:latin typeface="Calibri" panose="020F0502020204030204" pitchFamily="34" charset="0"/>
              </a:defRPr>
            </a:lvl5pPr>
            <a:lvl6pPr marL="2514600" indent="-228600" defTabSz="923925" fontAlgn="base">
              <a:spcBef>
                <a:spcPct val="0"/>
              </a:spcBef>
              <a:spcAft>
                <a:spcPct val="0"/>
              </a:spcAft>
              <a:defRPr>
                <a:solidFill>
                  <a:schemeClr val="tx1"/>
                </a:solidFill>
                <a:latin typeface="Calibri" panose="020F0502020204030204" pitchFamily="34" charset="0"/>
              </a:defRPr>
            </a:lvl6pPr>
            <a:lvl7pPr marL="2971800" indent="-228600" defTabSz="923925" fontAlgn="base">
              <a:spcBef>
                <a:spcPct val="0"/>
              </a:spcBef>
              <a:spcAft>
                <a:spcPct val="0"/>
              </a:spcAft>
              <a:defRPr>
                <a:solidFill>
                  <a:schemeClr val="tx1"/>
                </a:solidFill>
                <a:latin typeface="Calibri" panose="020F0502020204030204" pitchFamily="34" charset="0"/>
              </a:defRPr>
            </a:lvl7pPr>
            <a:lvl8pPr marL="3429000" indent="-228600" defTabSz="923925" fontAlgn="base">
              <a:spcBef>
                <a:spcPct val="0"/>
              </a:spcBef>
              <a:spcAft>
                <a:spcPct val="0"/>
              </a:spcAft>
              <a:defRPr>
                <a:solidFill>
                  <a:schemeClr val="tx1"/>
                </a:solidFill>
                <a:latin typeface="Calibri" panose="020F0502020204030204" pitchFamily="34" charset="0"/>
              </a:defRPr>
            </a:lvl8pPr>
            <a:lvl9pPr marL="3886200" indent="-228600" defTabSz="923925"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FA1EB682-7532-4266-8BA7-3703922DED15}" type="slidenum">
              <a:rPr lang="en-US" altLang="en-US">
                <a:latin typeface="Times New Roman" panose="02020603050405020304" pitchFamily="18" charset="0"/>
                <a:ea typeface="MS PGothic" panose="020B0600070205080204" pitchFamily="34" charset="-128"/>
              </a:rPr>
              <a:pPr fontAlgn="base">
                <a:spcBef>
                  <a:spcPct val="0"/>
                </a:spcBef>
                <a:spcAft>
                  <a:spcPct val="0"/>
                </a:spcAft>
              </a:pPr>
              <a:t>68</a:t>
            </a:fld>
            <a:endParaRPr lang="en-US" altLang="en-US">
              <a:latin typeface="Times New Roman" panose="02020603050405020304" pitchFamily="18" charset="0"/>
              <a:ea typeface="MS PGothic" panose="020B0600070205080204" pitchFamily="34" charset="-128"/>
            </a:endParaRPr>
          </a:p>
        </p:txBody>
      </p:sp>
      <p:sp>
        <p:nvSpPr>
          <p:cNvPr id="15363" name="Rectangle 2">
            <a:extLst>
              <a:ext uri="{FF2B5EF4-FFF2-40B4-BE49-F238E27FC236}">
                <a16:creationId xmlns="" xmlns:a16="http://schemas.microsoft.com/office/drawing/2014/main" id="{A17C150C-319A-4D28-AB37-F41EBDA09F21}"/>
              </a:ext>
            </a:extLst>
          </p:cNvPr>
          <p:cNvSpPr>
            <a:spLocks noGrp="1" noRot="1" noChangeAspect="1" noChangeArrowheads="1" noTextEdit="1"/>
          </p:cNvSpPr>
          <p:nvPr>
            <p:ph type="sldImg"/>
          </p:nvPr>
        </p:nvSpPr>
        <p:spPr>
          <a:ln/>
        </p:spPr>
      </p:sp>
      <p:sp>
        <p:nvSpPr>
          <p:cNvPr id="15364" name="Rectangle 3">
            <a:extLst>
              <a:ext uri="{FF2B5EF4-FFF2-40B4-BE49-F238E27FC236}">
                <a16:creationId xmlns="" xmlns:a16="http://schemas.microsoft.com/office/drawing/2014/main" id="{D859583A-BE37-4552-B1A1-E0CF1FA99BA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6523880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a:extLst>
              <a:ext uri="{FF2B5EF4-FFF2-40B4-BE49-F238E27FC236}">
                <a16:creationId xmlns="" xmlns:a16="http://schemas.microsoft.com/office/drawing/2014/main" id="{6AA8DBE8-3169-48FB-B7FE-D58374C7C1C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Calibri" panose="020F0502020204030204" pitchFamily="34" charset="0"/>
              </a:defRPr>
            </a:lvl1pPr>
            <a:lvl2pPr marL="742950" indent="-285750" defTabSz="923925">
              <a:defRPr>
                <a:solidFill>
                  <a:schemeClr val="tx1"/>
                </a:solidFill>
                <a:latin typeface="Calibri" panose="020F0502020204030204" pitchFamily="34" charset="0"/>
              </a:defRPr>
            </a:lvl2pPr>
            <a:lvl3pPr marL="1143000" indent="-228600" defTabSz="923925">
              <a:defRPr>
                <a:solidFill>
                  <a:schemeClr val="tx1"/>
                </a:solidFill>
                <a:latin typeface="Calibri" panose="020F0502020204030204" pitchFamily="34" charset="0"/>
              </a:defRPr>
            </a:lvl3pPr>
            <a:lvl4pPr marL="1600200" indent="-228600" defTabSz="923925">
              <a:defRPr>
                <a:solidFill>
                  <a:schemeClr val="tx1"/>
                </a:solidFill>
                <a:latin typeface="Calibri" panose="020F0502020204030204" pitchFamily="34" charset="0"/>
              </a:defRPr>
            </a:lvl4pPr>
            <a:lvl5pPr marL="2057400" indent="-228600" defTabSz="923925">
              <a:defRPr>
                <a:solidFill>
                  <a:schemeClr val="tx1"/>
                </a:solidFill>
                <a:latin typeface="Calibri" panose="020F0502020204030204" pitchFamily="34" charset="0"/>
              </a:defRPr>
            </a:lvl5pPr>
            <a:lvl6pPr marL="2514600" indent="-228600" defTabSz="923925" fontAlgn="base">
              <a:spcBef>
                <a:spcPct val="0"/>
              </a:spcBef>
              <a:spcAft>
                <a:spcPct val="0"/>
              </a:spcAft>
              <a:defRPr>
                <a:solidFill>
                  <a:schemeClr val="tx1"/>
                </a:solidFill>
                <a:latin typeface="Calibri" panose="020F0502020204030204" pitchFamily="34" charset="0"/>
              </a:defRPr>
            </a:lvl6pPr>
            <a:lvl7pPr marL="2971800" indent="-228600" defTabSz="923925" fontAlgn="base">
              <a:spcBef>
                <a:spcPct val="0"/>
              </a:spcBef>
              <a:spcAft>
                <a:spcPct val="0"/>
              </a:spcAft>
              <a:defRPr>
                <a:solidFill>
                  <a:schemeClr val="tx1"/>
                </a:solidFill>
                <a:latin typeface="Calibri" panose="020F0502020204030204" pitchFamily="34" charset="0"/>
              </a:defRPr>
            </a:lvl7pPr>
            <a:lvl8pPr marL="3429000" indent="-228600" defTabSz="923925" fontAlgn="base">
              <a:spcBef>
                <a:spcPct val="0"/>
              </a:spcBef>
              <a:spcAft>
                <a:spcPct val="0"/>
              </a:spcAft>
              <a:defRPr>
                <a:solidFill>
                  <a:schemeClr val="tx1"/>
                </a:solidFill>
                <a:latin typeface="Calibri" panose="020F0502020204030204" pitchFamily="34" charset="0"/>
              </a:defRPr>
            </a:lvl8pPr>
            <a:lvl9pPr marL="3886200" indent="-228600" defTabSz="923925"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9F63BDAE-5398-4510-A1D9-22FE282C4FA6}" type="slidenum">
              <a:rPr lang="en-US" altLang="en-US">
                <a:latin typeface="Times New Roman" panose="02020603050405020304" pitchFamily="18" charset="0"/>
                <a:ea typeface="MS PGothic" panose="020B0600070205080204" pitchFamily="34" charset="-128"/>
              </a:rPr>
              <a:pPr fontAlgn="base">
                <a:spcBef>
                  <a:spcPct val="0"/>
                </a:spcBef>
                <a:spcAft>
                  <a:spcPct val="0"/>
                </a:spcAft>
              </a:pPr>
              <a:t>69</a:t>
            </a:fld>
            <a:endParaRPr lang="en-US" altLang="en-US">
              <a:latin typeface="Times New Roman" panose="02020603050405020304" pitchFamily="18" charset="0"/>
              <a:ea typeface="MS PGothic" panose="020B0600070205080204" pitchFamily="34" charset="-128"/>
            </a:endParaRPr>
          </a:p>
        </p:txBody>
      </p:sp>
      <p:sp>
        <p:nvSpPr>
          <p:cNvPr id="17411" name="Rectangle 2">
            <a:extLst>
              <a:ext uri="{FF2B5EF4-FFF2-40B4-BE49-F238E27FC236}">
                <a16:creationId xmlns="" xmlns:a16="http://schemas.microsoft.com/office/drawing/2014/main" id="{61EA04D8-CDA2-47EE-BD9A-BDEE67926626}"/>
              </a:ext>
            </a:extLst>
          </p:cNvPr>
          <p:cNvSpPr>
            <a:spLocks noGrp="1" noRot="1" noChangeAspect="1" noChangeArrowheads="1" noTextEdit="1"/>
          </p:cNvSpPr>
          <p:nvPr>
            <p:ph type="sldImg"/>
          </p:nvPr>
        </p:nvSpPr>
        <p:spPr>
          <a:ln/>
        </p:spPr>
      </p:sp>
      <p:sp>
        <p:nvSpPr>
          <p:cNvPr id="17412" name="Rectangle 3">
            <a:extLst>
              <a:ext uri="{FF2B5EF4-FFF2-40B4-BE49-F238E27FC236}">
                <a16:creationId xmlns="" xmlns:a16="http://schemas.microsoft.com/office/drawing/2014/main" id="{D1DB89DE-D430-4088-B493-5D1EA935BDF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4238371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a:extLst>
              <a:ext uri="{FF2B5EF4-FFF2-40B4-BE49-F238E27FC236}">
                <a16:creationId xmlns="" xmlns:a16="http://schemas.microsoft.com/office/drawing/2014/main" id="{2F1340D2-3FBC-47C6-83CF-F8A725AC50D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Calibri" panose="020F0502020204030204" pitchFamily="34" charset="0"/>
              </a:defRPr>
            </a:lvl1pPr>
            <a:lvl2pPr marL="742950" indent="-285750" defTabSz="923925">
              <a:defRPr>
                <a:solidFill>
                  <a:schemeClr val="tx1"/>
                </a:solidFill>
                <a:latin typeface="Calibri" panose="020F0502020204030204" pitchFamily="34" charset="0"/>
              </a:defRPr>
            </a:lvl2pPr>
            <a:lvl3pPr marL="1143000" indent="-228600" defTabSz="923925">
              <a:defRPr>
                <a:solidFill>
                  <a:schemeClr val="tx1"/>
                </a:solidFill>
                <a:latin typeface="Calibri" panose="020F0502020204030204" pitchFamily="34" charset="0"/>
              </a:defRPr>
            </a:lvl3pPr>
            <a:lvl4pPr marL="1600200" indent="-228600" defTabSz="923925">
              <a:defRPr>
                <a:solidFill>
                  <a:schemeClr val="tx1"/>
                </a:solidFill>
                <a:latin typeface="Calibri" panose="020F0502020204030204" pitchFamily="34" charset="0"/>
              </a:defRPr>
            </a:lvl4pPr>
            <a:lvl5pPr marL="2057400" indent="-228600" defTabSz="923925">
              <a:defRPr>
                <a:solidFill>
                  <a:schemeClr val="tx1"/>
                </a:solidFill>
                <a:latin typeface="Calibri" panose="020F0502020204030204" pitchFamily="34" charset="0"/>
              </a:defRPr>
            </a:lvl5pPr>
            <a:lvl6pPr marL="2514600" indent="-228600" defTabSz="923925" fontAlgn="base">
              <a:spcBef>
                <a:spcPct val="0"/>
              </a:spcBef>
              <a:spcAft>
                <a:spcPct val="0"/>
              </a:spcAft>
              <a:defRPr>
                <a:solidFill>
                  <a:schemeClr val="tx1"/>
                </a:solidFill>
                <a:latin typeface="Calibri" panose="020F0502020204030204" pitchFamily="34" charset="0"/>
              </a:defRPr>
            </a:lvl6pPr>
            <a:lvl7pPr marL="2971800" indent="-228600" defTabSz="923925" fontAlgn="base">
              <a:spcBef>
                <a:spcPct val="0"/>
              </a:spcBef>
              <a:spcAft>
                <a:spcPct val="0"/>
              </a:spcAft>
              <a:defRPr>
                <a:solidFill>
                  <a:schemeClr val="tx1"/>
                </a:solidFill>
                <a:latin typeface="Calibri" panose="020F0502020204030204" pitchFamily="34" charset="0"/>
              </a:defRPr>
            </a:lvl7pPr>
            <a:lvl8pPr marL="3429000" indent="-228600" defTabSz="923925" fontAlgn="base">
              <a:spcBef>
                <a:spcPct val="0"/>
              </a:spcBef>
              <a:spcAft>
                <a:spcPct val="0"/>
              </a:spcAft>
              <a:defRPr>
                <a:solidFill>
                  <a:schemeClr val="tx1"/>
                </a:solidFill>
                <a:latin typeface="Calibri" panose="020F0502020204030204" pitchFamily="34" charset="0"/>
              </a:defRPr>
            </a:lvl8pPr>
            <a:lvl9pPr marL="3886200" indent="-228600" defTabSz="923925"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837F4F38-9490-44DF-B667-BA83B6E7087D}" type="slidenum">
              <a:rPr lang="en-US" altLang="en-US">
                <a:latin typeface="Times New Roman" panose="02020603050405020304" pitchFamily="18" charset="0"/>
                <a:ea typeface="MS PGothic" panose="020B0600070205080204" pitchFamily="34" charset="-128"/>
              </a:rPr>
              <a:pPr fontAlgn="base">
                <a:spcBef>
                  <a:spcPct val="0"/>
                </a:spcBef>
                <a:spcAft>
                  <a:spcPct val="0"/>
                </a:spcAft>
              </a:pPr>
              <a:t>70</a:t>
            </a:fld>
            <a:endParaRPr lang="en-US" altLang="en-US">
              <a:latin typeface="Times New Roman" panose="02020603050405020304" pitchFamily="18" charset="0"/>
              <a:ea typeface="MS PGothic" panose="020B0600070205080204" pitchFamily="34" charset="-128"/>
            </a:endParaRPr>
          </a:p>
        </p:txBody>
      </p:sp>
      <p:sp>
        <p:nvSpPr>
          <p:cNvPr id="19459" name="Rectangle 2">
            <a:extLst>
              <a:ext uri="{FF2B5EF4-FFF2-40B4-BE49-F238E27FC236}">
                <a16:creationId xmlns="" xmlns:a16="http://schemas.microsoft.com/office/drawing/2014/main" id="{C44BDBA3-9BED-4599-836A-944B6AA6E51A}"/>
              </a:ext>
            </a:extLst>
          </p:cNvPr>
          <p:cNvSpPr>
            <a:spLocks noGrp="1" noRot="1" noChangeAspect="1" noChangeArrowheads="1" noTextEdit="1"/>
          </p:cNvSpPr>
          <p:nvPr>
            <p:ph type="sldImg"/>
          </p:nvPr>
        </p:nvSpPr>
        <p:spPr>
          <a:ln/>
        </p:spPr>
      </p:sp>
      <p:sp>
        <p:nvSpPr>
          <p:cNvPr id="19460" name="Rectangle 3">
            <a:extLst>
              <a:ext uri="{FF2B5EF4-FFF2-40B4-BE49-F238E27FC236}">
                <a16:creationId xmlns="" xmlns:a16="http://schemas.microsoft.com/office/drawing/2014/main" id="{CACCD736-2C3A-4E5A-99D6-C72058D0D45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1477893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a:extLst>
              <a:ext uri="{FF2B5EF4-FFF2-40B4-BE49-F238E27FC236}">
                <a16:creationId xmlns="" xmlns:a16="http://schemas.microsoft.com/office/drawing/2014/main" id="{2801E01A-B789-4256-AA5A-BBC06BEAF56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Calibri" panose="020F0502020204030204" pitchFamily="34" charset="0"/>
              </a:defRPr>
            </a:lvl1pPr>
            <a:lvl2pPr marL="742950" indent="-285750" defTabSz="923925">
              <a:defRPr>
                <a:solidFill>
                  <a:schemeClr val="tx1"/>
                </a:solidFill>
                <a:latin typeface="Calibri" panose="020F0502020204030204" pitchFamily="34" charset="0"/>
              </a:defRPr>
            </a:lvl2pPr>
            <a:lvl3pPr marL="1143000" indent="-228600" defTabSz="923925">
              <a:defRPr>
                <a:solidFill>
                  <a:schemeClr val="tx1"/>
                </a:solidFill>
                <a:latin typeface="Calibri" panose="020F0502020204030204" pitchFamily="34" charset="0"/>
              </a:defRPr>
            </a:lvl3pPr>
            <a:lvl4pPr marL="1600200" indent="-228600" defTabSz="923925">
              <a:defRPr>
                <a:solidFill>
                  <a:schemeClr val="tx1"/>
                </a:solidFill>
                <a:latin typeface="Calibri" panose="020F0502020204030204" pitchFamily="34" charset="0"/>
              </a:defRPr>
            </a:lvl4pPr>
            <a:lvl5pPr marL="2057400" indent="-228600" defTabSz="923925">
              <a:defRPr>
                <a:solidFill>
                  <a:schemeClr val="tx1"/>
                </a:solidFill>
                <a:latin typeface="Calibri" panose="020F0502020204030204" pitchFamily="34" charset="0"/>
              </a:defRPr>
            </a:lvl5pPr>
            <a:lvl6pPr marL="2514600" indent="-228600" defTabSz="923925" fontAlgn="base">
              <a:spcBef>
                <a:spcPct val="0"/>
              </a:spcBef>
              <a:spcAft>
                <a:spcPct val="0"/>
              </a:spcAft>
              <a:defRPr>
                <a:solidFill>
                  <a:schemeClr val="tx1"/>
                </a:solidFill>
                <a:latin typeface="Calibri" panose="020F0502020204030204" pitchFamily="34" charset="0"/>
              </a:defRPr>
            </a:lvl6pPr>
            <a:lvl7pPr marL="2971800" indent="-228600" defTabSz="923925" fontAlgn="base">
              <a:spcBef>
                <a:spcPct val="0"/>
              </a:spcBef>
              <a:spcAft>
                <a:spcPct val="0"/>
              </a:spcAft>
              <a:defRPr>
                <a:solidFill>
                  <a:schemeClr val="tx1"/>
                </a:solidFill>
                <a:latin typeface="Calibri" panose="020F0502020204030204" pitchFamily="34" charset="0"/>
              </a:defRPr>
            </a:lvl7pPr>
            <a:lvl8pPr marL="3429000" indent="-228600" defTabSz="923925" fontAlgn="base">
              <a:spcBef>
                <a:spcPct val="0"/>
              </a:spcBef>
              <a:spcAft>
                <a:spcPct val="0"/>
              </a:spcAft>
              <a:defRPr>
                <a:solidFill>
                  <a:schemeClr val="tx1"/>
                </a:solidFill>
                <a:latin typeface="Calibri" panose="020F0502020204030204" pitchFamily="34" charset="0"/>
              </a:defRPr>
            </a:lvl8pPr>
            <a:lvl9pPr marL="3886200" indent="-228600" defTabSz="923925"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B01BB71D-FBB9-472A-ADB8-5AD2ABDAB693}" type="slidenum">
              <a:rPr lang="en-US" altLang="en-US">
                <a:latin typeface="Times New Roman" panose="02020603050405020304" pitchFamily="18" charset="0"/>
                <a:ea typeface="MS PGothic" panose="020B0600070205080204" pitchFamily="34" charset="-128"/>
              </a:rPr>
              <a:pPr fontAlgn="base">
                <a:spcBef>
                  <a:spcPct val="0"/>
                </a:spcBef>
                <a:spcAft>
                  <a:spcPct val="0"/>
                </a:spcAft>
              </a:pPr>
              <a:t>71</a:t>
            </a:fld>
            <a:endParaRPr lang="en-US" altLang="en-US">
              <a:latin typeface="Times New Roman" panose="02020603050405020304" pitchFamily="18" charset="0"/>
              <a:ea typeface="MS PGothic" panose="020B0600070205080204" pitchFamily="34" charset="-128"/>
            </a:endParaRPr>
          </a:p>
        </p:txBody>
      </p:sp>
      <p:sp>
        <p:nvSpPr>
          <p:cNvPr id="21507" name="Rectangle 2">
            <a:extLst>
              <a:ext uri="{FF2B5EF4-FFF2-40B4-BE49-F238E27FC236}">
                <a16:creationId xmlns="" xmlns:a16="http://schemas.microsoft.com/office/drawing/2014/main" id="{0FD2B214-C104-4020-A67A-E50FD69E8AB0}"/>
              </a:ext>
            </a:extLst>
          </p:cNvPr>
          <p:cNvSpPr>
            <a:spLocks noGrp="1" noRot="1" noChangeAspect="1" noChangeArrowheads="1" noTextEdit="1"/>
          </p:cNvSpPr>
          <p:nvPr>
            <p:ph type="sldImg"/>
          </p:nvPr>
        </p:nvSpPr>
        <p:spPr>
          <a:ln/>
        </p:spPr>
      </p:sp>
      <p:sp>
        <p:nvSpPr>
          <p:cNvPr id="21508" name="Rectangle 3">
            <a:extLst>
              <a:ext uri="{FF2B5EF4-FFF2-40B4-BE49-F238E27FC236}">
                <a16:creationId xmlns="" xmlns:a16="http://schemas.microsoft.com/office/drawing/2014/main" id="{37B39E72-F589-4E0A-9745-B2B0A7BA2AA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3542431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a:extLst>
              <a:ext uri="{FF2B5EF4-FFF2-40B4-BE49-F238E27FC236}">
                <a16:creationId xmlns="" xmlns:a16="http://schemas.microsoft.com/office/drawing/2014/main" id="{C12D1E3D-CB13-465A-B652-813516F6860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Calibri" panose="020F0502020204030204" pitchFamily="34" charset="0"/>
              </a:defRPr>
            </a:lvl1pPr>
            <a:lvl2pPr marL="742950" indent="-285750" defTabSz="923925">
              <a:defRPr>
                <a:solidFill>
                  <a:schemeClr val="tx1"/>
                </a:solidFill>
                <a:latin typeface="Calibri" panose="020F0502020204030204" pitchFamily="34" charset="0"/>
              </a:defRPr>
            </a:lvl2pPr>
            <a:lvl3pPr marL="1143000" indent="-228600" defTabSz="923925">
              <a:defRPr>
                <a:solidFill>
                  <a:schemeClr val="tx1"/>
                </a:solidFill>
                <a:latin typeface="Calibri" panose="020F0502020204030204" pitchFamily="34" charset="0"/>
              </a:defRPr>
            </a:lvl3pPr>
            <a:lvl4pPr marL="1600200" indent="-228600" defTabSz="923925">
              <a:defRPr>
                <a:solidFill>
                  <a:schemeClr val="tx1"/>
                </a:solidFill>
                <a:latin typeface="Calibri" panose="020F0502020204030204" pitchFamily="34" charset="0"/>
              </a:defRPr>
            </a:lvl4pPr>
            <a:lvl5pPr marL="2057400" indent="-228600" defTabSz="923925">
              <a:defRPr>
                <a:solidFill>
                  <a:schemeClr val="tx1"/>
                </a:solidFill>
                <a:latin typeface="Calibri" panose="020F0502020204030204" pitchFamily="34" charset="0"/>
              </a:defRPr>
            </a:lvl5pPr>
            <a:lvl6pPr marL="2514600" indent="-228600" defTabSz="923925" fontAlgn="base">
              <a:spcBef>
                <a:spcPct val="0"/>
              </a:spcBef>
              <a:spcAft>
                <a:spcPct val="0"/>
              </a:spcAft>
              <a:defRPr>
                <a:solidFill>
                  <a:schemeClr val="tx1"/>
                </a:solidFill>
                <a:latin typeface="Calibri" panose="020F0502020204030204" pitchFamily="34" charset="0"/>
              </a:defRPr>
            </a:lvl6pPr>
            <a:lvl7pPr marL="2971800" indent="-228600" defTabSz="923925" fontAlgn="base">
              <a:spcBef>
                <a:spcPct val="0"/>
              </a:spcBef>
              <a:spcAft>
                <a:spcPct val="0"/>
              </a:spcAft>
              <a:defRPr>
                <a:solidFill>
                  <a:schemeClr val="tx1"/>
                </a:solidFill>
                <a:latin typeface="Calibri" panose="020F0502020204030204" pitchFamily="34" charset="0"/>
              </a:defRPr>
            </a:lvl7pPr>
            <a:lvl8pPr marL="3429000" indent="-228600" defTabSz="923925" fontAlgn="base">
              <a:spcBef>
                <a:spcPct val="0"/>
              </a:spcBef>
              <a:spcAft>
                <a:spcPct val="0"/>
              </a:spcAft>
              <a:defRPr>
                <a:solidFill>
                  <a:schemeClr val="tx1"/>
                </a:solidFill>
                <a:latin typeface="Calibri" panose="020F0502020204030204" pitchFamily="34" charset="0"/>
              </a:defRPr>
            </a:lvl8pPr>
            <a:lvl9pPr marL="3886200" indent="-228600" defTabSz="923925"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C9E86FD4-95ED-42ED-85AB-4289FA8FC56A}" type="slidenum">
              <a:rPr lang="en-US" altLang="en-US">
                <a:latin typeface="Times New Roman" panose="02020603050405020304" pitchFamily="18" charset="0"/>
                <a:ea typeface="MS PGothic" panose="020B0600070205080204" pitchFamily="34" charset="-128"/>
              </a:rPr>
              <a:pPr fontAlgn="base">
                <a:spcBef>
                  <a:spcPct val="0"/>
                </a:spcBef>
                <a:spcAft>
                  <a:spcPct val="0"/>
                </a:spcAft>
              </a:pPr>
              <a:t>72</a:t>
            </a:fld>
            <a:endParaRPr lang="en-US" altLang="en-US">
              <a:latin typeface="Times New Roman" panose="02020603050405020304" pitchFamily="18" charset="0"/>
              <a:ea typeface="MS PGothic" panose="020B0600070205080204" pitchFamily="34" charset="-128"/>
            </a:endParaRPr>
          </a:p>
        </p:txBody>
      </p:sp>
      <p:sp>
        <p:nvSpPr>
          <p:cNvPr id="23555" name="Rectangle 2">
            <a:extLst>
              <a:ext uri="{FF2B5EF4-FFF2-40B4-BE49-F238E27FC236}">
                <a16:creationId xmlns="" xmlns:a16="http://schemas.microsoft.com/office/drawing/2014/main" id="{D8E853E6-AB26-4AF5-86B5-FEA6ACB12968}"/>
              </a:ext>
            </a:extLst>
          </p:cNvPr>
          <p:cNvSpPr>
            <a:spLocks noGrp="1" noRot="1" noChangeAspect="1" noChangeArrowheads="1" noTextEdit="1"/>
          </p:cNvSpPr>
          <p:nvPr>
            <p:ph type="sldImg"/>
          </p:nvPr>
        </p:nvSpPr>
        <p:spPr>
          <a:ln/>
        </p:spPr>
      </p:sp>
      <p:sp>
        <p:nvSpPr>
          <p:cNvPr id="23556" name="Rectangle 3">
            <a:extLst>
              <a:ext uri="{FF2B5EF4-FFF2-40B4-BE49-F238E27FC236}">
                <a16:creationId xmlns="" xmlns:a16="http://schemas.microsoft.com/office/drawing/2014/main" id="{43B5B72A-328D-4CA7-9537-6DE89E9E346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0520843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a:extLst>
              <a:ext uri="{FF2B5EF4-FFF2-40B4-BE49-F238E27FC236}">
                <a16:creationId xmlns="" xmlns:a16="http://schemas.microsoft.com/office/drawing/2014/main" id="{5FF24537-D2A1-44C2-8C31-DA338458E3D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Calibri" panose="020F0502020204030204" pitchFamily="34" charset="0"/>
              </a:defRPr>
            </a:lvl1pPr>
            <a:lvl2pPr marL="742950" indent="-285750" defTabSz="923925">
              <a:defRPr>
                <a:solidFill>
                  <a:schemeClr val="tx1"/>
                </a:solidFill>
                <a:latin typeface="Calibri" panose="020F0502020204030204" pitchFamily="34" charset="0"/>
              </a:defRPr>
            </a:lvl2pPr>
            <a:lvl3pPr marL="1143000" indent="-228600" defTabSz="923925">
              <a:defRPr>
                <a:solidFill>
                  <a:schemeClr val="tx1"/>
                </a:solidFill>
                <a:latin typeface="Calibri" panose="020F0502020204030204" pitchFamily="34" charset="0"/>
              </a:defRPr>
            </a:lvl3pPr>
            <a:lvl4pPr marL="1600200" indent="-228600" defTabSz="923925">
              <a:defRPr>
                <a:solidFill>
                  <a:schemeClr val="tx1"/>
                </a:solidFill>
                <a:latin typeface="Calibri" panose="020F0502020204030204" pitchFamily="34" charset="0"/>
              </a:defRPr>
            </a:lvl4pPr>
            <a:lvl5pPr marL="2057400" indent="-228600" defTabSz="923925">
              <a:defRPr>
                <a:solidFill>
                  <a:schemeClr val="tx1"/>
                </a:solidFill>
                <a:latin typeface="Calibri" panose="020F0502020204030204" pitchFamily="34" charset="0"/>
              </a:defRPr>
            </a:lvl5pPr>
            <a:lvl6pPr marL="2514600" indent="-228600" defTabSz="923925" fontAlgn="base">
              <a:spcBef>
                <a:spcPct val="0"/>
              </a:spcBef>
              <a:spcAft>
                <a:spcPct val="0"/>
              </a:spcAft>
              <a:defRPr>
                <a:solidFill>
                  <a:schemeClr val="tx1"/>
                </a:solidFill>
                <a:latin typeface="Calibri" panose="020F0502020204030204" pitchFamily="34" charset="0"/>
              </a:defRPr>
            </a:lvl6pPr>
            <a:lvl7pPr marL="2971800" indent="-228600" defTabSz="923925" fontAlgn="base">
              <a:spcBef>
                <a:spcPct val="0"/>
              </a:spcBef>
              <a:spcAft>
                <a:spcPct val="0"/>
              </a:spcAft>
              <a:defRPr>
                <a:solidFill>
                  <a:schemeClr val="tx1"/>
                </a:solidFill>
                <a:latin typeface="Calibri" panose="020F0502020204030204" pitchFamily="34" charset="0"/>
              </a:defRPr>
            </a:lvl7pPr>
            <a:lvl8pPr marL="3429000" indent="-228600" defTabSz="923925" fontAlgn="base">
              <a:spcBef>
                <a:spcPct val="0"/>
              </a:spcBef>
              <a:spcAft>
                <a:spcPct val="0"/>
              </a:spcAft>
              <a:defRPr>
                <a:solidFill>
                  <a:schemeClr val="tx1"/>
                </a:solidFill>
                <a:latin typeface="Calibri" panose="020F0502020204030204" pitchFamily="34" charset="0"/>
              </a:defRPr>
            </a:lvl8pPr>
            <a:lvl9pPr marL="3886200" indent="-228600" defTabSz="923925"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79AB539A-0B86-4404-9364-DE242C8B407D}" type="slidenum">
              <a:rPr lang="en-US" altLang="en-US">
                <a:latin typeface="Times New Roman" panose="02020603050405020304" pitchFamily="18" charset="0"/>
                <a:ea typeface="MS PGothic" panose="020B0600070205080204" pitchFamily="34" charset="-128"/>
              </a:rPr>
              <a:pPr fontAlgn="base">
                <a:spcBef>
                  <a:spcPct val="0"/>
                </a:spcBef>
                <a:spcAft>
                  <a:spcPct val="0"/>
                </a:spcAft>
              </a:pPr>
              <a:t>73</a:t>
            </a:fld>
            <a:endParaRPr lang="en-US" altLang="en-US">
              <a:latin typeface="Times New Roman" panose="02020603050405020304" pitchFamily="18" charset="0"/>
              <a:ea typeface="MS PGothic" panose="020B0600070205080204" pitchFamily="34" charset="-128"/>
            </a:endParaRPr>
          </a:p>
        </p:txBody>
      </p:sp>
      <p:sp>
        <p:nvSpPr>
          <p:cNvPr id="25603" name="Rectangle 2">
            <a:extLst>
              <a:ext uri="{FF2B5EF4-FFF2-40B4-BE49-F238E27FC236}">
                <a16:creationId xmlns="" xmlns:a16="http://schemas.microsoft.com/office/drawing/2014/main" id="{89B46EB0-BAC3-4BE0-BD7F-C08E09A33177}"/>
              </a:ext>
            </a:extLst>
          </p:cNvPr>
          <p:cNvSpPr>
            <a:spLocks noGrp="1" noRot="1" noChangeAspect="1" noChangeArrowheads="1" noTextEdit="1"/>
          </p:cNvSpPr>
          <p:nvPr>
            <p:ph type="sldImg"/>
          </p:nvPr>
        </p:nvSpPr>
        <p:spPr>
          <a:ln/>
        </p:spPr>
      </p:sp>
      <p:sp>
        <p:nvSpPr>
          <p:cNvPr id="25604" name="Rectangle 3">
            <a:extLst>
              <a:ext uri="{FF2B5EF4-FFF2-40B4-BE49-F238E27FC236}">
                <a16:creationId xmlns="" xmlns:a16="http://schemas.microsoft.com/office/drawing/2014/main" id="{09242471-7987-4165-99A0-BEDCB90FA23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0621043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a:extLst>
              <a:ext uri="{FF2B5EF4-FFF2-40B4-BE49-F238E27FC236}">
                <a16:creationId xmlns="" xmlns:a16="http://schemas.microsoft.com/office/drawing/2014/main" id="{033F8837-5C60-4232-BF15-6373BD16255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Calibri" panose="020F0502020204030204" pitchFamily="34" charset="0"/>
              </a:defRPr>
            </a:lvl1pPr>
            <a:lvl2pPr marL="742950" indent="-285750" defTabSz="923925">
              <a:defRPr>
                <a:solidFill>
                  <a:schemeClr val="tx1"/>
                </a:solidFill>
                <a:latin typeface="Calibri" panose="020F0502020204030204" pitchFamily="34" charset="0"/>
              </a:defRPr>
            </a:lvl2pPr>
            <a:lvl3pPr marL="1143000" indent="-228600" defTabSz="923925">
              <a:defRPr>
                <a:solidFill>
                  <a:schemeClr val="tx1"/>
                </a:solidFill>
                <a:latin typeface="Calibri" panose="020F0502020204030204" pitchFamily="34" charset="0"/>
              </a:defRPr>
            </a:lvl3pPr>
            <a:lvl4pPr marL="1600200" indent="-228600" defTabSz="923925">
              <a:defRPr>
                <a:solidFill>
                  <a:schemeClr val="tx1"/>
                </a:solidFill>
                <a:latin typeface="Calibri" panose="020F0502020204030204" pitchFamily="34" charset="0"/>
              </a:defRPr>
            </a:lvl4pPr>
            <a:lvl5pPr marL="2057400" indent="-228600" defTabSz="923925">
              <a:defRPr>
                <a:solidFill>
                  <a:schemeClr val="tx1"/>
                </a:solidFill>
                <a:latin typeface="Calibri" panose="020F0502020204030204" pitchFamily="34" charset="0"/>
              </a:defRPr>
            </a:lvl5pPr>
            <a:lvl6pPr marL="2514600" indent="-228600" defTabSz="923925" fontAlgn="base">
              <a:spcBef>
                <a:spcPct val="0"/>
              </a:spcBef>
              <a:spcAft>
                <a:spcPct val="0"/>
              </a:spcAft>
              <a:defRPr>
                <a:solidFill>
                  <a:schemeClr val="tx1"/>
                </a:solidFill>
                <a:latin typeface="Calibri" panose="020F0502020204030204" pitchFamily="34" charset="0"/>
              </a:defRPr>
            </a:lvl6pPr>
            <a:lvl7pPr marL="2971800" indent="-228600" defTabSz="923925" fontAlgn="base">
              <a:spcBef>
                <a:spcPct val="0"/>
              </a:spcBef>
              <a:spcAft>
                <a:spcPct val="0"/>
              </a:spcAft>
              <a:defRPr>
                <a:solidFill>
                  <a:schemeClr val="tx1"/>
                </a:solidFill>
                <a:latin typeface="Calibri" panose="020F0502020204030204" pitchFamily="34" charset="0"/>
              </a:defRPr>
            </a:lvl7pPr>
            <a:lvl8pPr marL="3429000" indent="-228600" defTabSz="923925" fontAlgn="base">
              <a:spcBef>
                <a:spcPct val="0"/>
              </a:spcBef>
              <a:spcAft>
                <a:spcPct val="0"/>
              </a:spcAft>
              <a:defRPr>
                <a:solidFill>
                  <a:schemeClr val="tx1"/>
                </a:solidFill>
                <a:latin typeface="Calibri" panose="020F0502020204030204" pitchFamily="34" charset="0"/>
              </a:defRPr>
            </a:lvl8pPr>
            <a:lvl9pPr marL="3886200" indent="-228600" defTabSz="923925"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D04133C9-7193-4CDA-AC6B-1E06E70B1750}" type="slidenum">
              <a:rPr lang="en-US" altLang="en-US">
                <a:latin typeface="Times New Roman" panose="02020603050405020304" pitchFamily="18" charset="0"/>
                <a:ea typeface="MS PGothic" panose="020B0600070205080204" pitchFamily="34" charset="-128"/>
              </a:rPr>
              <a:pPr fontAlgn="base">
                <a:spcBef>
                  <a:spcPct val="0"/>
                </a:spcBef>
                <a:spcAft>
                  <a:spcPct val="0"/>
                </a:spcAft>
              </a:pPr>
              <a:t>74</a:t>
            </a:fld>
            <a:endParaRPr lang="en-US" altLang="en-US">
              <a:latin typeface="Times New Roman" panose="02020603050405020304" pitchFamily="18" charset="0"/>
              <a:ea typeface="MS PGothic" panose="020B0600070205080204" pitchFamily="34" charset="-128"/>
            </a:endParaRPr>
          </a:p>
        </p:txBody>
      </p:sp>
      <p:sp>
        <p:nvSpPr>
          <p:cNvPr id="27651" name="Rectangle 2">
            <a:extLst>
              <a:ext uri="{FF2B5EF4-FFF2-40B4-BE49-F238E27FC236}">
                <a16:creationId xmlns="" xmlns:a16="http://schemas.microsoft.com/office/drawing/2014/main" id="{4605DC36-2D82-4D67-B3F8-80D4D9837DBD}"/>
              </a:ext>
            </a:extLst>
          </p:cNvPr>
          <p:cNvSpPr>
            <a:spLocks noGrp="1" noRot="1" noChangeAspect="1" noChangeArrowheads="1" noTextEdit="1"/>
          </p:cNvSpPr>
          <p:nvPr>
            <p:ph type="sldImg"/>
          </p:nvPr>
        </p:nvSpPr>
        <p:spPr>
          <a:ln/>
        </p:spPr>
      </p:sp>
      <p:sp>
        <p:nvSpPr>
          <p:cNvPr id="27652" name="Rectangle 3">
            <a:extLst>
              <a:ext uri="{FF2B5EF4-FFF2-40B4-BE49-F238E27FC236}">
                <a16:creationId xmlns="" xmlns:a16="http://schemas.microsoft.com/office/drawing/2014/main" id="{A848228C-469C-47DF-B244-8AD03339505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3610337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 xmlns:a16="http://schemas.microsoft.com/office/drawing/2014/main" id="{9FECF5D4-A006-43B7-81DD-6AEB38519812}"/>
              </a:ext>
            </a:extLst>
          </p:cNvPr>
          <p:cNvSpPr>
            <a:spLocks noGrp="1" noRot="1" noChangeAspect="1" noChangeArrowheads="1" noTextEdit="1"/>
          </p:cNvSpPr>
          <p:nvPr>
            <p:ph type="sldImg"/>
          </p:nvPr>
        </p:nvSpPr>
        <p:spPr>
          <a:ln/>
        </p:spPr>
      </p:sp>
      <p:sp>
        <p:nvSpPr>
          <p:cNvPr id="29699" name="Rectangle 3">
            <a:extLst>
              <a:ext uri="{FF2B5EF4-FFF2-40B4-BE49-F238E27FC236}">
                <a16:creationId xmlns="" xmlns:a16="http://schemas.microsoft.com/office/drawing/2014/main" id="{5D869BC6-F3AA-43DF-97E7-5490F809FB9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4287367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a:extLst>
              <a:ext uri="{FF2B5EF4-FFF2-40B4-BE49-F238E27FC236}">
                <a16:creationId xmlns="" xmlns:a16="http://schemas.microsoft.com/office/drawing/2014/main" id="{AA1067DA-A5CB-4726-97E5-9DF195D4E61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Calibri" panose="020F0502020204030204" pitchFamily="34" charset="0"/>
              </a:defRPr>
            </a:lvl1pPr>
            <a:lvl2pPr marL="742950" indent="-285750" defTabSz="923925">
              <a:defRPr>
                <a:solidFill>
                  <a:schemeClr val="tx1"/>
                </a:solidFill>
                <a:latin typeface="Calibri" panose="020F0502020204030204" pitchFamily="34" charset="0"/>
              </a:defRPr>
            </a:lvl2pPr>
            <a:lvl3pPr marL="1143000" indent="-228600" defTabSz="923925">
              <a:defRPr>
                <a:solidFill>
                  <a:schemeClr val="tx1"/>
                </a:solidFill>
                <a:latin typeface="Calibri" panose="020F0502020204030204" pitchFamily="34" charset="0"/>
              </a:defRPr>
            </a:lvl3pPr>
            <a:lvl4pPr marL="1600200" indent="-228600" defTabSz="923925">
              <a:defRPr>
                <a:solidFill>
                  <a:schemeClr val="tx1"/>
                </a:solidFill>
                <a:latin typeface="Calibri" panose="020F0502020204030204" pitchFamily="34" charset="0"/>
              </a:defRPr>
            </a:lvl4pPr>
            <a:lvl5pPr marL="2057400" indent="-228600" defTabSz="923925">
              <a:defRPr>
                <a:solidFill>
                  <a:schemeClr val="tx1"/>
                </a:solidFill>
                <a:latin typeface="Calibri" panose="020F0502020204030204" pitchFamily="34" charset="0"/>
              </a:defRPr>
            </a:lvl5pPr>
            <a:lvl6pPr marL="2514600" indent="-228600" defTabSz="923925" fontAlgn="base">
              <a:spcBef>
                <a:spcPct val="0"/>
              </a:spcBef>
              <a:spcAft>
                <a:spcPct val="0"/>
              </a:spcAft>
              <a:defRPr>
                <a:solidFill>
                  <a:schemeClr val="tx1"/>
                </a:solidFill>
                <a:latin typeface="Calibri" panose="020F0502020204030204" pitchFamily="34" charset="0"/>
              </a:defRPr>
            </a:lvl6pPr>
            <a:lvl7pPr marL="2971800" indent="-228600" defTabSz="923925" fontAlgn="base">
              <a:spcBef>
                <a:spcPct val="0"/>
              </a:spcBef>
              <a:spcAft>
                <a:spcPct val="0"/>
              </a:spcAft>
              <a:defRPr>
                <a:solidFill>
                  <a:schemeClr val="tx1"/>
                </a:solidFill>
                <a:latin typeface="Calibri" panose="020F0502020204030204" pitchFamily="34" charset="0"/>
              </a:defRPr>
            </a:lvl7pPr>
            <a:lvl8pPr marL="3429000" indent="-228600" defTabSz="923925" fontAlgn="base">
              <a:spcBef>
                <a:spcPct val="0"/>
              </a:spcBef>
              <a:spcAft>
                <a:spcPct val="0"/>
              </a:spcAft>
              <a:defRPr>
                <a:solidFill>
                  <a:schemeClr val="tx1"/>
                </a:solidFill>
                <a:latin typeface="Calibri" panose="020F0502020204030204" pitchFamily="34" charset="0"/>
              </a:defRPr>
            </a:lvl8pPr>
            <a:lvl9pPr marL="3886200" indent="-228600" defTabSz="923925"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53922FCE-84A6-479A-8C18-DA7C1F646F11}" type="slidenum">
              <a:rPr lang="en-US" altLang="en-US">
                <a:latin typeface="Times New Roman" panose="02020603050405020304" pitchFamily="18" charset="0"/>
                <a:ea typeface="MS PGothic" panose="020B0600070205080204" pitchFamily="34" charset="-128"/>
              </a:rPr>
              <a:pPr fontAlgn="base">
                <a:spcBef>
                  <a:spcPct val="0"/>
                </a:spcBef>
                <a:spcAft>
                  <a:spcPct val="0"/>
                </a:spcAft>
              </a:pPr>
              <a:t>76</a:t>
            </a:fld>
            <a:endParaRPr lang="en-US" altLang="en-US">
              <a:latin typeface="Times New Roman" panose="02020603050405020304" pitchFamily="18" charset="0"/>
              <a:ea typeface="MS PGothic" panose="020B0600070205080204" pitchFamily="34" charset="-128"/>
            </a:endParaRPr>
          </a:p>
        </p:txBody>
      </p:sp>
      <p:sp>
        <p:nvSpPr>
          <p:cNvPr id="31747" name="Rectangle 2">
            <a:extLst>
              <a:ext uri="{FF2B5EF4-FFF2-40B4-BE49-F238E27FC236}">
                <a16:creationId xmlns="" xmlns:a16="http://schemas.microsoft.com/office/drawing/2014/main" id="{AEA73FD3-7ACB-444C-9F8A-773EA96FD543}"/>
              </a:ext>
            </a:extLst>
          </p:cNvPr>
          <p:cNvSpPr>
            <a:spLocks noGrp="1" noRot="1" noChangeAspect="1" noChangeArrowheads="1" noTextEdit="1"/>
          </p:cNvSpPr>
          <p:nvPr>
            <p:ph type="sldImg"/>
          </p:nvPr>
        </p:nvSpPr>
        <p:spPr>
          <a:ln/>
        </p:spPr>
      </p:sp>
      <p:sp>
        <p:nvSpPr>
          <p:cNvPr id="31748" name="Rectangle 3">
            <a:extLst>
              <a:ext uri="{FF2B5EF4-FFF2-40B4-BE49-F238E27FC236}">
                <a16:creationId xmlns="" xmlns:a16="http://schemas.microsoft.com/office/drawing/2014/main" id="{47AD44DA-4C7C-4BD6-9199-829EF09F6D0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40002824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C1E859AD-73E6-48F1-AC5B-21AC9FF6E1BC}" type="datetimeFigureOut">
              <a:rPr lang="en-IN" smtClean="0"/>
              <a:t>30-07-2026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BF9BA2B-BA3B-4FC4-9DAB-7A06464EFCBC}" type="slidenum">
              <a:rPr lang="en-IN" smtClean="0"/>
              <a:t>‹#›</a:t>
            </a:fld>
            <a:endParaRPr lang="en-IN"/>
          </a:p>
        </p:txBody>
      </p:sp>
    </p:spTree>
    <p:extLst>
      <p:ext uri="{BB962C8B-B14F-4D97-AF65-F5344CB8AC3E}">
        <p14:creationId xmlns:p14="http://schemas.microsoft.com/office/powerpoint/2010/main" val="23179239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1E859AD-73E6-48F1-AC5B-21AC9FF6E1BC}" type="datetimeFigureOut">
              <a:rPr lang="en-IN" smtClean="0"/>
              <a:t>30-07-2026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BF9BA2B-BA3B-4FC4-9DAB-7A06464EFCBC}" type="slidenum">
              <a:rPr lang="en-IN" smtClean="0"/>
              <a:t>‹#›</a:t>
            </a:fld>
            <a:endParaRPr lang="en-IN"/>
          </a:p>
        </p:txBody>
      </p:sp>
    </p:spTree>
    <p:extLst>
      <p:ext uri="{BB962C8B-B14F-4D97-AF65-F5344CB8AC3E}">
        <p14:creationId xmlns:p14="http://schemas.microsoft.com/office/powerpoint/2010/main" val="1431029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1E859AD-73E6-48F1-AC5B-21AC9FF6E1BC}" type="datetimeFigureOut">
              <a:rPr lang="en-IN" smtClean="0"/>
              <a:t>30-07-2026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BF9BA2B-BA3B-4FC4-9DAB-7A06464EFCBC}" type="slidenum">
              <a:rPr lang="en-IN" smtClean="0"/>
              <a:t>‹#›</a:t>
            </a:fld>
            <a:endParaRPr lang="en-IN"/>
          </a:p>
        </p:txBody>
      </p:sp>
    </p:spTree>
    <p:extLst>
      <p:ext uri="{BB962C8B-B14F-4D97-AF65-F5344CB8AC3E}">
        <p14:creationId xmlns:p14="http://schemas.microsoft.com/office/powerpoint/2010/main" val="19199826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C1E859AD-73E6-48F1-AC5B-21AC9FF6E1BC}" type="datetimeFigureOut">
              <a:rPr lang="en-IN" smtClean="0"/>
              <a:t>30-07-2026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BF9BA2B-BA3B-4FC4-9DAB-7A06464EFCBC}" type="slidenum">
              <a:rPr lang="en-IN" smtClean="0"/>
              <a:t>‹#›</a:t>
            </a:fld>
            <a:endParaRPr lang="en-IN"/>
          </a:p>
        </p:txBody>
      </p:sp>
    </p:spTree>
    <p:extLst>
      <p:ext uri="{BB962C8B-B14F-4D97-AF65-F5344CB8AC3E}">
        <p14:creationId xmlns:p14="http://schemas.microsoft.com/office/powerpoint/2010/main" val="6438656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C1E859AD-73E6-48F1-AC5B-21AC9FF6E1BC}" type="datetimeFigureOut">
              <a:rPr lang="en-IN" smtClean="0"/>
              <a:t>30-07-2026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BF9BA2B-BA3B-4FC4-9DAB-7A06464EFCBC}" type="slidenum">
              <a:rPr lang="en-IN" smtClean="0"/>
              <a:t>‹#›</a:t>
            </a:fld>
            <a:endParaRPr lang="en-IN"/>
          </a:p>
        </p:txBody>
      </p:sp>
    </p:spTree>
    <p:extLst>
      <p:ext uri="{BB962C8B-B14F-4D97-AF65-F5344CB8AC3E}">
        <p14:creationId xmlns:p14="http://schemas.microsoft.com/office/powerpoint/2010/main" val="34651513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C1E859AD-73E6-48F1-AC5B-21AC9FF6E1BC}" type="datetimeFigureOut">
              <a:rPr lang="en-IN" smtClean="0"/>
              <a:t>30-07-2026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BF9BA2B-BA3B-4FC4-9DAB-7A06464EFCBC}" type="slidenum">
              <a:rPr lang="en-IN" smtClean="0"/>
              <a:t>‹#›</a:t>
            </a:fld>
            <a:endParaRPr lang="en-IN"/>
          </a:p>
        </p:txBody>
      </p:sp>
    </p:spTree>
    <p:extLst>
      <p:ext uri="{BB962C8B-B14F-4D97-AF65-F5344CB8AC3E}">
        <p14:creationId xmlns:p14="http://schemas.microsoft.com/office/powerpoint/2010/main" val="16667906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1E859AD-73E6-48F1-AC5B-21AC9FF6E1BC}" type="datetimeFigureOut">
              <a:rPr lang="en-IN" smtClean="0"/>
              <a:t>30-07-2026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BF9BA2B-BA3B-4FC4-9DAB-7A06464EFCBC}" type="slidenum">
              <a:rPr lang="en-IN" smtClean="0"/>
              <a:t>‹#›</a:t>
            </a:fld>
            <a:endParaRPr lang="en-IN"/>
          </a:p>
        </p:txBody>
      </p:sp>
    </p:spTree>
    <p:extLst>
      <p:ext uri="{BB962C8B-B14F-4D97-AF65-F5344CB8AC3E}">
        <p14:creationId xmlns:p14="http://schemas.microsoft.com/office/powerpoint/2010/main" val="15508659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1E859AD-73E6-48F1-AC5B-21AC9FF6E1BC}" type="datetimeFigureOut">
              <a:rPr lang="en-IN" smtClean="0"/>
              <a:t>30-07-2026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BF9BA2B-BA3B-4FC4-9DAB-7A06464EFCBC}" type="slidenum">
              <a:rPr lang="en-IN" smtClean="0"/>
              <a:t>‹#›</a:t>
            </a:fld>
            <a:endParaRPr lang="en-IN"/>
          </a:p>
        </p:txBody>
      </p:sp>
    </p:spTree>
    <p:extLst>
      <p:ext uri="{BB962C8B-B14F-4D97-AF65-F5344CB8AC3E}">
        <p14:creationId xmlns:p14="http://schemas.microsoft.com/office/powerpoint/2010/main" val="41945547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1E859AD-73E6-48F1-AC5B-21AC9FF6E1BC}" type="datetimeFigureOut">
              <a:rPr lang="en-IN" smtClean="0"/>
              <a:t>30-07-2026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BF9BA2B-BA3B-4FC4-9DAB-7A06464EFCBC}" type="slidenum">
              <a:rPr lang="en-IN" smtClean="0"/>
              <a:t>‹#›</a:t>
            </a:fld>
            <a:endParaRPr lang="en-IN"/>
          </a:p>
        </p:txBody>
      </p:sp>
    </p:spTree>
    <p:extLst>
      <p:ext uri="{BB962C8B-B14F-4D97-AF65-F5344CB8AC3E}">
        <p14:creationId xmlns:p14="http://schemas.microsoft.com/office/powerpoint/2010/main" val="27455938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1E859AD-73E6-48F1-AC5B-21AC9FF6E1BC}" type="datetimeFigureOut">
              <a:rPr lang="en-IN" smtClean="0"/>
              <a:t>30-07-2026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BF9BA2B-BA3B-4FC4-9DAB-7A06464EFCBC}" type="slidenum">
              <a:rPr lang="en-IN" smtClean="0"/>
              <a:t>‹#›</a:t>
            </a:fld>
            <a:endParaRPr lang="en-IN"/>
          </a:p>
        </p:txBody>
      </p:sp>
    </p:spTree>
    <p:extLst>
      <p:ext uri="{BB962C8B-B14F-4D97-AF65-F5344CB8AC3E}">
        <p14:creationId xmlns:p14="http://schemas.microsoft.com/office/powerpoint/2010/main" val="25953353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1E859AD-73E6-48F1-AC5B-21AC9FF6E1BC}" type="datetimeFigureOut">
              <a:rPr lang="en-IN" smtClean="0"/>
              <a:t>30-07-2026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BF9BA2B-BA3B-4FC4-9DAB-7A06464EFCBC}" type="slidenum">
              <a:rPr lang="en-IN" smtClean="0"/>
              <a:t>‹#›</a:t>
            </a:fld>
            <a:endParaRPr lang="en-IN"/>
          </a:p>
        </p:txBody>
      </p:sp>
    </p:spTree>
    <p:extLst>
      <p:ext uri="{BB962C8B-B14F-4D97-AF65-F5344CB8AC3E}">
        <p14:creationId xmlns:p14="http://schemas.microsoft.com/office/powerpoint/2010/main" val="7812118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C6CE5E0-7FDA-4975-A993-E1916030B8CB}"/>
              </a:ext>
            </a:extLst>
          </p:cNvPr>
          <p:cNvSpPr>
            <a:spLocks noGrp="1"/>
          </p:cNvSpPr>
          <p:nvPr>
            <p:ph type="title"/>
          </p:nvPr>
        </p:nvSpPr>
        <p:spPr>
          <a:xfrm>
            <a:off x="609600" y="277814"/>
            <a:ext cx="10972800" cy="1139825"/>
          </a:xfrm>
        </p:spPr>
        <p:txBody>
          <a:bodyPr/>
          <a:lstStyle/>
          <a:p>
            <a:r>
              <a:rPr lang="en-US"/>
              <a:t>Click to edit Master title style</a:t>
            </a:r>
          </a:p>
        </p:txBody>
      </p:sp>
      <p:sp>
        <p:nvSpPr>
          <p:cNvPr id="3" name="Table Placeholder 2">
            <a:extLst>
              <a:ext uri="{FF2B5EF4-FFF2-40B4-BE49-F238E27FC236}">
                <a16:creationId xmlns="" xmlns:a16="http://schemas.microsoft.com/office/drawing/2014/main" id="{F69D3565-E1B8-4CC5-8168-4340076A64B3}"/>
              </a:ext>
            </a:extLst>
          </p:cNvPr>
          <p:cNvSpPr>
            <a:spLocks noGrp="1"/>
          </p:cNvSpPr>
          <p:nvPr>
            <p:ph type="tbl" idx="1"/>
          </p:nvPr>
        </p:nvSpPr>
        <p:spPr>
          <a:xfrm>
            <a:off x="609600" y="1600201"/>
            <a:ext cx="10972800" cy="4530725"/>
          </a:xfrm>
        </p:spPr>
        <p:txBody>
          <a:bodyPr/>
          <a:lstStyle/>
          <a:p>
            <a:endParaRPr lang="en-US"/>
          </a:p>
        </p:txBody>
      </p:sp>
      <p:sp>
        <p:nvSpPr>
          <p:cNvPr id="4" name="Date Placeholder 3">
            <a:extLst>
              <a:ext uri="{FF2B5EF4-FFF2-40B4-BE49-F238E27FC236}">
                <a16:creationId xmlns="" xmlns:a16="http://schemas.microsoft.com/office/drawing/2014/main" id="{5579D248-DBF7-42E0-8160-89CBD146F476}"/>
              </a:ext>
            </a:extLst>
          </p:cNvPr>
          <p:cNvSpPr>
            <a:spLocks noGrp="1"/>
          </p:cNvSpPr>
          <p:nvPr>
            <p:ph type="dt" sz="half" idx="10"/>
          </p:nvPr>
        </p:nvSpPr>
        <p:spPr>
          <a:xfrm>
            <a:off x="609600" y="6243638"/>
            <a:ext cx="2844800" cy="457200"/>
          </a:xfrm>
        </p:spPr>
        <p:txBody>
          <a:bodyPr/>
          <a:lstStyle>
            <a:lvl1pPr>
              <a:defRPr/>
            </a:lvl1pPr>
          </a:lstStyle>
          <a:p>
            <a:endParaRPr lang="en-US" altLang="en-US"/>
          </a:p>
        </p:txBody>
      </p:sp>
      <p:sp>
        <p:nvSpPr>
          <p:cNvPr id="5" name="Footer Placeholder 4">
            <a:extLst>
              <a:ext uri="{FF2B5EF4-FFF2-40B4-BE49-F238E27FC236}">
                <a16:creationId xmlns="" xmlns:a16="http://schemas.microsoft.com/office/drawing/2014/main" id="{4B510842-51C7-4691-99CC-6058682BC62E}"/>
              </a:ext>
            </a:extLst>
          </p:cNvPr>
          <p:cNvSpPr>
            <a:spLocks noGrp="1"/>
          </p:cNvSpPr>
          <p:nvPr>
            <p:ph type="ftr" sz="quarter" idx="11"/>
          </p:nvPr>
        </p:nvSpPr>
        <p:spPr>
          <a:xfrm>
            <a:off x="4165600" y="6248400"/>
            <a:ext cx="3860800" cy="457200"/>
          </a:xfrm>
        </p:spPr>
        <p:txBody>
          <a:bodyPr/>
          <a:lstStyle>
            <a:lvl1pPr>
              <a:defRPr/>
            </a:lvl1pPr>
          </a:lstStyle>
          <a:p>
            <a:endParaRPr lang="en-US" altLang="en-US"/>
          </a:p>
        </p:txBody>
      </p:sp>
      <p:sp>
        <p:nvSpPr>
          <p:cNvPr id="6" name="Slide Number Placeholder 5">
            <a:extLst>
              <a:ext uri="{FF2B5EF4-FFF2-40B4-BE49-F238E27FC236}">
                <a16:creationId xmlns="" xmlns:a16="http://schemas.microsoft.com/office/drawing/2014/main" id="{6171EDF7-0B7B-4D8E-943C-4D82129D8DC7}"/>
              </a:ext>
            </a:extLst>
          </p:cNvPr>
          <p:cNvSpPr>
            <a:spLocks noGrp="1"/>
          </p:cNvSpPr>
          <p:nvPr>
            <p:ph type="sldNum" sz="quarter" idx="12"/>
          </p:nvPr>
        </p:nvSpPr>
        <p:spPr>
          <a:xfrm>
            <a:off x="8737600" y="6243638"/>
            <a:ext cx="2844800" cy="457200"/>
          </a:xfrm>
        </p:spPr>
        <p:txBody>
          <a:bodyPr/>
          <a:lstStyle>
            <a:lvl1pPr>
              <a:defRPr/>
            </a:lvl1pPr>
          </a:lstStyle>
          <a:p>
            <a:fld id="{12BCE705-C2EC-485C-BE91-9BDBDCC29749}" type="slidenum">
              <a:rPr lang="en-US" altLang="en-US"/>
              <a:pPr/>
              <a:t>‹#›</a:t>
            </a:fld>
            <a:endParaRPr lang="en-US" altLang="en-US"/>
          </a:p>
        </p:txBody>
      </p:sp>
    </p:spTree>
    <p:extLst>
      <p:ext uri="{BB962C8B-B14F-4D97-AF65-F5344CB8AC3E}">
        <p14:creationId xmlns:p14="http://schemas.microsoft.com/office/powerpoint/2010/main" val="22535717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1E859AD-73E6-48F1-AC5B-21AC9FF6E1BC}" type="datetimeFigureOut">
              <a:rPr lang="en-IN" smtClean="0"/>
              <a:t>30-07-2026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BF9BA2B-BA3B-4FC4-9DAB-7A06464EFCBC}" type="slidenum">
              <a:rPr lang="en-IN" smtClean="0"/>
              <a:t>‹#›</a:t>
            </a:fld>
            <a:endParaRPr lang="en-IN"/>
          </a:p>
        </p:txBody>
      </p:sp>
    </p:spTree>
    <p:extLst>
      <p:ext uri="{BB962C8B-B14F-4D97-AF65-F5344CB8AC3E}">
        <p14:creationId xmlns:p14="http://schemas.microsoft.com/office/powerpoint/2010/main" val="1135242679"/>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4" Type="http://schemas.openxmlformats.org/officeDocument/2006/relationships/image" Target="../media/image7.jpg"/></Relationships>
</file>

<file path=ppt/slides/_rels/slide3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24.png"/><Relationship Id="rId18" Type="http://schemas.openxmlformats.org/officeDocument/2006/relationships/image" Target="../media/image29.png"/><Relationship Id="rId3" Type="http://schemas.openxmlformats.org/officeDocument/2006/relationships/image" Target="../media/image14.png"/><Relationship Id="rId7" Type="http://schemas.openxmlformats.org/officeDocument/2006/relationships/image" Target="../media/image18.png"/><Relationship Id="rId12" Type="http://schemas.openxmlformats.org/officeDocument/2006/relationships/image" Target="../media/image23.png"/><Relationship Id="rId17" Type="http://schemas.openxmlformats.org/officeDocument/2006/relationships/image" Target="../media/image28.png"/><Relationship Id="rId2" Type="http://schemas.openxmlformats.org/officeDocument/2006/relationships/image" Target="../media/image13.png"/><Relationship Id="rId16" Type="http://schemas.openxmlformats.org/officeDocument/2006/relationships/image" Target="../media/image27.png"/><Relationship Id="rId1" Type="http://schemas.openxmlformats.org/officeDocument/2006/relationships/slideLayout" Target="../slideLayouts/slideLayout2.xml"/><Relationship Id="rId6" Type="http://schemas.openxmlformats.org/officeDocument/2006/relationships/image" Target="../media/image17.png"/><Relationship Id="rId11" Type="http://schemas.openxmlformats.org/officeDocument/2006/relationships/image" Target="../media/image22.png"/><Relationship Id="rId5" Type="http://schemas.openxmlformats.org/officeDocument/2006/relationships/image" Target="../media/image16.png"/><Relationship Id="rId15" Type="http://schemas.openxmlformats.org/officeDocument/2006/relationships/image" Target="../media/image26.png"/><Relationship Id="rId10" Type="http://schemas.openxmlformats.org/officeDocument/2006/relationships/image" Target="../media/image21.png"/><Relationship Id="rId4" Type="http://schemas.openxmlformats.org/officeDocument/2006/relationships/image" Target="../media/image15.png"/><Relationship Id="rId9" Type="http://schemas.openxmlformats.org/officeDocument/2006/relationships/image" Target="../media/image20.png"/><Relationship Id="rId14" Type="http://schemas.openxmlformats.org/officeDocument/2006/relationships/image" Target="../media/image25.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IN" dirty="0" smtClean="0">
                <a:solidFill>
                  <a:srgbClr val="FF0000"/>
                </a:solidFill>
              </a:rPr>
              <a:t>Operating Systems (22CSC15N)</a:t>
            </a:r>
            <a:br>
              <a:rPr lang="en-IN" dirty="0" smtClean="0">
                <a:solidFill>
                  <a:srgbClr val="FF0000"/>
                </a:solidFill>
              </a:rPr>
            </a:br>
            <a:r>
              <a:rPr lang="en-US" dirty="0">
                <a:solidFill>
                  <a:srgbClr val="FF0000"/>
                </a:solidFill>
              </a:rPr>
              <a:t>BE(CSE) V-Semester</a:t>
            </a:r>
            <a:endParaRPr lang="en-IN" dirty="0">
              <a:solidFill>
                <a:srgbClr val="FF0000"/>
              </a:solidFill>
            </a:endParaRPr>
          </a:p>
        </p:txBody>
      </p:sp>
      <p:sp>
        <p:nvSpPr>
          <p:cNvPr id="3" name="Subtitle 2"/>
          <p:cNvSpPr>
            <a:spLocks noGrp="1"/>
          </p:cNvSpPr>
          <p:nvPr>
            <p:ph type="subTitle" idx="1"/>
          </p:nvPr>
        </p:nvSpPr>
        <p:spPr/>
        <p:txBody>
          <a:bodyPr>
            <a:normAutofit fontScale="77500" lnSpcReduction="20000"/>
          </a:bodyPr>
          <a:lstStyle/>
          <a:p>
            <a:r>
              <a:rPr lang="en-US" dirty="0" smtClean="0">
                <a:solidFill>
                  <a:srgbClr val="FF0000"/>
                </a:solidFill>
                <a:latin typeface="Times New Roman" pitchFamily="18" charset="0"/>
                <a:cs typeface="Times New Roman" pitchFamily="18" charset="0"/>
              </a:rPr>
              <a:t/>
            </a:r>
            <a:br>
              <a:rPr lang="en-US" dirty="0" smtClean="0">
                <a:solidFill>
                  <a:srgbClr val="FF0000"/>
                </a:solidFill>
                <a:latin typeface="Times New Roman" pitchFamily="18" charset="0"/>
                <a:cs typeface="Times New Roman" pitchFamily="18" charset="0"/>
              </a:rPr>
            </a:br>
            <a:r>
              <a:rPr lang="en-US" dirty="0" smtClean="0">
                <a:solidFill>
                  <a:schemeClr val="tx1"/>
                </a:solidFill>
                <a:latin typeface="Times New Roman" pitchFamily="18" charset="0"/>
                <a:cs typeface="Times New Roman" pitchFamily="18" charset="0"/>
              </a:rPr>
              <a:t> Prepared</a:t>
            </a:r>
          </a:p>
          <a:p>
            <a:r>
              <a:rPr lang="en-US" dirty="0" smtClean="0">
                <a:solidFill>
                  <a:schemeClr val="tx1"/>
                </a:solidFill>
                <a:latin typeface="Times New Roman" pitchFamily="18" charset="0"/>
                <a:cs typeface="Times New Roman" pitchFamily="18" charset="0"/>
              </a:rPr>
              <a:t> by</a:t>
            </a:r>
            <a:br>
              <a:rPr lang="en-US" dirty="0" smtClean="0">
                <a:solidFill>
                  <a:schemeClr val="tx1"/>
                </a:solidFill>
                <a:latin typeface="Times New Roman" pitchFamily="18" charset="0"/>
                <a:cs typeface="Times New Roman" pitchFamily="18" charset="0"/>
              </a:rPr>
            </a:br>
            <a:r>
              <a:rPr lang="en-US" dirty="0" smtClean="0">
                <a:latin typeface="Times New Roman" pitchFamily="18" charset="0"/>
                <a:cs typeface="Times New Roman" pitchFamily="18" charset="0"/>
              </a:rPr>
              <a:t>J Shiva Sai</a:t>
            </a:r>
            <a:r>
              <a:rPr lang="en-US" dirty="0" smtClean="0">
                <a:solidFill>
                  <a:schemeClr val="tx1"/>
                </a:solidFill>
                <a:latin typeface="Times New Roman" pitchFamily="18" charset="0"/>
                <a:cs typeface="Times New Roman" pitchFamily="18" charset="0"/>
              </a:rPr>
              <a:t/>
            </a:r>
            <a:br>
              <a:rPr lang="en-US" dirty="0" smtClean="0">
                <a:solidFill>
                  <a:schemeClr val="tx1"/>
                </a:solidFill>
                <a:latin typeface="Times New Roman" pitchFamily="18" charset="0"/>
                <a:cs typeface="Times New Roman" pitchFamily="18" charset="0"/>
              </a:rPr>
            </a:br>
            <a:r>
              <a:rPr lang="en-US" dirty="0" smtClean="0">
                <a:solidFill>
                  <a:schemeClr val="tx1"/>
                </a:solidFill>
                <a:latin typeface="Times New Roman" pitchFamily="18" charset="0"/>
                <a:cs typeface="Times New Roman" pitchFamily="18" charset="0"/>
              </a:rPr>
              <a:t>Assistant Professor</a:t>
            </a:r>
            <a:br>
              <a:rPr lang="en-US" dirty="0" smtClean="0">
                <a:solidFill>
                  <a:schemeClr val="tx1"/>
                </a:solidFill>
                <a:latin typeface="Times New Roman" pitchFamily="18" charset="0"/>
                <a:cs typeface="Times New Roman" pitchFamily="18" charset="0"/>
              </a:rPr>
            </a:br>
            <a:r>
              <a:rPr lang="en-US" dirty="0" smtClean="0">
                <a:solidFill>
                  <a:schemeClr val="tx1"/>
                </a:solidFill>
                <a:latin typeface="Times New Roman" pitchFamily="18" charset="0"/>
                <a:cs typeface="Times New Roman" pitchFamily="18" charset="0"/>
              </a:rPr>
              <a:t>Department of Computer Science and Engineering</a:t>
            </a:r>
            <a:br>
              <a:rPr lang="en-US" dirty="0" smtClean="0">
                <a:solidFill>
                  <a:schemeClr val="tx1"/>
                </a:solidFill>
                <a:latin typeface="Times New Roman" pitchFamily="18" charset="0"/>
                <a:cs typeface="Times New Roman" pitchFamily="18" charset="0"/>
              </a:rPr>
            </a:br>
            <a:r>
              <a:rPr lang="en-US" dirty="0" smtClean="0">
                <a:solidFill>
                  <a:schemeClr val="tx1"/>
                </a:solidFill>
                <a:latin typeface="Times New Roman" pitchFamily="18" charset="0"/>
                <a:cs typeface="Times New Roman" pitchFamily="18" charset="0"/>
              </a:rPr>
              <a:t>Chaitanya  </a:t>
            </a:r>
            <a:r>
              <a:rPr lang="en-US" dirty="0" err="1" smtClean="0">
                <a:solidFill>
                  <a:schemeClr val="tx1"/>
                </a:solidFill>
                <a:latin typeface="Times New Roman" pitchFamily="18" charset="0"/>
                <a:cs typeface="Times New Roman" pitchFamily="18" charset="0"/>
              </a:rPr>
              <a:t>Bharathi</a:t>
            </a:r>
            <a:r>
              <a:rPr lang="en-US" dirty="0" smtClean="0">
                <a:solidFill>
                  <a:schemeClr val="tx1"/>
                </a:solidFill>
                <a:latin typeface="Times New Roman" pitchFamily="18" charset="0"/>
                <a:cs typeface="Times New Roman" pitchFamily="18" charset="0"/>
              </a:rPr>
              <a:t> Institute of Technology </a:t>
            </a:r>
            <a:endParaRPr lang="en-US" dirty="0">
              <a:solidFill>
                <a:schemeClr val="tx1"/>
              </a:solidFill>
            </a:endParaRPr>
          </a:p>
        </p:txBody>
      </p:sp>
    </p:spTree>
    <p:extLst>
      <p:ext uri="{BB962C8B-B14F-4D97-AF65-F5344CB8AC3E}">
        <p14:creationId xmlns:p14="http://schemas.microsoft.com/office/powerpoint/2010/main" val="99521424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Course Objectives:</a:t>
            </a:r>
            <a:endParaRPr lang="en-IN" dirty="0">
              <a:solidFill>
                <a:srgbClr val="FF0000"/>
              </a:solidFill>
            </a:endParaRPr>
          </a:p>
        </p:txBody>
      </p:sp>
      <p:sp>
        <p:nvSpPr>
          <p:cNvPr id="3" name="Content Placeholder 2"/>
          <p:cNvSpPr>
            <a:spLocks noGrp="1"/>
          </p:cNvSpPr>
          <p:nvPr>
            <p:ph idx="1"/>
          </p:nvPr>
        </p:nvSpPr>
        <p:spPr/>
        <p:txBody>
          <a:bodyPr/>
          <a:lstStyle/>
          <a:p>
            <a:pPr marL="0" indent="0">
              <a:buNone/>
            </a:pPr>
            <a:r>
              <a:rPr lang="en-US" dirty="0" smtClean="0"/>
              <a:t>This course aims to:</a:t>
            </a:r>
          </a:p>
          <a:p>
            <a:pPr marL="0" indent="0">
              <a:buNone/>
            </a:pPr>
            <a:r>
              <a:rPr lang="en-US" dirty="0" smtClean="0"/>
              <a:t>1. Understand the basic concepts and design of an operating system.</a:t>
            </a:r>
          </a:p>
          <a:p>
            <a:pPr marL="0" indent="0">
              <a:buNone/>
            </a:pPr>
            <a:r>
              <a:rPr lang="en-US" dirty="0" smtClean="0"/>
              <a:t>2. Interpret the structure and organization of the file system.</a:t>
            </a:r>
          </a:p>
          <a:p>
            <a:pPr marL="0" indent="0">
              <a:buNone/>
            </a:pPr>
            <a:r>
              <a:rPr lang="en-US" dirty="0" smtClean="0"/>
              <a:t>3. Learn Inter Process Communication mechanisms and memory management approaches.</a:t>
            </a:r>
          </a:p>
          <a:p>
            <a:pPr marL="0" indent="0">
              <a:buNone/>
            </a:pPr>
            <a:r>
              <a:rPr lang="en-US" dirty="0" smtClean="0"/>
              <a:t>4. Explore cloud infrastructures and technologies.</a:t>
            </a:r>
            <a:endParaRPr lang="en-IN" dirty="0"/>
          </a:p>
        </p:txBody>
      </p:sp>
    </p:spTree>
    <p:extLst>
      <p:ext uri="{BB962C8B-B14F-4D97-AF65-F5344CB8AC3E}">
        <p14:creationId xmlns:p14="http://schemas.microsoft.com/office/powerpoint/2010/main" val="212106552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Course Outcomes: </a:t>
            </a:r>
            <a:endParaRPr lang="en-IN" dirty="0">
              <a:solidFill>
                <a:srgbClr val="FF0000"/>
              </a:solidFill>
            </a:endParaRPr>
          </a:p>
        </p:txBody>
      </p:sp>
      <p:sp>
        <p:nvSpPr>
          <p:cNvPr id="3" name="Content Placeholder 2"/>
          <p:cNvSpPr>
            <a:spLocks noGrp="1"/>
          </p:cNvSpPr>
          <p:nvPr>
            <p:ph idx="1"/>
          </p:nvPr>
        </p:nvSpPr>
        <p:spPr/>
        <p:txBody>
          <a:bodyPr>
            <a:normAutofit/>
          </a:bodyPr>
          <a:lstStyle/>
          <a:p>
            <a:pPr marL="0" indent="0">
              <a:buNone/>
            </a:pPr>
            <a:r>
              <a:rPr lang="en-US" dirty="0" smtClean="0"/>
              <a:t>Upon completion of this course, students will be able to:</a:t>
            </a:r>
          </a:p>
          <a:p>
            <a:pPr marL="0" indent="0">
              <a:buNone/>
            </a:pPr>
            <a:r>
              <a:rPr lang="en-US" dirty="0" smtClean="0"/>
              <a:t>1. Understand the basics of Operating systems and its major components.</a:t>
            </a:r>
          </a:p>
          <a:p>
            <a:pPr marL="0" indent="0">
              <a:buNone/>
            </a:pPr>
            <a:r>
              <a:rPr lang="en-US" dirty="0" smtClean="0"/>
              <a:t>2. Illustrate the concepts related to process management.</a:t>
            </a:r>
          </a:p>
          <a:p>
            <a:pPr marL="0" indent="0">
              <a:buNone/>
            </a:pPr>
            <a:r>
              <a:rPr lang="en-US" dirty="0" smtClean="0"/>
              <a:t>3. Distinguish various memory management techniques.</a:t>
            </a:r>
          </a:p>
          <a:p>
            <a:pPr marL="0" indent="0">
              <a:buNone/>
            </a:pPr>
            <a:r>
              <a:rPr lang="en-US" dirty="0" smtClean="0"/>
              <a:t>4. Apply concepts of process synchronization and deadlocks to a given situation.</a:t>
            </a:r>
          </a:p>
          <a:p>
            <a:pPr marL="0" indent="0">
              <a:buNone/>
            </a:pPr>
            <a:r>
              <a:rPr lang="en-US" dirty="0" smtClean="0"/>
              <a:t>5. Evaluate various file allocation methods and security as well as recovery features in the designing Operating system.</a:t>
            </a:r>
            <a:endParaRPr lang="en-IN" dirty="0"/>
          </a:p>
        </p:txBody>
      </p:sp>
    </p:spTree>
    <p:extLst>
      <p:ext uri="{BB962C8B-B14F-4D97-AF65-F5344CB8AC3E}">
        <p14:creationId xmlns:p14="http://schemas.microsoft.com/office/powerpoint/2010/main" val="410809097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solidFill>
                  <a:srgbClr val="FF0000"/>
                </a:solidFill>
              </a:rPr>
              <a:t>UNIT-1</a:t>
            </a:r>
            <a:endParaRPr lang="en-IN" dirty="0">
              <a:solidFill>
                <a:srgbClr val="FF0000"/>
              </a:solidFill>
            </a:endParaRPr>
          </a:p>
        </p:txBody>
      </p:sp>
      <p:sp>
        <p:nvSpPr>
          <p:cNvPr id="3" name="Content Placeholder 2"/>
          <p:cNvSpPr>
            <a:spLocks noGrp="1"/>
          </p:cNvSpPr>
          <p:nvPr>
            <p:ph idx="1"/>
          </p:nvPr>
        </p:nvSpPr>
        <p:spPr/>
        <p:txBody>
          <a:bodyPr/>
          <a:lstStyle/>
          <a:p>
            <a:r>
              <a:rPr lang="en-IN" dirty="0" smtClean="0">
                <a:solidFill>
                  <a:srgbClr val="FF0000"/>
                </a:solidFill>
              </a:rPr>
              <a:t>Introduction to Operating Systems: </a:t>
            </a:r>
            <a:r>
              <a:rPr lang="en-IN" dirty="0" smtClean="0"/>
              <a:t>Computer System overview, Components of a computer system, functions of OS, Examples and different types of OS (RTOS vs. desktop vs. mobile etc.), OS distributions and versions.</a:t>
            </a:r>
          </a:p>
          <a:p>
            <a:r>
              <a:rPr lang="en-IN" dirty="0" smtClean="0">
                <a:solidFill>
                  <a:srgbClr val="FF0000"/>
                </a:solidFill>
              </a:rPr>
              <a:t>OS architectures: </a:t>
            </a:r>
            <a:r>
              <a:rPr lang="en-IN" dirty="0" smtClean="0"/>
              <a:t>Micro-kernel, Layered, Kernel Approaches and examples, </a:t>
            </a:r>
            <a:r>
              <a:rPr lang="en-US" dirty="0"/>
              <a:t>Linux/Unix OS Design and architecture overview.</a:t>
            </a:r>
            <a:endParaRPr lang="en-IN" dirty="0"/>
          </a:p>
        </p:txBody>
      </p:sp>
    </p:spTree>
    <p:extLst>
      <p:ext uri="{BB962C8B-B14F-4D97-AF65-F5344CB8AC3E}">
        <p14:creationId xmlns:p14="http://schemas.microsoft.com/office/powerpoint/2010/main" val="264317410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8522EC3-8DA6-47FB-9241-F85EBAB62CB4}"/>
              </a:ext>
            </a:extLst>
          </p:cNvPr>
          <p:cNvSpPr>
            <a:spLocks noGrp="1"/>
          </p:cNvSpPr>
          <p:nvPr>
            <p:ph type="title"/>
          </p:nvPr>
        </p:nvSpPr>
        <p:spPr>
          <a:xfrm>
            <a:off x="838200" y="480153"/>
            <a:ext cx="10515600" cy="1095506"/>
          </a:xfrm>
        </p:spPr>
        <p:txBody>
          <a:bodyPr/>
          <a:lstStyle/>
          <a:p>
            <a:r>
              <a:rPr lang="en-US" altLang="en-US" dirty="0">
                <a:solidFill>
                  <a:srgbClr val="FF0000"/>
                </a:solidFill>
              </a:rPr>
              <a:t>Operating System</a:t>
            </a:r>
            <a:endParaRPr lang="en-US" dirty="0">
              <a:solidFill>
                <a:srgbClr val="FF0000"/>
              </a:solidFill>
            </a:endParaRPr>
          </a:p>
        </p:txBody>
      </p:sp>
      <p:sp>
        <p:nvSpPr>
          <p:cNvPr id="3" name="Content Placeholder 2">
            <a:extLst>
              <a:ext uri="{FF2B5EF4-FFF2-40B4-BE49-F238E27FC236}">
                <a16:creationId xmlns:a16="http://schemas.microsoft.com/office/drawing/2014/main" xmlns="" id="{B3945EBC-45C3-46A3-B39B-09941E37956C}"/>
              </a:ext>
            </a:extLst>
          </p:cNvPr>
          <p:cNvSpPr>
            <a:spLocks noGrp="1"/>
          </p:cNvSpPr>
          <p:nvPr>
            <p:ph idx="1"/>
          </p:nvPr>
        </p:nvSpPr>
        <p:spPr/>
        <p:txBody>
          <a:bodyPr/>
          <a:lstStyle/>
          <a:p>
            <a:r>
              <a:rPr lang="en-US" altLang="en-US" dirty="0"/>
              <a:t>A program that acts as an intermediary between a user of a computer and the computer hardware</a:t>
            </a:r>
          </a:p>
          <a:p>
            <a:r>
              <a:rPr lang="en-US" altLang="en-US" dirty="0"/>
              <a:t>Operating system goals:</a:t>
            </a:r>
          </a:p>
          <a:p>
            <a:pPr lvl="1"/>
            <a:r>
              <a:rPr lang="en-US" altLang="en-US" dirty="0"/>
              <a:t>Execute user programs and make solving user problems easier</a:t>
            </a:r>
          </a:p>
          <a:p>
            <a:pPr lvl="1"/>
            <a:r>
              <a:rPr lang="en-US" altLang="en-US" dirty="0"/>
              <a:t>Make the computer system convenient to use</a:t>
            </a:r>
          </a:p>
          <a:p>
            <a:pPr lvl="1"/>
            <a:r>
              <a:rPr lang="en-US" altLang="en-US" dirty="0"/>
              <a:t>Use the computer hardware in an efficient manner</a:t>
            </a:r>
          </a:p>
          <a:p>
            <a:pPr lvl="1"/>
            <a:endParaRPr lang="en-US" dirty="0"/>
          </a:p>
          <a:p>
            <a:pPr lvl="1"/>
            <a:r>
              <a:rPr lang="en-US" altLang="en-US" sz="2400" u="sng" dirty="0"/>
              <a:t>Examples:</a:t>
            </a:r>
            <a:r>
              <a:rPr lang="en-US" altLang="en-US" sz="2400" dirty="0"/>
              <a:t> Windows, Linux, Unix and Mac OS, etc.</a:t>
            </a:r>
            <a:endParaRPr lang="en-US" dirty="0"/>
          </a:p>
        </p:txBody>
      </p:sp>
    </p:spTree>
    <p:extLst>
      <p:ext uri="{BB962C8B-B14F-4D97-AF65-F5344CB8AC3E}">
        <p14:creationId xmlns:p14="http://schemas.microsoft.com/office/powerpoint/2010/main" val="403647015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6347FB7-33CE-4B4D-9B8B-C67641239EBA}"/>
              </a:ext>
            </a:extLst>
          </p:cNvPr>
          <p:cNvSpPr>
            <a:spLocks noGrp="1"/>
          </p:cNvSpPr>
          <p:nvPr>
            <p:ph type="title"/>
          </p:nvPr>
        </p:nvSpPr>
        <p:spPr/>
        <p:txBody>
          <a:bodyPr/>
          <a:lstStyle/>
          <a:p>
            <a:r>
              <a:rPr lang="en-US" dirty="0">
                <a:solidFill>
                  <a:srgbClr val="FF0000"/>
                </a:solidFill>
              </a:rPr>
              <a:t>Computer Structure</a:t>
            </a:r>
          </a:p>
        </p:txBody>
      </p:sp>
      <p:sp>
        <p:nvSpPr>
          <p:cNvPr id="3" name="Content Placeholder 2">
            <a:extLst>
              <a:ext uri="{FF2B5EF4-FFF2-40B4-BE49-F238E27FC236}">
                <a16:creationId xmlns:a16="http://schemas.microsoft.com/office/drawing/2014/main" xmlns="" id="{DEF7C20F-0B08-479A-899E-D1E128570512}"/>
              </a:ext>
            </a:extLst>
          </p:cNvPr>
          <p:cNvSpPr>
            <a:spLocks noGrp="1"/>
          </p:cNvSpPr>
          <p:nvPr>
            <p:ph idx="1"/>
          </p:nvPr>
        </p:nvSpPr>
        <p:spPr/>
        <p:txBody>
          <a:bodyPr/>
          <a:lstStyle/>
          <a:p>
            <a:r>
              <a:rPr lang="en-US" altLang="en-US" dirty="0"/>
              <a:t>Computer system can be divided into four components:</a:t>
            </a:r>
          </a:p>
          <a:p>
            <a:pPr lvl="1"/>
            <a:r>
              <a:rPr lang="en-US" altLang="en-US" dirty="0">
                <a:solidFill>
                  <a:srgbClr val="FF0000"/>
                </a:solidFill>
              </a:rPr>
              <a:t>Hardware</a:t>
            </a:r>
            <a:r>
              <a:rPr lang="en-US" altLang="en-US" dirty="0"/>
              <a:t> – provides basic computing resources</a:t>
            </a:r>
          </a:p>
          <a:p>
            <a:pPr lvl="2"/>
            <a:r>
              <a:rPr lang="en-US" altLang="en-US" dirty="0"/>
              <a:t>CPU, memory, I/O devices</a:t>
            </a:r>
          </a:p>
          <a:p>
            <a:pPr lvl="1"/>
            <a:r>
              <a:rPr lang="en-US" altLang="en-US" dirty="0">
                <a:solidFill>
                  <a:srgbClr val="FF0000"/>
                </a:solidFill>
              </a:rPr>
              <a:t>Operating system</a:t>
            </a:r>
          </a:p>
          <a:p>
            <a:pPr lvl="2"/>
            <a:r>
              <a:rPr lang="en-US" altLang="en-US" dirty="0"/>
              <a:t>Controls and coordinates use of hardware among various applications and users</a:t>
            </a:r>
          </a:p>
          <a:p>
            <a:pPr lvl="1"/>
            <a:r>
              <a:rPr lang="en-US" altLang="en-US" dirty="0">
                <a:solidFill>
                  <a:srgbClr val="FF0000"/>
                </a:solidFill>
              </a:rPr>
              <a:t>Application programs </a:t>
            </a:r>
            <a:r>
              <a:rPr lang="en-US" altLang="en-US" dirty="0"/>
              <a:t>– define the ways in which the system resources are used to solve the computing problems of the users</a:t>
            </a:r>
          </a:p>
          <a:p>
            <a:pPr lvl="2"/>
            <a:r>
              <a:rPr lang="en-US" altLang="en-US" dirty="0"/>
              <a:t>Word processors,  web browsers, video games</a:t>
            </a:r>
          </a:p>
          <a:p>
            <a:pPr lvl="1"/>
            <a:r>
              <a:rPr lang="en-US" altLang="en-US" dirty="0">
                <a:solidFill>
                  <a:srgbClr val="FF0000"/>
                </a:solidFill>
              </a:rPr>
              <a:t>Users</a:t>
            </a:r>
          </a:p>
          <a:p>
            <a:pPr marL="0" indent="0">
              <a:buNone/>
            </a:pPr>
            <a:endParaRPr lang="en-US" dirty="0"/>
          </a:p>
        </p:txBody>
      </p:sp>
    </p:spTree>
    <p:extLst>
      <p:ext uri="{BB962C8B-B14F-4D97-AF65-F5344CB8AC3E}">
        <p14:creationId xmlns:p14="http://schemas.microsoft.com/office/powerpoint/2010/main" val="83628825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D62CD6A-D461-4D57-A637-2F4F3F3AF81C}"/>
              </a:ext>
            </a:extLst>
          </p:cNvPr>
          <p:cNvSpPr>
            <a:spLocks noGrp="1"/>
          </p:cNvSpPr>
          <p:nvPr>
            <p:ph type="title"/>
          </p:nvPr>
        </p:nvSpPr>
        <p:spPr/>
        <p:txBody>
          <a:bodyPr/>
          <a:lstStyle/>
          <a:p>
            <a:r>
              <a:rPr lang="en-US" altLang="en-US" sz="4400" dirty="0">
                <a:solidFill>
                  <a:srgbClr val="FF0000"/>
                </a:solidFill>
              </a:rPr>
              <a:t>Four Components of a Computer System</a:t>
            </a:r>
            <a:endParaRPr lang="en-US" dirty="0">
              <a:solidFill>
                <a:srgbClr val="FF0000"/>
              </a:solidFill>
            </a:endParaRPr>
          </a:p>
        </p:txBody>
      </p:sp>
      <p:pic>
        <p:nvPicPr>
          <p:cNvPr id="6" name="Content Placeholder 5">
            <a:extLst>
              <a:ext uri="{FF2B5EF4-FFF2-40B4-BE49-F238E27FC236}">
                <a16:creationId xmlns:a16="http://schemas.microsoft.com/office/drawing/2014/main" xmlns="" id="{9F70E2B3-18F5-464C-9D5D-F34CA723D72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79320" y="1825625"/>
            <a:ext cx="7647597"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3270459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04685C4-3DEF-49F5-B5E8-3D127B2A5E6F}"/>
              </a:ext>
            </a:extLst>
          </p:cNvPr>
          <p:cNvSpPr>
            <a:spLocks noGrp="1"/>
          </p:cNvSpPr>
          <p:nvPr>
            <p:ph type="title"/>
          </p:nvPr>
        </p:nvSpPr>
        <p:spPr/>
        <p:txBody>
          <a:bodyPr/>
          <a:lstStyle/>
          <a:p>
            <a:r>
              <a:rPr lang="en-US" altLang="en-US" dirty="0">
                <a:solidFill>
                  <a:srgbClr val="FF0000"/>
                </a:solidFill>
              </a:rPr>
              <a:t>Operating System Definition</a:t>
            </a:r>
            <a:endParaRPr lang="en-US" dirty="0">
              <a:solidFill>
                <a:srgbClr val="FF0000"/>
              </a:solidFill>
            </a:endParaRPr>
          </a:p>
        </p:txBody>
      </p:sp>
      <p:sp>
        <p:nvSpPr>
          <p:cNvPr id="3" name="Content Placeholder 2">
            <a:extLst>
              <a:ext uri="{FF2B5EF4-FFF2-40B4-BE49-F238E27FC236}">
                <a16:creationId xmlns:a16="http://schemas.microsoft.com/office/drawing/2014/main" xmlns="" id="{77DA6AEE-1418-4FC6-B190-D6D6B0A140DE}"/>
              </a:ext>
            </a:extLst>
          </p:cNvPr>
          <p:cNvSpPr>
            <a:spLocks noGrp="1"/>
          </p:cNvSpPr>
          <p:nvPr>
            <p:ph idx="1"/>
          </p:nvPr>
        </p:nvSpPr>
        <p:spPr/>
        <p:txBody>
          <a:bodyPr/>
          <a:lstStyle/>
          <a:p>
            <a:r>
              <a:rPr lang="en-US" altLang="en-US" dirty="0"/>
              <a:t>OS is a </a:t>
            </a:r>
            <a:r>
              <a:rPr lang="en-US" altLang="en-US" b="1" dirty="0">
                <a:solidFill>
                  <a:srgbClr val="3366FF"/>
                </a:solidFill>
              </a:rPr>
              <a:t>resource allocator</a:t>
            </a:r>
          </a:p>
          <a:p>
            <a:pPr lvl="1"/>
            <a:r>
              <a:rPr lang="en-US" altLang="en-US" dirty="0"/>
              <a:t>Manages all resources</a:t>
            </a:r>
          </a:p>
          <a:p>
            <a:pPr lvl="1"/>
            <a:r>
              <a:rPr lang="en-US" altLang="en-US" dirty="0"/>
              <a:t>Decides between conflicting requests for efficient and fair resource use</a:t>
            </a:r>
          </a:p>
          <a:p>
            <a:r>
              <a:rPr lang="en-US" altLang="en-US" dirty="0"/>
              <a:t>OS is a </a:t>
            </a:r>
            <a:r>
              <a:rPr lang="en-US" altLang="en-US" b="1" dirty="0">
                <a:solidFill>
                  <a:srgbClr val="3366FF"/>
                </a:solidFill>
              </a:rPr>
              <a:t>control program</a:t>
            </a:r>
          </a:p>
          <a:p>
            <a:pPr lvl="1"/>
            <a:r>
              <a:rPr lang="en-US" altLang="en-US" dirty="0"/>
              <a:t>Controls execution of programs to prevent errors and improper use of the computer</a:t>
            </a:r>
          </a:p>
          <a:p>
            <a:pPr marL="0" indent="0">
              <a:buNone/>
            </a:pPr>
            <a:endParaRPr lang="en-US" dirty="0"/>
          </a:p>
        </p:txBody>
      </p:sp>
    </p:spTree>
    <p:extLst>
      <p:ext uri="{BB962C8B-B14F-4D97-AF65-F5344CB8AC3E}">
        <p14:creationId xmlns:p14="http://schemas.microsoft.com/office/powerpoint/2010/main" val="337613578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B9992EF-468C-4CDB-BA31-BD503C48DC90}"/>
              </a:ext>
            </a:extLst>
          </p:cNvPr>
          <p:cNvSpPr>
            <a:spLocks noGrp="1"/>
          </p:cNvSpPr>
          <p:nvPr>
            <p:ph type="title"/>
          </p:nvPr>
        </p:nvSpPr>
        <p:spPr/>
        <p:txBody>
          <a:bodyPr/>
          <a:lstStyle/>
          <a:p>
            <a:r>
              <a:rPr lang="en-US" altLang="en-US" dirty="0"/>
              <a:t>               </a:t>
            </a:r>
            <a:r>
              <a:rPr lang="en-US" altLang="en-US" dirty="0">
                <a:solidFill>
                  <a:srgbClr val="FF0000"/>
                </a:solidFill>
              </a:rPr>
              <a:t>Computer Startup</a:t>
            </a:r>
            <a:endParaRPr lang="en-US" dirty="0">
              <a:solidFill>
                <a:srgbClr val="FF0000"/>
              </a:solidFill>
            </a:endParaRPr>
          </a:p>
        </p:txBody>
      </p:sp>
      <p:sp>
        <p:nvSpPr>
          <p:cNvPr id="3" name="Content Placeholder 2">
            <a:extLst>
              <a:ext uri="{FF2B5EF4-FFF2-40B4-BE49-F238E27FC236}">
                <a16:creationId xmlns:a16="http://schemas.microsoft.com/office/drawing/2014/main" xmlns="" id="{B53FB39F-3643-431E-AB4C-0E2BC8195DCB}"/>
              </a:ext>
            </a:extLst>
          </p:cNvPr>
          <p:cNvSpPr>
            <a:spLocks noGrp="1"/>
          </p:cNvSpPr>
          <p:nvPr>
            <p:ph idx="1"/>
          </p:nvPr>
        </p:nvSpPr>
        <p:spPr/>
        <p:txBody>
          <a:bodyPr/>
          <a:lstStyle/>
          <a:p>
            <a:r>
              <a:rPr lang="en-US" altLang="en-US" b="1" dirty="0">
                <a:solidFill>
                  <a:srgbClr val="3366FF"/>
                </a:solidFill>
              </a:rPr>
              <a:t>bootstrap program</a:t>
            </a:r>
            <a:r>
              <a:rPr lang="en-US" altLang="en-US" dirty="0">
                <a:solidFill>
                  <a:srgbClr val="3366FF"/>
                </a:solidFill>
              </a:rPr>
              <a:t> </a:t>
            </a:r>
            <a:r>
              <a:rPr lang="en-US" altLang="en-US" dirty="0"/>
              <a:t>is loaded at power-up or reboot</a:t>
            </a:r>
          </a:p>
          <a:p>
            <a:pPr lvl="1"/>
            <a:r>
              <a:rPr lang="en-US" altLang="en-US" dirty="0"/>
              <a:t>Typically stored in ROM or EPROM, generally known as </a:t>
            </a:r>
            <a:r>
              <a:rPr lang="en-US" altLang="en-US" b="1" dirty="0">
                <a:solidFill>
                  <a:srgbClr val="3366FF"/>
                </a:solidFill>
              </a:rPr>
              <a:t>firmware</a:t>
            </a:r>
          </a:p>
          <a:p>
            <a:pPr lvl="1"/>
            <a:r>
              <a:rPr lang="en-US" altLang="en-US" dirty="0"/>
              <a:t>Initializes all aspects of system</a:t>
            </a:r>
          </a:p>
          <a:p>
            <a:pPr lvl="1"/>
            <a:r>
              <a:rPr lang="en-US" altLang="en-US" dirty="0"/>
              <a:t>Loads operating system kernel and starts execution</a:t>
            </a:r>
          </a:p>
          <a:p>
            <a:endParaRPr lang="en-US" dirty="0"/>
          </a:p>
        </p:txBody>
      </p:sp>
    </p:spTree>
    <p:extLst>
      <p:ext uri="{BB962C8B-B14F-4D97-AF65-F5344CB8AC3E}">
        <p14:creationId xmlns:p14="http://schemas.microsoft.com/office/powerpoint/2010/main" val="265152773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223AA66-908D-40E7-BF60-A426516DF627}"/>
              </a:ext>
            </a:extLst>
          </p:cNvPr>
          <p:cNvSpPr>
            <a:spLocks noGrp="1"/>
          </p:cNvSpPr>
          <p:nvPr>
            <p:ph type="title"/>
          </p:nvPr>
        </p:nvSpPr>
        <p:spPr/>
        <p:txBody>
          <a:bodyPr/>
          <a:lstStyle/>
          <a:p>
            <a:r>
              <a:rPr lang="en-US" b="0" i="0" dirty="0">
                <a:solidFill>
                  <a:srgbClr val="FF0000"/>
                </a:solidFill>
                <a:effectLst/>
                <a:latin typeface="+mn-lt"/>
              </a:rPr>
              <a:t>Operating System Components</a:t>
            </a:r>
            <a:r>
              <a:rPr lang="en-US" b="0" i="0" dirty="0">
                <a:effectLst/>
                <a:latin typeface="+mn-lt"/>
              </a:rPr>
              <a:t/>
            </a:r>
            <a:br>
              <a:rPr lang="en-US" b="0" i="0" dirty="0">
                <a:effectLst/>
                <a:latin typeface="+mn-lt"/>
              </a:rPr>
            </a:br>
            <a:endParaRPr lang="en-US" dirty="0">
              <a:latin typeface="+mn-lt"/>
            </a:endParaRPr>
          </a:p>
        </p:txBody>
      </p:sp>
      <p:sp>
        <p:nvSpPr>
          <p:cNvPr id="3" name="Content Placeholder 2">
            <a:extLst>
              <a:ext uri="{FF2B5EF4-FFF2-40B4-BE49-F238E27FC236}">
                <a16:creationId xmlns:a16="http://schemas.microsoft.com/office/drawing/2014/main" xmlns="" id="{BD08C8B1-6C8F-40EC-888E-C2F88EAEFE6C}"/>
              </a:ext>
            </a:extLst>
          </p:cNvPr>
          <p:cNvSpPr>
            <a:spLocks noGrp="1"/>
          </p:cNvSpPr>
          <p:nvPr>
            <p:ph idx="1"/>
          </p:nvPr>
        </p:nvSpPr>
        <p:spPr/>
        <p:txBody>
          <a:bodyPr>
            <a:normAutofit/>
          </a:bodyPr>
          <a:lstStyle/>
          <a:p>
            <a:r>
              <a:rPr lang="en-IN" sz="2400" b="0" i="0" dirty="0">
                <a:effectLst/>
              </a:rPr>
              <a:t>An operating system has various components that perform different tasks for proper execution of programs. Following are main components of the operating </a:t>
            </a:r>
            <a:r>
              <a:rPr lang="en-IN" sz="2400" b="0" i="0" dirty="0" smtClean="0">
                <a:effectLst/>
              </a:rPr>
              <a:t>system.</a:t>
            </a:r>
            <a:endParaRPr lang="en-US" sz="2400" dirty="0" smtClean="0"/>
          </a:p>
          <a:p>
            <a:pPr lvl="2"/>
            <a:r>
              <a:rPr lang="en-US" sz="3200" dirty="0" smtClean="0"/>
              <a:t>Process</a:t>
            </a:r>
          </a:p>
          <a:p>
            <a:pPr lvl="2"/>
            <a:r>
              <a:rPr lang="en-US" sz="3200" dirty="0" smtClean="0"/>
              <a:t>Memory</a:t>
            </a:r>
          </a:p>
          <a:p>
            <a:pPr lvl="2"/>
            <a:r>
              <a:rPr lang="en-US" sz="3200" dirty="0" smtClean="0"/>
              <a:t>Input / Output</a:t>
            </a:r>
          </a:p>
          <a:p>
            <a:pPr lvl="2"/>
            <a:r>
              <a:rPr lang="en-US" sz="3200" dirty="0" smtClean="0"/>
              <a:t>File</a:t>
            </a:r>
          </a:p>
          <a:p>
            <a:pPr lvl="2"/>
            <a:r>
              <a:rPr lang="en-US" sz="3200" dirty="0" smtClean="0"/>
              <a:t>Protection &amp; Security</a:t>
            </a:r>
          </a:p>
          <a:p>
            <a:pPr marL="914400" lvl="2" indent="0">
              <a:buNone/>
            </a:pPr>
            <a:endParaRPr lang="en-US" sz="1600" dirty="0"/>
          </a:p>
        </p:txBody>
      </p:sp>
    </p:spTree>
    <p:extLst>
      <p:ext uri="{BB962C8B-B14F-4D97-AF65-F5344CB8AC3E}">
        <p14:creationId xmlns:p14="http://schemas.microsoft.com/office/powerpoint/2010/main" val="125183792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78A936A-55E0-4D16-867F-248525D81405}"/>
              </a:ext>
            </a:extLst>
          </p:cNvPr>
          <p:cNvSpPr>
            <a:spLocks noGrp="1"/>
          </p:cNvSpPr>
          <p:nvPr>
            <p:ph type="title"/>
          </p:nvPr>
        </p:nvSpPr>
        <p:spPr>
          <a:xfrm>
            <a:off x="957841" y="296759"/>
            <a:ext cx="10515600" cy="1325563"/>
          </a:xfrm>
        </p:spPr>
        <p:txBody>
          <a:bodyPr/>
          <a:lstStyle/>
          <a:p>
            <a:r>
              <a:rPr lang="en-US" b="0" i="0" dirty="0">
                <a:solidFill>
                  <a:srgbClr val="FF0000"/>
                </a:solidFill>
                <a:effectLst/>
                <a:latin typeface="+mn-lt"/>
              </a:rPr>
              <a:t>Process </a:t>
            </a:r>
            <a:r>
              <a:rPr lang="en-US" b="0" i="0" dirty="0" smtClean="0">
                <a:solidFill>
                  <a:srgbClr val="FF0000"/>
                </a:solidFill>
                <a:effectLst/>
                <a:latin typeface="+mn-lt"/>
              </a:rPr>
              <a:t>Management</a:t>
            </a:r>
            <a:endParaRPr lang="en-US" dirty="0">
              <a:latin typeface="+mn-lt"/>
            </a:endParaRPr>
          </a:p>
        </p:txBody>
      </p:sp>
      <p:sp>
        <p:nvSpPr>
          <p:cNvPr id="3" name="Content Placeholder 2">
            <a:extLst>
              <a:ext uri="{FF2B5EF4-FFF2-40B4-BE49-F238E27FC236}">
                <a16:creationId xmlns:a16="http://schemas.microsoft.com/office/drawing/2014/main" xmlns="" id="{B2AF7CA1-7F07-4FC7-BB95-39EA9038E514}"/>
              </a:ext>
            </a:extLst>
          </p:cNvPr>
          <p:cNvSpPr>
            <a:spLocks noGrp="1"/>
          </p:cNvSpPr>
          <p:nvPr>
            <p:ph idx="1"/>
          </p:nvPr>
        </p:nvSpPr>
        <p:spPr/>
        <p:txBody>
          <a:bodyPr/>
          <a:lstStyle/>
          <a:p>
            <a:pPr marL="0" indent="0" algn="l" fontAlgn="base">
              <a:buNone/>
            </a:pPr>
            <a:r>
              <a:rPr lang="en-IN" sz="2400" b="0" i="0" dirty="0">
                <a:effectLst/>
              </a:rPr>
              <a:t>A process can be a program in execution that needs resources like CPU time, memory, files and I/O devices to accomplish its tasks. The operating system is responsible for</a:t>
            </a:r>
          </a:p>
          <a:p>
            <a:pPr algn="l" fontAlgn="base">
              <a:buFont typeface="Arial" panose="020B0604020202020204" pitchFamily="34" charset="0"/>
              <a:buChar char="•"/>
            </a:pPr>
            <a:r>
              <a:rPr lang="en-IN" sz="2400" b="0" i="0" dirty="0">
                <a:effectLst/>
              </a:rPr>
              <a:t>Creating and terminating user and system processes</a:t>
            </a:r>
          </a:p>
          <a:p>
            <a:pPr algn="l" fontAlgn="base">
              <a:buFont typeface="Arial" panose="020B0604020202020204" pitchFamily="34" charset="0"/>
              <a:buChar char="•"/>
            </a:pPr>
            <a:r>
              <a:rPr lang="en-IN" sz="2400" b="0" i="0" dirty="0">
                <a:effectLst/>
              </a:rPr>
              <a:t>Suspending and resuming processes</a:t>
            </a:r>
          </a:p>
          <a:p>
            <a:pPr algn="l" fontAlgn="base">
              <a:buFont typeface="Arial" panose="020B0604020202020204" pitchFamily="34" charset="0"/>
              <a:buChar char="•"/>
            </a:pPr>
            <a:r>
              <a:rPr lang="en-IN" sz="2400" b="0" i="0" dirty="0">
                <a:effectLst/>
              </a:rPr>
              <a:t>Providing mechanisms for process synchronization</a:t>
            </a:r>
          </a:p>
          <a:p>
            <a:pPr algn="l" fontAlgn="base">
              <a:buFont typeface="Arial" panose="020B0604020202020204" pitchFamily="34" charset="0"/>
              <a:buChar char="•"/>
            </a:pPr>
            <a:r>
              <a:rPr lang="en-IN" sz="2400" b="0" i="0" dirty="0">
                <a:effectLst/>
              </a:rPr>
              <a:t>Providing mechanisms for process communication</a:t>
            </a:r>
          </a:p>
          <a:p>
            <a:pPr algn="l" fontAlgn="base">
              <a:buFont typeface="Arial" panose="020B0604020202020204" pitchFamily="34" charset="0"/>
              <a:buChar char="•"/>
            </a:pPr>
            <a:r>
              <a:rPr lang="en-IN" sz="2400" b="0" i="0" dirty="0">
                <a:effectLst/>
              </a:rPr>
              <a:t>Providing mechanisms for deadlock handling</a:t>
            </a:r>
          </a:p>
          <a:p>
            <a:endParaRPr lang="en-US" dirty="0"/>
          </a:p>
        </p:txBody>
      </p:sp>
    </p:spTree>
    <p:extLst>
      <p:ext uri="{BB962C8B-B14F-4D97-AF65-F5344CB8AC3E}">
        <p14:creationId xmlns:p14="http://schemas.microsoft.com/office/powerpoint/2010/main" val="181900452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8832570-B4F8-43EA-BE2C-2ADAC7905D0E}"/>
              </a:ext>
            </a:extLst>
          </p:cNvPr>
          <p:cNvSpPr>
            <a:spLocks noGrp="1"/>
          </p:cNvSpPr>
          <p:nvPr>
            <p:ph type="title"/>
          </p:nvPr>
        </p:nvSpPr>
        <p:spPr/>
        <p:txBody>
          <a:bodyPr/>
          <a:lstStyle/>
          <a:p>
            <a:r>
              <a:rPr lang="en-US" b="0" i="0" dirty="0">
                <a:solidFill>
                  <a:srgbClr val="FF0000"/>
                </a:solidFill>
                <a:effectLst/>
                <a:latin typeface="+mn-lt"/>
              </a:rPr>
              <a:t>Main Memory </a:t>
            </a:r>
            <a:r>
              <a:rPr lang="en-US" b="0" i="0" dirty="0" smtClean="0">
                <a:solidFill>
                  <a:srgbClr val="FF0000"/>
                </a:solidFill>
                <a:effectLst/>
                <a:latin typeface="+mn-lt"/>
              </a:rPr>
              <a:t>Management</a:t>
            </a:r>
            <a:endParaRPr lang="en-US" dirty="0"/>
          </a:p>
        </p:txBody>
      </p:sp>
      <p:sp>
        <p:nvSpPr>
          <p:cNvPr id="3" name="Content Placeholder 2">
            <a:extLst>
              <a:ext uri="{FF2B5EF4-FFF2-40B4-BE49-F238E27FC236}">
                <a16:creationId xmlns:a16="http://schemas.microsoft.com/office/drawing/2014/main" xmlns="" id="{4C1AC1EF-0924-408A-A590-9F094A5313E2}"/>
              </a:ext>
            </a:extLst>
          </p:cNvPr>
          <p:cNvSpPr>
            <a:spLocks noGrp="1"/>
          </p:cNvSpPr>
          <p:nvPr>
            <p:ph idx="1"/>
          </p:nvPr>
        </p:nvSpPr>
        <p:spPr/>
        <p:txBody>
          <a:bodyPr>
            <a:normAutofit fontScale="85000" lnSpcReduction="20000"/>
          </a:bodyPr>
          <a:lstStyle/>
          <a:p>
            <a:pPr marL="0" indent="0" algn="just" fontAlgn="base">
              <a:buNone/>
            </a:pPr>
            <a:r>
              <a:rPr lang="en-IN" b="0" i="0" dirty="0">
                <a:effectLst/>
              </a:rPr>
              <a:t>Main memory is a large array of  bytes. It is a repository of quickly accessible data shared by the CPU and I/O devices. It contains the code, data, stack, and other parts of a process. The central processor reads instructions of a process from main memory during the machine cycle. The OS is responsible for the following activities in connection with memory management.</a:t>
            </a:r>
          </a:p>
          <a:p>
            <a:pPr algn="l" fontAlgn="base">
              <a:buFont typeface="Arial" panose="020B0604020202020204" pitchFamily="34" charset="0"/>
              <a:buChar char="•"/>
            </a:pPr>
            <a:r>
              <a:rPr lang="en-IN" b="0" i="0" dirty="0">
                <a:effectLst/>
              </a:rPr>
              <a:t>Keeping track of free memory space</a:t>
            </a:r>
          </a:p>
          <a:p>
            <a:pPr algn="l" fontAlgn="base">
              <a:buFont typeface="Arial" panose="020B0604020202020204" pitchFamily="34" charset="0"/>
              <a:buChar char="•"/>
            </a:pPr>
            <a:r>
              <a:rPr lang="en-IN" b="0" i="0" dirty="0">
                <a:effectLst/>
              </a:rPr>
              <a:t>Keeping track of which parts of memory are currently being used and by whom</a:t>
            </a:r>
          </a:p>
          <a:p>
            <a:pPr algn="l" fontAlgn="base">
              <a:buFont typeface="Arial" panose="020B0604020202020204" pitchFamily="34" charset="0"/>
              <a:buChar char="•"/>
            </a:pPr>
            <a:r>
              <a:rPr lang="en-IN" b="0" i="0" dirty="0">
                <a:effectLst/>
              </a:rPr>
              <a:t>Deciding which processes are to be loaded into memory when memory space becomes available</a:t>
            </a:r>
          </a:p>
          <a:p>
            <a:pPr algn="l" fontAlgn="base">
              <a:buFont typeface="Arial" panose="020B0604020202020204" pitchFamily="34" charset="0"/>
              <a:buChar char="•"/>
            </a:pPr>
            <a:r>
              <a:rPr lang="en-IN" b="0" i="0" dirty="0">
                <a:effectLst/>
              </a:rPr>
              <a:t>Deciding how much memory is to be allocated to a process</a:t>
            </a:r>
          </a:p>
          <a:p>
            <a:pPr algn="l" fontAlgn="base">
              <a:buFont typeface="Arial" panose="020B0604020202020204" pitchFamily="34" charset="0"/>
              <a:buChar char="•"/>
            </a:pPr>
            <a:r>
              <a:rPr lang="en-IN" b="0" i="0" dirty="0">
                <a:effectLst/>
              </a:rPr>
              <a:t>Allocating and deallocating memory space as needed</a:t>
            </a:r>
          </a:p>
          <a:p>
            <a:pPr algn="l" fontAlgn="base">
              <a:buFont typeface="Arial" panose="020B0604020202020204" pitchFamily="34" charset="0"/>
              <a:buChar char="•"/>
            </a:pPr>
            <a:r>
              <a:rPr lang="en-IN" b="0" i="0" dirty="0">
                <a:effectLst/>
              </a:rPr>
              <a:t>Ensuring that a process is not overwritten on top of another</a:t>
            </a:r>
          </a:p>
          <a:p>
            <a:endParaRPr lang="en-US" dirty="0"/>
          </a:p>
        </p:txBody>
      </p:sp>
    </p:spTree>
    <p:extLst>
      <p:ext uri="{BB962C8B-B14F-4D97-AF65-F5344CB8AC3E}">
        <p14:creationId xmlns:p14="http://schemas.microsoft.com/office/powerpoint/2010/main" val="397220706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5A53A53-232A-4EA9-A019-D2153DF0E592}"/>
              </a:ext>
            </a:extLst>
          </p:cNvPr>
          <p:cNvSpPr>
            <a:spLocks noGrp="1"/>
          </p:cNvSpPr>
          <p:nvPr>
            <p:ph type="title"/>
          </p:nvPr>
        </p:nvSpPr>
        <p:spPr/>
        <p:txBody>
          <a:bodyPr/>
          <a:lstStyle/>
          <a:p>
            <a:r>
              <a:rPr lang="en-US" b="0" i="0" dirty="0">
                <a:solidFill>
                  <a:srgbClr val="FF0000"/>
                </a:solidFill>
                <a:effectLst/>
                <a:latin typeface="+mn-lt"/>
              </a:rPr>
              <a:t>Secondary Storage </a:t>
            </a:r>
            <a:r>
              <a:rPr lang="en-US" b="0" i="0" dirty="0" smtClean="0">
                <a:solidFill>
                  <a:srgbClr val="FF0000"/>
                </a:solidFill>
                <a:effectLst/>
                <a:latin typeface="+mn-lt"/>
              </a:rPr>
              <a:t>Management</a:t>
            </a:r>
            <a:endParaRPr lang="en-US" dirty="0">
              <a:solidFill>
                <a:srgbClr val="FF0000"/>
              </a:solidFill>
              <a:latin typeface="+mn-lt"/>
            </a:endParaRPr>
          </a:p>
        </p:txBody>
      </p:sp>
      <p:sp>
        <p:nvSpPr>
          <p:cNvPr id="3" name="Content Placeholder 2">
            <a:extLst>
              <a:ext uri="{FF2B5EF4-FFF2-40B4-BE49-F238E27FC236}">
                <a16:creationId xmlns:a16="http://schemas.microsoft.com/office/drawing/2014/main" xmlns="" id="{013760FA-5B6C-412E-BE85-A7BD8480B014}"/>
              </a:ext>
            </a:extLst>
          </p:cNvPr>
          <p:cNvSpPr>
            <a:spLocks noGrp="1"/>
          </p:cNvSpPr>
          <p:nvPr>
            <p:ph idx="1"/>
          </p:nvPr>
        </p:nvSpPr>
        <p:spPr/>
        <p:txBody>
          <a:bodyPr>
            <a:normAutofit fontScale="92500" lnSpcReduction="20000"/>
          </a:bodyPr>
          <a:lstStyle/>
          <a:p>
            <a:pPr marL="0" indent="0" algn="just" fontAlgn="base">
              <a:buNone/>
            </a:pPr>
            <a:r>
              <a:rPr lang="en-IN" b="0" i="0" dirty="0">
                <a:effectLst/>
              </a:rPr>
              <a:t>The programs to be executed, along with the data they access, must be in the main memory or primary storage during their execution. Since main memory is too small to accommodate all data and programs, and because the data it holds are lost when the power is lost, the computer system must provide secondary storage to backup main memory. Most programs are stored on a disk until loaded into the memory and then use disk as both the source and destination of their processing. Like all other resources in a computer system, proper management of disk storage is important.</a:t>
            </a:r>
            <a:br>
              <a:rPr lang="en-IN" b="0" i="0" dirty="0">
                <a:effectLst/>
              </a:rPr>
            </a:br>
            <a:r>
              <a:rPr lang="en-IN" b="0" i="0" dirty="0">
                <a:effectLst/>
              </a:rPr>
              <a:t>The operating system is responsible for the following activities in connection with disk management:</a:t>
            </a:r>
          </a:p>
          <a:p>
            <a:pPr algn="just" fontAlgn="base">
              <a:buFont typeface="Arial" panose="020B0604020202020204" pitchFamily="34" charset="0"/>
              <a:buChar char="•"/>
            </a:pPr>
            <a:r>
              <a:rPr lang="en-IN" b="0" i="0" dirty="0">
                <a:effectLst/>
              </a:rPr>
              <a:t>Free-space management</a:t>
            </a:r>
          </a:p>
          <a:p>
            <a:pPr algn="just" fontAlgn="base">
              <a:buFont typeface="Arial" panose="020B0604020202020204" pitchFamily="34" charset="0"/>
              <a:buChar char="•"/>
            </a:pPr>
            <a:r>
              <a:rPr lang="en-IN" b="0" i="0" dirty="0">
                <a:effectLst/>
              </a:rPr>
              <a:t>Storage allocation and deallocation</a:t>
            </a:r>
          </a:p>
          <a:p>
            <a:pPr algn="just" fontAlgn="base">
              <a:buFont typeface="Arial" panose="020B0604020202020204" pitchFamily="34" charset="0"/>
              <a:buChar char="•"/>
            </a:pPr>
            <a:r>
              <a:rPr lang="en-IN" b="0" i="0" dirty="0">
                <a:effectLst/>
              </a:rPr>
              <a:t>Disk scheduling</a:t>
            </a:r>
          </a:p>
          <a:p>
            <a:endParaRPr lang="en-US" dirty="0"/>
          </a:p>
        </p:txBody>
      </p:sp>
    </p:spTree>
    <p:extLst>
      <p:ext uri="{BB962C8B-B14F-4D97-AF65-F5344CB8AC3E}">
        <p14:creationId xmlns:p14="http://schemas.microsoft.com/office/powerpoint/2010/main" val="241639216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F36B959-C449-4D95-8B15-B768F6EF1865}"/>
              </a:ext>
            </a:extLst>
          </p:cNvPr>
          <p:cNvSpPr>
            <a:spLocks noGrp="1"/>
          </p:cNvSpPr>
          <p:nvPr>
            <p:ph type="title"/>
          </p:nvPr>
        </p:nvSpPr>
        <p:spPr/>
        <p:txBody>
          <a:bodyPr/>
          <a:lstStyle/>
          <a:p>
            <a:r>
              <a:rPr lang="en-US" b="0" i="0" dirty="0" smtClean="0">
                <a:solidFill>
                  <a:srgbClr val="FF0000"/>
                </a:solidFill>
                <a:effectLst/>
                <a:latin typeface="+mn-lt"/>
              </a:rPr>
              <a:t>Input /</a:t>
            </a:r>
            <a:r>
              <a:rPr lang="en-US" b="0" i="0" dirty="0">
                <a:solidFill>
                  <a:srgbClr val="FF0000"/>
                </a:solidFill>
                <a:effectLst/>
                <a:latin typeface="+mn-lt"/>
              </a:rPr>
              <a:t>Output </a:t>
            </a:r>
            <a:r>
              <a:rPr lang="en-US" b="0" i="0" dirty="0" smtClean="0">
                <a:solidFill>
                  <a:srgbClr val="FF0000"/>
                </a:solidFill>
                <a:effectLst/>
                <a:latin typeface="+mn-lt"/>
              </a:rPr>
              <a:t>Management</a:t>
            </a:r>
            <a:endParaRPr lang="en-US" dirty="0"/>
          </a:p>
        </p:txBody>
      </p:sp>
      <p:sp>
        <p:nvSpPr>
          <p:cNvPr id="3" name="Content Placeholder 2">
            <a:extLst>
              <a:ext uri="{FF2B5EF4-FFF2-40B4-BE49-F238E27FC236}">
                <a16:creationId xmlns:a16="http://schemas.microsoft.com/office/drawing/2014/main" xmlns="" id="{67EC7909-278C-4721-A8B0-A3844E565725}"/>
              </a:ext>
            </a:extLst>
          </p:cNvPr>
          <p:cNvSpPr>
            <a:spLocks noGrp="1"/>
          </p:cNvSpPr>
          <p:nvPr>
            <p:ph idx="1"/>
          </p:nvPr>
        </p:nvSpPr>
        <p:spPr/>
        <p:txBody>
          <a:bodyPr/>
          <a:lstStyle/>
          <a:p>
            <a:pPr marL="0" indent="0" algn="l" fontAlgn="base">
              <a:buNone/>
            </a:pPr>
            <a:r>
              <a:rPr lang="en-IN" sz="2400" b="0" i="0" dirty="0">
                <a:effectLst/>
              </a:rPr>
              <a:t>The input and output subsystem consists of:</a:t>
            </a:r>
          </a:p>
          <a:p>
            <a:pPr algn="l" fontAlgn="base">
              <a:buFont typeface="Arial" panose="020B0604020202020204" pitchFamily="34" charset="0"/>
              <a:buChar char="•"/>
            </a:pPr>
            <a:r>
              <a:rPr lang="en-IN" sz="2400" b="0" i="0" dirty="0">
                <a:effectLst/>
              </a:rPr>
              <a:t>A memory management component that includes buffering, caching and spooling</a:t>
            </a:r>
          </a:p>
          <a:p>
            <a:pPr algn="l" fontAlgn="base">
              <a:buFont typeface="Arial" panose="020B0604020202020204" pitchFamily="34" charset="0"/>
              <a:buChar char="•"/>
            </a:pPr>
            <a:r>
              <a:rPr lang="en-IN" sz="2400" b="0" i="0" dirty="0">
                <a:effectLst/>
              </a:rPr>
              <a:t>A general device-driver interface</a:t>
            </a:r>
          </a:p>
          <a:p>
            <a:pPr algn="l" fontAlgn="base">
              <a:buFont typeface="Arial" panose="020B0604020202020204" pitchFamily="34" charset="0"/>
              <a:buChar char="•"/>
            </a:pPr>
            <a:r>
              <a:rPr lang="en-IN" sz="2400" b="0" i="0" dirty="0">
                <a:effectLst/>
              </a:rPr>
              <a:t>Drivers for specific hardware devices</a:t>
            </a:r>
          </a:p>
          <a:p>
            <a:pPr marL="0" indent="0">
              <a:buNone/>
            </a:pPr>
            <a:r>
              <a:rPr lang="en-IN" dirty="0"/>
              <a:t/>
            </a:r>
            <a:br>
              <a:rPr lang="en-IN" dirty="0"/>
            </a:br>
            <a:endParaRPr lang="en-US" dirty="0"/>
          </a:p>
        </p:txBody>
      </p:sp>
    </p:spTree>
    <p:extLst>
      <p:ext uri="{BB962C8B-B14F-4D97-AF65-F5344CB8AC3E}">
        <p14:creationId xmlns:p14="http://schemas.microsoft.com/office/powerpoint/2010/main" val="109472086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5240E20-8211-47B1-A4FD-879BF932185E}"/>
              </a:ext>
            </a:extLst>
          </p:cNvPr>
          <p:cNvSpPr>
            <a:spLocks noGrp="1"/>
          </p:cNvSpPr>
          <p:nvPr>
            <p:ph type="title"/>
          </p:nvPr>
        </p:nvSpPr>
        <p:spPr>
          <a:xfrm>
            <a:off x="957841" y="322396"/>
            <a:ext cx="10515600" cy="1325563"/>
          </a:xfrm>
        </p:spPr>
        <p:txBody>
          <a:bodyPr/>
          <a:lstStyle/>
          <a:p>
            <a:r>
              <a:rPr lang="en-US" b="0" i="0" dirty="0">
                <a:solidFill>
                  <a:srgbClr val="FF0000"/>
                </a:solidFill>
                <a:effectLst/>
                <a:latin typeface="+mn-lt"/>
              </a:rPr>
              <a:t>File </a:t>
            </a:r>
            <a:r>
              <a:rPr lang="en-US" b="0" i="0" dirty="0" smtClean="0">
                <a:solidFill>
                  <a:srgbClr val="FF0000"/>
                </a:solidFill>
                <a:effectLst/>
                <a:latin typeface="+mn-lt"/>
              </a:rPr>
              <a:t>Management</a:t>
            </a:r>
            <a:endParaRPr lang="en-US" dirty="0">
              <a:solidFill>
                <a:srgbClr val="FF0000"/>
              </a:solidFill>
            </a:endParaRPr>
          </a:p>
        </p:txBody>
      </p:sp>
      <p:sp>
        <p:nvSpPr>
          <p:cNvPr id="3" name="Content Placeholder 2">
            <a:extLst>
              <a:ext uri="{FF2B5EF4-FFF2-40B4-BE49-F238E27FC236}">
                <a16:creationId xmlns:a16="http://schemas.microsoft.com/office/drawing/2014/main" xmlns="" id="{FCC0E485-C9B3-4AED-9E5D-94CEA815C40E}"/>
              </a:ext>
            </a:extLst>
          </p:cNvPr>
          <p:cNvSpPr>
            <a:spLocks noGrp="1"/>
          </p:cNvSpPr>
          <p:nvPr>
            <p:ph idx="1"/>
          </p:nvPr>
        </p:nvSpPr>
        <p:spPr/>
        <p:txBody>
          <a:bodyPr>
            <a:normAutofit/>
          </a:bodyPr>
          <a:lstStyle/>
          <a:p>
            <a:pPr marL="0" indent="0" algn="l" fontAlgn="base">
              <a:buNone/>
            </a:pPr>
            <a:r>
              <a:rPr lang="en-IN" sz="2600" b="0" i="0" dirty="0">
                <a:effectLst/>
              </a:rPr>
              <a:t>Computers can store information on several types of physical media, e.g. magnetic tape, magnetic disk and an optical disk. The operating system maps files onto physical media and accesses these media through storage devices. Operating system is responsible for the following activities pertaining to file management:</a:t>
            </a:r>
          </a:p>
          <a:p>
            <a:pPr algn="l" fontAlgn="base">
              <a:buFont typeface="Arial" panose="020B0604020202020204" pitchFamily="34" charset="0"/>
              <a:buChar char="•"/>
            </a:pPr>
            <a:r>
              <a:rPr lang="en-IN" sz="2600" b="0" i="0" dirty="0">
                <a:effectLst/>
              </a:rPr>
              <a:t>Creating and deleting files</a:t>
            </a:r>
          </a:p>
          <a:p>
            <a:pPr algn="l" fontAlgn="base">
              <a:buFont typeface="Arial" panose="020B0604020202020204" pitchFamily="34" charset="0"/>
              <a:buChar char="•"/>
            </a:pPr>
            <a:r>
              <a:rPr lang="en-IN" sz="2600" b="0" i="0" dirty="0">
                <a:effectLst/>
              </a:rPr>
              <a:t>Creating and deleting directories</a:t>
            </a:r>
          </a:p>
          <a:p>
            <a:pPr algn="l" fontAlgn="base">
              <a:buFont typeface="Arial" panose="020B0604020202020204" pitchFamily="34" charset="0"/>
              <a:buChar char="•"/>
            </a:pPr>
            <a:r>
              <a:rPr lang="en-IN" sz="2600" b="0" i="0" dirty="0">
                <a:effectLst/>
              </a:rPr>
              <a:t>Supporting primitives (operations) for manipulating files and directories</a:t>
            </a:r>
          </a:p>
          <a:p>
            <a:pPr algn="l" fontAlgn="base">
              <a:buFont typeface="Arial" panose="020B0604020202020204" pitchFamily="34" charset="0"/>
              <a:buChar char="•"/>
            </a:pPr>
            <a:r>
              <a:rPr lang="en-IN" sz="2600" b="0" i="0" dirty="0">
                <a:effectLst/>
              </a:rPr>
              <a:t>Mapping files onto the secondary storage</a:t>
            </a:r>
          </a:p>
          <a:p>
            <a:endParaRPr lang="en-US" dirty="0"/>
          </a:p>
        </p:txBody>
      </p:sp>
    </p:spTree>
    <p:extLst>
      <p:ext uri="{BB962C8B-B14F-4D97-AF65-F5344CB8AC3E}">
        <p14:creationId xmlns:p14="http://schemas.microsoft.com/office/powerpoint/2010/main" val="258462365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8D7F1FF-C929-401E-8C99-9D5CAA2A3288}"/>
              </a:ext>
            </a:extLst>
          </p:cNvPr>
          <p:cNvSpPr>
            <a:spLocks noGrp="1"/>
          </p:cNvSpPr>
          <p:nvPr>
            <p:ph type="title"/>
          </p:nvPr>
        </p:nvSpPr>
        <p:spPr/>
        <p:txBody>
          <a:bodyPr/>
          <a:lstStyle/>
          <a:p>
            <a:r>
              <a:rPr lang="en-US" b="0" i="0" dirty="0">
                <a:solidFill>
                  <a:srgbClr val="FF0000"/>
                </a:solidFill>
                <a:effectLst/>
                <a:latin typeface="+mn-lt"/>
              </a:rPr>
              <a:t>Protection and Security</a:t>
            </a:r>
            <a:endParaRPr lang="en-US" dirty="0">
              <a:solidFill>
                <a:srgbClr val="FF0000"/>
              </a:solidFill>
              <a:latin typeface="+mn-lt"/>
            </a:endParaRPr>
          </a:p>
        </p:txBody>
      </p:sp>
      <p:sp>
        <p:nvSpPr>
          <p:cNvPr id="3" name="Content Placeholder 2">
            <a:extLst>
              <a:ext uri="{FF2B5EF4-FFF2-40B4-BE49-F238E27FC236}">
                <a16:creationId xmlns:a16="http://schemas.microsoft.com/office/drawing/2014/main" xmlns="" id="{79C5FD7B-ABF8-4A3D-B5AB-4215A8BC84FE}"/>
              </a:ext>
            </a:extLst>
          </p:cNvPr>
          <p:cNvSpPr>
            <a:spLocks noGrp="1"/>
          </p:cNvSpPr>
          <p:nvPr>
            <p:ph idx="1"/>
          </p:nvPr>
        </p:nvSpPr>
        <p:spPr/>
        <p:txBody>
          <a:bodyPr>
            <a:normAutofit/>
          </a:bodyPr>
          <a:lstStyle/>
          <a:p>
            <a:pPr>
              <a:lnSpc>
                <a:spcPct val="90000"/>
              </a:lnSpc>
            </a:pPr>
            <a:r>
              <a:rPr lang="en-US" altLang="en-US" b="1" dirty="0">
                <a:solidFill>
                  <a:srgbClr val="FF0000"/>
                </a:solidFill>
              </a:rPr>
              <a:t>Protection </a:t>
            </a:r>
            <a:r>
              <a:rPr lang="en-US" altLang="en-US" dirty="0">
                <a:solidFill>
                  <a:srgbClr val="FF0000"/>
                </a:solidFill>
              </a:rPr>
              <a:t>–</a:t>
            </a:r>
            <a:r>
              <a:rPr lang="en-US" altLang="en-US" dirty="0"/>
              <a:t> any mechanism for controlling access of processes or users to resources defined by the OS</a:t>
            </a:r>
            <a:endParaRPr lang="en-US" altLang="en-US" sz="800" dirty="0"/>
          </a:p>
          <a:p>
            <a:pPr>
              <a:lnSpc>
                <a:spcPct val="90000"/>
              </a:lnSpc>
            </a:pPr>
            <a:r>
              <a:rPr lang="en-US" altLang="en-US" b="1" dirty="0">
                <a:solidFill>
                  <a:srgbClr val="FF0000"/>
                </a:solidFill>
              </a:rPr>
              <a:t>Security </a:t>
            </a:r>
            <a:r>
              <a:rPr lang="en-US" altLang="en-US" dirty="0">
                <a:solidFill>
                  <a:srgbClr val="FF0000"/>
                </a:solidFill>
              </a:rPr>
              <a:t>–</a:t>
            </a:r>
            <a:r>
              <a:rPr lang="en-US" altLang="en-US" dirty="0"/>
              <a:t> defense of the system against internal and external attacks</a:t>
            </a:r>
          </a:p>
          <a:p>
            <a:pPr marL="0" indent="0">
              <a:buNone/>
            </a:pPr>
            <a:r>
              <a:rPr lang="en-US" altLang="en-US" dirty="0"/>
              <a:t>Huge range, including denial-of-service, worms, viruses, identity theft, theft of service</a:t>
            </a:r>
            <a:endParaRPr lang="en-US" altLang="en-US" sz="900" dirty="0"/>
          </a:p>
          <a:p>
            <a:pPr marL="0" indent="0">
              <a:lnSpc>
                <a:spcPct val="90000"/>
              </a:lnSpc>
              <a:buNone/>
            </a:pPr>
            <a:endParaRPr lang="en-US" altLang="en-US" dirty="0"/>
          </a:p>
          <a:p>
            <a:pPr marL="0" indent="0">
              <a:lnSpc>
                <a:spcPct val="90000"/>
              </a:lnSpc>
              <a:buNone/>
            </a:pPr>
            <a:r>
              <a:rPr lang="en-US" altLang="en-US" dirty="0"/>
              <a:t>      </a:t>
            </a:r>
          </a:p>
          <a:p>
            <a:pPr algn="just"/>
            <a:endParaRPr lang="en-US" dirty="0"/>
          </a:p>
        </p:txBody>
      </p:sp>
    </p:spTree>
    <p:extLst>
      <p:ext uri="{BB962C8B-B14F-4D97-AF65-F5344CB8AC3E}">
        <p14:creationId xmlns:p14="http://schemas.microsoft.com/office/powerpoint/2010/main" val="367919279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8394427-D6BC-4663-8C74-68AE5A1DB4D6}"/>
              </a:ext>
            </a:extLst>
          </p:cNvPr>
          <p:cNvSpPr>
            <a:spLocks noGrp="1"/>
          </p:cNvSpPr>
          <p:nvPr>
            <p:ph type="title"/>
          </p:nvPr>
        </p:nvSpPr>
        <p:spPr/>
        <p:txBody>
          <a:bodyPr/>
          <a:lstStyle/>
          <a:p>
            <a:r>
              <a:rPr lang="en-US" b="0" i="0" dirty="0" smtClean="0">
                <a:solidFill>
                  <a:srgbClr val="FF0000"/>
                </a:solidFill>
                <a:effectLst/>
                <a:latin typeface="+mn-lt"/>
              </a:rPr>
              <a:t>Networking</a:t>
            </a:r>
            <a:endParaRPr lang="en-US" dirty="0">
              <a:solidFill>
                <a:srgbClr val="FF0000"/>
              </a:solidFill>
              <a:latin typeface="+mn-lt"/>
            </a:endParaRPr>
          </a:p>
        </p:txBody>
      </p:sp>
      <p:sp>
        <p:nvSpPr>
          <p:cNvPr id="3" name="Content Placeholder 2">
            <a:extLst>
              <a:ext uri="{FF2B5EF4-FFF2-40B4-BE49-F238E27FC236}">
                <a16:creationId xmlns:a16="http://schemas.microsoft.com/office/drawing/2014/main" xmlns="" id="{6EAA6A6F-D520-4511-8C82-517083D2BA13}"/>
              </a:ext>
            </a:extLst>
          </p:cNvPr>
          <p:cNvSpPr>
            <a:spLocks noGrp="1"/>
          </p:cNvSpPr>
          <p:nvPr>
            <p:ph idx="1"/>
          </p:nvPr>
        </p:nvSpPr>
        <p:spPr/>
        <p:txBody>
          <a:bodyPr>
            <a:normAutofit/>
          </a:bodyPr>
          <a:lstStyle/>
          <a:p>
            <a:pPr algn="just" fontAlgn="base"/>
            <a:r>
              <a:rPr lang="en-IN" sz="2400" b="0" i="0" dirty="0">
                <a:effectLst/>
              </a:rPr>
              <a:t>A distributed system is a collection of processors that do not share memory, peripheral devices. Instead, each processor has it own local memory and clock, and the processors communicate with each other through various communication lines, such as high- speed buses or networks.</a:t>
            </a:r>
          </a:p>
          <a:p>
            <a:pPr algn="just"/>
            <a:r>
              <a:rPr lang="en-IN" sz="2400" i="0" dirty="0">
                <a:effectLst/>
              </a:rPr>
              <a:t>A modern OS contains built-in software designed to simplify networking. Typical OS software includes an implementation of </a:t>
            </a:r>
            <a:r>
              <a:rPr lang="en-IN" sz="2400" i="0" strike="noStrike" dirty="0">
                <a:effectLst/>
              </a:rPr>
              <a:t>TCP/IP</a:t>
            </a:r>
            <a:r>
              <a:rPr lang="en-IN" sz="2400" i="0" dirty="0">
                <a:effectLst/>
              </a:rPr>
              <a:t> and related utility programs such as </a:t>
            </a:r>
            <a:r>
              <a:rPr lang="en-IN" sz="2400" i="0" strike="noStrike" dirty="0">
                <a:effectLst/>
              </a:rPr>
              <a:t>ping</a:t>
            </a:r>
            <a:r>
              <a:rPr lang="en-IN" sz="2400" i="0" dirty="0">
                <a:effectLst/>
              </a:rPr>
              <a:t> and traceroute, along with device drivers and other software to automatically enable the </a:t>
            </a:r>
            <a:r>
              <a:rPr lang="en-IN" sz="2400" i="0" strike="noStrike" dirty="0">
                <a:effectLst/>
              </a:rPr>
              <a:t>Ethernet</a:t>
            </a:r>
            <a:r>
              <a:rPr lang="en-IN" sz="2400" i="0" dirty="0">
                <a:effectLst/>
              </a:rPr>
              <a:t> or wireless interface for a device. The operating systems of mobile devices normally provide programs to enable </a:t>
            </a:r>
            <a:r>
              <a:rPr lang="en-IN" sz="2400" i="0" strike="noStrike" dirty="0">
                <a:effectLst/>
              </a:rPr>
              <a:t>Wi-Fi</a:t>
            </a:r>
            <a:r>
              <a:rPr lang="en-IN" sz="2400" i="0" dirty="0">
                <a:effectLst/>
              </a:rPr>
              <a:t>, </a:t>
            </a:r>
            <a:r>
              <a:rPr lang="en-IN" sz="2400" i="0" strike="noStrike" dirty="0">
                <a:effectLst/>
              </a:rPr>
              <a:t>Bluetooth</a:t>
            </a:r>
            <a:r>
              <a:rPr lang="en-IN" sz="2400" i="0" dirty="0">
                <a:effectLst/>
              </a:rPr>
              <a:t>, and other wireless connectivity.</a:t>
            </a:r>
            <a:endParaRPr lang="en-US" sz="2400" dirty="0"/>
          </a:p>
        </p:txBody>
      </p:sp>
    </p:spTree>
    <p:extLst>
      <p:ext uri="{BB962C8B-B14F-4D97-AF65-F5344CB8AC3E}">
        <p14:creationId xmlns:p14="http://schemas.microsoft.com/office/powerpoint/2010/main" val="410207980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 xmlns:a16="http://schemas.microsoft.com/office/drawing/2014/main" id="{392A56DA-C845-4355-80C3-C30ECB76C561}"/>
              </a:ext>
            </a:extLst>
          </p:cNvPr>
          <p:cNvSpPr>
            <a:spLocks noGrp="1" noChangeArrowheads="1"/>
          </p:cNvSpPr>
          <p:nvPr>
            <p:ph type="title"/>
          </p:nvPr>
        </p:nvSpPr>
        <p:spPr/>
        <p:txBody>
          <a:bodyPr>
            <a:normAutofit fontScale="90000"/>
          </a:bodyPr>
          <a:lstStyle/>
          <a:p>
            <a:r>
              <a:rPr lang="en-US" altLang="en-US" sz="4000" b="1" u="sng" dirty="0">
                <a:latin typeface="Arial" panose="020B0604020202020204" pitchFamily="34" charset="0"/>
              </a:rPr>
              <a:t/>
            </a:r>
            <a:br>
              <a:rPr lang="en-US" altLang="en-US" sz="4000" b="1" u="sng" dirty="0">
                <a:latin typeface="Arial" panose="020B0604020202020204" pitchFamily="34" charset="0"/>
              </a:rPr>
            </a:br>
            <a:r>
              <a:rPr lang="en-US" altLang="en-US" sz="4900" dirty="0">
                <a:solidFill>
                  <a:srgbClr val="FF0000"/>
                </a:solidFill>
                <a:latin typeface="+mn-lt"/>
              </a:rPr>
              <a:t>Types of Operating </a:t>
            </a:r>
            <a:r>
              <a:rPr lang="en-US" altLang="en-US" sz="4900" dirty="0" smtClean="0">
                <a:solidFill>
                  <a:srgbClr val="FF0000"/>
                </a:solidFill>
                <a:latin typeface="+mn-lt"/>
              </a:rPr>
              <a:t>System</a:t>
            </a:r>
            <a:r>
              <a:rPr lang="en-US" altLang="en-US" sz="4900" dirty="0">
                <a:latin typeface="+mn-lt"/>
              </a:rPr>
              <a:t/>
            </a:r>
            <a:br>
              <a:rPr lang="en-US" altLang="en-US" sz="4900" dirty="0">
                <a:latin typeface="+mn-lt"/>
              </a:rPr>
            </a:br>
            <a:endParaRPr lang="en-US" altLang="en-US" sz="4000" b="1" u="sng" dirty="0">
              <a:solidFill>
                <a:srgbClr val="FF0000"/>
              </a:solidFill>
              <a:latin typeface="Arial" panose="020B0604020202020204" pitchFamily="34" charset="0"/>
            </a:endParaRPr>
          </a:p>
        </p:txBody>
      </p:sp>
      <p:sp>
        <p:nvSpPr>
          <p:cNvPr id="34819" name="Rectangle 3">
            <a:extLst>
              <a:ext uri="{FF2B5EF4-FFF2-40B4-BE49-F238E27FC236}">
                <a16:creationId xmlns="" xmlns:a16="http://schemas.microsoft.com/office/drawing/2014/main" id="{D31DAA4D-5FF3-421F-B877-863C7D0B0399}"/>
              </a:ext>
            </a:extLst>
          </p:cNvPr>
          <p:cNvSpPr>
            <a:spLocks noGrp="1" noChangeArrowheads="1"/>
          </p:cNvSpPr>
          <p:nvPr>
            <p:ph idx="1"/>
          </p:nvPr>
        </p:nvSpPr>
        <p:spPr>
          <a:xfrm>
            <a:off x="727363" y="1787366"/>
            <a:ext cx="9372600" cy="4703778"/>
          </a:xfrm>
        </p:spPr>
        <p:txBody>
          <a:bodyPr>
            <a:normAutofit/>
          </a:bodyPr>
          <a:lstStyle/>
          <a:p>
            <a:r>
              <a:rPr lang="en-US" altLang="en-US" sz="2400" dirty="0" smtClean="0"/>
              <a:t>Batch  OS</a:t>
            </a:r>
          </a:p>
          <a:p>
            <a:r>
              <a:rPr lang="en-US" altLang="en-US" sz="2400" dirty="0" smtClean="0"/>
              <a:t>Multi-Programmed OS</a:t>
            </a:r>
          </a:p>
          <a:p>
            <a:r>
              <a:rPr lang="en-US" altLang="en-US" sz="2400" dirty="0" smtClean="0"/>
              <a:t>Multi-Processor OS</a:t>
            </a:r>
          </a:p>
          <a:p>
            <a:r>
              <a:rPr lang="en-US" altLang="en-US" sz="2400" dirty="0" smtClean="0"/>
              <a:t>Distributed OS</a:t>
            </a:r>
          </a:p>
          <a:p>
            <a:r>
              <a:rPr lang="en-US" altLang="en-US" sz="2400" dirty="0" smtClean="0"/>
              <a:t>Multi-tasking OS</a:t>
            </a:r>
          </a:p>
          <a:p>
            <a:r>
              <a:rPr lang="en-US" altLang="en-US" sz="2400" dirty="0" smtClean="0"/>
              <a:t>Time-sharing OS</a:t>
            </a:r>
          </a:p>
          <a:p>
            <a:r>
              <a:rPr lang="en-US" altLang="en-US" sz="2400" dirty="0" smtClean="0"/>
              <a:t>Real-time OS</a:t>
            </a:r>
            <a:endParaRPr lang="en-US" altLang="en-US" sz="2400" dirty="0"/>
          </a:p>
        </p:txBody>
      </p:sp>
    </p:spTree>
    <p:extLst>
      <p:ext uri="{BB962C8B-B14F-4D97-AF65-F5344CB8AC3E}">
        <p14:creationId xmlns:p14="http://schemas.microsoft.com/office/powerpoint/2010/main" val="67507370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 xmlns:a16="http://schemas.microsoft.com/office/drawing/2014/main" id="{392A56DA-C845-4355-80C3-C30ECB76C561}"/>
              </a:ext>
            </a:extLst>
          </p:cNvPr>
          <p:cNvSpPr>
            <a:spLocks noGrp="1" noChangeArrowheads="1"/>
          </p:cNvSpPr>
          <p:nvPr>
            <p:ph type="title"/>
          </p:nvPr>
        </p:nvSpPr>
        <p:spPr/>
        <p:txBody>
          <a:bodyPr>
            <a:normAutofit fontScale="90000"/>
          </a:bodyPr>
          <a:lstStyle/>
          <a:p>
            <a:r>
              <a:rPr lang="en-US" altLang="en-US" sz="4000" b="1" u="sng" dirty="0">
                <a:latin typeface="Arial" panose="020B0604020202020204" pitchFamily="34" charset="0"/>
              </a:rPr>
              <a:t/>
            </a:r>
            <a:br>
              <a:rPr lang="en-US" altLang="en-US" sz="4000" b="1" u="sng" dirty="0">
                <a:latin typeface="Arial" panose="020B0604020202020204" pitchFamily="34" charset="0"/>
              </a:rPr>
            </a:br>
            <a:r>
              <a:rPr lang="en-US" altLang="en-US" sz="4900" dirty="0">
                <a:solidFill>
                  <a:srgbClr val="FF0000"/>
                </a:solidFill>
                <a:latin typeface="+mn-lt"/>
              </a:rPr>
              <a:t>Types of Operating </a:t>
            </a:r>
            <a:r>
              <a:rPr lang="en-US" altLang="en-US" sz="4900" dirty="0" smtClean="0">
                <a:solidFill>
                  <a:srgbClr val="FF0000"/>
                </a:solidFill>
                <a:latin typeface="+mn-lt"/>
              </a:rPr>
              <a:t>System</a:t>
            </a:r>
            <a:r>
              <a:rPr lang="en-US" altLang="en-US" sz="4900" dirty="0">
                <a:latin typeface="+mn-lt"/>
              </a:rPr>
              <a:t/>
            </a:r>
            <a:br>
              <a:rPr lang="en-US" altLang="en-US" sz="4900" dirty="0">
                <a:latin typeface="+mn-lt"/>
              </a:rPr>
            </a:br>
            <a:endParaRPr lang="en-US" altLang="en-US" sz="4000" b="1" u="sng" dirty="0">
              <a:solidFill>
                <a:srgbClr val="FF0000"/>
              </a:solidFill>
              <a:latin typeface="Arial" panose="020B0604020202020204" pitchFamily="34" charset="0"/>
            </a:endParaRPr>
          </a:p>
        </p:txBody>
      </p:sp>
      <p:sp>
        <p:nvSpPr>
          <p:cNvPr id="34819" name="Rectangle 3">
            <a:extLst>
              <a:ext uri="{FF2B5EF4-FFF2-40B4-BE49-F238E27FC236}">
                <a16:creationId xmlns="" xmlns:a16="http://schemas.microsoft.com/office/drawing/2014/main" id="{D31DAA4D-5FF3-421F-B877-863C7D0B0399}"/>
              </a:ext>
            </a:extLst>
          </p:cNvPr>
          <p:cNvSpPr>
            <a:spLocks noGrp="1" noChangeArrowheads="1"/>
          </p:cNvSpPr>
          <p:nvPr>
            <p:ph idx="1"/>
          </p:nvPr>
        </p:nvSpPr>
        <p:spPr>
          <a:xfrm>
            <a:off x="727363" y="1787366"/>
            <a:ext cx="9372600" cy="4703778"/>
          </a:xfrm>
        </p:spPr>
        <p:txBody>
          <a:bodyPr>
            <a:normAutofit lnSpcReduction="10000"/>
          </a:bodyPr>
          <a:lstStyle/>
          <a:p>
            <a:pPr marL="0" indent="0">
              <a:buNone/>
            </a:pPr>
            <a:r>
              <a:rPr lang="en-US" altLang="en-US" sz="2400" b="1" u="sng" dirty="0">
                <a:solidFill>
                  <a:srgbClr val="FF0000"/>
                </a:solidFill>
                <a:latin typeface="Arial" panose="020B0604020202020204" pitchFamily="34" charset="0"/>
              </a:rPr>
              <a:t>Batch Processing:</a:t>
            </a:r>
          </a:p>
          <a:p>
            <a:r>
              <a:rPr lang="en-US" altLang="en-US" sz="2400" dirty="0" smtClean="0"/>
              <a:t>In </a:t>
            </a:r>
            <a:r>
              <a:rPr lang="en-US" altLang="en-US" sz="2400" dirty="0"/>
              <a:t>Batch processing same type of jobs batch </a:t>
            </a:r>
            <a:r>
              <a:rPr lang="en-US" altLang="en-US" sz="2400" i="1" dirty="0"/>
              <a:t>(BATCH- a set of jobs with similar needs)</a:t>
            </a:r>
            <a:r>
              <a:rPr lang="en-US" altLang="en-US" sz="2400" dirty="0"/>
              <a:t> together and execute at a time.</a:t>
            </a:r>
          </a:p>
          <a:p>
            <a:r>
              <a:rPr lang="en-US" altLang="en-US" sz="2400" dirty="0"/>
              <a:t>The OS was simple, its major task was to transfer control from one job to the next.</a:t>
            </a:r>
          </a:p>
          <a:p>
            <a:r>
              <a:rPr lang="en-US" altLang="en-US" sz="2400" dirty="0"/>
              <a:t>The job was submitted to the computer operator in form of punch cards. At some later time the output appeared.</a:t>
            </a:r>
          </a:p>
          <a:p>
            <a:r>
              <a:rPr lang="en-US" altLang="en-US" sz="2400" dirty="0"/>
              <a:t>The OS was always resident in memory. </a:t>
            </a:r>
          </a:p>
          <a:p>
            <a:r>
              <a:rPr lang="en-US" altLang="en-US" sz="2400" dirty="0"/>
              <a:t>Common Input devices were card readers and tape drives.</a:t>
            </a:r>
          </a:p>
          <a:p>
            <a:r>
              <a:rPr lang="en-IN" sz="2400" b="0" i="0" dirty="0">
                <a:effectLst/>
              </a:rPr>
              <a:t>This type of operating system does not interact  directly. There is an operator which takes similar jobs having same requirement and group them into batches. It is the responsibility of operator to sort the jobs with similar needs.</a:t>
            </a:r>
            <a:endParaRPr lang="en-US" altLang="en-US" sz="2400" dirty="0"/>
          </a:p>
        </p:txBody>
      </p:sp>
    </p:spTree>
    <p:extLst>
      <p:ext uri="{BB962C8B-B14F-4D97-AF65-F5344CB8AC3E}">
        <p14:creationId xmlns:p14="http://schemas.microsoft.com/office/powerpoint/2010/main" val="155023884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D2F3194-81C7-4394-83EC-F278A4E9AC86}"/>
              </a:ext>
            </a:extLst>
          </p:cNvPr>
          <p:cNvSpPr>
            <a:spLocks noGrp="1"/>
          </p:cNvSpPr>
          <p:nvPr>
            <p:ph type="title"/>
          </p:nvPr>
        </p:nvSpPr>
        <p:spPr/>
        <p:txBody>
          <a:bodyPr/>
          <a:lstStyle/>
          <a:p>
            <a:r>
              <a:rPr lang="en-US" b="0" i="0" u="none" strike="noStrike" dirty="0">
                <a:solidFill>
                  <a:srgbClr val="FF0000"/>
                </a:solidFill>
                <a:effectLst/>
                <a:latin typeface="+mn-lt"/>
              </a:rPr>
              <a:t>Multiprogramming Operating System</a:t>
            </a:r>
            <a:r>
              <a:rPr lang="en-US" b="0" i="0" u="none" strike="noStrike" dirty="0">
                <a:effectLst/>
                <a:latin typeface="+mn-lt"/>
              </a:rPr>
              <a:t/>
            </a:r>
            <a:br>
              <a:rPr lang="en-US" b="0" i="0" u="none" strike="noStrike" dirty="0">
                <a:effectLst/>
                <a:latin typeface="+mn-lt"/>
              </a:rPr>
            </a:br>
            <a:endParaRPr lang="en-US" dirty="0"/>
          </a:p>
        </p:txBody>
      </p:sp>
      <p:sp>
        <p:nvSpPr>
          <p:cNvPr id="3" name="Content Placeholder 2">
            <a:extLst>
              <a:ext uri="{FF2B5EF4-FFF2-40B4-BE49-F238E27FC236}">
                <a16:creationId xmlns="" xmlns:a16="http://schemas.microsoft.com/office/drawing/2014/main" id="{79117E76-0697-4A95-9FFF-0971FCBD9EAF}"/>
              </a:ext>
            </a:extLst>
          </p:cNvPr>
          <p:cNvSpPr>
            <a:spLocks noGrp="1"/>
          </p:cNvSpPr>
          <p:nvPr>
            <p:ph idx="1"/>
          </p:nvPr>
        </p:nvSpPr>
        <p:spPr/>
        <p:txBody>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rgbClr val="000000"/>
                </a:solidFill>
                <a:effectLst/>
                <a:cs typeface="Segoe UI" panose="020B0502040204020203" pitchFamily="34" charset="0"/>
              </a:rPr>
              <a:t>In this concept, two or more user programs can be in main memory and can be executed concurrently. The CPU can give time to various programs despite sitting idle when one is busy with I/O operations.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rgbClr val="000000"/>
                </a:solidFill>
                <a:effectLst/>
                <a:cs typeface="Segoe UI" panose="020B0502040204020203" pitchFamily="34" charset="0"/>
              </a:rPr>
              <a:t>When one program is waiting for I/O transfer there is next program ready to utilize the processor. Therefore, several processes can share the time of the CPU.</a:t>
            </a:r>
          </a:p>
          <a:p>
            <a:endParaRPr lang="en-US" dirty="0"/>
          </a:p>
        </p:txBody>
      </p:sp>
    </p:spTree>
    <p:extLst>
      <p:ext uri="{BB962C8B-B14F-4D97-AF65-F5344CB8AC3E}">
        <p14:creationId xmlns:p14="http://schemas.microsoft.com/office/powerpoint/2010/main" val="188645066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 xmlns:a16="http://schemas.microsoft.com/office/drawing/2014/main" id="{7F4396CA-E451-4C28-9298-168E8930CC0D}"/>
              </a:ext>
            </a:extLst>
          </p:cNvPr>
          <p:cNvSpPr>
            <a:spLocks noGrp="1" noChangeArrowheads="1"/>
          </p:cNvSpPr>
          <p:nvPr>
            <p:ph type="title"/>
          </p:nvPr>
        </p:nvSpPr>
        <p:spPr/>
        <p:txBody>
          <a:bodyPr/>
          <a:lstStyle/>
          <a:p>
            <a:r>
              <a:rPr lang="en-US" altLang="en-US" sz="4000" dirty="0" smtClean="0">
                <a:solidFill>
                  <a:srgbClr val="FF0000"/>
                </a:solidFill>
                <a:latin typeface="+mn-lt"/>
              </a:rPr>
              <a:t>Multiprogramming</a:t>
            </a:r>
            <a:endParaRPr lang="en-US" altLang="en-US" sz="4000" dirty="0">
              <a:solidFill>
                <a:srgbClr val="FF0000"/>
              </a:solidFill>
              <a:latin typeface="+mn-lt"/>
            </a:endParaRPr>
          </a:p>
        </p:txBody>
      </p:sp>
      <p:graphicFrame>
        <p:nvGraphicFramePr>
          <p:cNvPr id="36900" name="Group 36">
            <a:extLst>
              <a:ext uri="{FF2B5EF4-FFF2-40B4-BE49-F238E27FC236}">
                <a16:creationId xmlns="" xmlns:a16="http://schemas.microsoft.com/office/drawing/2014/main" id="{86128D5D-E647-4C67-9607-F31C03FD3C21}"/>
              </a:ext>
            </a:extLst>
          </p:cNvPr>
          <p:cNvGraphicFramePr>
            <a:graphicFrameLocks noGrp="1"/>
          </p:cNvGraphicFramePr>
          <p:nvPr>
            <p:ph type="tbl" idx="1"/>
          </p:nvPr>
        </p:nvGraphicFramePr>
        <p:xfrm>
          <a:off x="2133600" y="1295400"/>
          <a:ext cx="2590800" cy="4227514"/>
        </p:xfrm>
        <a:graphic>
          <a:graphicData uri="http://schemas.openxmlformats.org/drawingml/2006/table">
            <a:tbl>
              <a:tblPr/>
              <a:tblGrid>
                <a:gridCol w="2590800">
                  <a:extLst>
                    <a:ext uri="{9D8B030D-6E8A-4147-A177-3AD203B41FA5}">
                      <a16:colId xmlns="" xmlns:a16="http://schemas.microsoft.com/office/drawing/2014/main" val="444185052"/>
                    </a:ext>
                  </a:extLst>
                </a:gridCol>
              </a:tblGrid>
              <a:tr h="693738">
                <a:tc>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defRPr>
                      </a:lvl1pPr>
                      <a:lvl2pPr marL="344488">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defRPr>
                      </a:lvl2pPr>
                      <a:lvl3pPr marL="671513">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defRPr>
                      </a:lvl3pPr>
                      <a:lvl4pPr marL="1023938">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marL="1341438">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defRPr>
                      </a:lvl5pPr>
                      <a:lvl6pPr marL="1798638"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6pPr>
                      <a:lvl7pPr marL="2255838"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7pPr>
                      <a:lvl8pPr marL="2713038"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8pPr>
                      <a:lvl9pPr marL="3170238"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en-US" altLang="en-US" sz="2600" b="0" i="0" u="none" strike="noStrike" cap="none" normalizeH="0" baseline="0">
                          <a:ln>
                            <a:noFill/>
                          </a:ln>
                          <a:solidFill>
                            <a:schemeClr val="tx1"/>
                          </a:solidFill>
                          <a:effectLst/>
                          <a:latin typeface="Arial" panose="020B0604020202020204" pitchFamily="34" charset="0"/>
                        </a:rPr>
                        <a:t>OS</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421803371"/>
                  </a:ext>
                </a:extLst>
              </a:tr>
              <a:tr h="692150">
                <a:tc>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defRPr>
                      </a:lvl1pPr>
                      <a:lvl2pPr marL="344488">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defRPr>
                      </a:lvl2pPr>
                      <a:lvl3pPr marL="671513">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defRPr>
                      </a:lvl3pPr>
                      <a:lvl4pPr marL="1023938">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marL="1341438">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defRPr>
                      </a:lvl5pPr>
                      <a:lvl6pPr marL="1798638"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6pPr>
                      <a:lvl7pPr marL="2255838"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7pPr>
                      <a:lvl8pPr marL="2713038"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8pPr>
                      <a:lvl9pPr marL="3170238"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en-US" altLang="en-US" sz="2600" b="0" i="0" u="none" strike="noStrike" cap="none" normalizeH="0" baseline="0">
                          <a:ln>
                            <a:noFill/>
                          </a:ln>
                          <a:solidFill>
                            <a:schemeClr val="tx1"/>
                          </a:solidFill>
                          <a:effectLst/>
                          <a:latin typeface="Arial" panose="020B0604020202020204" pitchFamily="34" charset="0"/>
                        </a:rPr>
                        <a:t>Job 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95199742"/>
                  </a:ext>
                </a:extLst>
              </a:tr>
              <a:tr h="762000">
                <a:tc>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defRPr>
                      </a:lvl1pPr>
                      <a:lvl2pPr marL="344488">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defRPr>
                      </a:lvl2pPr>
                      <a:lvl3pPr marL="671513">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defRPr>
                      </a:lvl3pPr>
                      <a:lvl4pPr marL="1023938">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marL="1341438">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defRPr>
                      </a:lvl5pPr>
                      <a:lvl6pPr marL="1798638"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6pPr>
                      <a:lvl7pPr marL="2255838"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7pPr>
                      <a:lvl8pPr marL="2713038"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8pPr>
                      <a:lvl9pPr marL="3170238"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en-US" altLang="en-US" sz="2600" b="0" i="0" u="none" strike="noStrike" cap="none" normalizeH="0" baseline="0" dirty="0">
                          <a:ln>
                            <a:noFill/>
                          </a:ln>
                          <a:solidFill>
                            <a:schemeClr val="tx1"/>
                          </a:solidFill>
                          <a:effectLst/>
                          <a:latin typeface="Arial" panose="020B0604020202020204" pitchFamily="34" charset="0"/>
                        </a:rPr>
                        <a:t>Job 2</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976071043"/>
                  </a:ext>
                </a:extLst>
              </a:tr>
              <a:tr h="693738">
                <a:tc>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defRPr>
                      </a:lvl1pPr>
                      <a:lvl2pPr marL="344488">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defRPr>
                      </a:lvl2pPr>
                      <a:lvl3pPr marL="671513">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defRPr>
                      </a:lvl3pPr>
                      <a:lvl4pPr marL="1023938">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marL="1341438">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defRPr>
                      </a:lvl5pPr>
                      <a:lvl6pPr marL="1798638"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6pPr>
                      <a:lvl7pPr marL="2255838"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7pPr>
                      <a:lvl8pPr marL="2713038"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8pPr>
                      <a:lvl9pPr marL="3170238"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en-US" altLang="en-US" sz="2600" b="0" i="0" u="none" strike="noStrike" cap="none" normalizeH="0" baseline="0" dirty="0">
                          <a:ln>
                            <a:noFill/>
                          </a:ln>
                          <a:solidFill>
                            <a:schemeClr val="tx1"/>
                          </a:solidFill>
                          <a:effectLst/>
                          <a:latin typeface="Arial" panose="020B0604020202020204" pitchFamily="34" charset="0"/>
                        </a:rPr>
                        <a:t>Job 3</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3126519705"/>
                  </a:ext>
                </a:extLst>
              </a:tr>
              <a:tr h="692150">
                <a:tc>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defRPr>
                      </a:lvl1pPr>
                      <a:lvl2pPr marL="344488">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defRPr>
                      </a:lvl2pPr>
                      <a:lvl3pPr marL="671513">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defRPr>
                      </a:lvl3pPr>
                      <a:lvl4pPr marL="1023938">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marL="1341438">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defRPr>
                      </a:lvl5pPr>
                      <a:lvl6pPr marL="1798638"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6pPr>
                      <a:lvl7pPr marL="2255838"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7pPr>
                      <a:lvl8pPr marL="2713038"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8pPr>
                      <a:lvl9pPr marL="3170238"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en-US" altLang="en-US" sz="2600" b="0" i="0" u="none" strike="noStrike" cap="none" normalizeH="0" baseline="0">
                          <a:ln>
                            <a:noFill/>
                          </a:ln>
                          <a:solidFill>
                            <a:schemeClr val="tx1"/>
                          </a:solidFill>
                          <a:effectLst/>
                          <a:latin typeface="Arial" panose="020B0604020202020204" pitchFamily="34" charset="0"/>
                        </a:rPr>
                        <a:t>Job 4</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992348835"/>
                  </a:ext>
                </a:extLst>
              </a:tr>
              <a:tr h="693738">
                <a:tc>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defRPr>
                      </a:lvl1pPr>
                      <a:lvl2pPr marL="344488">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defRPr>
                      </a:lvl2pPr>
                      <a:lvl3pPr marL="671513">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defRPr>
                      </a:lvl3pPr>
                      <a:lvl4pPr marL="1023938">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marL="1341438">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defRPr>
                      </a:lvl5pPr>
                      <a:lvl6pPr marL="1798638"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6pPr>
                      <a:lvl7pPr marL="2255838"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7pPr>
                      <a:lvl8pPr marL="2713038"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8pPr>
                      <a:lvl9pPr marL="3170238"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en-US" altLang="en-US" sz="2600" b="0" i="0" u="none" strike="noStrike" cap="none" normalizeH="0" baseline="0" dirty="0">
                          <a:ln>
                            <a:noFill/>
                          </a:ln>
                          <a:solidFill>
                            <a:schemeClr val="tx1"/>
                          </a:solidFill>
                          <a:effectLst/>
                          <a:latin typeface="Arial" panose="020B0604020202020204" pitchFamily="34" charset="0"/>
                        </a:rPr>
                        <a:t>Job 5</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3236432141"/>
                  </a:ext>
                </a:extLst>
              </a:tr>
            </a:tbl>
          </a:graphicData>
        </a:graphic>
      </p:graphicFrame>
      <p:sp>
        <p:nvSpPr>
          <p:cNvPr id="36901" name="Text Box 37">
            <a:extLst>
              <a:ext uri="{FF2B5EF4-FFF2-40B4-BE49-F238E27FC236}">
                <a16:creationId xmlns="" xmlns:a16="http://schemas.microsoft.com/office/drawing/2014/main" id="{40D4204B-4338-4BD5-94FA-401E8C88DD76}"/>
              </a:ext>
            </a:extLst>
          </p:cNvPr>
          <p:cNvSpPr txBox="1">
            <a:spLocks noChangeArrowheads="1"/>
          </p:cNvSpPr>
          <p:nvPr/>
        </p:nvSpPr>
        <p:spPr bwMode="auto">
          <a:xfrm>
            <a:off x="5181600" y="1447801"/>
            <a:ext cx="4648200"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Char char="•"/>
            </a:pPr>
            <a:r>
              <a:rPr lang="en-US" altLang="en-US"/>
              <a:t> </a:t>
            </a:r>
            <a:r>
              <a:rPr lang="en-US" altLang="en-US" sz="2400"/>
              <a:t>Figure dipicts the layout of multiprogramming system.</a:t>
            </a:r>
          </a:p>
          <a:p>
            <a:pPr>
              <a:spcBef>
                <a:spcPct val="50000"/>
              </a:spcBef>
              <a:buFontTx/>
              <a:buChar char="•"/>
            </a:pPr>
            <a:r>
              <a:rPr lang="en-US" altLang="en-US" sz="2400"/>
              <a:t> The main memory consists of 5 jobs at a time, the CPU executes one by one.</a:t>
            </a:r>
          </a:p>
          <a:p>
            <a:pPr>
              <a:spcBef>
                <a:spcPct val="50000"/>
              </a:spcBef>
            </a:pPr>
            <a:r>
              <a:rPr lang="en-US" altLang="en-US" sz="2400" b="1" u="sng"/>
              <a:t>Advantages:</a:t>
            </a:r>
          </a:p>
          <a:p>
            <a:pPr>
              <a:spcBef>
                <a:spcPct val="50000"/>
              </a:spcBef>
              <a:buFontTx/>
              <a:buChar char="•"/>
            </a:pPr>
            <a:r>
              <a:rPr lang="en-US" altLang="en-US" sz="2400"/>
              <a:t>Efficient memory utilization</a:t>
            </a:r>
          </a:p>
          <a:p>
            <a:pPr>
              <a:spcBef>
                <a:spcPct val="50000"/>
              </a:spcBef>
              <a:buFontTx/>
              <a:buChar char="•"/>
            </a:pPr>
            <a:r>
              <a:rPr lang="en-US" altLang="en-US" sz="2400"/>
              <a:t>Throughput increases</a:t>
            </a:r>
          </a:p>
          <a:p>
            <a:pPr>
              <a:spcBef>
                <a:spcPct val="50000"/>
              </a:spcBef>
              <a:buFontTx/>
              <a:buChar char="•"/>
            </a:pPr>
            <a:r>
              <a:rPr lang="en-US" altLang="en-US" sz="2400"/>
              <a:t>CPU is never idle, so performance increases.</a:t>
            </a:r>
          </a:p>
        </p:txBody>
      </p:sp>
    </p:spTree>
    <p:extLst>
      <p:ext uri="{BB962C8B-B14F-4D97-AF65-F5344CB8AC3E}">
        <p14:creationId xmlns:p14="http://schemas.microsoft.com/office/powerpoint/2010/main" val="260009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 xmlns:a16="http://schemas.microsoft.com/office/drawing/2014/main" id="{0D09614F-A84E-4296-9EF4-DFBD9D900AD1}"/>
              </a:ext>
            </a:extLst>
          </p:cNvPr>
          <p:cNvSpPr>
            <a:spLocks noGrp="1" noChangeArrowheads="1"/>
          </p:cNvSpPr>
          <p:nvPr>
            <p:ph type="title"/>
          </p:nvPr>
        </p:nvSpPr>
        <p:spPr/>
        <p:txBody>
          <a:bodyPr/>
          <a:lstStyle/>
          <a:p>
            <a:r>
              <a:rPr lang="en-US" altLang="en-US" sz="4000" dirty="0">
                <a:solidFill>
                  <a:srgbClr val="FF0000"/>
                </a:solidFill>
                <a:latin typeface="+mn-lt"/>
              </a:rPr>
              <a:t>Multitasking/Time Sharing Systems</a:t>
            </a:r>
          </a:p>
        </p:txBody>
      </p:sp>
      <p:sp>
        <p:nvSpPr>
          <p:cNvPr id="38915" name="Rectangle 3">
            <a:extLst>
              <a:ext uri="{FF2B5EF4-FFF2-40B4-BE49-F238E27FC236}">
                <a16:creationId xmlns="" xmlns:a16="http://schemas.microsoft.com/office/drawing/2014/main" id="{4B832C92-5D58-43EC-8721-0416940295CC}"/>
              </a:ext>
            </a:extLst>
          </p:cNvPr>
          <p:cNvSpPr>
            <a:spLocks noGrp="1" noChangeArrowheads="1"/>
          </p:cNvSpPr>
          <p:nvPr>
            <p:ph idx="1"/>
          </p:nvPr>
        </p:nvSpPr>
        <p:spPr>
          <a:xfrm>
            <a:off x="1981200" y="1600200"/>
            <a:ext cx="8229600" cy="4419600"/>
          </a:xfrm>
        </p:spPr>
        <p:txBody>
          <a:bodyPr/>
          <a:lstStyle/>
          <a:p>
            <a:r>
              <a:rPr lang="en-US" altLang="en-US" sz="2400" dirty="0"/>
              <a:t>Time sharing, or multitasking, is a logical extension of multiprogramming.</a:t>
            </a:r>
          </a:p>
          <a:p>
            <a:r>
              <a:rPr lang="en-US" altLang="en-US" sz="2400" dirty="0"/>
              <a:t>Multiple jobs are executed by switching the CPU between them.</a:t>
            </a:r>
          </a:p>
          <a:p>
            <a:r>
              <a:rPr lang="en-US" altLang="en-US" sz="2400" dirty="0"/>
              <a:t>In this, the CPU time is shared by different processes, so it is called as “Time sharing Systems”.</a:t>
            </a:r>
          </a:p>
          <a:p>
            <a:r>
              <a:rPr lang="en-US" altLang="en-US" sz="2400" dirty="0"/>
              <a:t>Time slice is defined by the OS, for sharing CPU time between processes.</a:t>
            </a:r>
          </a:p>
        </p:txBody>
      </p:sp>
    </p:spTree>
    <p:extLst>
      <p:ext uri="{BB962C8B-B14F-4D97-AF65-F5344CB8AC3E}">
        <p14:creationId xmlns:p14="http://schemas.microsoft.com/office/powerpoint/2010/main" val="181559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 xmlns:a16="http://schemas.microsoft.com/office/drawing/2014/main" id="{462E4BAF-6C64-4142-87CA-E87740914442}"/>
              </a:ext>
            </a:extLst>
          </p:cNvPr>
          <p:cNvPicPr>
            <a:picLocks noGrp="1" noChangeAspect="1"/>
          </p:cNvPicPr>
          <p:nvPr>
            <p:ph idx="1"/>
          </p:nvPr>
        </p:nvPicPr>
        <p:blipFill>
          <a:blip r:embed="rId2"/>
          <a:stretch>
            <a:fillRect/>
          </a:stretch>
        </p:blipFill>
        <p:spPr>
          <a:xfrm>
            <a:off x="2307364" y="2162086"/>
            <a:ext cx="7103336" cy="3503776"/>
          </a:xfrm>
          <a:prstGeom prst="rect">
            <a:avLst/>
          </a:prstGeom>
        </p:spPr>
      </p:pic>
    </p:spTree>
    <p:extLst>
      <p:ext uri="{BB962C8B-B14F-4D97-AF65-F5344CB8AC3E}">
        <p14:creationId xmlns:p14="http://schemas.microsoft.com/office/powerpoint/2010/main" val="236430359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AF1A834-AE70-43C2-900D-BF7851EB61FD}"/>
              </a:ext>
            </a:extLst>
          </p:cNvPr>
          <p:cNvSpPr>
            <a:spLocks noGrp="1"/>
          </p:cNvSpPr>
          <p:nvPr>
            <p:ph type="title"/>
          </p:nvPr>
        </p:nvSpPr>
        <p:spPr/>
        <p:txBody>
          <a:bodyPr/>
          <a:lstStyle/>
          <a:p>
            <a:r>
              <a:rPr lang="en-IN" i="0" dirty="0">
                <a:solidFill>
                  <a:srgbClr val="FF0000"/>
                </a:solidFill>
                <a:effectLst/>
                <a:latin typeface="+mn-lt"/>
              </a:rPr>
              <a:t>Multiprocessor Operating System </a:t>
            </a:r>
            <a:endParaRPr lang="en-US" dirty="0">
              <a:solidFill>
                <a:srgbClr val="FF0000"/>
              </a:solidFill>
              <a:latin typeface="+mn-lt"/>
            </a:endParaRPr>
          </a:p>
        </p:txBody>
      </p:sp>
      <p:sp>
        <p:nvSpPr>
          <p:cNvPr id="3" name="Content Placeholder 2">
            <a:extLst>
              <a:ext uri="{FF2B5EF4-FFF2-40B4-BE49-F238E27FC236}">
                <a16:creationId xmlns="" xmlns:a16="http://schemas.microsoft.com/office/drawing/2014/main" id="{0457BE95-A389-4E4E-990C-EA82A8902BAB}"/>
              </a:ext>
            </a:extLst>
          </p:cNvPr>
          <p:cNvSpPr>
            <a:spLocks noGrp="1"/>
          </p:cNvSpPr>
          <p:nvPr>
            <p:ph idx="1"/>
          </p:nvPr>
        </p:nvSpPr>
        <p:spPr/>
        <p:txBody>
          <a:bodyPr>
            <a:normAutofit/>
          </a:bodyPr>
          <a:lstStyle/>
          <a:p>
            <a:r>
              <a:rPr lang="en-IN" sz="2400" i="0" dirty="0">
                <a:solidFill>
                  <a:srgbClr val="222222"/>
                </a:solidFill>
                <a:effectLst/>
              </a:rPr>
              <a:t>refers to the use of two or more central processing units (CPU) within a single computer system. These multiple CPUs are in a close communication sharing the computer bus, memory and other peripheral devices. These systems are referred as tightly coupled systems.</a:t>
            </a:r>
          </a:p>
          <a:p>
            <a:pPr lvl="1"/>
            <a:r>
              <a:rPr lang="en-US" altLang="en-US" dirty="0"/>
              <a:t>Also known as parallel systems, tightly-coupled systems</a:t>
            </a:r>
          </a:p>
          <a:p>
            <a:pPr lvl="1"/>
            <a:r>
              <a:rPr lang="en-US" altLang="en-US" dirty="0"/>
              <a:t>Advantages include:</a:t>
            </a:r>
          </a:p>
          <a:p>
            <a:pPr marL="1200150" lvl="2" indent="-342900">
              <a:buFont typeface="Arial" panose="020B0604020202020204" pitchFamily="34" charset="0"/>
              <a:buAutoNum type="arabicPeriod"/>
            </a:pPr>
            <a:r>
              <a:rPr lang="en-US" altLang="en-US" dirty="0"/>
              <a:t>Increased throughput</a:t>
            </a:r>
          </a:p>
          <a:p>
            <a:pPr marL="1200150" lvl="2" indent="-342900">
              <a:buFont typeface="Arial" panose="020B0604020202020204" pitchFamily="34" charset="0"/>
              <a:buAutoNum type="arabicPeriod"/>
            </a:pPr>
            <a:r>
              <a:rPr lang="en-US" altLang="en-US" dirty="0"/>
              <a:t>Economy of scale</a:t>
            </a:r>
          </a:p>
          <a:p>
            <a:pPr marL="1200150" lvl="2" indent="-342900">
              <a:buFont typeface="Arial" panose="020B0604020202020204" pitchFamily="34" charset="0"/>
              <a:buAutoNum type="arabicPeriod"/>
            </a:pPr>
            <a:r>
              <a:rPr lang="en-US" altLang="en-US" dirty="0"/>
              <a:t>Increased reliability – graceful degradation or fault tolerance</a:t>
            </a:r>
          </a:p>
          <a:p>
            <a:pPr marL="0" indent="0">
              <a:buNone/>
            </a:pPr>
            <a:endParaRPr lang="en-IN" sz="2400" i="0" dirty="0">
              <a:solidFill>
                <a:srgbClr val="222222"/>
              </a:solidFill>
              <a:effectLst/>
            </a:endParaRPr>
          </a:p>
        </p:txBody>
      </p:sp>
    </p:spTree>
    <p:extLst>
      <p:ext uri="{BB962C8B-B14F-4D97-AF65-F5344CB8AC3E}">
        <p14:creationId xmlns:p14="http://schemas.microsoft.com/office/powerpoint/2010/main" val="259085836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75495EE-7F8C-4050-86CC-37840ADD4A60}"/>
              </a:ext>
            </a:extLst>
          </p:cNvPr>
          <p:cNvSpPr>
            <a:spLocks noGrp="1"/>
          </p:cNvSpPr>
          <p:nvPr>
            <p:ph type="title"/>
          </p:nvPr>
        </p:nvSpPr>
        <p:spPr/>
        <p:txBody>
          <a:bodyPr/>
          <a:lstStyle/>
          <a:p>
            <a:r>
              <a:rPr lang="en-US" i="0" dirty="0">
                <a:solidFill>
                  <a:srgbClr val="FF0000"/>
                </a:solidFill>
                <a:effectLst/>
                <a:latin typeface="+mn-lt"/>
              </a:rPr>
              <a:t>Real Time Operating System </a:t>
            </a:r>
            <a:endParaRPr lang="en-US" dirty="0">
              <a:solidFill>
                <a:srgbClr val="FF0000"/>
              </a:solidFill>
              <a:latin typeface="+mn-lt"/>
            </a:endParaRPr>
          </a:p>
        </p:txBody>
      </p:sp>
      <p:sp>
        <p:nvSpPr>
          <p:cNvPr id="3" name="Content Placeholder 2">
            <a:extLst>
              <a:ext uri="{FF2B5EF4-FFF2-40B4-BE49-F238E27FC236}">
                <a16:creationId xmlns="" xmlns:a16="http://schemas.microsoft.com/office/drawing/2014/main" id="{694485AF-280B-45E6-B212-0BACCA6AAF31}"/>
              </a:ext>
            </a:extLst>
          </p:cNvPr>
          <p:cNvSpPr>
            <a:spLocks noGrp="1"/>
          </p:cNvSpPr>
          <p:nvPr>
            <p:ph idx="1"/>
          </p:nvPr>
        </p:nvSpPr>
        <p:spPr/>
        <p:txBody>
          <a:bodyPr>
            <a:normAutofit fontScale="92500"/>
          </a:bodyPr>
          <a:lstStyle/>
          <a:p>
            <a:r>
              <a:rPr lang="en-IN" b="0" i="0" dirty="0">
                <a:effectLst/>
                <a:latin typeface="Roboto" panose="02000000000000000000" pitchFamily="2" charset="0"/>
              </a:rPr>
              <a:t>These </a:t>
            </a:r>
            <a:r>
              <a:rPr lang="en-IN" b="0" i="0" dirty="0" smtClean="0">
                <a:effectLst/>
                <a:latin typeface="Roboto" panose="02000000000000000000" pitchFamily="2" charset="0"/>
              </a:rPr>
              <a:t>ty</a:t>
            </a:r>
            <a:r>
              <a:rPr lang="en-IN" dirty="0"/>
              <a:t>p</a:t>
            </a:r>
            <a:r>
              <a:rPr lang="en-IN" b="0" i="0" dirty="0" smtClean="0">
                <a:effectLst/>
                <a:latin typeface="Roboto" panose="02000000000000000000" pitchFamily="2" charset="0"/>
              </a:rPr>
              <a:t>es o</a:t>
            </a:r>
            <a:r>
              <a:rPr lang="en-IN" dirty="0" smtClean="0"/>
              <a:t>f </a:t>
            </a:r>
            <a:r>
              <a:rPr lang="en-IN" b="0" i="0" dirty="0" smtClean="0">
                <a:effectLst/>
                <a:latin typeface="Roboto" panose="02000000000000000000" pitchFamily="2" charset="0"/>
              </a:rPr>
              <a:t>OS  </a:t>
            </a:r>
            <a:r>
              <a:rPr lang="en-IN" b="0" i="0" dirty="0">
                <a:effectLst/>
                <a:latin typeface="Roboto" panose="02000000000000000000" pitchFamily="2" charset="0"/>
              </a:rPr>
              <a:t>serves the real-time systems.</a:t>
            </a:r>
          </a:p>
          <a:p>
            <a:pPr algn="l" fontAlgn="base">
              <a:buFont typeface="Arial" panose="020B0604020202020204" pitchFamily="34" charset="0"/>
              <a:buChar char="•"/>
            </a:pPr>
            <a:r>
              <a:rPr lang="en-IN" sz="2800" b="1" i="0" dirty="0">
                <a:solidFill>
                  <a:srgbClr val="FF0000"/>
                </a:solidFill>
                <a:effectLst/>
              </a:rPr>
              <a:t>Hard Real-Time Systems:</a:t>
            </a:r>
            <a:r>
              <a:rPr lang="en-IN" sz="2800" b="0" i="0" dirty="0">
                <a:effectLst/>
              </a:rPr>
              <a:t/>
            </a:r>
            <a:br>
              <a:rPr lang="en-IN" sz="2800" b="0" i="0" dirty="0">
                <a:effectLst/>
              </a:rPr>
            </a:br>
            <a:r>
              <a:rPr lang="en-IN" sz="2800" b="0" i="0" dirty="0">
                <a:effectLst/>
              </a:rPr>
              <a:t>These OS are meant for the applications where time constraints are very strict and even the shortest possible delay is not acceptable. These systems are built for saving life like automatic parachutes or air bags which are required to be readily available in case of any accident. </a:t>
            </a:r>
          </a:p>
          <a:p>
            <a:pPr algn="l" fontAlgn="base">
              <a:buFont typeface="Arial" panose="020B0604020202020204" pitchFamily="34" charset="0"/>
              <a:buChar char="•"/>
            </a:pPr>
            <a:r>
              <a:rPr lang="en-IN" sz="2800" b="1" i="0" dirty="0">
                <a:solidFill>
                  <a:srgbClr val="FF0000"/>
                </a:solidFill>
                <a:effectLst/>
              </a:rPr>
              <a:t>Soft Real-Time Systems:</a:t>
            </a:r>
            <a:r>
              <a:rPr lang="en-IN" sz="2800" b="0" i="0" dirty="0">
                <a:effectLst/>
              </a:rPr>
              <a:t/>
            </a:r>
            <a:br>
              <a:rPr lang="en-IN" sz="2800" b="0" i="0" dirty="0">
                <a:effectLst/>
              </a:rPr>
            </a:br>
            <a:r>
              <a:rPr lang="en-IN" sz="2800" b="0" i="0" dirty="0">
                <a:effectLst/>
              </a:rPr>
              <a:t>These OS are for applications where for time-constraint is less strict.</a:t>
            </a:r>
          </a:p>
          <a:p>
            <a:pPr marL="0" indent="0" algn="l" fontAlgn="base">
              <a:buNone/>
            </a:pPr>
            <a:r>
              <a:rPr lang="en-IN" sz="2800" b="0" i="0" dirty="0">
                <a:effectLst/>
              </a:rPr>
              <a:t>  </a:t>
            </a:r>
            <a:r>
              <a:rPr lang="en-IN" sz="2800" b="0" i="0" dirty="0" err="1">
                <a:effectLst/>
              </a:rPr>
              <a:t>eg.</a:t>
            </a:r>
            <a:r>
              <a:rPr lang="en-US" b="0" i="0" dirty="0">
                <a:effectLst/>
                <a:latin typeface="Roboto" panose="02000000000000000000" pitchFamily="2" charset="0"/>
              </a:rPr>
              <a:t> electronic games</a:t>
            </a:r>
            <a:endParaRPr lang="en-IN" sz="2800" b="0" i="0" dirty="0">
              <a:effectLst/>
            </a:endParaRPr>
          </a:p>
          <a:p>
            <a:pPr marL="0" indent="0">
              <a:buNone/>
            </a:pPr>
            <a:r>
              <a:rPr lang="en-IN" b="0" i="0" dirty="0">
                <a:effectLst/>
                <a:latin typeface="Roboto" panose="02000000000000000000" pitchFamily="2" charset="0"/>
              </a:rPr>
              <a:t> </a:t>
            </a:r>
            <a:endParaRPr lang="en-US" dirty="0"/>
          </a:p>
        </p:txBody>
      </p:sp>
    </p:spTree>
    <p:extLst>
      <p:ext uri="{BB962C8B-B14F-4D97-AF65-F5344CB8AC3E}">
        <p14:creationId xmlns:p14="http://schemas.microsoft.com/office/powerpoint/2010/main" val="20045152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0C9DF9B-2892-4465-87AE-EBE20DFE6E3D}"/>
              </a:ext>
            </a:extLst>
          </p:cNvPr>
          <p:cNvSpPr>
            <a:spLocks noGrp="1"/>
          </p:cNvSpPr>
          <p:nvPr>
            <p:ph type="title"/>
          </p:nvPr>
        </p:nvSpPr>
        <p:spPr/>
        <p:txBody>
          <a:bodyPr/>
          <a:lstStyle/>
          <a:p>
            <a:r>
              <a:rPr lang="en-US" i="0" dirty="0">
                <a:solidFill>
                  <a:srgbClr val="FF0000"/>
                </a:solidFill>
                <a:effectLst/>
                <a:latin typeface="+mn-lt"/>
              </a:rPr>
              <a:t>Network operating </a:t>
            </a:r>
            <a:r>
              <a:rPr lang="en-US" i="0" dirty="0" smtClean="0">
                <a:solidFill>
                  <a:srgbClr val="FF0000"/>
                </a:solidFill>
                <a:effectLst/>
                <a:latin typeface="+mn-lt"/>
              </a:rPr>
              <a:t>system</a:t>
            </a:r>
            <a:endParaRPr lang="en-US" dirty="0">
              <a:latin typeface="+mn-lt"/>
            </a:endParaRPr>
          </a:p>
        </p:txBody>
      </p:sp>
      <p:sp>
        <p:nvSpPr>
          <p:cNvPr id="3" name="Content Placeholder 2">
            <a:extLst>
              <a:ext uri="{FF2B5EF4-FFF2-40B4-BE49-F238E27FC236}">
                <a16:creationId xmlns="" xmlns:a16="http://schemas.microsoft.com/office/drawing/2014/main" id="{E0C2CD56-59E3-46E7-B077-335A0380648F}"/>
              </a:ext>
            </a:extLst>
          </p:cNvPr>
          <p:cNvSpPr>
            <a:spLocks noGrp="1"/>
          </p:cNvSpPr>
          <p:nvPr>
            <p:ph idx="1"/>
          </p:nvPr>
        </p:nvSpPr>
        <p:spPr/>
        <p:txBody>
          <a:bodyPr/>
          <a:lstStyle/>
          <a:p>
            <a:pPr algn="just"/>
            <a:r>
              <a:rPr lang="en-IN" b="0" i="0" dirty="0">
                <a:solidFill>
                  <a:srgbClr val="181818"/>
                </a:solidFill>
                <a:effectLst/>
                <a:latin typeface="BentonSans"/>
              </a:rPr>
              <a:t> </a:t>
            </a:r>
            <a:r>
              <a:rPr lang="en-IN" i="0" dirty="0">
                <a:solidFill>
                  <a:srgbClr val="181818"/>
                </a:solidFill>
                <a:effectLst/>
                <a:latin typeface="BentonSans"/>
              </a:rPr>
              <a:t>is an operating system that manages network resources: essentially, an operating system that includes special functions for connecting computers and devices into a local area network (LAN). </a:t>
            </a:r>
          </a:p>
          <a:p>
            <a:pPr algn="just"/>
            <a:r>
              <a:rPr lang="en-IN" i="0" dirty="0">
                <a:solidFill>
                  <a:srgbClr val="181818"/>
                </a:solidFill>
                <a:effectLst/>
                <a:latin typeface="BentonSans"/>
              </a:rPr>
              <a:t> manages multiple requests (inputs) concurrently and provides the security necessary in a multiuser environment. </a:t>
            </a:r>
          </a:p>
          <a:p>
            <a:pPr algn="just"/>
            <a:r>
              <a:rPr lang="en-IN" i="0" dirty="0">
                <a:solidFill>
                  <a:srgbClr val="181818"/>
                </a:solidFill>
                <a:effectLst/>
                <a:latin typeface="BentonSans"/>
              </a:rPr>
              <a:t>It may be a completely self-contained operating system, such as  </a:t>
            </a:r>
            <a:r>
              <a:rPr lang="en-IN" i="0" dirty="0">
                <a:effectLst/>
                <a:latin typeface="BentonSans"/>
              </a:rPr>
              <a:t>Unix</a:t>
            </a:r>
            <a:r>
              <a:rPr lang="en-IN" i="0" dirty="0">
                <a:solidFill>
                  <a:srgbClr val="181818"/>
                </a:solidFill>
                <a:effectLst/>
                <a:latin typeface="BentonSans"/>
              </a:rPr>
              <a:t>, Windows 2000, or Mac OS </a:t>
            </a:r>
            <a:endParaRPr lang="en-US" dirty="0"/>
          </a:p>
        </p:txBody>
      </p:sp>
    </p:spTree>
    <p:extLst>
      <p:ext uri="{BB962C8B-B14F-4D97-AF65-F5344CB8AC3E}">
        <p14:creationId xmlns:p14="http://schemas.microsoft.com/office/powerpoint/2010/main" val="195519017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0C9DF9B-2892-4465-87AE-EBE20DFE6E3D}"/>
              </a:ext>
            </a:extLst>
          </p:cNvPr>
          <p:cNvSpPr>
            <a:spLocks noGrp="1"/>
          </p:cNvSpPr>
          <p:nvPr>
            <p:ph type="title"/>
          </p:nvPr>
        </p:nvSpPr>
        <p:spPr/>
        <p:txBody>
          <a:bodyPr/>
          <a:lstStyle/>
          <a:p>
            <a:r>
              <a:rPr lang="en-US" dirty="0" smtClean="0">
                <a:solidFill>
                  <a:srgbClr val="FF0000"/>
                </a:solidFill>
                <a:latin typeface="+mn-lt"/>
              </a:rPr>
              <a:t>Mobile</a:t>
            </a:r>
            <a:r>
              <a:rPr lang="en-US" i="0" dirty="0" smtClean="0">
                <a:solidFill>
                  <a:srgbClr val="FF0000"/>
                </a:solidFill>
                <a:effectLst/>
                <a:latin typeface="+mn-lt"/>
              </a:rPr>
              <a:t> </a:t>
            </a:r>
            <a:r>
              <a:rPr lang="en-US" i="0" dirty="0">
                <a:solidFill>
                  <a:srgbClr val="FF0000"/>
                </a:solidFill>
                <a:effectLst/>
                <a:latin typeface="+mn-lt"/>
              </a:rPr>
              <a:t>operating </a:t>
            </a:r>
            <a:r>
              <a:rPr lang="en-US" i="0" dirty="0" smtClean="0">
                <a:solidFill>
                  <a:srgbClr val="FF0000"/>
                </a:solidFill>
                <a:effectLst/>
                <a:latin typeface="+mn-lt"/>
              </a:rPr>
              <a:t>system</a:t>
            </a:r>
            <a:endParaRPr lang="en-US" dirty="0">
              <a:latin typeface="+mn-lt"/>
            </a:endParaRPr>
          </a:p>
        </p:txBody>
      </p:sp>
      <p:sp>
        <p:nvSpPr>
          <p:cNvPr id="3" name="Content Placeholder 2">
            <a:extLst>
              <a:ext uri="{FF2B5EF4-FFF2-40B4-BE49-F238E27FC236}">
                <a16:creationId xmlns="" xmlns:a16="http://schemas.microsoft.com/office/drawing/2014/main" id="{E0C2CD56-59E3-46E7-B077-335A0380648F}"/>
              </a:ext>
            </a:extLst>
          </p:cNvPr>
          <p:cNvSpPr>
            <a:spLocks noGrp="1"/>
          </p:cNvSpPr>
          <p:nvPr>
            <p:ph idx="1"/>
          </p:nvPr>
        </p:nvSpPr>
        <p:spPr/>
        <p:txBody>
          <a:bodyPr/>
          <a:lstStyle/>
          <a:p>
            <a:pPr algn="just"/>
            <a:r>
              <a:rPr lang="en-US" dirty="0" smtClean="0"/>
              <a:t>foundational </a:t>
            </a:r>
            <a:r>
              <a:rPr lang="en-US" dirty="0"/>
              <a:t>software that manages smartphone and tablet hardware, allowing you to run apps, manage power, and connect to cellular networks. </a:t>
            </a:r>
            <a:endParaRPr lang="en-US" dirty="0" smtClean="0"/>
          </a:p>
          <a:p>
            <a:pPr algn="just"/>
            <a:r>
              <a:rPr lang="en-US" dirty="0" smtClean="0"/>
              <a:t>The </a:t>
            </a:r>
            <a:r>
              <a:rPr lang="en-US" dirty="0"/>
              <a:t>two primary systems are Google's open-source </a:t>
            </a:r>
            <a:r>
              <a:rPr lang="en-US" b="1" dirty="0"/>
              <a:t>Android</a:t>
            </a:r>
            <a:r>
              <a:rPr lang="en-US" dirty="0"/>
              <a:t> and Apple's proprietary </a:t>
            </a:r>
            <a:r>
              <a:rPr lang="en-US" b="1" dirty="0"/>
              <a:t>iOS</a:t>
            </a:r>
            <a:r>
              <a:rPr lang="en-US" dirty="0" smtClean="0"/>
              <a:t>.</a:t>
            </a:r>
          </a:p>
          <a:p>
            <a:pPr algn="just"/>
            <a:endParaRPr lang="en-US" dirty="0"/>
          </a:p>
        </p:txBody>
      </p:sp>
      <p:pic>
        <p:nvPicPr>
          <p:cNvPr id="2050" name="Picture 2" descr="https://www.knowcomputing.com/wp-content/uploads/2023/03/mobile-operating-system.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39855" y="3688988"/>
            <a:ext cx="6825672" cy="27196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769087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0C9DF9B-2892-4465-87AE-EBE20DFE6E3D}"/>
              </a:ext>
            </a:extLst>
          </p:cNvPr>
          <p:cNvSpPr>
            <a:spLocks noGrp="1"/>
          </p:cNvSpPr>
          <p:nvPr>
            <p:ph type="title"/>
          </p:nvPr>
        </p:nvSpPr>
        <p:spPr>
          <a:xfrm>
            <a:off x="838200" y="365126"/>
            <a:ext cx="10515600" cy="826366"/>
          </a:xfrm>
        </p:spPr>
        <p:txBody>
          <a:bodyPr/>
          <a:lstStyle/>
          <a:p>
            <a:r>
              <a:rPr lang="en-US" dirty="0" smtClean="0">
                <a:solidFill>
                  <a:srgbClr val="FF0000"/>
                </a:solidFill>
                <a:latin typeface="+mn-lt"/>
              </a:rPr>
              <a:t>Mobile</a:t>
            </a:r>
            <a:r>
              <a:rPr lang="en-US" i="0" dirty="0" smtClean="0">
                <a:solidFill>
                  <a:srgbClr val="FF0000"/>
                </a:solidFill>
                <a:effectLst/>
                <a:latin typeface="+mn-lt"/>
              </a:rPr>
              <a:t> </a:t>
            </a:r>
            <a:r>
              <a:rPr lang="en-US" i="0" dirty="0">
                <a:solidFill>
                  <a:srgbClr val="FF0000"/>
                </a:solidFill>
                <a:effectLst/>
                <a:latin typeface="+mn-lt"/>
              </a:rPr>
              <a:t>operating </a:t>
            </a:r>
            <a:r>
              <a:rPr lang="en-US" i="0" dirty="0" smtClean="0">
                <a:solidFill>
                  <a:srgbClr val="FF0000"/>
                </a:solidFill>
                <a:effectLst/>
                <a:latin typeface="+mn-lt"/>
              </a:rPr>
              <a:t>system</a:t>
            </a:r>
            <a:endParaRPr lang="en-US" dirty="0">
              <a:latin typeface="+mn-lt"/>
            </a:endParaRPr>
          </a:p>
        </p:txBody>
      </p:sp>
      <p:sp>
        <p:nvSpPr>
          <p:cNvPr id="3" name="Content Placeholder 2">
            <a:extLst>
              <a:ext uri="{FF2B5EF4-FFF2-40B4-BE49-F238E27FC236}">
                <a16:creationId xmlns="" xmlns:a16="http://schemas.microsoft.com/office/drawing/2014/main" id="{E0C2CD56-59E3-46E7-B077-335A0380648F}"/>
              </a:ext>
            </a:extLst>
          </p:cNvPr>
          <p:cNvSpPr>
            <a:spLocks noGrp="1"/>
          </p:cNvSpPr>
          <p:nvPr>
            <p:ph idx="1"/>
          </p:nvPr>
        </p:nvSpPr>
        <p:spPr>
          <a:xfrm>
            <a:off x="748145" y="1191492"/>
            <a:ext cx="10605655" cy="4985471"/>
          </a:xfrm>
        </p:spPr>
        <p:txBody>
          <a:bodyPr>
            <a:normAutofit/>
          </a:bodyPr>
          <a:lstStyle/>
          <a:p>
            <a:pPr algn="just"/>
            <a:r>
              <a:rPr lang="en-US" sz="2400" dirty="0"/>
              <a:t>The mobile OS landscape is defined by a few key players and specialized </a:t>
            </a:r>
            <a:r>
              <a:rPr lang="en-US" sz="2400" dirty="0" smtClean="0"/>
              <a:t>platforms</a:t>
            </a:r>
          </a:p>
          <a:p>
            <a:pPr algn="just"/>
            <a:r>
              <a:rPr lang="en-US" sz="2400" dirty="0" smtClean="0"/>
              <a:t>Android</a:t>
            </a:r>
          </a:p>
          <a:p>
            <a:pPr algn="just"/>
            <a:r>
              <a:rPr lang="en-US" sz="2400" dirty="0" smtClean="0"/>
              <a:t>iOS</a:t>
            </a:r>
          </a:p>
          <a:p>
            <a:pPr algn="just"/>
            <a:r>
              <a:rPr lang="en-US" sz="2400" dirty="0" err="1" smtClean="0"/>
              <a:t>HarmonyOS</a:t>
            </a:r>
            <a:endParaRPr lang="en-US" sz="2400" dirty="0" smtClean="0"/>
          </a:p>
          <a:p>
            <a:pPr algn="just"/>
            <a:r>
              <a:rPr lang="en-US" sz="2400" dirty="0" err="1" smtClean="0"/>
              <a:t>KaiOS</a:t>
            </a:r>
            <a:r>
              <a:rPr lang="en-US" sz="2400" dirty="0"/>
              <a:t>: A lightweight OS designed for basic, non-touchscreen push-button phones, bringing 4G and apps like WhatsApp to budget </a:t>
            </a:r>
            <a:r>
              <a:rPr lang="en-US" sz="2400" dirty="0" err="1"/>
              <a:t>devices.Every</a:t>
            </a:r>
            <a:r>
              <a:rPr lang="en-US" sz="2400" dirty="0"/>
              <a:t> mobile OS provides an app store (like the Google Play Store or Apple's App Store) to download software and manage hardware components like the camera, Bluetooth, and GPS</a:t>
            </a:r>
            <a:r>
              <a:rPr lang="en-US" sz="2400" dirty="0" smtClean="0"/>
              <a:t>.</a:t>
            </a:r>
            <a:endParaRPr lang="en-US" sz="2400" dirty="0"/>
          </a:p>
        </p:txBody>
      </p:sp>
    </p:spTree>
    <p:extLst>
      <p:ext uri="{BB962C8B-B14F-4D97-AF65-F5344CB8AC3E}">
        <p14:creationId xmlns:p14="http://schemas.microsoft.com/office/powerpoint/2010/main" val="382073634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solidFill>
                  <a:srgbClr val="FF0000"/>
                </a:solidFill>
              </a:rPr>
              <a:t>Functions of OS</a:t>
            </a:r>
            <a:endParaRPr lang="en-IN" dirty="0">
              <a:solidFill>
                <a:srgbClr val="FF0000"/>
              </a:solidFill>
            </a:endParaRPr>
          </a:p>
        </p:txBody>
      </p:sp>
      <p:sp>
        <p:nvSpPr>
          <p:cNvPr id="3" name="Content Placeholder 2"/>
          <p:cNvSpPr>
            <a:spLocks noGrp="1"/>
          </p:cNvSpPr>
          <p:nvPr>
            <p:ph idx="1"/>
          </p:nvPr>
        </p:nvSpPr>
        <p:spPr/>
        <p:txBody>
          <a:bodyPr/>
          <a:lstStyle/>
          <a:p>
            <a:r>
              <a:rPr lang="en-IN" dirty="0" smtClean="0"/>
              <a:t>Memory Management</a:t>
            </a:r>
          </a:p>
          <a:p>
            <a:r>
              <a:rPr lang="en-IN" dirty="0" smtClean="0"/>
              <a:t>Process Management</a:t>
            </a:r>
          </a:p>
          <a:p>
            <a:r>
              <a:rPr lang="en-IN" dirty="0" smtClean="0"/>
              <a:t>Device Management</a:t>
            </a:r>
          </a:p>
          <a:p>
            <a:r>
              <a:rPr lang="en-IN" dirty="0" smtClean="0"/>
              <a:t>File Management</a:t>
            </a:r>
          </a:p>
          <a:p>
            <a:r>
              <a:rPr lang="en-IN" dirty="0" smtClean="0"/>
              <a:t>Security</a:t>
            </a:r>
          </a:p>
          <a:p>
            <a:r>
              <a:rPr lang="en-IN" dirty="0" smtClean="0"/>
              <a:t>Job Accounting</a:t>
            </a:r>
          </a:p>
          <a:p>
            <a:r>
              <a:rPr lang="en-IN" dirty="0" smtClean="0"/>
              <a:t>Error Detection</a:t>
            </a:r>
          </a:p>
          <a:p>
            <a:r>
              <a:rPr lang="en-IN" dirty="0" smtClean="0"/>
              <a:t>Coordination between software and user</a:t>
            </a:r>
            <a:endParaRPr lang="en-IN" dirty="0"/>
          </a:p>
        </p:txBody>
      </p:sp>
    </p:spTree>
    <p:extLst>
      <p:ext uri="{BB962C8B-B14F-4D97-AF65-F5344CB8AC3E}">
        <p14:creationId xmlns:p14="http://schemas.microsoft.com/office/powerpoint/2010/main" val="177422190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16939" y="1739007"/>
            <a:ext cx="6029325" cy="3579185"/>
          </a:xfrm>
          <a:prstGeom prst="rect">
            <a:avLst/>
          </a:prstGeom>
        </p:spPr>
        <p:txBody>
          <a:bodyPr vert="horz" wrap="square" lIns="0" tIns="85090" rIns="0" bIns="0" rtlCol="0">
            <a:spAutoFit/>
          </a:bodyPr>
          <a:lstStyle/>
          <a:p>
            <a:pPr marL="241300" indent="-228600">
              <a:lnSpc>
                <a:spcPct val="100000"/>
              </a:lnSpc>
              <a:spcBef>
                <a:spcPts val="670"/>
              </a:spcBef>
              <a:buClr>
                <a:srgbClr val="EC7C30"/>
              </a:buClr>
              <a:buFont typeface="Wingdings"/>
              <a:buChar char=""/>
              <a:tabLst>
                <a:tab pos="241300" algn="l"/>
              </a:tabLst>
            </a:pPr>
            <a:r>
              <a:rPr sz="2400" dirty="0">
                <a:latin typeface="Times New Roman"/>
                <a:cs typeface="Times New Roman"/>
              </a:rPr>
              <a:t>General-purpose </a:t>
            </a:r>
            <a:r>
              <a:rPr sz="2400" spc="-5" dirty="0">
                <a:latin typeface="Times New Roman"/>
                <a:cs typeface="Times New Roman"/>
              </a:rPr>
              <a:t>OS is </a:t>
            </a:r>
            <a:r>
              <a:rPr sz="2400" dirty="0">
                <a:latin typeface="Times New Roman"/>
                <a:cs typeface="Times New Roman"/>
              </a:rPr>
              <a:t>very large</a:t>
            </a:r>
            <a:r>
              <a:rPr sz="2400" spc="-85" dirty="0">
                <a:latin typeface="Times New Roman"/>
                <a:cs typeface="Times New Roman"/>
              </a:rPr>
              <a:t> </a:t>
            </a:r>
            <a:r>
              <a:rPr sz="2400" spc="-10" dirty="0">
                <a:latin typeface="Times New Roman"/>
                <a:cs typeface="Times New Roman"/>
              </a:rPr>
              <a:t>program</a:t>
            </a:r>
            <a:endParaRPr sz="2400" dirty="0">
              <a:latin typeface="Times New Roman"/>
              <a:cs typeface="Times New Roman"/>
            </a:endParaRPr>
          </a:p>
          <a:p>
            <a:pPr marL="241300" indent="-228600">
              <a:lnSpc>
                <a:spcPct val="100000"/>
              </a:lnSpc>
              <a:spcBef>
                <a:spcPts val="580"/>
              </a:spcBef>
              <a:buClr>
                <a:srgbClr val="EC7C30"/>
              </a:buClr>
              <a:buFont typeface="Wingdings"/>
              <a:buChar char=""/>
              <a:tabLst>
                <a:tab pos="241300" algn="l"/>
              </a:tabLst>
            </a:pPr>
            <a:r>
              <a:rPr sz="2400" spc="-35" dirty="0">
                <a:latin typeface="Times New Roman"/>
                <a:cs typeface="Times New Roman"/>
              </a:rPr>
              <a:t>Various </a:t>
            </a:r>
            <a:r>
              <a:rPr sz="2400" spc="-5" dirty="0">
                <a:latin typeface="Times New Roman"/>
                <a:cs typeface="Times New Roman"/>
              </a:rPr>
              <a:t>ways </a:t>
            </a:r>
            <a:r>
              <a:rPr sz="2400" dirty="0">
                <a:latin typeface="Times New Roman"/>
                <a:cs typeface="Times New Roman"/>
              </a:rPr>
              <a:t>to </a:t>
            </a:r>
            <a:r>
              <a:rPr sz="2400" spc="-5" dirty="0">
                <a:latin typeface="Times New Roman"/>
                <a:cs typeface="Times New Roman"/>
              </a:rPr>
              <a:t>structure</a:t>
            </a:r>
            <a:r>
              <a:rPr sz="2400" spc="35" dirty="0">
                <a:latin typeface="Times New Roman"/>
                <a:cs typeface="Times New Roman"/>
              </a:rPr>
              <a:t> </a:t>
            </a:r>
            <a:r>
              <a:rPr sz="2400" dirty="0">
                <a:latin typeface="Times New Roman"/>
                <a:cs typeface="Times New Roman"/>
              </a:rPr>
              <a:t>ones</a:t>
            </a:r>
          </a:p>
          <a:p>
            <a:pPr marL="698500" lvl="1" indent="-229235">
              <a:lnSpc>
                <a:spcPct val="100000"/>
              </a:lnSpc>
              <a:spcBef>
                <a:spcPts val="575"/>
              </a:spcBef>
              <a:buClr>
                <a:srgbClr val="EC7C30"/>
              </a:buClr>
              <a:buFont typeface="Wingdings"/>
              <a:buChar char=""/>
              <a:tabLst>
                <a:tab pos="699135" algn="l"/>
              </a:tabLst>
            </a:pPr>
            <a:r>
              <a:rPr sz="2400" spc="-5" dirty="0" smtClean="0">
                <a:latin typeface="Times New Roman"/>
                <a:cs typeface="Times New Roman"/>
              </a:rPr>
              <a:t>Simple </a:t>
            </a:r>
            <a:r>
              <a:rPr sz="2400" spc="-10" dirty="0">
                <a:latin typeface="Times New Roman"/>
                <a:cs typeface="Times New Roman"/>
              </a:rPr>
              <a:t>structure </a:t>
            </a:r>
            <a:r>
              <a:rPr sz="2400" spc="-5" dirty="0">
                <a:latin typeface="Times New Roman"/>
                <a:cs typeface="Times New Roman"/>
              </a:rPr>
              <a:t>–</a:t>
            </a:r>
            <a:r>
              <a:rPr sz="2400" spc="-25" dirty="0">
                <a:latin typeface="Times New Roman"/>
                <a:cs typeface="Times New Roman"/>
              </a:rPr>
              <a:t> </a:t>
            </a:r>
            <a:r>
              <a:rPr sz="2400" spc="-5" dirty="0" smtClean="0">
                <a:latin typeface="Times New Roman"/>
                <a:cs typeface="Times New Roman"/>
              </a:rPr>
              <a:t>MS-DOS</a:t>
            </a:r>
            <a:endParaRPr lang="en-IN" sz="2400" dirty="0">
              <a:latin typeface="Times New Roman"/>
              <a:cs typeface="Times New Roman"/>
            </a:endParaRPr>
          </a:p>
          <a:p>
            <a:pPr marL="698500" lvl="1" indent="-229235">
              <a:lnSpc>
                <a:spcPct val="100000"/>
              </a:lnSpc>
              <a:spcBef>
                <a:spcPts val="575"/>
              </a:spcBef>
              <a:buClr>
                <a:srgbClr val="EC7C30"/>
              </a:buClr>
              <a:buFont typeface="Wingdings"/>
              <a:buChar char=""/>
              <a:tabLst>
                <a:tab pos="699135" algn="l"/>
              </a:tabLst>
            </a:pPr>
            <a:r>
              <a:rPr lang="en-IN" sz="2400" dirty="0">
                <a:latin typeface="Times New Roman"/>
                <a:cs typeface="Times New Roman"/>
              </a:rPr>
              <a:t>Monolithic</a:t>
            </a:r>
            <a:r>
              <a:rPr sz="2400" dirty="0" smtClean="0">
                <a:latin typeface="Times New Roman"/>
                <a:cs typeface="Times New Roman"/>
              </a:rPr>
              <a:t> </a:t>
            </a:r>
            <a:r>
              <a:rPr sz="2400" dirty="0">
                <a:latin typeface="Times New Roman"/>
                <a:cs typeface="Times New Roman"/>
              </a:rPr>
              <a:t>--</a:t>
            </a:r>
            <a:r>
              <a:rPr sz="2400" spc="-20" dirty="0">
                <a:latin typeface="Times New Roman"/>
                <a:cs typeface="Times New Roman"/>
              </a:rPr>
              <a:t> </a:t>
            </a:r>
            <a:r>
              <a:rPr sz="2400" spc="-5" dirty="0">
                <a:latin typeface="Times New Roman"/>
                <a:cs typeface="Times New Roman"/>
              </a:rPr>
              <a:t>UNIX</a:t>
            </a:r>
            <a:endParaRPr sz="2400" dirty="0">
              <a:latin typeface="Times New Roman"/>
              <a:cs typeface="Times New Roman"/>
            </a:endParaRPr>
          </a:p>
          <a:p>
            <a:pPr marL="698500" lvl="1" indent="-229235">
              <a:lnSpc>
                <a:spcPct val="100000"/>
              </a:lnSpc>
              <a:spcBef>
                <a:spcPts val="575"/>
              </a:spcBef>
              <a:buClr>
                <a:srgbClr val="EC7C30"/>
              </a:buClr>
              <a:buFont typeface="Wingdings"/>
              <a:buChar char=""/>
              <a:tabLst>
                <a:tab pos="699135" algn="l"/>
              </a:tabLst>
            </a:pPr>
            <a:r>
              <a:rPr sz="2400" spc="-10" dirty="0">
                <a:latin typeface="Times New Roman"/>
                <a:cs typeface="Times New Roman"/>
              </a:rPr>
              <a:t>Layered approach </a:t>
            </a:r>
            <a:r>
              <a:rPr sz="2400" dirty="0">
                <a:latin typeface="Times New Roman"/>
                <a:cs typeface="Times New Roman"/>
              </a:rPr>
              <a:t>– an</a:t>
            </a:r>
            <a:r>
              <a:rPr sz="2400" spc="5" dirty="0">
                <a:latin typeface="Times New Roman"/>
                <a:cs typeface="Times New Roman"/>
              </a:rPr>
              <a:t> </a:t>
            </a:r>
            <a:r>
              <a:rPr sz="2400" dirty="0">
                <a:latin typeface="Times New Roman"/>
                <a:cs typeface="Times New Roman"/>
              </a:rPr>
              <a:t>abstraction</a:t>
            </a:r>
          </a:p>
          <a:p>
            <a:pPr marL="698500" lvl="1" indent="-229235">
              <a:lnSpc>
                <a:spcPct val="100000"/>
              </a:lnSpc>
              <a:spcBef>
                <a:spcPts val="575"/>
              </a:spcBef>
              <a:buClr>
                <a:srgbClr val="EC7C30"/>
              </a:buClr>
              <a:buFont typeface="Wingdings"/>
              <a:buChar char=""/>
              <a:tabLst>
                <a:tab pos="699135" algn="l"/>
              </a:tabLst>
            </a:pPr>
            <a:r>
              <a:rPr sz="2400" spc="-5" dirty="0">
                <a:latin typeface="Times New Roman"/>
                <a:cs typeface="Times New Roman"/>
              </a:rPr>
              <a:t>Microkernel</a:t>
            </a:r>
            <a:r>
              <a:rPr sz="2400" spc="-40" dirty="0">
                <a:latin typeface="Times New Roman"/>
                <a:cs typeface="Times New Roman"/>
              </a:rPr>
              <a:t> </a:t>
            </a:r>
            <a:r>
              <a:rPr sz="2400" dirty="0">
                <a:latin typeface="Times New Roman"/>
                <a:cs typeface="Times New Roman"/>
              </a:rPr>
              <a:t>–Mach</a:t>
            </a:r>
          </a:p>
          <a:p>
            <a:pPr marL="698500" lvl="1" indent="-229235">
              <a:lnSpc>
                <a:spcPct val="100000"/>
              </a:lnSpc>
              <a:spcBef>
                <a:spcPts val="580"/>
              </a:spcBef>
              <a:buClr>
                <a:srgbClr val="EC7C30"/>
              </a:buClr>
              <a:buFont typeface="Wingdings"/>
              <a:buChar char=""/>
              <a:tabLst>
                <a:tab pos="699135" algn="l"/>
              </a:tabLst>
            </a:pPr>
            <a:r>
              <a:rPr sz="2400" dirty="0">
                <a:latin typeface="Times New Roman"/>
                <a:cs typeface="Times New Roman"/>
              </a:rPr>
              <a:t>Modular</a:t>
            </a:r>
          </a:p>
          <a:p>
            <a:pPr marL="698500" lvl="1" indent="-229235">
              <a:lnSpc>
                <a:spcPct val="100000"/>
              </a:lnSpc>
              <a:spcBef>
                <a:spcPts val="575"/>
              </a:spcBef>
              <a:buClr>
                <a:srgbClr val="EC7C30"/>
              </a:buClr>
              <a:buFont typeface="Wingdings"/>
              <a:buChar char=""/>
              <a:tabLst>
                <a:tab pos="699135" algn="l"/>
              </a:tabLst>
            </a:pPr>
            <a:r>
              <a:rPr sz="2400" dirty="0">
                <a:latin typeface="Times New Roman"/>
                <a:cs typeface="Times New Roman"/>
              </a:rPr>
              <a:t>Hybrid</a:t>
            </a:r>
          </a:p>
        </p:txBody>
      </p:sp>
      <p:sp>
        <p:nvSpPr>
          <p:cNvPr id="3" name="object 3"/>
          <p:cNvSpPr txBox="1">
            <a:spLocks noGrp="1"/>
          </p:cNvSpPr>
          <p:nvPr>
            <p:ph type="title"/>
          </p:nvPr>
        </p:nvSpPr>
        <p:spPr>
          <a:xfrm>
            <a:off x="916939" y="659968"/>
            <a:ext cx="6757670" cy="697230"/>
          </a:xfrm>
          <a:prstGeom prst="rect">
            <a:avLst/>
          </a:prstGeom>
        </p:spPr>
        <p:txBody>
          <a:bodyPr vert="horz" wrap="square" lIns="0" tIns="13335" rIns="0" bIns="0" rtlCol="0">
            <a:spAutoFit/>
          </a:bodyPr>
          <a:lstStyle/>
          <a:p>
            <a:pPr marL="12700">
              <a:lnSpc>
                <a:spcPct val="100000"/>
              </a:lnSpc>
              <a:spcBef>
                <a:spcPts val="105"/>
              </a:spcBef>
            </a:pPr>
            <a:r>
              <a:rPr dirty="0">
                <a:solidFill>
                  <a:srgbClr val="FF0000"/>
                </a:solidFill>
                <a:latin typeface="Times New Roman"/>
                <a:cs typeface="Times New Roman"/>
              </a:rPr>
              <a:t>Operating System</a:t>
            </a:r>
            <a:r>
              <a:rPr spc="-50" dirty="0">
                <a:solidFill>
                  <a:srgbClr val="FF0000"/>
                </a:solidFill>
                <a:latin typeface="Times New Roman"/>
                <a:cs typeface="Times New Roman"/>
              </a:rPr>
              <a:t> </a:t>
            </a:r>
            <a:r>
              <a:rPr spc="-10" dirty="0">
                <a:solidFill>
                  <a:srgbClr val="FF0000"/>
                </a:solidFill>
                <a:latin typeface="Times New Roman"/>
                <a:cs typeface="Times New Roman"/>
              </a:rPr>
              <a:t>Structure</a:t>
            </a:r>
          </a:p>
        </p:txBody>
      </p:sp>
    </p:spTree>
    <p:extLst>
      <p:ext uri="{BB962C8B-B14F-4D97-AF65-F5344CB8AC3E}">
        <p14:creationId xmlns:p14="http://schemas.microsoft.com/office/powerpoint/2010/main" val="1483301631"/>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16939" y="1739007"/>
            <a:ext cx="9279255" cy="1671320"/>
          </a:xfrm>
          <a:prstGeom prst="rect">
            <a:avLst/>
          </a:prstGeom>
        </p:spPr>
        <p:txBody>
          <a:bodyPr vert="horz" wrap="square" lIns="0" tIns="85090" rIns="0" bIns="0" rtlCol="0">
            <a:spAutoFit/>
          </a:bodyPr>
          <a:lstStyle/>
          <a:p>
            <a:pPr marL="241300" indent="-228600">
              <a:lnSpc>
                <a:spcPct val="100000"/>
              </a:lnSpc>
              <a:spcBef>
                <a:spcPts val="670"/>
              </a:spcBef>
              <a:buClr>
                <a:srgbClr val="EC7C30"/>
              </a:buClr>
              <a:buFont typeface="Wingdings"/>
              <a:buChar char=""/>
              <a:tabLst>
                <a:tab pos="241300" algn="l"/>
              </a:tabLst>
            </a:pPr>
            <a:r>
              <a:rPr sz="2400" spc="-5" dirty="0">
                <a:latin typeface="Times New Roman"/>
                <a:cs typeface="Times New Roman"/>
              </a:rPr>
              <a:t>MS-DOS </a:t>
            </a:r>
            <a:r>
              <a:rPr sz="2400" dirty="0">
                <a:latin typeface="Times New Roman"/>
                <a:cs typeface="Times New Roman"/>
              </a:rPr>
              <a:t>– </a:t>
            </a:r>
            <a:r>
              <a:rPr sz="2400" spc="-5" dirty="0">
                <a:latin typeface="Times New Roman"/>
                <a:cs typeface="Times New Roman"/>
              </a:rPr>
              <a:t>written </a:t>
            </a:r>
            <a:r>
              <a:rPr sz="2400" dirty="0">
                <a:latin typeface="Times New Roman"/>
                <a:cs typeface="Times New Roman"/>
              </a:rPr>
              <a:t>to </a:t>
            </a:r>
            <a:r>
              <a:rPr sz="2400" spc="-10" dirty="0">
                <a:latin typeface="Times New Roman"/>
                <a:cs typeface="Times New Roman"/>
              </a:rPr>
              <a:t>provide </a:t>
            </a:r>
            <a:r>
              <a:rPr sz="2400" spc="-5" dirty="0">
                <a:latin typeface="Times New Roman"/>
                <a:cs typeface="Times New Roman"/>
              </a:rPr>
              <a:t>the </a:t>
            </a:r>
            <a:r>
              <a:rPr sz="2400" dirty="0">
                <a:latin typeface="Times New Roman"/>
                <a:cs typeface="Times New Roman"/>
              </a:rPr>
              <a:t>most functionality </a:t>
            </a:r>
            <a:r>
              <a:rPr sz="2400" spc="-5" dirty="0">
                <a:latin typeface="Times New Roman"/>
                <a:cs typeface="Times New Roman"/>
              </a:rPr>
              <a:t>in the </a:t>
            </a:r>
            <a:r>
              <a:rPr sz="2400" dirty="0">
                <a:latin typeface="Times New Roman"/>
                <a:cs typeface="Times New Roman"/>
              </a:rPr>
              <a:t>least</a:t>
            </a:r>
            <a:r>
              <a:rPr sz="2400" spc="10" dirty="0">
                <a:latin typeface="Times New Roman"/>
                <a:cs typeface="Times New Roman"/>
              </a:rPr>
              <a:t> </a:t>
            </a:r>
            <a:r>
              <a:rPr sz="2400" spc="-5" dirty="0">
                <a:latin typeface="Times New Roman"/>
                <a:cs typeface="Times New Roman"/>
              </a:rPr>
              <a:t>space</a:t>
            </a:r>
            <a:endParaRPr sz="2400" dirty="0">
              <a:latin typeface="Times New Roman"/>
              <a:cs typeface="Times New Roman"/>
            </a:endParaRPr>
          </a:p>
          <a:p>
            <a:pPr marL="698500" lvl="1" indent="-229235">
              <a:lnSpc>
                <a:spcPct val="100000"/>
              </a:lnSpc>
              <a:spcBef>
                <a:spcPts val="580"/>
              </a:spcBef>
              <a:buClr>
                <a:srgbClr val="EC7C30"/>
              </a:buClr>
              <a:buFont typeface="Wingdings"/>
              <a:buChar char=""/>
              <a:tabLst>
                <a:tab pos="699135" algn="l"/>
              </a:tabLst>
            </a:pPr>
            <a:r>
              <a:rPr sz="2400" spc="-5" dirty="0">
                <a:latin typeface="Times New Roman"/>
                <a:cs typeface="Times New Roman"/>
              </a:rPr>
              <a:t>Not </a:t>
            </a:r>
            <a:r>
              <a:rPr sz="2400" dirty="0">
                <a:latin typeface="Times New Roman"/>
                <a:cs typeface="Times New Roman"/>
              </a:rPr>
              <a:t>divided into</a:t>
            </a:r>
            <a:r>
              <a:rPr sz="2400" spc="-10" dirty="0">
                <a:latin typeface="Times New Roman"/>
                <a:cs typeface="Times New Roman"/>
              </a:rPr>
              <a:t> </a:t>
            </a:r>
            <a:r>
              <a:rPr sz="2400" dirty="0">
                <a:latin typeface="Times New Roman"/>
                <a:cs typeface="Times New Roman"/>
              </a:rPr>
              <a:t>modules</a:t>
            </a:r>
          </a:p>
          <a:p>
            <a:pPr marL="698500" marR="79375" lvl="1" indent="-228600">
              <a:lnSpc>
                <a:spcPts val="2590"/>
              </a:lnSpc>
              <a:spcBef>
                <a:spcPts val="905"/>
              </a:spcBef>
              <a:buClr>
                <a:srgbClr val="EC7C30"/>
              </a:buClr>
              <a:buFont typeface="Wingdings"/>
              <a:buChar char=""/>
              <a:tabLst>
                <a:tab pos="699135" algn="l"/>
              </a:tabLst>
            </a:pPr>
            <a:r>
              <a:rPr sz="2400" spc="-5" dirty="0">
                <a:latin typeface="Times New Roman"/>
                <a:cs typeface="Times New Roman"/>
              </a:rPr>
              <a:t>Although MS-DOS has </a:t>
            </a:r>
            <a:r>
              <a:rPr sz="2400" dirty="0">
                <a:latin typeface="Times New Roman"/>
                <a:cs typeface="Times New Roman"/>
              </a:rPr>
              <a:t>some </a:t>
            </a:r>
            <a:r>
              <a:rPr sz="2400" spc="-5" dirty="0">
                <a:latin typeface="Times New Roman"/>
                <a:cs typeface="Times New Roman"/>
              </a:rPr>
              <a:t>structure, </a:t>
            </a:r>
            <a:r>
              <a:rPr sz="2400" dirty="0">
                <a:latin typeface="Times New Roman"/>
                <a:cs typeface="Times New Roman"/>
              </a:rPr>
              <a:t>its interfaces </a:t>
            </a:r>
            <a:r>
              <a:rPr sz="2400" spc="-5" dirty="0">
                <a:latin typeface="Times New Roman"/>
                <a:cs typeface="Times New Roman"/>
              </a:rPr>
              <a:t>and </a:t>
            </a:r>
            <a:r>
              <a:rPr sz="2400" dirty="0">
                <a:latin typeface="Times New Roman"/>
                <a:cs typeface="Times New Roman"/>
              </a:rPr>
              <a:t>levels of  functionality </a:t>
            </a:r>
            <a:r>
              <a:rPr sz="2400" spc="-20" dirty="0">
                <a:latin typeface="Times New Roman"/>
                <a:cs typeface="Times New Roman"/>
              </a:rPr>
              <a:t>are </a:t>
            </a:r>
            <a:r>
              <a:rPr sz="2400" spc="-5" dirty="0">
                <a:latin typeface="Times New Roman"/>
                <a:cs typeface="Times New Roman"/>
              </a:rPr>
              <a:t>not well</a:t>
            </a:r>
            <a:r>
              <a:rPr sz="2400" spc="-10" dirty="0">
                <a:latin typeface="Times New Roman"/>
                <a:cs typeface="Times New Roman"/>
              </a:rPr>
              <a:t> </a:t>
            </a:r>
            <a:r>
              <a:rPr sz="2400" dirty="0">
                <a:latin typeface="Times New Roman"/>
                <a:cs typeface="Times New Roman"/>
              </a:rPr>
              <a:t>separated</a:t>
            </a:r>
          </a:p>
        </p:txBody>
      </p:sp>
      <p:sp>
        <p:nvSpPr>
          <p:cNvPr id="3" name="object 3"/>
          <p:cNvSpPr txBox="1">
            <a:spLocks noGrp="1"/>
          </p:cNvSpPr>
          <p:nvPr>
            <p:ph type="title"/>
          </p:nvPr>
        </p:nvSpPr>
        <p:spPr>
          <a:xfrm>
            <a:off x="916939" y="659968"/>
            <a:ext cx="7062470" cy="697230"/>
          </a:xfrm>
          <a:prstGeom prst="rect">
            <a:avLst/>
          </a:prstGeom>
        </p:spPr>
        <p:txBody>
          <a:bodyPr vert="horz" wrap="square" lIns="0" tIns="13335" rIns="0" bIns="0" rtlCol="0">
            <a:spAutoFit/>
          </a:bodyPr>
          <a:lstStyle/>
          <a:p>
            <a:pPr marL="12700">
              <a:lnSpc>
                <a:spcPct val="100000"/>
              </a:lnSpc>
              <a:spcBef>
                <a:spcPts val="105"/>
              </a:spcBef>
              <a:tabLst>
                <a:tab pos="4363720" algn="l"/>
              </a:tabLst>
            </a:pPr>
            <a:r>
              <a:rPr dirty="0">
                <a:solidFill>
                  <a:srgbClr val="FF0000"/>
                </a:solidFill>
                <a:latin typeface="Times New Roman"/>
                <a:cs typeface="Times New Roman"/>
              </a:rPr>
              <a:t>Simple</a:t>
            </a:r>
            <a:r>
              <a:rPr spc="10" dirty="0">
                <a:solidFill>
                  <a:srgbClr val="FF0000"/>
                </a:solidFill>
                <a:latin typeface="Times New Roman"/>
                <a:cs typeface="Times New Roman"/>
              </a:rPr>
              <a:t> </a:t>
            </a:r>
            <a:r>
              <a:rPr spc="-10" dirty="0">
                <a:solidFill>
                  <a:srgbClr val="FF0000"/>
                </a:solidFill>
                <a:latin typeface="Times New Roman"/>
                <a:cs typeface="Times New Roman"/>
              </a:rPr>
              <a:t>Structure	</a:t>
            </a:r>
            <a:r>
              <a:rPr spc="-5" dirty="0">
                <a:solidFill>
                  <a:srgbClr val="FF0000"/>
                </a:solidFill>
                <a:latin typeface="Times New Roman"/>
                <a:cs typeface="Times New Roman"/>
              </a:rPr>
              <a:t>--</a:t>
            </a:r>
            <a:r>
              <a:rPr spc="-90" dirty="0">
                <a:solidFill>
                  <a:srgbClr val="FF0000"/>
                </a:solidFill>
                <a:latin typeface="Times New Roman"/>
                <a:cs typeface="Times New Roman"/>
              </a:rPr>
              <a:t> </a:t>
            </a:r>
            <a:r>
              <a:rPr dirty="0">
                <a:solidFill>
                  <a:srgbClr val="FF0000"/>
                </a:solidFill>
                <a:latin typeface="Times New Roman"/>
                <a:cs typeface="Times New Roman"/>
              </a:rPr>
              <a:t>MS-DOS</a:t>
            </a:r>
          </a:p>
        </p:txBody>
      </p:sp>
      <p:sp>
        <p:nvSpPr>
          <p:cNvPr id="4" name="object 4"/>
          <p:cNvSpPr/>
          <p:nvPr/>
        </p:nvSpPr>
        <p:spPr>
          <a:xfrm>
            <a:off x="7485888" y="3253740"/>
            <a:ext cx="3570732" cy="3435096"/>
          </a:xfrm>
          <a:prstGeom prst="rect">
            <a:avLst/>
          </a:prstGeom>
          <a:blipFill>
            <a:blip r:embed="rId2"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388476575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16939" y="1738971"/>
            <a:ext cx="10358755" cy="4123054"/>
          </a:xfrm>
          <a:prstGeom prst="rect">
            <a:avLst/>
          </a:prstGeom>
        </p:spPr>
        <p:txBody>
          <a:bodyPr vert="horz" wrap="square" lIns="0" tIns="48895" rIns="0" bIns="0" rtlCol="0">
            <a:spAutoFit/>
          </a:bodyPr>
          <a:lstStyle/>
          <a:p>
            <a:pPr marL="12700">
              <a:lnSpc>
                <a:spcPct val="100000"/>
              </a:lnSpc>
              <a:spcBef>
                <a:spcPts val="385"/>
              </a:spcBef>
            </a:pPr>
            <a:r>
              <a:rPr sz="2400" spc="-5" dirty="0">
                <a:latin typeface="Times New Roman"/>
                <a:cs typeface="Times New Roman"/>
              </a:rPr>
              <a:t>UNIX</a:t>
            </a:r>
            <a:endParaRPr sz="2400" dirty="0">
              <a:latin typeface="Times New Roman"/>
              <a:cs typeface="Times New Roman"/>
            </a:endParaRPr>
          </a:p>
          <a:p>
            <a:pPr marL="774700" indent="-305435">
              <a:lnSpc>
                <a:spcPct val="100000"/>
              </a:lnSpc>
              <a:spcBef>
                <a:spcPts val="285"/>
              </a:spcBef>
              <a:buClr>
                <a:srgbClr val="EC7C30"/>
              </a:buClr>
              <a:buFont typeface="Times New Roman"/>
              <a:buChar char="–"/>
              <a:tabLst>
                <a:tab pos="774700" algn="l"/>
                <a:tab pos="775335" algn="l"/>
              </a:tabLst>
            </a:pPr>
            <a:r>
              <a:rPr sz="2400" dirty="0">
                <a:latin typeface="Times New Roman"/>
                <a:cs typeface="Times New Roman"/>
              </a:rPr>
              <a:t>limited </a:t>
            </a:r>
            <a:r>
              <a:rPr sz="2400" spc="-5" dirty="0">
                <a:latin typeface="Times New Roman"/>
                <a:cs typeface="Times New Roman"/>
              </a:rPr>
              <a:t>by </a:t>
            </a:r>
            <a:r>
              <a:rPr sz="2400" spc="-10" dirty="0">
                <a:latin typeface="Times New Roman"/>
                <a:cs typeface="Times New Roman"/>
              </a:rPr>
              <a:t>hardware</a:t>
            </a:r>
            <a:r>
              <a:rPr sz="2400" dirty="0">
                <a:latin typeface="Times New Roman"/>
                <a:cs typeface="Times New Roman"/>
              </a:rPr>
              <a:t> </a:t>
            </a:r>
            <a:r>
              <a:rPr sz="2400" spc="-10" dirty="0">
                <a:latin typeface="Times New Roman"/>
                <a:cs typeface="Times New Roman"/>
              </a:rPr>
              <a:t>functionality,</a:t>
            </a:r>
            <a:endParaRPr sz="2400" dirty="0">
              <a:latin typeface="Times New Roman"/>
              <a:cs typeface="Times New Roman"/>
            </a:endParaRPr>
          </a:p>
          <a:p>
            <a:pPr marL="12700" marR="1824989" indent="457200">
              <a:lnSpc>
                <a:spcPct val="110000"/>
              </a:lnSpc>
              <a:spcBef>
                <a:spcPts val="5"/>
              </a:spcBef>
              <a:buClr>
                <a:srgbClr val="EC7C30"/>
              </a:buClr>
              <a:buFont typeface="Times New Roman"/>
              <a:buChar char="–"/>
              <a:tabLst>
                <a:tab pos="699135" algn="l"/>
              </a:tabLst>
            </a:pPr>
            <a:r>
              <a:rPr sz="2400" spc="-5" dirty="0">
                <a:latin typeface="Times New Roman"/>
                <a:cs typeface="Times New Roman"/>
              </a:rPr>
              <a:t>the </a:t>
            </a:r>
            <a:r>
              <a:rPr sz="2400" dirty="0">
                <a:latin typeface="Times New Roman"/>
                <a:cs typeface="Times New Roman"/>
              </a:rPr>
              <a:t>original </a:t>
            </a:r>
            <a:r>
              <a:rPr sz="2400" spc="-5" dirty="0">
                <a:latin typeface="Times New Roman"/>
                <a:cs typeface="Times New Roman"/>
              </a:rPr>
              <a:t>UNIX </a:t>
            </a:r>
            <a:r>
              <a:rPr sz="2400" dirty="0">
                <a:latin typeface="Times New Roman"/>
                <a:cs typeface="Times New Roman"/>
              </a:rPr>
              <a:t>operating system </a:t>
            </a:r>
            <a:r>
              <a:rPr sz="2400" spc="-5" dirty="0">
                <a:latin typeface="Times New Roman"/>
                <a:cs typeface="Times New Roman"/>
              </a:rPr>
              <a:t>had </a:t>
            </a:r>
            <a:r>
              <a:rPr sz="2400" dirty="0">
                <a:latin typeface="Times New Roman"/>
                <a:cs typeface="Times New Roman"/>
              </a:rPr>
              <a:t>limited structuring.  </a:t>
            </a:r>
            <a:r>
              <a:rPr sz="2400" spc="-5" dirty="0">
                <a:latin typeface="Times New Roman"/>
                <a:cs typeface="Times New Roman"/>
              </a:rPr>
              <a:t>The UNIX </a:t>
            </a:r>
            <a:r>
              <a:rPr sz="2400" dirty="0">
                <a:latin typeface="Times New Roman"/>
                <a:cs typeface="Times New Roman"/>
              </a:rPr>
              <a:t>OS consists of </a:t>
            </a:r>
            <a:r>
              <a:rPr sz="2400" spc="-10" dirty="0">
                <a:latin typeface="Times New Roman"/>
                <a:cs typeface="Times New Roman"/>
              </a:rPr>
              <a:t>two </a:t>
            </a:r>
            <a:r>
              <a:rPr sz="2400" spc="-5" dirty="0">
                <a:latin typeface="Times New Roman"/>
                <a:cs typeface="Times New Roman"/>
              </a:rPr>
              <a:t>separable</a:t>
            </a:r>
            <a:r>
              <a:rPr sz="2400" spc="40" dirty="0">
                <a:latin typeface="Times New Roman"/>
                <a:cs typeface="Times New Roman"/>
              </a:rPr>
              <a:t> </a:t>
            </a:r>
            <a:r>
              <a:rPr sz="2400" spc="-5" dirty="0">
                <a:latin typeface="Times New Roman"/>
                <a:cs typeface="Times New Roman"/>
              </a:rPr>
              <a:t>parts</a:t>
            </a:r>
            <a:endParaRPr sz="2400" dirty="0">
              <a:latin typeface="Times New Roman"/>
              <a:cs typeface="Times New Roman"/>
            </a:endParaRPr>
          </a:p>
          <a:p>
            <a:pPr marL="698500" indent="-229235">
              <a:lnSpc>
                <a:spcPct val="100000"/>
              </a:lnSpc>
              <a:spcBef>
                <a:spcPts val="290"/>
              </a:spcBef>
              <a:buClr>
                <a:srgbClr val="EC7C30"/>
              </a:buClr>
              <a:buFont typeface="Wingdings"/>
              <a:buChar char=""/>
              <a:tabLst>
                <a:tab pos="699135" algn="l"/>
              </a:tabLst>
            </a:pPr>
            <a:r>
              <a:rPr sz="2400" spc="-5" dirty="0">
                <a:latin typeface="Times New Roman"/>
                <a:cs typeface="Times New Roman"/>
              </a:rPr>
              <a:t>Systems</a:t>
            </a:r>
            <a:r>
              <a:rPr sz="2400" spc="5" dirty="0">
                <a:latin typeface="Times New Roman"/>
                <a:cs typeface="Times New Roman"/>
              </a:rPr>
              <a:t> </a:t>
            </a:r>
            <a:r>
              <a:rPr sz="2400" spc="-10" dirty="0">
                <a:latin typeface="Times New Roman"/>
                <a:cs typeface="Times New Roman"/>
              </a:rPr>
              <a:t>programs</a:t>
            </a:r>
            <a:endParaRPr sz="2400" dirty="0">
              <a:latin typeface="Times New Roman"/>
              <a:cs typeface="Times New Roman"/>
            </a:endParaRPr>
          </a:p>
          <a:p>
            <a:pPr marL="698500" indent="-229235">
              <a:lnSpc>
                <a:spcPct val="100000"/>
              </a:lnSpc>
              <a:spcBef>
                <a:spcPts val="285"/>
              </a:spcBef>
              <a:buClr>
                <a:srgbClr val="EC7C30"/>
              </a:buClr>
              <a:buFont typeface="Wingdings"/>
              <a:buChar char=""/>
              <a:tabLst>
                <a:tab pos="699135" algn="l"/>
              </a:tabLst>
            </a:pPr>
            <a:r>
              <a:rPr sz="2400" spc="-5" dirty="0">
                <a:latin typeface="Times New Roman"/>
                <a:cs typeface="Times New Roman"/>
              </a:rPr>
              <a:t>The </a:t>
            </a:r>
            <a:r>
              <a:rPr sz="2400" dirty="0">
                <a:latin typeface="Times New Roman"/>
                <a:cs typeface="Times New Roman"/>
              </a:rPr>
              <a:t>kernel</a:t>
            </a:r>
          </a:p>
          <a:p>
            <a:pPr marL="1155700" marR="6985" lvl="1" indent="-228600" algn="just">
              <a:lnSpc>
                <a:spcPct val="80000"/>
              </a:lnSpc>
              <a:spcBef>
                <a:spcPts val="865"/>
              </a:spcBef>
              <a:buClr>
                <a:srgbClr val="EC7C30"/>
              </a:buClr>
              <a:buFont typeface="Wingdings"/>
              <a:buChar char=""/>
              <a:tabLst>
                <a:tab pos="1156335" algn="l"/>
              </a:tabLst>
            </a:pPr>
            <a:r>
              <a:rPr sz="2400" spc="-5" dirty="0">
                <a:latin typeface="Times New Roman"/>
                <a:cs typeface="Times New Roman"/>
              </a:rPr>
              <a:t>Consists </a:t>
            </a:r>
            <a:r>
              <a:rPr sz="2400" dirty="0">
                <a:latin typeface="Times New Roman"/>
                <a:cs typeface="Times New Roman"/>
              </a:rPr>
              <a:t>of everything </a:t>
            </a:r>
            <a:r>
              <a:rPr sz="2400" spc="-5" dirty="0">
                <a:latin typeface="Times New Roman"/>
                <a:cs typeface="Times New Roman"/>
              </a:rPr>
              <a:t>below the system-call interface </a:t>
            </a:r>
            <a:r>
              <a:rPr sz="2400" spc="-10" dirty="0">
                <a:latin typeface="Times New Roman"/>
                <a:cs typeface="Times New Roman"/>
              </a:rPr>
              <a:t>and </a:t>
            </a:r>
            <a:r>
              <a:rPr sz="2400" dirty="0">
                <a:latin typeface="Times New Roman"/>
                <a:cs typeface="Times New Roman"/>
              </a:rPr>
              <a:t>above </a:t>
            </a:r>
            <a:r>
              <a:rPr sz="2400" spc="-5" dirty="0">
                <a:latin typeface="Times New Roman"/>
                <a:cs typeface="Times New Roman"/>
              </a:rPr>
              <a:t>the  physical</a:t>
            </a:r>
            <a:r>
              <a:rPr sz="2400" spc="-10" dirty="0">
                <a:latin typeface="Times New Roman"/>
                <a:cs typeface="Times New Roman"/>
              </a:rPr>
              <a:t> hardware</a:t>
            </a:r>
            <a:endParaRPr sz="2400" dirty="0">
              <a:latin typeface="Times New Roman"/>
              <a:cs typeface="Times New Roman"/>
            </a:endParaRPr>
          </a:p>
          <a:p>
            <a:pPr marL="1155700" marR="5080" lvl="1" indent="-228600" algn="just">
              <a:lnSpc>
                <a:spcPct val="80000"/>
              </a:lnSpc>
              <a:spcBef>
                <a:spcPts val="865"/>
              </a:spcBef>
              <a:buClr>
                <a:srgbClr val="EC7C30"/>
              </a:buClr>
              <a:buFont typeface="Wingdings"/>
              <a:buChar char=""/>
              <a:tabLst>
                <a:tab pos="1156335" algn="l"/>
              </a:tabLst>
            </a:pPr>
            <a:r>
              <a:rPr sz="2400" spc="-10" dirty="0">
                <a:latin typeface="Times New Roman"/>
                <a:cs typeface="Times New Roman"/>
              </a:rPr>
              <a:t>Provides </a:t>
            </a:r>
            <a:r>
              <a:rPr sz="2400" spc="-5" dirty="0">
                <a:latin typeface="Times New Roman"/>
                <a:cs typeface="Times New Roman"/>
              </a:rPr>
              <a:t>the file system, CPU </a:t>
            </a:r>
            <a:r>
              <a:rPr sz="2400" dirty="0">
                <a:latin typeface="Times New Roman"/>
                <a:cs typeface="Times New Roman"/>
              </a:rPr>
              <a:t>scheduling, memory management, </a:t>
            </a:r>
            <a:r>
              <a:rPr sz="2400" spc="-5" dirty="0">
                <a:latin typeface="Times New Roman"/>
                <a:cs typeface="Times New Roman"/>
              </a:rPr>
              <a:t>and  </a:t>
            </a:r>
            <a:r>
              <a:rPr sz="2400" dirty="0">
                <a:latin typeface="Times New Roman"/>
                <a:cs typeface="Times New Roman"/>
              </a:rPr>
              <a:t>other operating-system functions; a </a:t>
            </a:r>
            <a:r>
              <a:rPr sz="2400" spc="-5" dirty="0">
                <a:latin typeface="Times New Roman"/>
                <a:cs typeface="Times New Roman"/>
              </a:rPr>
              <a:t>large number of functions </a:t>
            </a:r>
            <a:r>
              <a:rPr sz="2400" dirty="0">
                <a:latin typeface="Times New Roman"/>
                <a:cs typeface="Times New Roman"/>
              </a:rPr>
              <a:t>for one  level</a:t>
            </a:r>
          </a:p>
        </p:txBody>
      </p:sp>
      <p:sp>
        <p:nvSpPr>
          <p:cNvPr id="3" name="object 3"/>
          <p:cNvSpPr txBox="1">
            <a:spLocks noGrp="1"/>
          </p:cNvSpPr>
          <p:nvPr>
            <p:ph type="title"/>
          </p:nvPr>
        </p:nvSpPr>
        <p:spPr>
          <a:xfrm>
            <a:off x="916939" y="659968"/>
            <a:ext cx="7451725" cy="697230"/>
          </a:xfrm>
          <a:prstGeom prst="rect">
            <a:avLst/>
          </a:prstGeom>
        </p:spPr>
        <p:txBody>
          <a:bodyPr vert="horz" wrap="square" lIns="0" tIns="13335" rIns="0" bIns="0" rtlCol="0">
            <a:spAutoFit/>
          </a:bodyPr>
          <a:lstStyle/>
          <a:p>
            <a:pPr marL="12700">
              <a:lnSpc>
                <a:spcPct val="100000"/>
              </a:lnSpc>
              <a:spcBef>
                <a:spcPts val="105"/>
              </a:spcBef>
              <a:tabLst>
                <a:tab pos="5497830" algn="l"/>
              </a:tabLst>
            </a:pPr>
            <a:r>
              <a:rPr dirty="0">
                <a:solidFill>
                  <a:srgbClr val="FF0000"/>
                </a:solidFill>
                <a:latin typeface="Times New Roman"/>
                <a:cs typeface="Times New Roman"/>
              </a:rPr>
              <a:t>Non</a:t>
            </a:r>
            <a:r>
              <a:rPr spc="10" dirty="0">
                <a:solidFill>
                  <a:srgbClr val="FF0000"/>
                </a:solidFill>
                <a:latin typeface="Times New Roman"/>
                <a:cs typeface="Times New Roman"/>
              </a:rPr>
              <a:t> </a:t>
            </a:r>
            <a:r>
              <a:rPr dirty="0">
                <a:solidFill>
                  <a:srgbClr val="FF0000"/>
                </a:solidFill>
                <a:latin typeface="Times New Roman"/>
                <a:cs typeface="Times New Roman"/>
              </a:rPr>
              <a:t>Simple</a:t>
            </a:r>
            <a:r>
              <a:rPr spc="10" dirty="0">
                <a:solidFill>
                  <a:srgbClr val="FF0000"/>
                </a:solidFill>
                <a:latin typeface="Times New Roman"/>
                <a:cs typeface="Times New Roman"/>
              </a:rPr>
              <a:t> </a:t>
            </a:r>
            <a:r>
              <a:rPr spc="-10" dirty="0">
                <a:solidFill>
                  <a:srgbClr val="FF0000"/>
                </a:solidFill>
                <a:latin typeface="Times New Roman"/>
                <a:cs typeface="Times New Roman"/>
              </a:rPr>
              <a:t>Structure	</a:t>
            </a:r>
            <a:r>
              <a:rPr spc="-5" dirty="0">
                <a:solidFill>
                  <a:srgbClr val="FF0000"/>
                </a:solidFill>
                <a:latin typeface="Times New Roman"/>
                <a:cs typeface="Times New Roman"/>
              </a:rPr>
              <a:t>--</a:t>
            </a:r>
            <a:r>
              <a:rPr spc="-85" dirty="0">
                <a:solidFill>
                  <a:srgbClr val="FF0000"/>
                </a:solidFill>
                <a:latin typeface="Times New Roman"/>
                <a:cs typeface="Times New Roman"/>
              </a:rPr>
              <a:t> </a:t>
            </a:r>
            <a:r>
              <a:rPr dirty="0">
                <a:solidFill>
                  <a:srgbClr val="FF0000"/>
                </a:solidFill>
                <a:latin typeface="Times New Roman"/>
                <a:cs typeface="Times New Roman"/>
              </a:rPr>
              <a:t>UNIX</a:t>
            </a:r>
          </a:p>
        </p:txBody>
      </p:sp>
    </p:spTree>
    <p:extLst>
      <p:ext uri="{BB962C8B-B14F-4D97-AF65-F5344CB8AC3E}">
        <p14:creationId xmlns:p14="http://schemas.microsoft.com/office/powerpoint/2010/main" val="267735446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9236"/>
            <a:ext cx="12191365" cy="6858000"/>
            <a:chOff x="0" y="0"/>
            <a:chExt cx="12191365" cy="6858000"/>
          </a:xfrm>
        </p:grpSpPr>
        <p:sp>
          <p:nvSpPr>
            <p:cNvPr id="3" name="object 3"/>
            <p:cNvSpPr/>
            <p:nvPr/>
          </p:nvSpPr>
          <p:spPr>
            <a:xfrm>
              <a:off x="0" y="4571999"/>
              <a:ext cx="571500" cy="2286000"/>
            </a:xfrm>
            <a:custGeom>
              <a:avLst/>
              <a:gdLst/>
              <a:ahLst/>
              <a:cxnLst/>
              <a:rect l="l" t="t" r="r" b="b"/>
              <a:pathLst>
                <a:path w="571500" h="2286000">
                  <a:moveTo>
                    <a:pt x="571500" y="0"/>
                  </a:moveTo>
                  <a:lnTo>
                    <a:pt x="0" y="0"/>
                  </a:lnTo>
                  <a:lnTo>
                    <a:pt x="0" y="2286000"/>
                  </a:lnTo>
                  <a:lnTo>
                    <a:pt x="571500" y="2286000"/>
                  </a:lnTo>
                  <a:lnTo>
                    <a:pt x="571500" y="0"/>
                  </a:lnTo>
                  <a:close/>
                </a:path>
              </a:pathLst>
            </a:custGeom>
            <a:solidFill>
              <a:srgbClr val="6FAC46"/>
            </a:solidFill>
          </p:spPr>
          <p:txBody>
            <a:bodyPr wrap="square" lIns="0" tIns="0" rIns="0" bIns="0" rtlCol="0"/>
            <a:lstStyle/>
            <a:p>
              <a:endParaRPr/>
            </a:p>
          </p:txBody>
        </p:sp>
        <p:sp>
          <p:nvSpPr>
            <p:cNvPr id="4" name="object 4"/>
            <p:cNvSpPr/>
            <p:nvPr/>
          </p:nvSpPr>
          <p:spPr>
            <a:xfrm>
              <a:off x="0" y="2286000"/>
              <a:ext cx="571500" cy="2286000"/>
            </a:xfrm>
            <a:custGeom>
              <a:avLst/>
              <a:gdLst/>
              <a:ahLst/>
              <a:cxnLst/>
              <a:rect l="l" t="t" r="r" b="b"/>
              <a:pathLst>
                <a:path w="571500" h="2286000">
                  <a:moveTo>
                    <a:pt x="571500" y="0"/>
                  </a:moveTo>
                  <a:lnTo>
                    <a:pt x="0" y="0"/>
                  </a:lnTo>
                  <a:lnTo>
                    <a:pt x="0" y="2286000"/>
                  </a:lnTo>
                  <a:lnTo>
                    <a:pt x="571500" y="2286000"/>
                  </a:lnTo>
                  <a:lnTo>
                    <a:pt x="571500" y="0"/>
                  </a:lnTo>
                  <a:close/>
                </a:path>
              </a:pathLst>
            </a:custGeom>
            <a:solidFill>
              <a:srgbClr val="FFC000"/>
            </a:solidFill>
          </p:spPr>
          <p:txBody>
            <a:bodyPr wrap="square" lIns="0" tIns="0" rIns="0" bIns="0" rtlCol="0"/>
            <a:lstStyle/>
            <a:p>
              <a:endParaRPr/>
            </a:p>
          </p:txBody>
        </p:sp>
        <p:sp>
          <p:nvSpPr>
            <p:cNvPr id="5" name="object 5"/>
            <p:cNvSpPr/>
            <p:nvPr/>
          </p:nvSpPr>
          <p:spPr>
            <a:xfrm>
              <a:off x="0" y="0"/>
              <a:ext cx="571500" cy="2286000"/>
            </a:xfrm>
            <a:custGeom>
              <a:avLst/>
              <a:gdLst/>
              <a:ahLst/>
              <a:cxnLst/>
              <a:rect l="l" t="t" r="r" b="b"/>
              <a:pathLst>
                <a:path w="571500" h="2286000">
                  <a:moveTo>
                    <a:pt x="571500" y="0"/>
                  </a:moveTo>
                  <a:lnTo>
                    <a:pt x="0" y="0"/>
                  </a:lnTo>
                  <a:lnTo>
                    <a:pt x="0" y="2286000"/>
                  </a:lnTo>
                  <a:lnTo>
                    <a:pt x="571500" y="2286000"/>
                  </a:lnTo>
                  <a:lnTo>
                    <a:pt x="571500" y="0"/>
                  </a:lnTo>
                  <a:close/>
                </a:path>
              </a:pathLst>
            </a:custGeom>
            <a:solidFill>
              <a:srgbClr val="5B9BD4"/>
            </a:solidFill>
          </p:spPr>
          <p:txBody>
            <a:bodyPr wrap="square" lIns="0" tIns="0" rIns="0" bIns="0" rtlCol="0"/>
            <a:lstStyle/>
            <a:p>
              <a:endParaRPr/>
            </a:p>
          </p:txBody>
        </p:sp>
        <p:sp>
          <p:nvSpPr>
            <p:cNvPr id="6" name="object 6"/>
            <p:cNvSpPr/>
            <p:nvPr/>
          </p:nvSpPr>
          <p:spPr>
            <a:xfrm>
              <a:off x="568451" y="0"/>
              <a:ext cx="147828" cy="6857999"/>
            </a:xfrm>
            <a:prstGeom prst="rect">
              <a:avLst/>
            </a:prstGeom>
            <a:blipFill>
              <a:blip r:embed="rId2" cstate="print"/>
              <a:stretch>
                <a:fillRect/>
              </a:stretch>
            </a:blipFill>
          </p:spPr>
          <p:txBody>
            <a:bodyPr wrap="square" lIns="0" tIns="0" rIns="0" bIns="0" rtlCol="0"/>
            <a:lstStyle/>
            <a:p>
              <a:endParaRPr/>
            </a:p>
          </p:txBody>
        </p:sp>
        <p:sp>
          <p:nvSpPr>
            <p:cNvPr id="7" name="object 7"/>
            <p:cNvSpPr/>
            <p:nvPr/>
          </p:nvSpPr>
          <p:spPr>
            <a:xfrm>
              <a:off x="649223" y="0"/>
              <a:ext cx="45720" cy="6858000"/>
            </a:xfrm>
            <a:custGeom>
              <a:avLst/>
              <a:gdLst/>
              <a:ahLst/>
              <a:cxnLst/>
              <a:rect l="l" t="t" r="r" b="b"/>
              <a:pathLst>
                <a:path w="45720" h="6858000">
                  <a:moveTo>
                    <a:pt x="45720" y="0"/>
                  </a:moveTo>
                  <a:lnTo>
                    <a:pt x="0" y="0"/>
                  </a:lnTo>
                  <a:lnTo>
                    <a:pt x="0" y="6858000"/>
                  </a:lnTo>
                  <a:lnTo>
                    <a:pt x="45720" y="6858000"/>
                  </a:lnTo>
                  <a:lnTo>
                    <a:pt x="45720" y="0"/>
                  </a:lnTo>
                  <a:close/>
                </a:path>
              </a:pathLst>
            </a:custGeom>
            <a:solidFill>
              <a:srgbClr val="FFFFFF"/>
            </a:solidFill>
          </p:spPr>
          <p:txBody>
            <a:bodyPr wrap="square" lIns="0" tIns="0" rIns="0" bIns="0" rtlCol="0"/>
            <a:lstStyle/>
            <a:p>
              <a:endParaRPr/>
            </a:p>
          </p:txBody>
        </p:sp>
        <p:sp>
          <p:nvSpPr>
            <p:cNvPr id="8" name="object 8"/>
            <p:cNvSpPr/>
            <p:nvPr/>
          </p:nvSpPr>
          <p:spPr>
            <a:xfrm>
              <a:off x="758951" y="1638406"/>
              <a:ext cx="11432286" cy="180381"/>
            </a:xfrm>
            <a:prstGeom prst="rect">
              <a:avLst/>
            </a:prstGeom>
            <a:blipFill>
              <a:blip r:embed="rId3" cstate="print"/>
              <a:stretch>
                <a:fillRect/>
              </a:stretch>
            </a:blipFill>
          </p:spPr>
          <p:txBody>
            <a:bodyPr wrap="square" lIns="0" tIns="0" rIns="0" bIns="0" rtlCol="0"/>
            <a:lstStyle/>
            <a:p>
              <a:endParaRPr/>
            </a:p>
          </p:txBody>
        </p:sp>
        <p:sp>
          <p:nvSpPr>
            <p:cNvPr id="9" name="object 9"/>
            <p:cNvSpPr/>
            <p:nvPr/>
          </p:nvSpPr>
          <p:spPr>
            <a:xfrm>
              <a:off x="4931667" y="2305811"/>
              <a:ext cx="6871711" cy="4206240"/>
            </a:xfrm>
            <a:prstGeom prst="rect">
              <a:avLst/>
            </a:prstGeom>
            <a:blipFill>
              <a:blip r:embed="rId4" cstate="print"/>
              <a:stretch>
                <a:fillRect/>
              </a:stretch>
            </a:blipFill>
          </p:spPr>
          <p:txBody>
            <a:bodyPr wrap="square" lIns="0" tIns="0" rIns="0" bIns="0" rtlCol="0"/>
            <a:lstStyle/>
            <a:p>
              <a:endParaRPr/>
            </a:p>
          </p:txBody>
        </p:sp>
      </p:grpSp>
      <p:sp>
        <p:nvSpPr>
          <p:cNvPr id="10" name="object 10"/>
          <p:cNvSpPr txBox="1"/>
          <p:nvPr/>
        </p:nvSpPr>
        <p:spPr>
          <a:xfrm>
            <a:off x="916939" y="659968"/>
            <a:ext cx="11046461" cy="444352"/>
          </a:xfrm>
          <a:prstGeom prst="rect">
            <a:avLst/>
          </a:prstGeom>
        </p:spPr>
        <p:txBody>
          <a:bodyPr vert="horz" wrap="square" lIns="0" tIns="13335" rIns="0" bIns="0" rtlCol="0">
            <a:spAutoFit/>
          </a:bodyPr>
          <a:lstStyle/>
          <a:p>
            <a:pPr marL="12700">
              <a:lnSpc>
                <a:spcPct val="100000"/>
              </a:lnSpc>
              <a:spcBef>
                <a:spcPts val="105"/>
              </a:spcBef>
            </a:pPr>
            <a:r>
              <a:rPr sz="2800" b="1" spc="-30" dirty="0">
                <a:solidFill>
                  <a:srgbClr val="FF0000"/>
                </a:solidFill>
                <a:latin typeface="Times New Roman"/>
                <a:cs typeface="Times New Roman"/>
              </a:rPr>
              <a:t>Traditional </a:t>
            </a:r>
            <a:r>
              <a:rPr sz="2800" b="1" dirty="0">
                <a:solidFill>
                  <a:srgbClr val="FF0000"/>
                </a:solidFill>
                <a:latin typeface="Times New Roman"/>
                <a:cs typeface="Times New Roman"/>
              </a:rPr>
              <a:t>UNIX System</a:t>
            </a:r>
            <a:r>
              <a:rPr sz="2800" b="1" spc="-35" dirty="0">
                <a:solidFill>
                  <a:srgbClr val="FF0000"/>
                </a:solidFill>
                <a:latin typeface="Times New Roman"/>
                <a:cs typeface="Times New Roman"/>
              </a:rPr>
              <a:t> </a:t>
            </a:r>
            <a:r>
              <a:rPr sz="2800" b="1" spc="-10" dirty="0">
                <a:solidFill>
                  <a:srgbClr val="FF0000"/>
                </a:solidFill>
                <a:latin typeface="Times New Roman"/>
                <a:cs typeface="Times New Roman"/>
              </a:rPr>
              <a:t>Structure</a:t>
            </a:r>
            <a:r>
              <a:rPr lang="en-US" sz="2800" b="1" spc="-10" dirty="0">
                <a:solidFill>
                  <a:srgbClr val="FF0000"/>
                </a:solidFill>
                <a:latin typeface="Times New Roman"/>
                <a:cs typeface="Times New Roman"/>
              </a:rPr>
              <a:t>(MONOLITHIC Structure)</a:t>
            </a:r>
            <a:endParaRPr sz="2800" dirty="0">
              <a:latin typeface="Times New Roman"/>
              <a:cs typeface="Times New Roman"/>
            </a:endParaRPr>
          </a:p>
        </p:txBody>
      </p:sp>
      <p:sp>
        <p:nvSpPr>
          <p:cNvPr id="11" name="object 11"/>
          <p:cNvSpPr txBox="1"/>
          <p:nvPr/>
        </p:nvSpPr>
        <p:spPr>
          <a:xfrm>
            <a:off x="1019047" y="1934921"/>
            <a:ext cx="4558665" cy="331470"/>
          </a:xfrm>
          <a:prstGeom prst="rect">
            <a:avLst/>
          </a:prstGeom>
        </p:spPr>
        <p:txBody>
          <a:bodyPr vert="horz" wrap="square" lIns="0" tIns="13335" rIns="0" bIns="0" rtlCol="0">
            <a:spAutoFit/>
          </a:bodyPr>
          <a:lstStyle/>
          <a:p>
            <a:pPr marL="12700">
              <a:lnSpc>
                <a:spcPct val="100000"/>
              </a:lnSpc>
              <a:spcBef>
                <a:spcPts val="105"/>
              </a:spcBef>
            </a:pPr>
            <a:r>
              <a:rPr sz="2000" spc="-5" dirty="0">
                <a:latin typeface="Verdana"/>
                <a:cs typeface="Verdana"/>
              </a:rPr>
              <a:t>Beyond simple </a:t>
            </a:r>
            <a:r>
              <a:rPr sz="2000" dirty="0">
                <a:latin typeface="Verdana"/>
                <a:cs typeface="Verdana"/>
              </a:rPr>
              <a:t>but not fully</a:t>
            </a:r>
            <a:r>
              <a:rPr sz="2000" spc="-80" dirty="0">
                <a:latin typeface="Verdana"/>
                <a:cs typeface="Verdana"/>
              </a:rPr>
              <a:t> </a:t>
            </a:r>
            <a:r>
              <a:rPr sz="2000" spc="-10" dirty="0">
                <a:latin typeface="Verdana"/>
                <a:cs typeface="Verdana"/>
              </a:rPr>
              <a:t>layered</a:t>
            </a:r>
            <a:endParaRPr sz="2000">
              <a:latin typeface="Verdana"/>
              <a:cs typeface="Verdana"/>
            </a:endParaRPr>
          </a:p>
        </p:txBody>
      </p:sp>
    </p:spTree>
    <p:extLst>
      <p:ext uri="{BB962C8B-B14F-4D97-AF65-F5344CB8AC3E}">
        <p14:creationId xmlns:p14="http://schemas.microsoft.com/office/powerpoint/2010/main" val="3755747381"/>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486561" y="3394243"/>
            <a:ext cx="1205230" cy="337820"/>
          </a:xfrm>
          <a:prstGeom prst="rect">
            <a:avLst/>
          </a:prstGeom>
        </p:spPr>
        <p:txBody>
          <a:bodyPr vert="horz" wrap="square" lIns="0" tIns="0" rIns="0" bIns="0" rtlCol="0">
            <a:spAutoFit/>
          </a:bodyPr>
          <a:lstStyle/>
          <a:p>
            <a:pPr>
              <a:lnSpc>
                <a:spcPts val="2620"/>
              </a:lnSpc>
            </a:pPr>
            <a:r>
              <a:rPr sz="2400" b="1" spc="-5" dirty="0">
                <a:latin typeface="Times New Roman"/>
                <a:cs typeface="Times New Roman"/>
              </a:rPr>
              <a:t>fun</a:t>
            </a:r>
            <a:r>
              <a:rPr sz="2400" b="1" dirty="0">
                <a:latin typeface="Times New Roman"/>
                <a:cs typeface="Times New Roman"/>
              </a:rPr>
              <a:t>c</a:t>
            </a:r>
            <a:r>
              <a:rPr sz="2400" b="1" spc="5" dirty="0">
                <a:latin typeface="Times New Roman"/>
                <a:cs typeface="Times New Roman"/>
              </a:rPr>
              <a:t>t</a:t>
            </a:r>
            <a:r>
              <a:rPr sz="2400" b="1" dirty="0">
                <a:latin typeface="Times New Roman"/>
                <a:cs typeface="Times New Roman"/>
              </a:rPr>
              <a:t>i</a:t>
            </a:r>
            <a:r>
              <a:rPr sz="2400" b="1" spc="5" dirty="0">
                <a:latin typeface="Times New Roman"/>
                <a:cs typeface="Times New Roman"/>
              </a:rPr>
              <a:t>o</a:t>
            </a:r>
            <a:r>
              <a:rPr sz="2400" b="1" spc="-5" dirty="0">
                <a:latin typeface="Times New Roman"/>
                <a:cs typeface="Times New Roman"/>
              </a:rPr>
              <a:t>ns</a:t>
            </a:r>
            <a:endParaRPr sz="2400">
              <a:latin typeface="Times New Roman"/>
              <a:cs typeface="Times New Roman"/>
            </a:endParaRPr>
          </a:p>
        </p:txBody>
      </p:sp>
      <p:sp>
        <p:nvSpPr>
          <p:cNvPr id="3" name="object 3"/>
          <p:cNvSpPr txBox="1">
            <a:spLocks noGrp="1"/>
          </p:cNvSpPr>
          <p:nvPr>
            <p:ph type="title"/>
          </p:nvPr>
        </p:nvSpPr>
        <p:spPr>
          <a:xfrm>
            <a:off x="916939" y="659968"/>
            <a:ext cx="4495800" cy="697230"/>
          </a:xfrm>
          <a:prstGeom prst="rect">
            <a:avLst/>
          </a:prstGeom>
        </p:spPr>
        <p:txBody>
          <a:bodyPr vert="horz" wrap="square" lIns="0" tIns="13335" rIns="0" bIns="0" rtlCol="0">
            <a:spAutoFit/>
          </a:bodyPr>
          <a:lstStyle/>
          <a:p>
            <a:pPr marL="12700">
              <a:lnSpc>
                <a:spcPct val="100000"/>
              </a:lnSpc>
              <a:spcBef>
                <a:spcPts val="105"/>
              </a:spcBef>
            </a:pPr>
            <a:r>
              <a:rPr spc="-10" dirty="0">
                <a:solidFill>
                  <a:srgbClr val="FF0000"/>
                </a:solidFill>
                <a:latin typeface="Times New Roman"/>
                <a:cs typeface="Times New Roman"/>
              </a:rPr>
              <a:t>Layered</a:t>
            </a:r>
            <a:r>
              <a:rPr spc="-330" dirty="0">
                <a:solidFill>
                  <a:srgbClr val="FF0000"/>
                </a:solidFill>
                <a:latin typeface="Times New Roman"/>
                <a:cs typeface="Times New Roman"/>
              </a:rPr>
              <a:t> </a:t>
            </a:r>
            <a:r>
              <a:rPr spc="-10" dirty="0">
                <a:solidFill>
                  <a:srgbClr val="FF0000"/>
                </a:solidFill>
                <a:latin typeface="Times New Roman"/>
                <a:cs typeface="Times New Roman"/>
              </a:rPr>
              <a:t>Approach</a:t>
            </a:r>
          </a:p>
        </p:txBody>
      </p:sp>
      <p:sp>
        <p:nvSpPr>
          <p:cNvPr id="4" name="object 4"/>
          <p:cNvSpPr/>
          <p:nvPr/>
        </p:nvSpPr>
        <p:spPr>
          <a:xfrm>
            <a:off x="8430768" y="3267454"/>
            <a:ext cx="3621936" cy="3590543"/>
          </a:xfrm>
          <a:prstGeom prst="rect">
            <a:avLst/>
          </a:prstGeom>
          <a:blipFill>
            <a:blip r:embed="rId2" cstate="print"/>
            <a:stretch>
              <a:fillRect/>
            </a:stretch>
          </a:blipFill>
        </p:spPr>
        <p:txBody>
          <a:bodyPr wrap="square" lIns="0" tIns="0" rIns="0" bIns="0" rtlCol="0"/>
          <a:lstStyle/>
          <a:p>
            <a:endParaRPr/>
          </a:p>
        </p:txBody>
      </p:sp>
      <p:sp>
        <p:nvSpPr>
          <p:cNvPr id="5" name="object 5"/>
          <p:cNvSpPr txBox="1"/>
          <p:nvPr/>
        </p:nvSpPr>
        <p:spPr>
          <a:xfrm>
            <a:off x="916939" y="1811782"/>
            <a:ext cx="10298430" cy="3370795"/>
          </a:xfrm>
          <a:prstGeom prst="rect">
            <a:avLst/>
          </a:prstGeom>
        </p:spPr>
        <p:txBody>
          <a:bodyPr vert="horz" wrap="square" lIns="0" tIns="53975" rIns="0" bIns="0" rtlCol="0">
            <a:spAutoFit/>
          </a:bodyPr>
          <a:lstStyle/>
          <a:p>
            <a:pPr marL="241300" marR="5080" indent="-228600">
              <a:lnSpc>
                <a:spcPts val="2590"/>
              </a:lnSpc>
              <a:spcBef>
                <a:spcPts val="425"/>
              </a:spcBef>
              <a:buClr>
                <a:srgbClr val="EC7C30"/>
              </a:buClr>
              <a:buFont typeface="Wingdings"/>
              <a:buChar char=""/>
              <a:tabLst>
                <a:tab pos="241300" algn="l"/>
              </a:tabLst>
            </a:pPr>
            <a:r>
              <a:rPr sz="2400" dirty="0">
                <a:latin typeface="Times New Roman"/>
                <a:cs typeface="Times New Roman"/>
              </a:rPr>
              <a:t>The operating system </a:t>
            </a:r>
            <a:r>
              <a:rPr sz="2400" spc="-5" dirty="0">
                <a:latin typeface="Times New Roman"/>
                <a:cs typeface="Times New Roman"/>
              </a:rPr>
              <a:t>is </a:t>
            </a:r>
            <a:r>
              <a:rPr sz="2400" dirty="0">
                <a:latin typeface="Times New Roman"/>
                <a:cs typeface="Times New Roman"/>
              </a:rPr>
              <a:t>divided into a number of layers (levels), each </a:t>
            </a:r>
            <a:r>
              <a:rPr sz="2400" spc="-5" dirty="0">
                <a:latin typeface="Times New Roman"/>
                <a:cs typeface="Times New Roman"/>
              </a:rPr>
              <a:t>built</a:t>
            </a:r>
            <a:r>
              <a:rPr sz="2400" spc="-100" dirty="0">
                <a:latin typeface="Times New Roman"/>
                <a:cs typeface="Times New Roman"/>
              </a:rPr>
              <a:t> </a:t>
            </a:r>
            <a:r>
              <a:rPr sz="2400" spc="-5" dirty="0">
                <a:latin typeface="Times New Roman"/>
                <a:cs typeface="Times New Roman"/>
              </a:rPr>
              <a:t>on  </a:t>
            </a:r>
            <a:r>
              <a:rPr sz="2400" dirty="0">
                <a:latin typeface="Times New Roman"/>
                <a:cs typeface="Times New Roman"/>
              </a:rPr>
              <a:t>top of </a:t>
            </a:r>
            <a:r>
              <a:rPr sz="2400" spc="-5" dirty="0">
                <a:latin typeface="Times New Roman"/>
                <a:cs typeface="Times New Roman"/>
              </a:rPr>
              <a:t>lower</a:t>
            </a:r>
            <a:r>
              <a:rPr sz="2400" spc="-50" dirty="0">
                <a:latin typeface="Times New Roman"/>
                <a:cs typeface="Times New Roman"/>
              </a:rPr>
              <a:t> </a:t>
            </a:r>
            <a:r>
              <a:rPr sz="2400" dirty="0">
                <a:latin typeface="Times New Roman"/>
                <a:cs typeface="Times New Roman"/>
              </a:rPr>
              <a:t>layers.</a:t>
            </a:r>
          </a:p>
          <a:p>
            <a:pPr marL="698500" marR="424815" lvl="1" indent="-228600">
              <a:lnSpc>
                <a:spcPts val="2590"/>
              </a:lnSpc>
              <a:spcBef>
                <a:spcPts val="875"/>
              </a:spcBef>
              <a:buClr>
                <a:srgbClr val="EC7C30"/>
              </a:buClr>
              <a:buFont typeface="Wingdings"/>
              <a:buChar char=""/>
              <a:tabLst>
                <a:tab pos="699135" algn="l"/>
              </a:tabLst>
            </a:pPr>
            <a:r>
              <a:rPr sz="2400" spc="-5" dirty="0">
                <a:latin typeface="Times New Roman"/>
                <a:cs typeface="Times New Roman"/>
              </a:rPr>
              <a:t>The </a:t>
            </a:r>
            <a:r>
              <a:rPr sz="2400" dirty="0">
                <a:latin typeface="Times New Roman"/>
                <a:cs typeface="Times New Roman"/>
              </a:rPr>
              <a:t>bottom layer (layer 0), </a:t>
            </a:r>
            <a:r>
              <a:rPr sz="2400" spc="-5" dirty="0">
                <a:latin typeface="Times New Roman"/>
                <a:cs typeface="Times New Roman"/>
              </a:rPr>
              <a:t>is the </a:t>
            </a:r>
            <a:r>
              <a:rPr sz="2400" spc="-10" dirty="0">
                <a:latin typeface="Times New Roman"/>
                <a:cs typeface="Times New Roman"/>
              </a:rPr>
              <a:t>hardware; </a:t>
            </a:r>
            <a:r>
              <a:rPr sz="2400" spc="-5" dirty="0">
                <a:latin typeface="Times New Roman"/>
                <a:cs typeface="Times New Roman"/>
              </a:rPr>
              <a:t>the highest </a:t>
            </a:r>
            <a:r>
              <a:rPr sz="2400" dirty="0">
                <a:latin typeface="Times New Roman"/>
                <a:cs typeface="Times New Roman"/>
              </a:rPr>
              <a:t>(layer </a:t>
            </a:r>
            <a:r>
              <a:rPr sz="2400" spc="-5" dirty="0">
                <a:latin typeface="Times New Roman"/>
                <a:cs typeface="Times New Roman"/>
              </a:rPr>
              <a:t>N) is</a:t>
            </a:r>
            <a:r>
              <a:rPr sz="2400" spc="-105" dirty="0">
                <a:latin typeface="Times New Roman"/>
                <a:cs typeface="Times New Roman"/>
              </a:rPr>
              <a:t> </a:t>
            </a:r>
            <a:r>
              <a:rPr sz="2400" spc="-5" dirty="0">
                <a:latin typeface="Times New Roman"/>
                <a:cs typeface="Times New Roman"/>
              </a:rPr>
              <a:t>the  user</a:t>
            </a:r>
            <a:r>
              <a:rPr sz="2400" spc="-50" dirty="0">
                <a:latin typeface="Times New Roman"/>
                <a:cs typeface="Times New Roman"/>
              </a:rPr>
              <a:t> </a:t>
            </a:r>
            <a:r>
              <a:rPr sz="2400" dirty="0">
                <a:latin typeface="Times New Roman"/>
                <a:cs typeface="Times New Roman"/>
              </a:rPr>
              <a:t>interface.</a:t>
            </a:r>
          </a:p>
          <a:p>
            <a:pPr marL="241300" marR="2799080" indent="-228600">
              <a:lnSpc>
                <a:spcPts val="2590"/>
              </a:lnSpc>
              <a:spcBef>
                <a:spcPts val="865"/>
              </a:spcBef>
              <a:buClr>
                <a:srgbClr val="EC7C30"/>
              </a:buClr>
              <a:buFont typeface="Wingdings"/>
              <a:buChar char=""/>
              <a:tabLst>
                <a:tab pos="241300" algn="l"/>
              </a:tabLst>
            </a:pPr>
            <a:r>
              <a:rPr sz="2400" spc="-15" dirty="0">
                <a:latin typeface="Times New Roman"/>
                <a:cs typeface="Times New Roman"/>
              </a:rPr>
              <a:t>With modularity, </a:t>
            </a:r>
            <a:r>
              <a:rPr sz="2400" dirty="0">
                <a:latin typeface="Times New Roman"/>
                <a:cs typeface="Times New Roman"/>
              </a:rPr>
              <a:t>layers </a:t>
            </a:r>
            <a:r>
              <a:rPr sz="2400" spc="-15" dirty="0">
                <a:latin typeface="Times New Roman"/>
                <a:cs typeface="Times New Roman"/>
              </a:rPr>
              <a:t>are </a:t>
            </a:r>
            <a:r>
              <a:rPr sz="2400" dirty="0">
                <a:latin typeface="Times New Roman"/>
                <a:cs typeface="Times New Roman"/>
              </a:rPr>
              <a:t>selected such that each uses  (operations) and services of only </a:t>
            </a:r>
            <a:r>
              <a:rPr sz="2400" spc="-15" dirty="0">
                <a:latin typeface="Times New Roman"/>
                <a:cs typeface="Times New Roman"/>
              </a:rPr>
              <a:t>lower-level</a:t>
            </a:r>
            <a:r>
              <a:rPr sz="2400" spc="-75" dirty="0">
                <a:latin typeface="Times New Roman"/>
                <a:cs typeface="Times New Roman"/>
              </a:rPr>
              <a:t> </a:t>
            </a:r>
            <a:r>
              <a:rPr sz="2400" dirty="0">
                <a:latin typeface="Times New Roman"/>
                <a:cs typeface="Times New Roman"/>
              </a:rPr>
              <a:t>layers</a:t>
            </a:r>
          </a:p>
          <a:p>
            <a:pPr marL="435609" indent="-343535">
              <a:lnSpc>
                <a:spcPts val="2695"/>
              </a:lnSpc>
              <a:buFont typeface="Wingdings"/>
              <a:buChar char=""/>
              <a:tabLst>
                <a:tab pos="436245" algn="l"/>
              </a:tabLst>
            </a:pPr>
            <a:r>
              <a:rPr sz="2400" spc="-5" dirty="0">
                <a:solidFill>
                  <a:srgbClr val="001F5F"/>
                </a:solidFill>
                <a:latin typeface="Times New Roman"/>
                <a:cs typeface="Times New Roman"/>
              </a:rPr>
              <a:t>The main </a:t>
            </a:r>
            <a:r>
              <a:rPr sz="2400" i="1" dirty="0">
                <a:solidFill>
                  <a:srgbClr val="C00000"/>
                </a:solidFill>
                <a:latin typeface="Times New Roman"/>
                <a:cs typeface="Times New Roman"/>
              </a:rPr>
              <a:t>advantage </a:t>
            </a:r>
            <a:r>
              <a:rPr sz="2400" spc="-5" dirty="0">
                <a:solidFill>
                  <a:srgbClr val="001F5F"/>
                </a:solidFill>
                <a:latin typeface="Times New Roman"/>
                <a:cs typeface="Times New Roman"/>
              </a:rPr>
              <a:t>is </a:t>
            </a:r>
            <a:r>
              <a:rPr sz="2400" dirty="0">
                <a:solidFill>
                  <a:srgbClr val="001F5F"/>
                </a:solidFill>
                <a:latin typeface="Times New Roman"/>
                <a:cs typeface="Times New Roman"/>
              </a:rPr>
              <a:t>simplicity of construction</a:t>
            </a:r>
            <a:r>
              <a:rPr sz="2400" spc="-75" dirty="0">
                <a:solidFill>
                  <a:srgbClr val="001F5F"/>
                </a:solidFill>
                <a:latin typeface="Times New Roman"/>
                <a:cs typeface="Times New Roman"/>
              </a:rPr>
              <a:t> </a:t>
            </a:r>
            <a:r>
              <a:rPr sz="2400" spc="-5" dirty="0">
                <a:solidFill>
                  <a:srgbClr val="001F5F"/>
                </a:solidFill>
                <a:latin typeface="Times New Roman"/>
                <a:cs typeface="Times New Roman"/>
              </a:rPr>
              <a:t>and</a:t>
            </a:r>
            <a:endParaRPr sz="2400" dirty="0">
              <a:latin typeface="Times New Roman"/>
              <a:cs typeface="Times New Roman"/>
            </a:endParaRPr>
          </a:p>
          <a:p>
            <a:pPr marL="435609">
              <a:lnSpc>
                <a:spcPct val="100000"/>
              </a:lnSpc>
            </a:pPr>
            <a:r>
              <a:rPr sz="2400" spc="-5" dirty="0">
                <a:solidFill>
                  <a:srgbClr val="001F5F"/>
                </a:solidFill>
                <a:latin typeface="Times New Roman"/>
                <a:cs typeface="Times New Roman"/>
              </a:rPr>
              <a:t>debugging.</a:t>
            </a:r>
            <a:endParaRPr sz="2400" dirty="0">
              <a:latin typeface="Times New Roman"/>
              <a:cs typeface="Times New Roman"/>
            </a:endParaRPr>
          </a:p>
          <a:p>
            <a:pPr marL="435609" indent="-343535">
              <a:lnSpc>
                <a:spcPct val="100000"/>
              </a:lnSpc>
              <a:buFont typeface="Wingdings"/>
              <a:buChar char=""/>
              <a:tabLst>
                <a:tab pos="436245" algn="l"/>
              </a:tabLst>
            </a:pPr>
            <a:r>
              <a:rPr sz="2400" spc="-5" dirty="0">
                <a:solidFill>
                  <a:srgbClr val="001F5F"/>
                </a:solidFill>
                <a:latin typeface="Times New Roman"/>
                <a:cs typeface="Times New Roman"/>
              </a:rPr>
              <a:t>The main </a:t>
            </a:r>
            <a:r>
              <a:rPr sz="2400" i="1" spc="-5" dirty="0">
                <a:solidFill>
                  <a:srgbClr val="001F5F"/>
                </a:solidFill>
                <a:latin typeface="Times New Roman"/>
                <a:cs typeface="Times New Roman"/>
              </a:rPr>
              <a:t>difficulty </a:t>
            </a:r>
            <a:r>
              <a:rPr sz="2400" spc="-5" dirty="0">
                <a:solidFill>
                  <a:srgbClr val="001F5F"/>
                </a:solidFill>
                <a:latin typeface="Times New Roman"/>
                <a:cs typeface="Times New Roman"/>
              </a:rPr>
              <a:t>is defining the various</a:t>
            </a:r>
            <a:r>
              <a:rPr sz="2400" spc="-25" dirty="0">
                <a:solidFill>
                  <a:srgbClr val="001F5F"/>
                </a:solidFill>
                <a:latin typeface="Times New Roman"/>
                <a:cs typeface="Times New Roman"/>
              </a:rPr>
              <a:t> </a:t>
            </a:r>
            <a:r>
              <a:rPr sz="2400" dirty="0">
                <a:solidFill>
                  <a:srgbClr val="001F5F"/>
                </a:solidFill>
                <a:latin typeface="Times New Roman"/>
                <a:cs typeface="Times New Roman"/>
              </a:rPr>
              <a:t>layers.</a:t>
            </a:r>
            <a:endParaRPr sz="2400" dirty="0">
              <a:latin typeface="Times New Roman"/>
              <a:cs typeface="Times New Roman"/>
            </a:endParaRPr>
          </a:p>
        </p:txBody>
      </p:sp>
    </p:spTree>
    <p:extLst>
      <p:ext uri="{BB962C8B-B14F-4D97-AF65-F5344CB8AC3E}">
        <p14:creationId xmlns:p14="http://schemas.microsoft.com/office/powerpoint/2010/main" val="326606011"/>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16939" y="1739007"/>
            <a:ext cx="9805035" cy="4471737"/>
          </a:xfrm>
          <a:prstGeom prst="rect">
            <a:avLst/>
          </a:prstGeom>
        </p:spPr>
        <p:txBody>
          <a:bodyPr vert="horz" wrap="square" lIns="0" tIns="85090" rIns="0" bIns="0" rtlCol="0">
            <a:spAutoFit/>
          </a:bodyPr>
          <a:lstStyle/>
          <a:p>
            <a:pPr marL="241300" indent="-228600">
              <a:lnSpc>
                <a:spcPct val="100000"/>
              </a:lnSpc>
              <a:spcBef>
                <a:spcPts val="670"/>
              </a:spcBef>
              <a:buClr>
                <a:srgbClr val="EC7C30"/>
              </a:buClr>
              <a:buFont typeface="Wingdings"/>
              <a:buChar char=""/>
              <a:tabLst>
                <a:tab pos="241300" algn="l"/>
              </a:tabLst>
            </a:pPr>
            <a:r>
              <a:rPr sz="2400" dirty="0">
                <a:latin typeface="Times New Roman"/>
                <a:cs typeface="Times New Roman"/>
              </a:rPr>
              <a:t>Moves </a:t>
            </a:r>
            <a:r>
              <a:rPr sz="2400" spc="-5" dirty="0">
                <a:latin typeface="Times New Roman"/>
                <a:cs typeface="Times New Roman"/>
              </a:rPr>
              <a:t>as much </a:t>
            </a:r>
            <a:r>
              <a:rPr sz="2400" spc="-10" dirty="0">
                <a:latin typeface="Times New Roman"/>
                <a:cs typeface="Times New Roman"/>
              </a:rPr>
              <a:t>from </a:t>
            </a:r>
            <a:r>
              <a:rPr sz="2400" spc="-5" dirty="0">
                <a:latin typeface="Times New Roman"/>
                <a:cs typeface="Times New Roman"/>
              </a:rPr>
              <a:t>the </a:t>
            </a:r>
            <a:r>
              <a:rPr sz="2400" dirty="0">
                <a:latin typeface="Times New Roman"/>
                <a:cs typeface="Times New Roman"/>
              </a:rPr>
              <a:t>kernel into user</a:t>
            </a:r>
            <a:r>
              <a:rPr sz="2400" spc="-45" dirty="0">
                <a:latin typeface="Times New Roman"/>
                <a:cs typeface="Times New Roman"/>
              </a:rPr>
              <a:t> </a:t>
            </a:r>
            <a:r>
              <a:rPr sz="2400" spc="-5" dirty="0">
                <a:latin typeface="Times New Roman"/>
                <a:cs typeface="Times New Roman"/>
              </a:rPr>
              <a:t>space</a:t>
            </a:r>
            <a:endParaRPr sz="2400" dirty="0">
              <a:latin typeface="Times New Roman"/>
              <a:cs typeface="Times New Roman"/>
            </a:endParaRPr>
          </a:p>
          <a:p>
            <a:pPr marL="241300" indent="-228600">
              <a:lnSpc>
                <a:spcPct val="100000"/>
              </a:lnSpc>
              <a:spcBef>
                <a:spcPts val="580"/>
              </a:spcBef>
              <a:buClr>
                <a:srgbClr val="EC7C30"/>
              </a:buClr>
              <a:buFont typeface="Wingdings"/>
              <a:buChar char=""/>
              <a:tabLst>
                <a:tab pos="241300" algn="l"/>
              </a:tabLst>
            </a:pPr>
            <a:r>
              <a:rPr sz="2400" dirty="0">
                <a:solidFill>
                  <a:srgbClr val="3366FF"/>
                </a:solidFill>
                <a:latin typeface="Times New Roman"/>
                <a:cs typeface="Times New Roman"/>
              </a:rPr>
              <a:t>Mach </a:t>
            </a:r>
            <a:r>
              <a:rPr sz="2400" dirty="0">
                <a:latin typeface="Times New Roman"/>
                <a:cs typeface="Times New Roman"/>
              </a:rPr>
              <a:t>example of</a:t>
            </a:r>
            <a:r>
              <a:rPr sz="2400" spc="-40" dirty="0">
                <a:latin typeface="Times New Roman"/>
                <a:cs typeface="Times New Roman"/>
              </a:rPr>
              <a:t> </a:t>
            </a:r>
            <a:r>
              <a:rPr sz="2400" spc="-5" dirty="0">
                <a:solidFill>
                  <a:srgbClr val="3366FF"/>
                </a:solidFill>
                <a:latin typeface="Times New Roman"/>
                <a:cs typeface="Times New Roman"/>
              </a:rPr>
              <a:t>microkernel</a:t>
            </a:r>
            <a:endParaRPr sz="2400" dirty="0">
              <a:latin typeface="Times New Roman"/>
              <a:cs typeface="Times New Roman"/>
            </a:endParaRPr>
          </a:p>
          <a:p>
            <a:pPr marL="241300" indent="-228600">
              <a:lnSpc>
                <a:spcPct val="100000"/>
              </a:lnSpc>
              <a:spcBef>
                <a:spcPts val="580"/>
              </a:spcBef>
              <a:buClr>
                <a:srgbClr val="EC7C30"/>
              </a:buClr>
              <a:buFont typeface="Wingdings"/>
              <a:buChar char=""/>
              <a:tabLst>
                <a:tab pos="241300" algn="l"/>
              </a:tabLst>
            </a:pPr>
            <a:r>
              <a:rPr sz="2400" dirty="0">
                <a:latin typeface="Times New Roman"/>
                <a:cs typeface="Times New Roman"/>
              </a:rPr>
              <a:t>Communication takes </a:t>
            </a:r>
            <a:r>
              <a:rPr sz="2400" spc="-5" dirty="0">
                <a:latin typeface="Times New Roman"/>
                <a:cs typeface="Times New Roman"/>
              </a:rPr>
              <a:t>place between </a:t>
            </a:r>
            <a:r>
              <a:rPr sz="2400" dirty="0">
                <a:latin typeface="Times New Roman"/>
                <a:cs typeface="Times New Roman"/>
              </a:rPr>
              <a:t>user modules using </a:t>
            </a:r>
            <a:r>
              <a:rPr sz="2400" spc="-5" dirty="0">
                <a:solidFill>
                  <a:srgbClr val="3366FF"/>
                </a:solidFill>
                <a:latin typeface="Times New Roman"/>
                <a:cs typeface="Times New Roman"/>
              </a:rPr>
              <a:t>message</a:t>
            </a:r>
            <a:r>
              <a:rPr sz="2400" spc="-70" dirty="0">
                <a:solidFill>
                  <a:srgbClr val="3366FF"/>
                </a:solidFill>
                <a:latin typeface="Times New Roman"/>
                <a:cs typeface="Times New Roman"/>
              </a:rPr>
              <a:t> </a:t>
            </a:r>
            <a:r>
              <a:rPr sz="2400" spc="-5" dirty="0">
                <a:solidFill>
                  <a:srgbClr val="3366FF"/>
                </a:solidFill>
                <a:latin typeface="Times New Roman"/>
                <a:cs typeface="Times New Roman"/>
              </a:rPr>
              <a:t>passing</a:t>
            </a:r>
            <a:endParaRPr sz="2400" dirty="0">
              <a:latin typeface="Times New Roman"/>
              <a:cs typeface="Times New Roman"/>
            </a:endParaRPr>
          </a:p>
          <a:p>
            <a:pPr marL="241300" indent="-228600">
              <a:lnSpc>
                <a:spcPct val="100000"/>
              </a:lnSpc>
              <a:spcBef>
                <a:spcPts val="575"/>
              </a:spcBef>
              <a:buClr>
                <a:srgbClr val="EC7C30"/>
              </a:buClr>
              <a:buFont typeface="Wingdings"/>
              <a:buChar char=""/>
              <a:tabLst>
                <a:tab pos="241300" algn="l"/>
              </a:tabLst>
            </a:pPr>
            <a:r>
              <a:rPr sz="2400" dirty="0">
                <a:latin typeface="Times New Roman"/>
                <a:cs typeface="Times New Roman"/>
              </a:rPr>
              <a:t>Benefits:</a:t>
            </a:r>
          </a:p>
          <a:p>
            <a:pPr marL="698500" lvl="1" indent="-229235">
              <a:lnSpc>
                <a:spcPct val="100000"/>
              </a:lnSpc>
              <a:spcBef>
                <a:spcPts val="575"/>
              </a:spcBef>
              <a:buClr>
                <a:srgbClr val="EC7C30"/>
              </a:buClr>
              <a:buFont typeface="Wingdings"/>
              <a:buChar char=""/>
              <a:tabLst>
                <a:tab pos="699135" algn="l"/>
              </a:tabLst>
            </a:pPr>
            <a:r>
              <a:rPr sz="2400" spc="-5" dirty="0">
                <a:latin typeface="Times New Roman"/>
                <a:cs typeface="Times New Roman"/>
              </a:rPr>
              <a:t>Extending the </a:t>
            </a:r>
            <a:r>
              <a:rPr sz="2400" dirty="0">
                <a:latin typeface="Times New Roman"/>
                <a:cs typeface="Times New Roman"/>
              </a:rPr>
              <a:t>operating system </a:t>
            </a:r>
            <a:r>
              <a:rPr sz="2400" spc="-5" dirty="0">
                <a:latin typeface="Times New Roman"/>
                <a:cs typeface="Times New Roman"/>
              </a:rPr>
              <a:t>becomes much</a:t>
            </a:r>
            <a:r>
              <a:rPr sz="2400" spc="-15" dirty="0">
                <a:latin typeface="Times New Roman"/>
                <a:cs typeface="Times New Roman"/>
              </a:rPr>
              <a:t> </a:t>
            </a:r>
            <a:r>
              <a:rPr sz="2400" spc="-30" dirty="0">
                <a:latin typeface="Times New Roman"/>
                <a:cs typeface="Times New Roman"/>
              </a:rPr>
              <a:t>easier.</a:t>
            </a:r>
            <a:endParaRPr sz="2400" dirty="0">
              <a:latin typeface="Times New Roman"/>
              <a:cs typeface="Times New Roman"/>
            </a:endParaRPr>
          </a:p>
          <a:p>
            <a:pPr marL="698500" lvl="1" indent="-229235">
              <a:lnSpc>
                <a:spcPct val="100000"/>
              </a:lnSpc>
              <a:spcBef>
                <a:spcPts val="580"/>
              </a:spcBef>
              <a:buClr>
                <a:srgbClr val="EC7C30"/>
              </a:buClr>
              <a:buFont typeface="Wingdings"/>
              <a:buChar char=""/>
              <a:tabLst>
                <a:tab pos="699135" algn="l"/>
              </a:tabLst>
            </a:pPr>
            <a:r>
              <a:rPr sz="2400" spc="-5" dirty="0">
                <a:latin typeface="Times New Roman"/>
                <a:cs typeface="Times New Roman"/>
              </a:rPr>
              <a:t>Any changes </a:t>
            </a:r>
            <a:r>
              <a:rPr sz="2400" dirty="0">
                <a:latin typeface="Times New Roman"/>
                <a:cs typeface="Times New Roman"/>
              </a:rPr>
              <a:t>to </a:t>
            </a:r>
            <a:r>
              <a:rPr sz="2400" spc="-5" dirty="0">
                <a:latin typeface="Times New Roman"/>
                <a:cs typeface="Times New Roman"/>
              </a:rPr>
              <a:t>the </a:t>
            </a:r>
            <a:r>
              <a:rPr sz="2400" dirty="0">
                <a:latin typeface="Times New Roman"/>
                <a:cs typeface="Times New Roman"/>
              </a:rPr>
              <a:t>kernel </a:t>
            </a:r>
            <a:r>
              <a:rPr sz="2400" spc="-5" dirty="0">
                <a:latin typeface="Times New Roman"/>
                <a:cs typeface="Times New Roman"/>
              </a:rPr>
              <a:t>tend to </a:t>
            </a:r>
            <a:r>
              <a:rPr sz="2400" spc="-10" dirty="0">
                <a:latin typeface="Times New Roman"/>
                <a:cs typeface="Times New Roman"/>
              </a:rPr>
              <a:t>be </a:t>
            </a:r>
            <a:r>
              <a:rPr sz="2400" spc="-40" dirty="0">
                <a:latin typeface="Times New Roman"/>
                <a:cs typeface="Times New Roman"/>
              </a:rPr>
              <a:t>fewer, </a:t>
            </a:r>
            <a:r>
              <a:rPr sz="2400" spc="-5" dirty="0">
                <a:latin typeface="Times New Roman"/>
                <a:cs typeface="Times New Roman"/>
              </a:rPr>
              <a:t>since the </a:t>
            </a:r>
            <a:r>
              <a:rPr sz="2400" dirty="0">
                <a:latin typeface="Times New Roman"/>
                <a:cs typeface="Times New Roman"/>
              </a:rPr>
              <a:t>kernel </a:t>
            </a:r>
            <a:r>
              <a:rPr sz="2400" spc="-5" dirty="0">
                <a:latin typeface="Times New Roman"/>
                <a:cs typeface="Times New Roman"/>
              </a:rPr>
              <a:t>is</a:t>
            </a:r>
            <a:r>
              <a:rPr sz="2400" spc="114" dirty="0">
                <a:latin typeface="Times New Roman"/>
                <a:cs typeface="Times New Roman"/>
              </a:rPr>
              <a:t> </a:t>
            </a:r>
            <a:r>
              <a:rPr sz="2400" spc="5" dirty="0">
                <a:latin typeface="Times New Roman"/>
                <a:cs typeface="Times New Roman"/>
              </a:rPr>
              <a:t>smaller.</a:t>
            </a:r>
            <a:endParaRPr sz="2400" dirty="0">
              <a:latin typeface="Times New Roman"/>
              <a:cs typeface="Times New Roman"/>
            </a:endParaRPr>
          </a:p>
          <a:p>
            <a:pPr marL="698500" lvl="1" indent="-229235">
              <a:lnSpc>
                <a:spcPct val="100000"/>
              </a:lnSpc>
              <a:spcBef>
                <a:spcPts val="575"/>
              </a:spcBef>
              <a:buClr>
                <a:srgbClr val="EC7C30"/>
              </a:buClr>
              <a:buFont typeface="Wingdings"/>
              <a:buChar char=""/>
              <a:tabLst>
                <a:tab pos="699135" algn="l"/>
              </a:tabLst>
            </a:pPr>
            <a:r>
              <a:rPr sz="2400" spc="-15" dirty="0">
                <a:latin typeface="Times New Roman"/>
                <a:cs typeface="Times New Roman"/>
              </a:rPr>
              <a:t>More </a:t>
            </a:r>
            <a:r>
              <a:rPr sz="2400" spc="-10" dirty="0">
                <a:latin typeface="Times New Roman"/>
                <a:cs typeface="Times New Roman"/>
              </a:rPr>
              <a:t>reliable </a:t>
            </a:r>
            <a:r>
              <a:rPr sz="2400" dirty="0">
                <a:latin typeface="Times New Roman"/>
                <a:cs typeface="Times New Roman"/>
              </a:rPr>
              <a:t>(less code </a:t>
            </a:r>
            <a:r>
              <a:rPr sz="2400" spc="-5" dirty="0">
                <a:latin typeface="Times New Roman"/>
                <a:cs typeface="Times New Roman"/>
              </a:rPr>
              <a:t>is running </a:t>
            </a:r>
            <a:r>
              <a:rPr sz="2400" dirty="0">
                <a:latin typeface="Times New Roman"/>
                <a:cs typeface="Times New Roman"/>
              </a:rPr>
              <a:t>in </a:t>
            </a:r>
            <a:r>
              <a:rPr sz="2400" spc="-5" dirty="0">
                <a:latin typeface="Times New Roman"/>
                <a:cs typeface="Times New Roman"/>
              </a:rPr>
              <a:t>kernel</a:t>
            </a:r>
            <a:r>
              <a:rPr sz="2400" spc="-40" dirty="0">
                <a:latin typeface="Times New Roman"/>
                <a:cs typeface="Times New Roman"/>
              </a:rPr>
              <a:t> </a:t>
            </a:r>
            <a:r>
              <a:rPr sz="2400" spc="-5" dirty="0">
                <a:latin typeface="Times New Roman"/>
                <a:cs typeface="Times New Roman"/>
              </a:rPr>
              <a:t>mode)</a:t>
            </a:r>
            <a:endParaRPr sz="2400" dirty="0">
              <a:latin typeface="Times New Roman"/>
              <a:cs typeface="Times New Roman"/>
            </a:endParaRPr>
          </a:p>
          <a:p>
            <a:pPr marL="698500" lvl="1" indent="-229235">
              <a:lnSpc>
                <a:spcPct val="100000"/>
              </a:lnSpc>
              <a:spcBef>
                <a:spcPts val="575"/>
              </a:spcBef>
              <a:buClr>
                <a:srgbClr val="EC7C30"/>
              </a:buClr>
              <a:buFont typeface="Wingdings"/>
              <a:buChar char=""/>
              <a:tabLst>
                <a:tab pos="699135" algn="l"/>
              </a:tabLst>
            </a:pPr>
            <a:r>
              <a:rPr sz="2400" spc="-15" dirty="0">
                <a:latin typeface="Times New Roman"/>
                <a:cs typeface="Times New Roman"/>
              </a:rPr>
              <a:t>More </a:t>
            </a:r>
            <a:r>
              <a:rPr sz="2400" spc="-10" dirty="0">
                <a:latin typeface="Times New Roman"/>
                <a:cs typeface="Times New Roman"/>
              </a:rPr>
              <a:t>secure</a:t>
            </a:r>
            <a:endParaRPr sz="2400" dirty="0">
              <a:latin typeface="Times New Roman"/>
              <a:cs typeface="Times New Roman"/>
            </a:endParaRPr>
          </a:p>
          <a:p>
            <a:pPr marL="241300" indent="-228600">
              <a:lnSpc>
                <a:spcPct val="100000"/>
              </a:lnSpc>
              <a:spcBef>
                <a:spcPts val="580"/>
              </a:spcBef>
              <a:buClr>
                <a:srgbClr val="EC7C30"/>
              </a:buClr>
              <a:buFont typeface="Wingdings"/>
              <a:buChar char=""/>
              <a:tabLst>
                <a:tab pos="241300" algn="l"/>
              </a:tabLst>
            </a:pPr>
            <a:r>
              <a:rPr sz="2400" dirty="0">
                <a:latin typeface="Times New Roman"/>
                <a:cs typeface="Times New Roman"/>
              </a:rPr>
              <a:t>Detriments:</a:t>
            </a:r>
          </a:p>
          <a:p>
            <a:pPr marL="698500" lvl="1" indent="-229235">
              <a:lnSpc>
                <a:spcPct val="100000"/>
              </a:lnSpc>
              <a:spcBef>
                <a:spcPts val="575"/>
              </a:spcBef>
              <a:buClr>
                <a:srgbClr val="EC7C30"/>
              </a:buClr>
              <a:buFont typeface="Wingdings"/>
              <a:buChar char=""/>
              <a:tabLst>
                <a:tab pos="699135" algn="l"/>
              </a:tabLst>
            </a:pPr>
            <a:r>
              <a:rPr sz="2400" dirty="0">
                <a:latin typeface="Times New Roman"/>
                <a:cs typeface="Times New Roman"/>
              </a:rPr>
              <a:t>Performance overhead of user </a:t>
            </a:r>
            <a:r>
              <a:rPr sz="2400" spc="-5" dirty="0">
                <a:latin typeface="Times New Roman"/>
                <a:cs typeface="Times New Roman"/>
              </a:rPr>
              <a:t>space </a:t>
            </a:r>
            <a:r>
              <a:rPr sz="2400" dirty="0">
                <a:latin typeface="Times New Roman"/>
                <a:cs typeface="Times New Roman"/>
              </a:rPr>
              <a:t>to kernel </a:t>
            </a:r>
            <a:r>
              <a:rPr sz="2400" spc="-5" dirty="0">
                <a:latin typeface="Times New Roman"/>
                <a:cs typeface="Times New Roman"/>
              </a:rPr>
              <a:t>space</a:t>
            </a:r>
            <a:r>
              <a:rPr sz="2400" spc="-135" dirty="0">
                <a:latin typeface="Times New Roman"/>
                <a:cs typeface="Times New Roman"/>
              </a:rPr>
              <a:t> </a:t>
            </a:r>
            <a:r>
              <a:rPr sz="2400" dirty="0">
                <a:latin typeface="Times New Roman"/>
                <a:cs typeface="Times New Roman"/>
              </a:rPr>
              <a:t>communication</a:t>
            </a:r>
          </a:p>
        </p:txBody>
      </p:sp>
      <p:sp>
        <p:nvSpPr>
          <p:cNvPr id="3" name="object 3"/>
          <p:cNvSpPr txBox="1">
            <a:spLocks noGrp="1"/>
          </p:cNvSpPr>
          <p:nvPr>
            <p:ph type="title"/>
          </p:nvPr>
        </p:nvSpPr>
        <p:spPr>
          <a:xfrm>
            <a:off x="916939" y="659968"/>
            <a:ext cx="7271384" cy="697230"/>
          </a:xfrm>
          <a:prstGeom prst="rect">
            <a:avLst/>
          </a:prstGeom>
        </p:spPr>
        <p:txBody>
          <a:bodyPr vert="horz" wrap="square" lIns="0" tIns="13335" rIns="0" bIns="0" rtlCol="0">
            <a:spAutoFit/>
          </a:bodyPr>
          <a:lstStyle/>
          <a:p>
            <a:pPr marL="12700">
              <a:lnSpc>
                <a:spcPct val="100000"/>
              </a:lnSpc>
              <a:spcBef>
                <a:spcPts val="105"/>
              </a:spcBef>
            </a:pPr>
            <a:r>
              <a:rPr spc="-5" dirty="0">
                <a:solidFill>
                  <a:srgbClr val="FF0000"/>
                </a:solidFill>
                <a:latin typeface="Times New Roman"/>
                <a:cs typeface="Times New Roman"/>
              </a:rPr>
              <a:t>Microkernel </a:t>
            </a:r>
            <a:r>
              <a:rPr dirty="0">
                <a:solidFill>
                  <a:srgbClr val="FF0000"/>
                </a:solidFill>
                <a:latin typeface="Times New Roman"/>
                <a:cs typeface="Times New Roman"/>
              </a:rPr>
              <a:t>System</a:t>
            </a:r>
            <a:r>
              <a:rPr spc="-95" dirty="0">
                <a:solidFill>
                  <a:srgbClr val="FF0000"/>
                </a:solidFill>
                <a:latin typeface="Times New Roman"/>
                <a:cs typeface="Times New Roman"/>
              </a:rPr>
              <a:t> </a:t>
            </a:r>
            <a:r>
              <a:rPr spc="-10" dirty="0">
                <a:solidFill>
                  <a:srgbClr val="FF0000"/>
                </a:solidFill>
                <a:latin typeface="Times New Roman"/>
                <a:cs typeface="Times New Roman"/>
              </a:rPr>
              <a:t>Structure</a:t>
            </a:r>
          </a:p>
        </p:txBody>
      </p:sp>
    </p:spTree>
    <p:extLst>
      <p:ext uri="{BB962C8B-B14F-4D97-AF65-F5344CB8AC3E}">
        <p14:creationId xmlns:p14="http://schemas.microsoft.com/office/powerpoint/2010/main" val="223380607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2191365" cy="6858000"/>
            <a:chOff x="0" y="0"/>
            <a:chExt cx="12191365" cy="6858000"/>
          </a:xfrm>
        </p:grpSpPr>
        <p:sp>
          <p:nvSpPr>
            <p:cNvPr id="3" name="object 3"/>
            <p:cNvSpPr/>
            <p:nvPr/>
          </p:nvSpPr>
          <p:spPr>
            <a:xfrm>
              <a:off x="2644062" y="3695200"/>
              <a:ext cx="6515734" cy="1464310"/>
            </a:xfrm>
            <a:custGeom>
              <a:avLst/>
              <a:gdLst/>
              <a:ahLst/>
              <a:cxnLst/>
              <a:rect l="l" t="t" r="r" b="b"/>
              <a:pathLst>
                <a:path w="6515734" h="1464310">
                  <a:moveTo>
                    <a:pt x="6515459" y="0"/>
                  </a:moveTo>
                  <a:lnTo>
                    <a:pt x="0" y="0"/>
                  </a:lnTo>
                  <a:lnTo>
                    <a:pt x="0" y="1464193"/>
                  </a:lnTo>
                  <a:lnTo>
                    <a:pt x="6515459" y="1464193"/>
                  </a:lnTo>
                  <a:lnTo>
                    <a:pt x="6515459" y="0"/>
                  </a:lnTo>
                  <a:close/>
                </a:path>
              </a:pathLst>
            </a:custGeom>
            <a:solidFill>
              <a:srgbClr val="D4F0F3"/>
            </a:solidFill>
          </p:spPr>
          <p:txBody>
            <a:bodyPr wrap="square" lIns="0" tIns="0" rIns="0" bIns="0" rtlCol="0"/>
            <a:lstStyle/>
            <a:p>
              <a:endParaRPr/>
            </a:p>
          </p:txBody>
        </p:sp>
        <p:sp>
          <p:nvSpPr>
            <p:cNvPr id="4" name="object 4"/>
            <p:cNvSpPr/>
            <p:nvPr/>
          </p:nvSpPr>
          <p:spPr>
            <a:xfrm>
              <a:off x="2644062" y="3695200"/>
              <a:ext cx="6515734" cy="1464310"/>
            </a:xfrm>
            <a:custGeom>
              <a:avLst/>
              <a:gdLst/>
              <a:ahLst/>
              <a:cxnLst/>
              <a:rect l="l" t="t" r="r" b="b"/>
              <a:pathLst>
                <a:path w="6515734" h="1464310">
                  <a:moveTo>
                    <a:pt x="6515459" y="1464193"/>
                  </a:moveTo>
                  <a:lnTo>
                    <a:pt x="0" y="1464193"/>
                  </a:lnTo>
                  <a:lnTo>
                    <a:pt x="0" y="0"/>
                  </a:lnTo>
                  <a:lnTo>
                    <a:pt x="6515459" y="0"/>
                  </a:lnTo>
                  <a:lnTo>
                    <a:pt x="6515459" y="1464193"/>
                  </a:lnTo>
                  <a:close/>
                </a:path>
              </a:pathLst>
            </a:custGeom>
            <a:ln w="9544">
              <a:solidFill>
                <a:srgbClr val="000000"/>
              </a:solidFill>
            </a:ln>
          </p:spPr>
          <p:txBody>
            <a:bodyPr wrap="square" lIns="0" tIns="0" rIns="0" bIns="0" rtlCol="0"/>
            <a:lstStyle/>
            <a:p>
              <a:endParaRPr/>
            </a:p>
          </p:txBody>
        </p:sp>
        <p:sp>
          <p:nvSpPr>
            <p:cNvPr id="5" name="object 5"/>
            <p:cNvSpPr/>
            <p:nvPr/>
          </p:nvSpPr>
          <p:spPr>
            <a:xfrm>
              <a:off x="2940101" y="2375548"/>
              <a:ext cx="1296670" cy="810895"/>
            </a:xfrm>
            <a:custGeom>
              <a:avLst/>
              <a:gdLst/>
              <a:ahLst/>
              <a:cxnLst/>
              <a:rect l="l" t="t" r="r" b="b"/>
              <a:pathLst>
                <a:path w="1296670" h="810894">
                  <a:moveTo>
                    <a:pt x="1296544" y="0"/>
                  </a:moveTo>
                  <a:lnTo>
                    <a:pt x="0" y="0"/>
                  </a:lnTo>
                  <a:lnTo>
                    <a:pt x="0" y="810785"/>
                  </a:lnTo>
                  <a:lnTo>
                    <a:pt x="1296544" y="810785"/>
                  </a:lnTo>
                  <a:lnTo>
                    <a:pt x="1296544" y="0"/>
                  </a:lnTo>
                  <a:close/>
                </a:path>
              </a:pathLst>
            </a:custGeom>
            <a:solidFill>
              <a:srgbClr val="D2D2D2"/>
            </a:solidFill>
          </p:spPr>
          <p:txBody>
            <a:bodyPr wrap="square" lIns="0" tIns="0" rIns="0" bIns="0" rtlCol="0"/>
            <a:lstStyle/>
            <a:p>
              <a:endParaRPr/>
            </a:p>
          </p:txBody>
        </p:sp>
      </p:grpSp>
      <p:sp>
        <p:nvSpPr>
          <p:cNvPr id="6" name="object 6"/>
          <p:cNvSpPr txBox="1">
            <a:spLocks noGrp="1"/>
          </p:cNvSpPr>
          <p:nvPr>
            <p:ph type="title"/>
          </p:nvPr>
        </p:nvSpPr>
        <p:spPr>
          <a:xfrm>
            <a:off x="916939" y="659968"/>
            <a:ext cx="7271384" cy="697230"/>
          </a:xfrm>
          <a:prstGeom prst="rect">
            <a:avLst/>
          </a:prstGeom>
        </p:spPr>
        <p:txBody>
          <a:bodyPr vert="horz" wrap="square" lIns="0" tIns="13335" rIns="0" bIns="0" rtlCol="0">
            <a:spAutoFit/>
          </a:bodyPr>
          <a:lstStyle/>
          <a:p>
            <a:pPr marL="12700">
              <a:lnSpc>
                <a:spcPct val="100000"/>
              </a:lnSpc>
              <a:spcBef>
                <a:spcPts val="105"/>
              </a:spcBef>
            </a:pPr>
            <a:r>
              <a:rPr spc="-5" dirty="0">
                <a:solidFill>
                  <a:srgbClr val="FF0000"/>
                </a:solidFill>
                <a:latin typeface="Times New Roman"/>
                <a:cs typeface="Times New Roman"/>
              </a:rPr>
              <a:t>Microkernel </a:t>
            </a:r>
            <a:r>
              <a:rPr dirty="0">
                <a:solidFill>
                  <a:srgbClr val="FF0000"/>
                </a:solidFill>
                <a:latin typeface="Times New Roman"/>
                <a:cs typeface="Times New Roman"/>
              </a:rPr>
              <a:t>System</a:t>
            </a:r>
            <a:r>
              <a:rPr spc="-95" dirty="0">
                <a:solidFill>
                  <a:srgbClr val="FF0000"/>
                </a:solidFill>
                <a:latin typeface="Times New Roman"/>
                <a:cs typeface="Times New Roman"/>
              </a:rPr>
              <a:t> </a:t>
            </a:r>
            <a:r>
              <a:rPr spc="-10" dirty="0">
                <a:solidFill>
                  <a:srgbClr val="FF0000"/>
                </a:solidFill>
                <a:latin typeface="Times New Roman"/>
                <a:cs typeface="Times New Roman"/>
              </a:rPr>
              <a:t>Structure</a:t>
            </a:r>
          </a:p>
        </p:txBody>
      </p:sp>
      <p:sp>
        <p:nvSpPr>
          <p:cNvPr id="7" name="object 7"/>
          <p:cNvSpPr txBox="1"/>
          <p:nvPr/>
        </p:nvSpPr>
        <p:spPr>
          <a:xfrm>
            <a:off x="2940101" y="2375548"/>
            <a:ext cx="1296670" cy="810895"/>
          </a:xfrm>
          <a:prstGeom prst="rect">
            <a:avLst/>
          </a:prstGeom>
          <a:ln w="9543">
            <a:solidFill>
              <a:srgbClr val="000000"/>
            </a:solidFill>
          </a:ln>
        </p:spPr>
        <p:txBody>
          <a:bodyPr vert="horz" wrap="square" lIns="0" tIns="635" rIns="0" bIns="0" rtlCol="0">
            <a:spAutoFit/>
          </a:bodyPr>
          <a:lstStyle/>
          <a:p>
            <a:pPr>
              <a:lnSpc>
                <a:spcPct val="100000"/>
              </a:lnSpc>
              <a:spcBef>
                <a:spcPts val="5"/>
              </a:spcBef>
            </a:pPr>
            <a:endParaRPr sz="1300">
              <a:latin typeface="Times New Roman"/>
              <a:cs typeface="Times New Roman"/>
            </a:endParaRPr>
          </a:p>
          <a:p>
            <a:pPr marL="345440" marR="249554" indent="-84455">
              <a:lnSpc>
                <a:spcPct val="100000"/>
              </a:lnSpc>
              <a:spcBef>
                <a:spcPts val="5"/>
              </a:spcBef>
            </a:pPr>
            <a:r>
              <a:rPr sz="1250" dirty="0">
                <a:latin typeface="Arial"/>
                <a:cs typeface="Arial"/>
              </a:rPr>
              <a:t>Applica</a:t>
            </a:r>
            <a:r>
              <a:rPr sz="1250" spc="-5" dirty="0">
                <a:latin typeface="Arial"/>
                <a:cs typeface="Arial"/>
              </a:rPr>
              <a:t>t</a:t>
            </a:r>
            <a:r>
              <a:rPr sz="1250" dirty="0">
                <a:latin typeface="Arial"/>
                <a:cs typeface="Arial"/>
              </a:rPr>
              <a:t>ion  </a:t>
            </a:r>
            <a:r>
              <a:rPr sz="1250" spc="-5" dirty="0">
                <a:latin typeface="Arial"/>
                <a:cs typeface="Arial"/>
              </a:rPr>
              <a:t>Program</a:t>
            </a:r>
            <a:endParaRPr sz="1250">
              <a:latin typeface="Arial"/>
              <a:cs typeface="Arial"/>
            </a:endParaRPr>
          </a:p>
        </p:txBody>
      </p:sp>
      <p:sp>
        <p:nvSpPr>
          <p:cNvPr id="8" name="object 8"/>
          <p:cNvSpPr/>
          <p:nvPr/>
        </p:nvSpPr>
        <p:spPr>
          <a:xfrm>
            <a:off x="5253534" y="2375548"/>
            <a:ext cx="1296670" cy="810895"/>
          </a:xfrm>
          <a:custGeom>
            <a:avLst/>
            <a:gdLst/>
            <a:ahLst/>
            <a:cxnLst/>
            <a:rect l="l" t="t" r="r" b="b"/>
            <a:pathLst>
              <a:path w="1296670" h="810894">
                <a:moveTo>
                  <a:pt x="1296532" y="0"/>
                </a:moveTo>
                <a:lnTo>
                  <a:pt x="0" y="0"/>
                </a:lnTo>
                <a:lnTo>
                  <a:pt x="0" y="810785"/>
                </a:lnTo>
                <a:lnTo>
                  <a:pt x="1296532" y="810785"/>
                </a:lnTo>
                <a:lnTo>
                  <a:pt x="1296532" y="0"/>
                </a:lnTo>
                <a:close/>
              </a:path>
            </a:pathLst>
          </a:custGeom>
          <a:solidFill>
            <a:srgbClr val="D2D2D2"/>
          </a:solidFill>
        </p:spPr>
        <p:txBody>
          <a:bodyPr wrap="square" lIns="0" tIns="0" rIns="0" bIns="0" rtlCol="0"/>
          <a:lstStyle/>
          <a:p>
            <a:endParaRPr/>
          </a:p>
        </p:txBody>
      </p:sp>
      <p:sp>
        <p:nvSpPr>
          <p:cNvPr id="9" name="object 9"/>
          <p:cNvSpPr txBox="1"/>
          <p:nvPr/>
        </p:nvSpPr>
        <p:spPr>
          <a:xfrm>
            <a:off x="5253534" y="2375548"/>
            <a:ext cx="1296670" cy="810895"/>
          </a:xfrm>
          <a:prstGeom prst="rect">
            <a:avLst/>
          </a:prstGeom>
          <a:ln w="9543">
            <a:solidFill>
              <a:srgbClr val="000000"/>
            </a:solidFill>
          </a:ln>
        </p:spPr>
        <p:txBody>
          <a:bodyPr vert="horz" wrap="square" lIns="0" tIns="635" rIns="0" bIns="0" rtlCol="0">
            <a:spAutoFit/>
          </a:bodyPr>
          <a:lstStyle/>
          <a:p>
            <a:pPr>
              <a:lnSpc>
                <a:spcPct val="100000"/>
              </a:lnSpc>
              <a:spcBef>
                <a:spcPts val="5"/>
              </a:spcBef>
            </a:pPr>
            <a:endParaRPr sz="1300">
              <a:latin typeface="Times New Roman"/>
              <a:cs typeface="Times New Roman"/>
            </a:endParaRPr>
          </a:p>
          <a:p>
            <a:pPr marL="385445" marR="373380" indent="136525">
              <a:lnSpc>
                <a:spcPct val="100000"/>
              </a:lnSpc>
              <a:spcBef>
                <a:spcPts val="5"/>
              </a:spcBef>
            </a:pPr>
            <a:r>
              <a:rPr sz="1250" dirty="0">
                <a:latin typeface="Arial"/>
                <a:cs typeface="Arial"/>
              </a:rPr>
              <a:t>File  Sys</a:t>
            </a:r>
            <a:r>
              <a:rPr sz="1250" spc="-5" dirty="0">
                <a:latin typeface="Arial"/>
                <a:cs typeface="Arial"/>
              </a:rPr>
              <a:t>t</a:t>
            </a:r>
            <a:r>
              <a:rPr sz="1250" dirty="0">
                <a:latin typeface="Arial"/>
                <a:cs typeface="Arial"/>
              </a:rPr>
              <a:t>em</a:t>
            </a:r>
            <a:endParaRPr sz="1250">
              <a:latin typeface="Arial"/>
              <a:cs typeface="Arial"/>
            </a:endParaRPr>
          </a:p>
        </p:txBody>
      </p:sp>
      <p:sp>
        <p:nvSpPr>
          <p:cNvPr id="10" name="object 10"/>
          <p:cNvSpPr/>
          <p:nvPr/>
        </p:nvSpPr>
        <p:spPr>
          <a:xfrm>
            <a:off x="7445987" y="2375548"/>
            <a:ext cx="1296670" cy="810895"/>
          </a:xfrm>
          <a:custGeom>
            <a:avLst/>
            <a:gdLst/>
            <a:ahLst/>
            <a:cxnLst/>
            <a:rect l="l" t="t" r="r" b="b"/>
            <a:pathLst>
              <a:path w="1296670" h="810894">
                <a:moveTo>
                  <a:pt x="1296214" y="0"/>
                </a:moveTo>
                <a:lnTo>
                  <a:pt x="0" y="0"/>
                </a:lnTo>
                <a:lnTo>
                  <a:pt x="0" y="810785"/>
                </a:lnTo>
                <a:lnTo>
                  <a:pt x="1296214" y="810785"/>
                </a:lnTo>
                <a:lnTo>
                  <a:pt x="1296214" y="0"/>
                </a:lnTo>
                <a:close/>
              </a:path>
            </a:pathLst>
          </a:custGeom>
          <a:solidFill>
            <a:srgbClr val="D2D2D2"/>
          </a:solidFill>
        </p:spPr>
        <p:txBody>
          <a:bodyPr wrap="square" lIns="0" tIns="0" rIns="0" bIns="0" rtlCol="0"/>
          <a:lstStyle/>
          <a:p>
            <a:endParaRPr/>
          </a:p>
        </p:txBody>
      </p:sp>
      <p:sp>
        <p:nvSpPr>
          <p:cNvPr id="11" name="object 11"/>
          <p:cNvSpPr txBox="1"/>
          <p:nvPr/>
        </p:nvSpPr>
        <p:spPr>
          <a:xfrm>
            <a:off x="7445987" y="2375548"/>
            <a:ext cx="1296670" cy="810895"/>
          </a:xfrm>
          <a:prstGeom prst="rect">
            <a:avLst/>
          </a:prstGeom>
          <a:ln w="9543">
            <a:solidFill>
              <a:srgbClr val="000000"/>
            </a:solidFill>
          </a:ln>
        </p:spPr>
        <p:txBody>
          <a:bodyPr vert="horz" wrap="square" lIns="0" tIns="635" rIns="0" bIns="0" rtlCol="0">
            <a:spAutoFit/>
          </a:bodyPr>
          <a:lstStyle/>
          <a:p>
            <a:pPr>
              <a:lnSpc>
                <a:spcPct val="100000"/>
              </a:lnSpc>
              <a:spcBef>
                <a:spcPts val="5"/>
              </a:spcBef>
            </a:pPr>
            <a:endParaRPr sz="1300">
              <a:latin typeface="Times New Roman"/>
              <a:cs typeface="Times New Roman"/>
            </a:endParaRPr>
          </a:p>
          <a:p>
            <a:pPr marL="438150" marR="394970" indent="-31115">
              <a:lnSpc>
                <a:spcPct val="100000"/>
              </a:lnSpc>
              <a:spcBef>
                <a:spcPts val="5"/>
              </a:spcBef>
            </a:pPr>
            <a:r>
              <a:rPr sz="1250" dirty="0">
                <a:latin typeface="Arial"/>
                <a:cs typeface="Arial"/>
              </a:rPr>
              <a:t>Devi</a:t>
            </a:r>
            <a:r>
              <a:rPr sz="1250" spc="-5" dirty="0">
                <a:latin typeface="Arial"/>
                <a:cs typeface="Arial"/>
              </a:rPr>
              <a:t>c</a:t>
            </a:r>
            <a:r>
              <a:rPr sz="1250" dirty="0">
                <a:latin typeface="Arial"/>
                <a:cs typeface="Arial"/>
              </a:rPr>
              <a:t>e  Driver</a:t>
            </a:r>
            <a:endParaRPr sz="1250">
              <a:latin typeface="Arial"/>
              <a:cs typeface="Arial"/>
            </a:endParaRPr>
          </a:p>
        </p:txBody>
      </p:sp>
      <p:grpSp>
        <p:nvGrpSpPr>
          <p:cNvPr id="12" name="object 12"/>
          <p:cNvGrpSpPr/>
          <p:nvPr/>
        </p:nvGrpSpPr>
        <p:grpSpPr>
          <a:xfrm>
            <a:off x="2638982" y="3998998"/>
            <a:ext cx="6525895" cy="1967230"/>
            <a:chOff x="2638982" y="3998998"/>
            <a:chExt cx="6525895" cy="1967230"/>
          </a:xfrm>
        </p:grpSpPr>
        <p:sp>
          <p:nvSpPr>
            <p:cNvPr id="13" name="object 13"/>
            <p:cNvSpPr/>
            <p:nvPr/>
          </p:nvSpPr>
          <p:spPr>
            <a:xfrm>
              <a:off x="2644062" y="5504749"/>
              <a:ext cx="6515734" cy="456565"/>
            </a:xfrm>
            <a:custGeom>
              <a:avLst/>
              <a:gdLst/>
              <a:ahLst/>
              <a:cxnLst/>
              <a:rect l="l" t="t" r="r" b="b"/>
              <a:pathLst>
                <a:path w="6515734" h="456564">
                  <a:moveTo>
                    <a:pt x="6515459" y="456219"/>
                  </a:moveTo>
                  <a:lnTo>
                    <a:pt x="0" y="456219"/>
                  </a:lnTo>
                  <a:lnTo>
                    <a:pt x="0" y="0"/>
                  </a:lnTo>
                  <a:lnTo>
                    <a:pt x="6515459" y="0"/>
                  </a:lnTo>
                  <a:lnTo>
                    <a:pt x="6515459" y="456219"/>
                  </a:lnTo>
                  <a:close/>
                </a:path>
              </a:pathLst>
            </a:custGeom>
            <a:ln w="9544">
              <a:solidFill>
                <a:srgbClr val="000000"/>
              </a:solidFill>
            </a:ln>
          </p:spPr>
          <p:txBody>
            <a:bodyPr wrap="square" lIns="0" tIns="0" rIns="0" bIns="0" rtlCol="0"/>
            <a:lstStyle/>
            <a:p>
              <a:endParaRPr/>
            </a:p>
          </p:txBody>
        </p:sp>
        <p:sp>
          <p:nvSpPr>
            <p:cNvPr id="14" name="object 14"/>
            <p:cNvSpPr/>
            <p:nvPr/>
          </p:nvSpPr>
          <p:spPr>
            <a:xfrm>
              <a:off x="2940101" y="4004078"/>
              <a:ext cx="1412875" cy="791845"/>
            </a:xfrm>
            <a:custGeom>
              <a:avLst/>
              <a:gdLst/>
              <a:ahLst/>
              <a:cxnLst/>
              <a:rect l="l" t="t" r="r" b="b"/>
              <a:pathLst>
                <a:path w="1412875" h="791845">
                  <a:moveTo>
                    <a:pt x="706189" y="0"/>
                  </a:moveTo>
                  <a:lnTo>
                    <a:pt x="645263" y="1452"/>
                  </a:lnTo>
                  <a:lnTo>
                    <a:pt x="585775" y="5731"/>
                  </a:lnTo>
                  <a:lnTo>
                    <a:pt x="527937" y="12717"/>
                  </a:lnTo>
                  <a:lnTo>
                    <a:pt x="471961" y="22291"/>
                  </a:lnTo>
                  <a:lnTo>
                    <a:pt x="418059" y="34335"/>
                  </a:lnTo>
                  <a:lnTo>
                    <a:pt x="366444" y="48731"/>
                  </a:lnTo>
                  <a:lnTo>
                    <a:pt x="317326" y="65359"/>
                  </a:lnTo>
                  <a:lnTo>
                    <a:pt x="270920" y="84100"/>
                  </a:lnTo>
                  <a:lnTo>
                    <a:pt x="227435" y="104837"/>
                  </a:lnTo>
                  <a:lnTo>
                    <a:pt x="187086" y="127450"/>
                  </a:lnTo>
                  <a:lnTo>
                    <a:pt x="150083" y="151820"/>
                  </a:lnTo>
                  <a:lnTo>
                    <a:pt x="116640" y="177830"/>
                  </a:lnTo>
                  <a:lnTo>
                    <a:pt x="86967" y="205359"/>
                  </a:lnTo>
                  <a:lnTo>
                    <a:pt x="61277" y="234290"/>
                  </a:lnTo>
                  <a:lnTo>
                    <a:pt x="22696" y="295882"/>
                  </a:lnTo>
                  <a:lnTo>
                    <a:pt x="2592" y="361655"/>
                  </a:lnTo>
                  <a:lnTo>
                    <a:pt x="0" y="395812"/>
                  </a:lnTo>
                  <a:lnTo>
                    <a:pt x="2592" y="429984"/>
                  </a:lnTo>
                  <a:lnTo>
                    <a:pt x="22696" y="495779"/>
                  </a:lnTo>
                  <a:lnTo>
                    <a:pt x="61277" y="557386"/>
                  </a:lnTo>
                  <a:lnTo>
                    <a:pt x="86967" y="586323"/>
                  </a:lnTo>
                  <a:lnTo>
                    <a:pt x="116640" y="613857"/>
                  </a:lnTo>
                  <a:lnTo>
                    <a:pt x="150083" y="639869"/>
                  </a:lnTo>
                  <a:lnTo>
                    <a:pt x="187086" y="664242"/>
                  </a:lnTo>
                  <a:lnTo>
                    <a:pt x="227436" y="686856"/>
                  </a:lnTo>
                  <a:lnTo>
                    <a:pt x="270920" y="707593"/>
                  </a:lnTo>
                  <a:lnTo>
                    <a:pt x="317326" y="726335"/>
                  </a:lnTo>
                  <a:lnTo>
                    <a:pt x="366444" y="742962"/>
                  </a:lnTo>
                  <a:lnTo>
                    <a:pt x="418059" y="757357"/>
                  </a:lnTo>
                  <a:lnTo>
                    <a:pt x="471961" y="769400"/>
                  </a:lnTo>
                  <a:lnTo>
                    <a:pt x="527937" y="778974"/>
                  </a:lnTo>
                  <a:lnTo>
                    <a:pt x="585775" y="785959"/>
                  </a:lnTo>
                  <a:lnTo>
                    <a:pt x="645263" y="790237"/>
                  </a:lnTo>
                  <a:lnTo>
                    <a:pt x="706189" y="791689"/>
                  </a:lnTo>
                  <a:lnTo>
                    <a:pt x="767138" y="790237"/>
                  </a:lnTo>
                  <a:lnTo>
                    <a:pt x="826643" y="785959"/>
                  </a:lnTo>
                  <a:lnTo>
                    <a:pt x="884494" y="778974"/>
                  </a:lnTo>
                  <a:lnTo>
                    <a:pt x="940478" y="769400"/>
                  </a:lnTo>
                  <a:lnTo>
                    <a:pt x="994385" y="757357"/>
                  </a:lnTo>
                  <a:lnTo>
                    <a:pt x="1046002" y="742962"/>
                  </a:lnTo>
                  <a:lnTo>
                    <a:pt x="1095118" y="726335"/>
                  </a:lnTo>
                  <a:lnTo>
                    <a:pt x="1141521" y="707593"/>
                  </a:lnTo>
                  <a:lnTo>
                    <a:pt x="1185000" y="686856"/>
                  </a:lnTo>
                  <a:lnTo>
                    <a:pt x="1225342" y="664242"/>
                  </a:lnTo>
                  <a:lnTo>
                    <a:pt x="1262336" y="639869"/>
                  </a:lnTo>
                  <a:lnTo>
                    <a:pt x="1295771" y="613857"/>
                  </a:lnTo>
                  <a:lnTo>
                    <a:pt x="1325434" y="586323"/>
                  </a:lnTo>
                  <a:lnTo>
                    <a:pt x="1351115" y="557386"/>
                  </a:lnTo>
                  <a:lnTo>
                    <a:pt x="1389681" y="495779"/>
                  </a:lnTo>
                  <a:lnTo>
                    <a:pt x="1409775" y="429984"/>
                  </a:lnTo>
                  <a:lnTo>
                    <a:pt x="1412366" y="395812"/>
                  </a:lnTo>
                  <a:lnTo>
                    <a:pt x="1409775" y="361655"/>
                  </a:lnTo>
                  <a:lnTo>
                    <a:pt x="1389681" y="295882"/>
                  </a:lnTo>
                  <a:lnTo>
                    <a:pt x="1351115" y="234290"/>
                  </a:lnTo>
                  <a:lnTo>
                    <a:pt x="1325434" y="205359"/>
                  </a:lnTo>
                  <a:lnTo>
                    <a:pt x="1295771" y="177830"/>
                  </a:lnTo>
                  <a:lnTo>
                    <a:pt x="1262336" y="151820"/>
                  </a:lnTo>
                  <a:lnTo>
                    <a:pt x="1225342" y="127450"/>
                  </a:lnTo>
                  <a:lnTo>
                    <a:pt x="1185000" y="104837"/>
                  </a:lnTo>
                  <a:lnTo>
                    <a:pt x="1141521" y="84100"/>
                  </a:lnTo>
                  <a:lnTo>
                    <a:pt x="1095118" y="65359"/>
                  </a:lnTo>
                  <a:lnTo>
                    <a:pt x="1046002" y="48731"/>
                  </a:lnTo>
                  <a:lnTo>
                    <a:pt x="994385" y="34335"/>
                  </a:lnTo>
                  <a:lnTo>
                    <a:pt x="940478" y="22291"/>
                  </a:lnTo>
                  <a:lnTo>
                    <a:pt x="884494" y="12717"/>
                  </a:lnTo>
                  <a:lnTo>
                    <a:pt x="826643" y="5731"/>
                  </a:lnTo>
                  <a:lnTo>
                    <a:pt x="767138" y="1452"/>
                  </a:lnTo>
                  <a:lnTo>
                    <a:pt x="706189" y="0"/>
                  </a:lnTo>
                  <a:close/>
                </a:path>
              </a:pathLst>
            </a:custGeom>
            <a:solidFill>
              <a:srgbClr val="D2D2D2"/>
            </a:solidFill>
          </p:spPr>
          <p:txBody>
            <a:bodyPr wrap="square" lIns="0" tIns="0" rIns="0" bIns="0" rtlCol="0"/>
            <a:lstStyle/>
            <a:p>
              <a:endParaRPr/>
            </a:p>
          </p:txBody>
        </p:sp>
        <p:sp>
          <p:nvSpPr>
            <p:cNvPr id="15" name="object 15"/>
            <p:cNvSpPr/>
            <p:nvPr/>
          </p:nvSpPr>
          <p:spPr>
            <a:xfrm>
              <a:off x="2940101" y="4004078"/>
              <a:ext cx="1412875" cy="791845"/>
            </a:xfrm>
            <a:custGeom>
              <a:avLst/>
              <a:gdLst/>
              <a:ahLst/>
              <a:cxnLst/>
              <a:rect l="l" t="t" r="r" b="b"/>
              <a:pathLst>
                <a:path w="1412875" h="791845">
                  <a:moveTo>
                    <a:pt x="1412366" y="395812"/>
                  </a:moveTo>
                  <a:lnTo>
                    <a:pt x="1409775" y="429984"/>
                  </a:lnTo>
                  <a:lnTo>
                    <a:pt x="1402143" y="463346"/>
                  </a:lnTo>
                  <a:lnTo>
                    <a:pt x="1372601" y="527166"/>
                  </a:lnTo>
                  <a:lnTo>
                    <a:pt x="1325434" y="586323"/>
                  </a:lnTo>
                  <a:lnTo>
                    <a:pt x="1295771" y="613857"/>
                  </a:lnTo>
                  <a:lnTo>
                    <a:pt x="1262336" y="639869"/>
                  </a:lnTo>
                  <a:lnTo>
                    <a:pt x="1225342" y="664242"/>
                  </a:lnTo>
                  <a:lnTo>
                    <a:pt x="1185000" y="686856"/>
                  </a:lnTo>
                  <a:lnTo>
                    <a:pt x="1141521" y="707593"/>
                  </a:lnTo>
                  <a:lnTo>
                    <a:pt x="1095118" y="726335"/>
                  </a:lnTo>
                  <a:lnTo>
                    <a:pt x="1046002" y="742962"/>
                  </a:lnTo>
                  <a:lnTo>
                    <a:pt x="994385" y="757357"/>
                  </a:lnTo>
                  <a:lnTo>
                    <a:pt x="940478" y="769400"/>
                  </a:lnTo>
                  <a:lnTo>
                    <a:pt x="884494" y="778974"/>
                  </a:lnTo>
                  <a:lnTo>
                    <a:pt x="826643" y="785959"/>
                  </a:lnTo>
                  <a:lnTo>
                    <a:pt x="767138" y="790237"/>
                  </a:lnTo>
                  <a:lnTo>
                    <a:pt x="706189" y="791689"/>
                  </a:lnTo>
                  <a:lnTo>
                    <a:pt x="645263" y="790237"/>
                  </a:lnTo>
                  <a:lnTo>
                    <a:pt x="585775" y="785959"/>
                  </a:lnTo>
                  <a:lnTo>
                    <a:pt x="527937" y="778974"/>
                  </a:lnTo>
                  <a:lnTo>
                    <a:pt x="471961" y="769400"/>
                  </a:lnTo>
                  <a:lnTo>
                    <a:pt x="418059" y="757357"/>
                  </a:lnTo>
                  <a:lnTo>
                    <a:pt x="366444" y="742962"/>
                  </a:lnTo>
                  <a:lnTo>
                    <a:pt x="317326" y="726335"/>
                  </a:lnTo>
                  <a:lnTo>
                    <a:pt x="270920" y="707593"/>
                  </a:lnTo>
                  <a:lnTo>
                    <a:pt x="227436" y="686856"/>
                  </a:lnTo>
                  <a:lnTo>
                    <a:pt x="187086" y="664242"/>
                  </a:lnTo>
                  <a:lnTo>
                    <a:pt x="150083" y="639869"/>
                  </a:lnTo>
                  <a:lnTo>
                    <a:pt x="116640" y="613857"/>
                  </a:lnTo>
                  <a:lnTo>
                    <a:pt x="86967" y="586323"/>
                  </a:lnTo>
                  <a:lnTo>
                    <a:pt x="61277" y="557386"/>
                  </a:lnTo>
                  <a:lnTo>
                    <a:pt x="22696" y="495779"/>
                  </a:lnTo>
                  <a:lnTo>
                    <a:pt x="2592" y="429984"/>
                  </a:lnTo>
                  <a:lnTo>
                    <a:pt x="0" y="395812"/>
                  </a:lnTo>
                  <a:lnTo>
                    <a:pt x="2592" y="361655"/>
                  </a:lnTo>
                  <a:lnTo>
                    <a:pt x="22696" y="295882"/>
                  </a:lnTo>
                  <a:lnTo>
                    <a:pt x="61277" y="234290"/>
                  </a:lnTo>
                  <a:lnTo>
                    <a:pt x="86967" y="205359"/>
                  </a:lnTo>
                  <a:lnTo>
                    <a:pt x="116640" y="177830"/>
                  </a:lnTo>
                  <a:lnTo>
                    <a:pt x="150083" y="151820"/>
                  </a:lnTo>
                  <a:lnTo>
                    <a:pt x="187086" y="127450"/>
                  </a:lnTo>
                  <a:lnTo>
                    <a:pt x="227435" y="104837"/>
                  </a:lnTo>
                  <a:lnTo>
                    <a:pt x="270920" y="84100"/>
                  </a:lnTo>
                  <a:lnTo>
                    <a:pt x="317326" y="65359"/>
                  </a:lnTo>
                  <a:lnTo>
                    <a:pt x="366444" y="48731"/>
                  </a:lnTo>
                  <a:lnTo>
                    <a:pt x="418059" y="34335"/>
                  </a:lnTo>
                  <a:lnTo>
                    <a:pt x="471961" y="22291"/>
                  </a:lnTo>
                  <a:lnTo>
                    <a:pt x="527937" y="12717"/>
                  </a:lnTo>
                  <a:lnTo>
                    <a:pt x="585775" y="5731"/>
                  </a:lnTo>
                  <a:lnTo>
                    <a:pt x="645263" y="1452"/>
                  </a:lnTo>
                  <a:lnTo>
                    <a:pt x="706189" y="0"/>
                  </a:lnTo>
                  <a:lnTo>
                    <a:pt x="767138" y="1452"/>
                  </a:lnTo>
                  <a:lnTo>
                    <a:pt x="826643" y="5731"/>
                  </a:lnTo>
                  <a:lnTo>
                    <a:pt x="884494" y="12717"/>
                  </a:lnTo>
                  <a:lnTo>
                    <a:pt x="940478" y="22291"/>
                  </a:lnTo>
                  <a:lnTo>
                    <a:pt x="994385" y="34335"/>
                  </a:lnTo>
                  <a:lnTo>
                    <a:pt x="1046002" y="48731"/>
                  </a:lnTo>
                  <a:lnTo>
                    <a:pt x="1095118" y="65359"/>
                  </a:lnTo>
                  <a:lnTo>
                    <a:pt x="1141521" y="84100"/>
                  </a:lnTo>
                  <a:lnTo>
                    <a:pt x="1185000" y="104837"/>
                  </a:lnTo>
                  <a:lnTo>
                    <a:pt x="1225342" y="127450"/>
                  </a:lnTo>
                  <a:lnTo>
                    <a:pt x="1262336" y="151820"/>
                  </a:lnTo>
                  <a:lnTo>
                    <a:pt x="1295771" y="177830"/>
                  </a:lnTo>
                  <a:lnTo>
                    <a:pt x="1325434" y="205359"/>
                  </a:lnTo>
                  <a:lnTo>
                    <a:pt x="1351115" y="234290"/>
                  </a:lnTo>
                  <a:lnTo>
                    <a:pt x="1389681" y="295882"/>
                  </a:lnTo>
                  <a:lnTo>
                    <a:pt x="1409775" y="361655"/>
                  </a:lnTo>
                  <a:lnTo>
                    <a:pt x="1412366" y="395812"/>
                  </a:lnTo>
                  <a:close/>
                </a:path>
              </a:pathLst>
            </a:custGeom>
            <a:ln w="9543">
              <a:solidFill>
                <a:srgbClr val="000000"/>
              </a:solidFill>
            </a:ln>
          </p:spPr>
          <p:txBody>
            <a:bodyPr wrap="square" lIns="0" tIns="0" rIns="0" bIns="0" rtlCol="0"/>
            <a:lstStyle/>
            <a:p>
              <a:endParaRPr/>
            </a:p>
          </p:txBody>
        </p:sp>
      </p:grpSp>
      <p:sp>
        <p:nvSpPr>
          <p:cNvPr id="16" name="object 16"/>
          <p:cNvSpPr txBox="1"/>
          <p:nvPr/>
        </p:nvSpPr>
        <p:spPr>
          <a:xfrm>
            <a:off x="3081324" y="4176588"/>
            <a:ext cx="1129665" cy="407670"/>
          </a:xfrm>
          <a:prstGeom prst="rect">
            <a:avLst/>
          </a:prstGeom>
        </p:spPr>
        <p:txBody>
          <a:bodyPr vert="horz" wrap="square" lIns="0" tIns="12700" rIns="0" bIns="0" rtlCol="0">
            <a:spAutoFit/>
          </a:bodyPr>
          <a:lstStyle/>
          <a:p>
            <a:pPr marL="12700" marR="5080" indent="114300">
              <a:lnSpc>
                <a:spcPct val="100000"/>
              </a:lnSpc>
              <a:spcBef>
                <a:spcPts val="100"/>
              </a:spcBef>
            </a:pPr>
            <a:r>
              <a:rPr sz="1250" dirty="0">
                <a:latin typeface="Arial"/>
                <a:cs typeface="Arial"/>
              </a:rPr>
              <a:t>Interprocess  Com</a:t>
            </a:r>
            <a:r>
              <a:rPr sz="1250" spc="-5" dirty="0">
                <a:latin typeface="Arial"/>
                <a:cs typeface="Arial"/>
              </a:rPr>
              <a:t>m</a:t>
            </a:r>
            <a:r>
              <a:rPr sz="1250" dirty="0">
                <a:latin typeface="Arial"/>
                <a:cs typeface="Arial"/>
              </a:rPr>
              <a:t>unica</a:t>
            </a:r>
            <a:r>
              <a:rPr sz="1250" spc="-5" dirty="0">
                <a:latin typeface="Arial"/>
                <a:cs typeface="Arial"/>
              </a:rPr>
              <a:t>t</a:t>
            </a:r>
            <a:r>
              <a:rPr sz="1250" dirty="0">
                <a:latin typeface="Arial"/>
                <a:cs typeface="Arial"/>
              </a:rPr>
              <a:t>ion</a:t>
            </a:r>
            <a:endParaRPr sz="1250">
              <a:latin typeface="Arial"/>
              <a:cs typeface="Arial"/>
            </a:endParaRPr>
          </a:p>
        </p:txBody>
      </p:sp>
      <p:grpSp>
        <p:nvGrpSpPr>
          <p:cNvPr id="17" name="object 17"/>
          <p:cNvGrpSpPr/>
          <p:nvPr/>
        </p:nvGrpSpPr>
        <p:grpSpPr>
          <a:xfrm>
            <a:off x="5248454" y="3947492"/>
            <a:ext cx="1423035" cy="802005"/>
            <a:chOff x="5248454" y="3947492"/>
            <a:chExt cx="1423035" cy="802005"/>
          </a:xfrm>
        </p:grpSpPr>
        <p:sp>
          <p:nvSpPr>
            <p:cNvPr id="18" name="object 18"/>
            <p:cNvSpPr/>
            <p:nvPr/>
          </p:nvSpPr>
          <p:spPr>
            <a:xfrm>
              <a:off x="5253534" y="3952572"/>
              <a:ext cx="1412875" cy="791845"/>
            </a:xfrm>
            <a:custGeom>
              <a:avLst/>
              <a:gdLst/>
              <a:ahLst/>
              <a:cxnLst/>
              <a:rect l="l" t="t" r="r" b="b"/>
              <a:pathLst>
                <a:path w="1412875" h="791845">
                  <a:moveTo>
                    <a:pt x="706176" y="0"/>
                  </a:moveTo>
                  <a:lnTo>
                    <a:pt x="645264" y="1452"/>
                  </a:lnTo>
                  <a:lnTo>
                    <a:pt x="585787" y="5731"/>
                  </a:lnTo>
                  <a:lnTo>
                    <a:pt x="527957" y="12717"/>
                  </a:lnTo>
                  <a:lnTo>
                    <a:pt x="471987" y="22291"/>
                  </a:lnTo>
                  <a:lnTo>
                    <a:pt x="418089" y="34335"/>
                  </a:lnTo>
                  <a:lnTo>
                    <a:pt x="366476" y="48731"/>
                  </a:lnTo>
                  <a:lnTo>
                    <a:pt x="317360" y="65359"/>
                  </a:lnTo>
                  <a:lnTo>
                    <a:pt x="270952" y="84100"/>
                  </a:lnTo>
                  <a:lnTo>
                    <a:pt x="227466" y="104837"/>
                  </a:lnTo>
                  <a:lnTo>
                    <a:pt x="187114" y="127450"/>
                  </a:lnTo>
                  <a:lnTo>
                    <a:pt x="150108" y="151820"/>
                  </a:lnTo>
                  <a:lnTo>
                    <a:pt x="116660" y="177830"/>
                  </a:lnTo>
                  <a:lnTo>
                    <a:pt x="86983" y="205359"/>
                  </a:lnTo>
                  <a:lnTo>
                    <a:pt x="61290" y="234290"/>
                  </a:lnTo>
                  <a:lnTo>
                    <a:pt x="22701" y="295882"/>
                  </a:lnTo>
                  <a:lnTo>
                    <a:pt x="2593" y="361655"/>
                  </a:lnTo>
                  <a:lnTo>
                    <a:pt x="0" y="395812"/>
                  </a:lnTo>
                  <a:lnTo>
                    <a:pt x="2593" y="429984"/>
                  </a:lnTo>
                  <a:lnTo>
                    <a:pt x="22701" y="495779"/>
                  </a:lnTo>
                  <a:lnTo>
                    <a:pt x="61290" y="557386"/>
                  </a:lnTo>
                  <a:lnTo>
                    <a:pt x="86983" y="586323"/>
                  </a:lnTo>
                  <a:lnTo>
                    <a:pt x="116660" y="613857"/>
                  </a:lnTo>
                  <a:lnTo>
                    <a:pt x="150108" y="639869"/>
                  </a:lnTo>
                  <a:lnTo>
                    <a:pt x="187114" y="664242"/>
                  </a:lnTo>
                  <a:lnTo>
                    <a:pt x="227466" y="686856"/>
                  </a:lnTo>
                  <a:lnTo>
                    <a:pt x="270952" y="707593"/>
                  </a:lnTo>
                  <a:lnTo>
                    <a:pt x="317360" y="726335"/>
                  </a:lnTo>
                  <a:lnTo>
                    <a:pt x="366476" y="742962"/>
                  </a:lnTo>
                  <a:lnTo>
                    <a:pt x="418089" y="757357"/>
                  </a:lnTo>
                  <a:lnTo>
                    <a:pt x="471987" y="769400"/>
                  </a:lnTo>
                  <a:lnTo>
                    <a:pt x="527957" y="778974"/>
                  </a:lnTo>
                  <a:lnTo>
                    <a:pt x="585787" y="785959"/>
                  </a:lnTo>
                  <a:lnTo>
                    <a:pt x="645264" y="790237"/>
                  </a:lnTo>
                  <a:lnTo>
                    <a:pt x="706177" y="791689"/>
                  </a:lnTo>
                  <a:lnTo>
                    <a:pt x="767125" y="790237"/>
                  </a:lnTo>
                  <a:lnTo>
                    <a:pt x="826630" y="785959"/>
                  </a:lnTo>
                  <a:lnTo>
                    <a:pt x="884481" y="778974"/>
                  </a:lnTo>
                  <a:lnTo>
                    <a:pt x="940466" y="769400"/>
                  </a:lnTo>
                  <a:lnTo>
                    <a:pt x="994372" y="757357"/>
                  </a:lnTo>
                  <a:lnTo>
                    <a:pt x="1045990" y="742962"/>
                  </a:lnTo>
                  <a:lnTo>
                    <a:pt x="1095106" y="726335"/>
                  </a:lnTo>
                  <a:lnTo>
                    <a:pt x="1141508" y="707593"/>
                  </a:lnTo>
                  <a:lnTo>
                    <a:pt x="1184987" y="686856"/>
                  </a:lnTo>
                  <a:lnTo>
                    <a:pt x="1225329" y="664242"/>
                  </a:lnTo>
                  <a:lnTo>
                    <a:pt x="1262323" y="639869"/>
                  </a:lnTo>
                  <a:lnTo>
                    <a:pt x="1295758" y="613857"/>
                  </a:lnTo>
                  <a:lnTo>
                    <a:pt x="1325422" y="586323"/>
                  </a:lnTo>
                  <a:lnTo>
                    <a:pt x="1351102" y="557386"/>
                  </a:lnTo>
                  <a:lnTo>
                    <a:pt x="1389668" y="495779"/>
                  </a:lnTo>
                  <a:lnTo>
                    <a:pt x="1409762" y="429984"/>
                  </a:lnTo>
                  <a:lnTo>
                    <a:pt x="1412353" y="395812"/>
                  </a:lnTo>
                  <a:lnTo>
                    <a:pt x="1409762" y="361655"/>
                  </a:lnTo>
                  <a:lnTo>
                    <a:pt x="1389668" y="295882"/>
                  </a:lnTo>
                  <a:lnTo>
                    <a:pt x="1351102" y="234290"/>
                  </a:lnTo>
                  <a:lnTo>
                    <a:pt x="1325422" y="205359"/>
                  </a:lnTo>
                  <a:lnTo>
                    <a:pt x="1295758" y="177830"/>
                  </a:lnTo>
                  <a:lnTo>
                    <a:pt x="1262323" y="151820"/>
                  </a:lnTo>
                  <a:lnTo>
                    <a:pt x="1225329" y="127450"/>
                  </a:lnTo>
                  <a:lnTo>
                    <a:pt x="1184987" y="104837"/>
                  </a:lnTo>
                  <a:lnTo>
                    <a:pt x="1141508" y="84100"/>
                  </a:lnTo>
                  <a:lnTo>
                    <a:pt x="1095105" y="65359"/>
                  </a:lnTo>
                  <a:lnTo>
                    <a:pt x="1045990" y="48731"/>
                  </a:lnTo>
                  <a:lnTo>
                    <a:pt x="994372" y="34335"/>
                  </a:lnTo>
                  <a:lnTo>
                    <a:pt x="940466" y="22291"/>
                  </a:lnTo>
                  <a:lnTo>
                    <a:pt x="884481" y="12717"/>
                  </a:lnTo>
                  <a:lnTo>
                    <a:pt x="826630" y="5731"/>
                  </a:lnTo>
                  <a:lnTo>
                    <a:pt x="767125" y="1452"/>
                  </a:lnTo>
                  <a:lnTo>
                    <a:pt x="706176" y="0"/>
                  </a:lnTo>
                  <a:close/>
                </a:path>
              </a:pathLst>
            </a:custGeom>
            <a:solidFill>
              <a:srgbClr val="D2D2D2"/>
            </a:solidFill>
          </p:spPr>
          <p:txBody>
            <a:bodyPr wrap="square" lIns="0" tIns="0" rIns="0" bIns="0" rtlCol="0"/>
            <a:lstStyle/>
            <a:p>
              <a:endParaRPr/>
            </a:p>
          </p:txBody>
        </p:sp>
        <p:sp>
          <p:nvSpPr>
            <p:cNvPr id="19" name="object 19"/>
            <p:cNvSpPr/>
            <p:nvPr/>
          </p:nvSpPr>
          <p:spPr>
            <a:xfrm>
              <a:off x="5253534" y="3952572"/>
              <a:ext cx="1412875" cy="791845"/>
            </a:xfrm>
            <a:custGeom>
              <a:avLst/>
              <a:gdLst/>
              <a:ahLst/>
              <a:cxnLst/>
              <a:rect l="l" t="t" r="r" b="b"/>
              <a:pathLst>
                <a:path w="1412875" h="791845">
                  <a:moveTo>
                    <a:pt x="1412353" y="395812"/>
                  </a:moveTo>
                  <a:lnTo>
                    <a:pt x="1409762" y="429984"/>
                  </a:lnTo>
                  <a:lnTo>
                    <a:pt x="1402130" y="463346"/>
                  </a:lnTo>
                  <a:lnTo>
                    <a:pt x="1372588" y="527166"/>
                  </a:lnTo>
                  <a:lnTo>
                    <a:pt x="1325422" y="586323"/>
                  </a:lnTo>
                  <a:lnTo>
                    <a:pt x="1295758" y="613857"/>
                  </a:lnTo>
                  <a:lnTo>
                    <a:pt x="1262323" y="639869"/>
                  </a:lnTo>
                  <a:lnTo>
                    <a:pt x="1225329" y="664242"/>
                  </a:lnTo>
                  <a:lnTo>
                    <a:pt x="1184987" y="686856"/>
                  </a:lnTo>
                  <a:lnTo>
                    <a:pt x="1141508" y="707593"/>
                  </a:lnTo>
                  <a:lnTo>
                    <a:pt x="1095106" y="726335"/>
                  </a:lnTo>
                  <a:lnTo>
                    <a:pt x="1045990" y="742962"/>
                  </a:lnTo>
                  <a:lnTo>
                    <a:pt x="994372" y="757357"/>
                  </a:lnTo>
                  <a:lnTo>
                    <a:pt x="940466" y="769400"/>
                  </a:lnTo>
                  <a:lnTo>
                    <a:pt x="884481" y="778974"/>
                  </a:lnTo>
                  <a:lnTo>
                    <a:pt x="826630" y="785959"/>
                  </a:lnTo>
                  <a:lnTo>
                    <a:pt x="767125" y="790237"/>
                  </a:lnTo>
                  <a:lnTo>
                    <a:pt x="706177" y="791689"/>
                  </a:lnTo>
                  <a:lnTo>
                    <a:pt x="645264" y="790237"/>
                  </a:lnTo>
                  <a:lnTo>
                    <a:pt x="585787" y="785959"/>
                  </a:lnTo>
                  <a:lnTo>
                    <a:pt x="527957" y="778974"/>
                  </a:lnTo>
                  <a:lnTo>
                    <a:pt x="471987" y="769400"/>
                  </a:lnTo>
                  <a:lnTo>
                    <a:pt x="418089" y="757357"/>
                  </a:lnTo>
                  <a:lnTo>
                    <a:pt x="366476" y="742962"/>
                  </a:lnTo>
                  <a:lnTo>
                    <a:pt x="317360" y="726335"/>
                  </a:lnTo>
                  <a:lnTo>
                    <a:pt x="270952" y="707593"/>
                  </a:lnTo>
                  <a:lnTo>
                    <a:pt x="227466" y="686856"/>
                  </a:lnTo>
                  <a:lnTo>
                    <a:pt x="187114" y="664242"/>
                  </a:lnTo>
                  <a:lnTo>
                    <a:pt x="150108" y="639869"/>
                  </a:lnTo>
                  <a:lnTo>
                    <a:pt x="116660" y="613857"/>
                  </a:lnTo>
                  <a:lnTo>
                    <a:pt x="86983" y="586323"/>
                  </a:lnTo>
                  <a:lnTo>
                    <a:pt x="61290" y="557386"/>
                  </a:lnTo>
                  <a:lnTo>
                    <a:pt x="22701" y="495779"/>
                  </a:lnTo>
                  <a:lnTo>
                    <a:pt x="2593" y="429984"/>
                  </a:lnTo>
                  <a:lnTo>
                    <a:pt x="0" y="395812"/>
                  </a:lnTo>
                  <a:lnTo>
                    <a:pt x="2593" y="361655"/>
                  </a:lnTo>
                  <a:lnTo>
                    <a:pt x="22701" y="295882"/>
                  </a:lnTo>
                  <a:lnTo>
                    <a:pt x="61290" y="234290"/>
                  </a:lnTo>
                  <a:lnTo>
                    <a:pt x="86983" y="205359"/>
                  </a:lnTo>
                  <a:lnTo>
                    <a:pt x="116660" y="177830"/>
                  </a:lnTo>
                  <a:lnTo>
                    <a:pt x="150108" y="151820"/>
                  </a:lnTo>
                  <a:lnTo>
                    <a:pt x="187114" y="127450"/>
                  </a:lnTo>
                  <a:lnTo>
                    <a:pt x="227466" y="104837"/>
                  </a:lnTo>
                  <a:lnTo>
                    <a:pt x="270952" y="84100"/>
                  </a:lnTo>
                  <a:lnTo>
                    <a:pt x="317360" y="65359"/>
                  </a:lnTo>
                  <a:lnTo>
                    <a:pt x="366476" y="48731"/>
                  </a:lnTo>
                  <a:lnTo>
                    <a:pt x="418089" y="34335"/>
                  </a:lnTo>
                  <a:lnTo>
                    <a:pt x="471987" y="22291"/>
                  </a:lnTo>
                  <a:lnTo>
                    <a:pt x="527957" y="12717"/>
                  </a:lnTo>
                  <a:lnTo>
                    <a:pt x="585787" y="5731"/>
                  </a:lnTo>
                  <a:lnTo>
                    <a:pt x="645264" y="1452"/>
                  </a:lnTo>
                  <a:lnTo>
                    <a:pt x="706176" y="0"/>
                  </a:lnTo>
                  <a:lnTo>
                    <a:pt x="767125" y="1452"/>
                  </a:lnTo>
                  <a:lnTo>
                    <a:pt x="826630" y="5731"/>
                  </a:lnTo>
                  <a:lnTo>
                    <a:pt x="884481" y="12717"/>
                  </a:lnTo>
                  <a:lnTo>
                    <a:pt x="940466" y="22291"/>
                  </a:lnTo>
                  <a:lnTo>
                    <a:pt x="994372" y="34335"/>
                  </a:lnTo>
                  <a:lnTo>
                    <a:pt x="1045990" y="48731"/>
                  </a:lnTo>
                  <a:lnTo>
                    <a:pt x="1095105" y="65359"/>
                  </a:lnTo>
                  <a:lnTo>
                    <a:pt x="1141508" y="84100"/>
                  </a:lnTo>
                  <a:lnTo>
                    <a:pt x="1184987" y="104837"/>
                  </a:lnTo>
                  <a:lnTo>
                    <a:pt x="1225329" y="127450"/>
                  </a:lnTo>
                  <a:lnTo>
                    <a:pt x="1262323" y="151820"/>
                  </a:lnTo>
                  <a:lnTo>
                    <a:pt x="1295758" y="177830"/>
                  </a:lnTo>
                  <a:lnTo>
                    <a:pt x="1325422" y="205359"/>
                  </a:lnTo>
                  <a:lnTo>
                    <a:pt x="1351102" y="234290"/>
                  </a:lnTo>
                  <a:lnTo>
                    <a:pt x="1389668" y="295882"/>
                  </a:lnTo>
                  <a:lnTo>
                    <a:pt x="1409762" y="361655"/>
                  </a:lnTo>
                  <a:lnTo>
                    <a:pt x="1412353" y="395812"/>
                  </a:lnTo>
                  <a:close/>
                </a:path>
              </a:pathLst>
            </a:custGeom>
            <a:ln w="9543">
              <a:solidFill>
                <a:srgbClr val="000000"/>
              </a:solidFill>
            </a:ln>
          </p:spPr>
          <p:txBody>
            <a:bodyPr wrap="square" lIns="0" tIns="0" rIns="0" bIns="0" rtlCol="0"/>
            <a:lstStyle/>
            <a:p>
              <a:endParaRPr/>
            </a:p>
          </p:txBody>
        </p:sp>
      </p:grpSp>
      <p:sp>
        <p:nvSpPr>
          <p:cNvPr id="20" name="object 20"/>
          <p:cNvSpPr txBox="1"/>
          <p:nvPr/>
        </p:nvSpPr>
        <p:spPr>
          <a:xfrm>
            <a:off x="5527307" y="4125082"/>
            <a:ext cx="864869" cy="407670"/>
          </a:xfrm>
          <a:prstGeom prst="rect">
            <a:avLst/>
          </a:prstGeom>
        </p:spPr>
        <p:txBody>
          <a:bodyPr vert="horz" wrap="square" lIns="0" tIns="12700" rIns="0" bIns="0" rtlCol="0">
            <a:spAutoFit/>
          </a:bodyPr>
          <a:lstStyle/>
          <a:p>
            <a:pPr marL="12700" marR="5080" indent="132715">
              <a:lnSpc>
                <a:spcPct val="100000"/>
              </a:lnSpc>
              <a:spcBef>
                <a:spcPts val="100"/>
              </a:spcBef>
            </a:pPr>
            <a:r>
              <a:rPr sz="1250" dirty="0">
                <a:latin typeface="Arial"/>
                <a:cs typeface="Arial"/>
              </a:rPr>
              <a:t>memory  manag</a:t>
            </a:r>
            <a:r>
              <a:rPr sz="1250" spc="-5" dirty="0">
                <a:latin typeface="Arial"/>
                <a:cs typeface="Arial"/>
              </a:rPr>
              <a:t>m</a:t>
            </a:r>
            <a:r>
              <a:rPr sz="1250" dirty="0">
                <a:latin typeface="Arial"/>
                <a:cs typeface="Arial"/>
              </a:rPr>
              <a:t>ent</a:t>
            </a:r>
            <a:endParaRPr sz="1250">
              <a:latin typeface="Arial"/>
              <a:cs typeface="Arial"/>
            </a:endParaRPr>
          </a:p>
        </p:txBody>
      </p:sp>
      <p:grpSp>
        <p:nvGrpSpPr>
          <p:cNvPr id="21" name="object 21"/>
          <p:cNvGrpSpPr/>
          <p:nvPr/>
        </p:nvGrpSpPr>
        <p:grpSpPr>
          <a:xfrm>
            <a:off x="7324831" y="3947492"/>
            <a:ext cx="1423035" cy="802005"/>
            <a:chOff x="7324831" y="3947492"/>
            <a:chExt cx="1423035" cy="802005"/>
          </a:xfrm>
        </p:grpSpPr>
        <p:sp>
          <p:nvSpPr>
            <p:cNvPr id="22" name="object 22"/>
            <p:cNvSpPr/>
            <p:nvPr/>
          </p:nvSpPr>
          <p:spPr>
            <a:xfrm>
              <a:off x="7329911" y="3952572"/>
              <a:ext cx="1412875" cy="791845"/>
            </a:xfrm>
            <a:custGeom>
              <a:avLst/>
              <a:gdLst/>
              <a:ahLst/>
              <a:cxnLst/>
              <a:rect l="l" t="t" r="r" b="b"/>
              <a:pathLst>
                <a:path w="1412875" h="791845">
                  <a:moveTo>
                    <a:pt x="706081" y="0"/>
                  </a:moveTo>
                  <a:lnTo>
                    <a:pt x="645170" y="1452"/>
                  </a:lnTo>
                  <a:lnTo>
                    <a:pt x="585695" y="5731"/>
                  </a:lnTo>
                  <a:lnTo>
                    <a:pt x="527868" y="12717"/>
                  </a:lnTo>
                  <a:lnTo>
                    <a:pt x="471903" y="22291"/>
                  </a:lnTo>
                  <a:lnTo>
                    <a:pt x="418010" y="34335"/>
                  </a:lnTo>
                  <a:lnTo>
                    <a:pt x="366403" y="48731"/>
                  </a:lnTo>
                  <a:lnTo>
                    <a:pt x="317294" y="65359"/>
                  </a:lnTo>
                  <a:lnTo>
                    <a:pt x="270893" y="84100"/>
                  </a:lnTo>
                  <a:lnTo>
                    <a:pt x="227415" y="104837"/>
                  </a:lnTo>
                  <a:lnTo>
                    <a:pt x="187070" y="127450"/>
                  </a:lnTo>
                  <a:lnTo>
                    <a:pt x="150071" y="151820"/>
                  </a:lnTo>
                  <a:lnTo>
                    <a:pt x="116631" y="177830"/>
                  </a:lnTo>
                  <a:lnTo>
                    <a:pt x="86961" y="205359"/>
                  </a:lnTo>
                  <a:lnTo>
                    <a:pt x="61273" y="234290"/>
                  </a:lnTo>
                  <a:lnTo>
                    <a:pt x="22695" y="295882"/>
                  </a:lnTo>
                  <a:lnTo>
                    <a:pt x="2592" y="361655"/>
                  </a:lnTo>
                  <a:lnTo>
                    <a:pt x="0" y="395812"/>
                  </a:lnTo>
                  <a:lnTo>
                    <a:pt x="2592" y="429984"/>
                  </a:lnTo>
                  <a:lnTo>
                    <a:pt x="22695" y="495779"/>
                  </a:lnTo>
                  <a:lnTo>
                    <a:pt x="61273" y="557386"/>
                  </a:lnTo>
                  <a:lnTo>
                    <a:pt x="86961" y="586323"/>
                  </a:lnTo>
                  <a:lnTo>
                    <a:pt x="116631" y="613857"/>
                  </a:lnTo>
                  <a:lnTo>
                    <a:pt x="150071" y="639869"/>
                  </a:lnTo>
                  <a:lnTo>
                    <a:pt x="187070" y="664242"/>
                  </a:lnTo>
                  <a:lnTo>
                    <a:pt x="227415" y="686856"/>
                  </a:lnTo>
                  <a:lnTo>
                    <a:pt x="270893" y="707593"/>
                  </a:lnTo>
                  <a:lnTo>
                    <a:pt x="317294" y="726335"/>
                  </a:lnTo>
                  <a:lnTo>
                    <a:pt x="366403" y="742962"/>
                  </a:lnTo>
                  <a:lnTo>
                    <a:pt x="418010" y="757357"/>
                  </a:lnTo>
                  <a:lnTo>
                    <a:pt x="471903" y="769400"/>
                  </a:lnTo>
                  <a:lnTo>
                    <a:pt x="527868" y="778974"/>
                  </a:lnTo>
                  <a:lnTo>
                    <a:pt x="585695" y="785959"/>
                  </a:lnTo>
                  <a:lnTo>
                    <a:pt x="645170" y="790237"/>
                  </a:lnTo>
                  <a:lnTo>
                    <a:pt x="706081" y="791689"/>
                  </a:lnTo>
                  <a:lnTo>
                    <a:pt x="767043" y="790237"/>
                  </a:lnTo>
                  <a:lnTo>
                    <a:pt x="826560" y="785959"/>
                  </a:lnTo>
                  <a:lnTo>
                    <a:pt x="884420" y="778974"/>
                  </a:lnTo>
                  <a:lnTo>
                    <a:pt x="940412" y="769400"/>
                  </a:lnTo>
                  <a:lnTo>
                    <a:pt x="994323" y="757357"/>
                  </a:lnTo>
                  <a:lnTo>
                    <a:pt x="1045944" y="742962"/>
                  </a:lnTo>
                  <a:lnTo>
                    <a:pt x="1095062" y="726335"/>
                  </a:lnTo>
                  <a:lnTo>
                    <a:pt x="1141466" y="707593"/>
                  </a:lnTo>
                  <a:lnTo>
                    <a:pt x="1184944" y="686856"/>
                  </a:lnTo>
                  <a:lnTo>
                    <a:pt x="1225285" y="664242"/>
                  </a:lnTo>
                  <a:lnTo>
                    <a:pt x="1262277" y="639869"/>
                  </a:lnTo>
                  <a:lnTo>
                    <a:pt x="1295709" y="613857"/>
                  </a:lnTo>
                  <a:lnTo>
                    <a:pt x="1325370" y="586323"/>
                  </a:lnTo>
                  <a:lnTo>
                    <a:pt x="1351048" y="557386"/>
                  </a:lnTo>
                  <a:lnTo>
                    <a:pt x="1389608" y="495779"/>
                  </a:lnTo>
                  <a:lnTo>
                    <a:pt x="1409699" y="429984"/>
                  </a:lnTo>
                  <a:lnTo>
                    <a:pt x="1412290" y="395812"/>
                  </a:lnTo>
                  <a:lnTo>
                    <a:pt x="1409699" y="361655"/>
                  </a:lnTo>
                  <a:lnTo>
                    <a:pt x="1389608" y="295882"/>
                  </a:lnTo>
                  <a:lnTo>
                    <a:pt x="1351048" y="234290"/>
                  </a:lnTo>
                  <a:lnTo>
                    <a:pt x="1325370" y="205359"/>
                  </a:lnTo>
                  <a:lnTo>
                    <a:pt x="1295709" y="177830"/>
                  </a:lnTo>
                  <a:lnTo>
                    <a:pt x="1262277" y="151820"/>
                  </a:lnTo>
                  <a:lnTo>
                    <a:pt x="1225285" y="127450"/>
                  </a:lnTo>
                  <a:lnTo>
                    <a:pt x="1184944" y="104837"/>
                  </a:lnTo>
                  <a:lnTo>
                    <a:pt x="1141466" y="84100"/>
                  </a:lnTo>
                  <a:lnTo>
                    <a:pt x="1095062" y="65359"/>
                  </a:lnTo>
                  <a:lnTo>
                    <a:pt x="1045944" y="48731"/>
                  </a:lnTo>
                  <a:lnTo>
                    <a:pt x="994323" y="34335"/>
                  </a:lnTo>
                  <a:lnTo>
                    <a:pt x="940412" y="22291"/>
                  </a:lnTo>
                  <a:lnTo>
                    <a:pt x="884420" y="12717"/>
                  </a:lnTo>
                  <a:lnTo>
                    <a:pt x="826560" y="5731"/>
                  </a:lnTo>
                  <a:lnTo>
                    <a:pt x="767043" y="1452"/>
                  </a:lnTo>
                  <a:lnTo>
                    <a:pt x="706081" y="0"/>
                  </a:lnTo>
                  <a:close/>
                </a:path>
              </a:pathLst>
            </a:custGeom>
            <a:solidFill>
              <a:srgbClr val="D2D2D2"/>
            </a:solidFill>
          </p:spPr>
          <p:txBody>
            <a:bodyPr wrap="square" lIns="0" tIns="0" rIns="0" bIns="0" rtlCol="0"/>
            <a:lstStyle/>
            <a:p>
              <a:endParaRPr/>
            </a:p>
          </p:txBody>
        </p:sp>
        <p:sp>
          <p:nvSpPr>
            <p:cNvPr id="23" name="object 23"/>
            <p:cNvSpPr/>
            <p:nvPr/>
          </p:nvSpPr>
          <p:spPr>
            <a:xfrm>
              <a:off x="7329911" y="3952572"/>
              <a:ext cx="1412875" cy="791845"/>
            </a:xfrm>
            <a:custGeom>
              <a:avLst/>
              <a:gdLst/>
              <a:ahLst/>
              <a:cxnLst/>
              <a:rect l="l" t="t" r="r" b="b"/>
              <a:pathLst>
                <a:path w="1412875" h="791845">
                  <a:moveTo>
                    <a:pt x="1412290" y="395812"/>
                  </a:moveTo>
                  <a:lnTo>
                    <a:pt x="1409699" y="429984"/>
                  </a:lnTo>
                  <a:lnTo>
                    <a:pt x="1402068" y="463346"/>
                  </a:lnTo>
                  <a:lnTo>
                    <a:pt x="1372531" y="527166"/>
                  </a:lnTo>
                  <a:lnTo>
                    <a:pt x="1325370" y="586323"/>
                  </a:lnTo>
                  <a:lnTo>
                    <a:pt x="1295709" y="613857"/>
                  </a:lnTo>
                  <a:lnTo>
                    <a:pt x="1262277" y="639869"/>
                  </a:lnTo>
                  <a:lnTo>
                    <a:pt x="1225285" y="664242"/>
                  </a:lnTo>
                  <a:lnTo>
                    <a:pt x="1184944" y="686856"/>
                  </a:lnTo>
                  <a:lnTo>
                    <a:pt x="1141466" y="707593"/>
                  </a:lnTo>
                  <a:lnTo>
                    <a:pt x="1095062" y="726335"/>
                  </a:lnTo>
                  <a:lnTo>
                    <a:pt x="1045944" y="742962"/>
                  </a:lnTo>
                  <a:lnTo>
                    <a:pt x="994323" y="757357"/>
                  </a:lnTo>
                  <a:lnTo>
                    <a:pt x="940412" y="769400"/>
                  </a:lnTo>
                  <a:lnTo>
                    <a:pt x="884420" y="778974"/>
                  </a:lnTo>
                  <a:lnTo>
                    <a:pt x="826560" y="785959"/>
                  </a:lnTo>
                  <a:lnTo>
                    <a:pt x="767043" y="790237"/>
                  </a:lnTo>
                  <a:lnTo>
                    <a:pt x="706081" y="791689"/>
                  </a:lnTo>
                  <a:lnTo>
                    <a:pt x="645170" y="790237"/>
                  </a:lnTo>
                  <a:lnTo>
                    <a:pt x="585695" y="785959"/>
                  </a:lnTo>
                  <a:lnTo>
                    <a:pt x="527868" y="778974"/>
                  </a:lnTo>
                  <a:lnTo>
                    <a:pt x="471903" y="769400"/>
                  </a:lnTo>
                  <a:lnTo>
                    <a:pt x="418010" y="757357"/>
                  </a:lnTo>
                  <a:lnTo>
                    <a:pt x="366403" y="742962"/>
                  </a:lnTo>
                  <a:lnTo>
                    <a:pt x="317294" y="726335"/>
                  </a:lnTo>
                  <a:lnTo>
                    <a:pt x="270893" y="707593"/>
                  </a:lnTo>
                  <a:lnTo>
                    <a:pt x="227415" y="686856"/>
                  </a:lnTo>
                  <a:lnTo>
                    <a:pt x="187070" y="664242"/>
                  </a:lnTo>
                  <a:lnTo>
                    <a:pt x="150071" y="639869"/>
                  </a:lnTo>
                  <a:lnTo>
                    <a:pt x="116631" y="613857"/>
                  </a:lnTo>
                  <a:lnTo>
                    <a:pt x="86961" y="586323"/>
                  </a:lnTo>
                  <a:lnTo>
                    <a:pt x="61273" y="557386"/>
                  </a:lnTo>
                  <a:lnTo>
                    <a:pt x="22695" y="495779"/>
                  </a:lnTo>
                  <a:lnTo>
                    <a:pt x="2592" y="429984"/>
                  </a:lnTo>
                  <a:lnTo>
                    <a:pt x="0" y="395812"/>
                  </a:lnTo>
                  <a:lnTo>
                    <a:pt x="2592" y="361655"/>
                  </a:lnTo>
                  <a:lnTo>
                    <a:pt x="22695" y="295882"/>
                  </a:lnTo>
                  <a:lnTo>
                    <a:pt x="61273" y="234290"/>
                  </a:lnTo>
                  <a:lnTo>
                    <a:pt x="86961" y="205359"/>
                  </a:lnTo>
                  <a:lnTo>
                    <a:pt x="116631" y="177830"/>
                  </a:lnTo>
                  <a:lnTo>
                    <a:pt x="150071" y="151820"/>
                  </a:lnTo>
                  <a:lnTo>
                    <a:pt x="187070" y="127450"/>
                  </a:lnTo>
                  <a:lnTo>
                    <a:pt x="227415" y="104837"/>
                  </a:lnTo>
                  <a:lnTo>
                    <a:pt x="270893" y="84100"/>
                  </a:lnTo>
                  <a:lnTo>
                    <a:pt x="317294" y="65359"/>
                  </a:lnTo>
                  <a:lnTo>
                    <a:pt x="366403" y="48731"/>
                  </a:lnTo>
                  <a:lnTo>
                    <a:pt x="418010" y="34335"/>
                  </a:lnTo>
                  <a:lnTo>
                    <a:pt x="471903" y="22291"/>
                  </a:lnTo>
                  <a:lnTo>
                    <a:pt x="527868" y="12717"/>
                  </a:lnTo>
                  <a:lnTo>
                    <a:pt x="585695" y="5731"/>
                  </a:lnTo>
                  <a:lnTo>
                    <a:pt x="645170" y="1452"/>
                  </a:lnTo>
                  <a:lnTo>
                    <a:pt x="706081" y="0"/>
                  </a:lnTo>
                  <a:lnTo>
                    <a:pt x="767043" y="1452"/>
                  </a:lnTo>
                  <a:lnTo>
                    <a:pt x="826560" y="5731"/>
                  </a:lnTo>
                  <a:lnTo>
                    <a:pt x="884420" y="12717"/>
                  </a:lnTo>
                  <a:lnTo>
                    <a:pt x="940412" y="22291"/>
                  </a:lnTo>
                  <a:lnTo>
                    <a:pt x="994323" y="34335"/>
                  </a:lnTo>
                  <a:lnTo>
                    <a:pt x="1045944" y="48731"/>
                  </a:lnTo>
                  <a:lnTo>
                    <a:pt x="1095062" y="65359"/>
                  </a:lnTo>
                  <a:lnTo>
                    <a:pt x="1141466" y="84100"/>
                  </a:lnTo>
                  <a:lnTo>
                    <a:pt x="1184944" y="104837"/>
                  </a:lnTo>
                  <a:lnTo>
                    <a:pt x="1225285" y="127450"/>
                  </a:lnTo>
                  <a:lnTo>
                    <a:pt x="1262277" y="151820"/>
                  </a:lnTo>
                  <a:lnTo>
                    <a:pt x="1295709" y="177830"/>
                  </a:lnTo>
                  <a:lnTo>
                    <a:pt x="1325370" y="205359"/>
                  </a:lnTo>
                  <a:lnTo>
                    <a:pt x="1351048" y="234290"/>
                  </a:lnTo>
                  <a:lnTo>
                    <a:pt x="1389608" y="295882"/>
                  </a:lnTo>
                  <a:lnTo>
                    <a:pt x="1409699" y="361655"/>
                  </a:lnTo>
                  <a:lnTo>
                    <a:pt x="1412290" y="395812"/>
                  </a:lnTo>
                  <a:close/>
                </a:path>
              </a:pathLst>
            </a:custGeom>
            <a:ln w="9543">
              <a:solidFill>
                <a:srgbClr val="000000"/>
              </a:solidFill>
            </a:ln>
          </p:spPr>
          <p:txBody>
            <a:bodyPr wrap="square" lIns="0" tIns="0" rIns="0" bIns="0" rtlCol="0"/>
            <a:lstStyle/>
            <a:p>
              <a:endParaRPr/>
            </a:p>
          </p:txBody>
        </p:sp>
      </p:grpSp>
      <p:sp>
        <p:nvSpPr>
          <p:cNvPr id="24" name="object 24"/>
          <p:cNvSpPr txBox="1"/>
          <p:nvPr/>
        </p:nvSpPr>
        <p:spPr>
          <a:xfrm>
            <a:off x="7643202" y="4125082"/>
            <a:ext cx="785495" cy="407670"/>
          </a:xfrm>
          <a:prstGeom prst="rect">
            <a:avLst/>
          </a:prstGeom>
        </p:spPr>
        <p:txBody>
          <a:bodyPr vert="horz" wrap="square" lIns="0" tIns="12700" rIns="0" bIns="0" rtlCol="0">
            <a:spAutoFit/>
          </a:bodyPr>
          <a:lstStyle/>
          <a:p>
            <a:pPr marL="635" algn="ctr">
              <a:lnSpc>
                <a:spcPct val="100000"/>
              </a:lnSpc>
              <a:spcBef>
                <a:spcPts val="100"/>
              </a:spcBef>
            </a:pPr>
            <a:r>
              <a:rPr sz="1250" dirty="0">
                <a:latin typeface="Arial"/>
                <a:cs typeface="Arial"/>
              </a:rPr>
              <a:t>CPU</a:t>
            </a:r>
            <a:endParaRPr sz="1250">
              <a:latin typeface="Arial"/>
              <a:cs typeface="Arial"/>
            </a:endParaRPr>
          </a:p>
          <a:p>
            <a:pPr algn="ctr">
              <a:lnSpc>
                <a:spcPct val="100000"/>
              </a:lnSpc>
              <a:spcBef>
                <a:spcPts val="5"/>
              </a:spcBef>
            </a:pPr>
            <a:r>
              <a:rPr sz="1250" dirty="0">
                <a:latin typeface="Arial"/>
                <a:cs typeface="Arial"/>
              </a:rPr>
              <a:t>sche</a:t>
            </a:r>
            <a:r>
              <a:rPr sz="1250" spc="-5" dirty="0">
                <a:latin typeface="Arial"/>
                <a:cs typeface="Arial"/>
              </a:rPr>
              <a:t>d</a:t>
            </a:r>
            <a:r>
              <a:rPr sz="1250" dirty="0">
                <a:latin typeface="Arial"/>
                <a:cs typeface="Arial"/>
              </a:rPr>
              <a:t>uling</a:t>
            </a:r>
            <a:endParaRPr sz="1250">
              <a:latin typeface="Arial"/>
              <a:cs typeface="Arial"/>
            </a:endParaRPr>
          </a:p>
        </p:txBody>
      </p:sp>
      <p:grpSp>
        <p:nvGrpSpPr>
          <p:cNvPr id="25" name="object 25"/>
          <p:cNvGrpSpPr/>
          <p:nvPr/>
        </p:nvGrpSpPr>
        <p:grpSpPr>
          <a:xfrm>
            <a:off x="3900997" y="3068991"/>
            <a:ext cx="3853179" cy="805815"/>
            <a:chOff x="3900997" y="3068991"/>
            <a:chExt cx="3853179" cy="805815"/>
          </a:xfrm>
        </p:grpSpPr>
        <p:sp>
          <p:nvSpPr>
            <p:cNvPr id="26" name="object 26"/>
            <p:cNvSpPr/>
            <p:nvPr/>
          </p:nvSpPr>
          <p:spPr>
            <a:xfrm>
              <a:off x="3900995" y="3068992"/>
              <a:ext cx="2666365" cy="805815"/>
            </a:xfrm>
            <a:custGeom>
              <a:avLst/>
              <a:gdLst/>
              <a:ahLst/>
              <a:cxnLst/>
              <a:rect l="l" t="t" r="r" b="b"/>
              <a:pathLst>
                <a:path w="2666365" h="805814">
                  <a:moveTo>
                    <a:pt x="78714" y="656971"/>
                  </a:moveTo>
                  <a:lnTo>
                    <a:pt x="59626" y="656971"/>
                  </a:lnTo>
                  <a:lnTo>
                    <a:pt x="59626" y="686079"/>
                  </a:lnTo>
                  <a:lnTo>
                    <a:pt x="78714" y="686079"/>
                  </a:lnTo>
                  <a:lnTo>
                    <a:pt x="78714" y="656971"/>
                  </a:lnTo>
                  <a:close/>
                </a:path>
                <a:path w="2666365" h="805814">
                  <a:moveTo>
                    <a:pt x="78714" y="604761"/>
                  </a:moveTo>
                  <a:lnTo>
                    <a:pt x="59626" y="604761"/>
                  </a:lnTo>
                  <a:lnTo>
                    <a:pt x="59626" y="633869"/>
                  </a:lnTo>
                  <a:lnTo>
                    <a:pt x="78714" y="633869"/>
                  </a:lnTo>
                  <a:lnTo>
                    <a:pt x="78714" y="604761"/>
                  </a:lnTo>
                  <a:close/>
                </a:path>
                <a:path w="2666365" h="805814">
                  <a:moveTo>
                    <a:pt x="78714" y="552526"/>
                  </a:moveTo>
                  <a:lnTo>
                    <a:pt x="59626" y="552526"/>
                  </a:lnTo>
                  <a:lnTo>
                    <a:pt x="59626" y="581634"/>
                  </a:lnTo>
                  <a:lnTo>
                    <a:pt x="78714" y="581634"/>
                  </a:lnTo>
                  <a:lnTo>
                    <a:pt x="78714" y="552526"/>
                  </a:lnTo>
                  <a:close/>
                </a:path>
                <a:path w="2666365" h="805814">
                  <a:moveTo>
                    <a:pt x="78714" y="499846"/>
                  </a:moveTo>
                  <a:lnTo>
                    <a:pt x="59626" y="499846"/>
                  </a:lnTo>
                  <a:lnTo>
                    <a:pt x="59626" y="529170"/>
                  </a:lnTo>
                  <a:lnTo>
                    <a:pt x="78714" y="529170"/>
                  </a:lnTo>
                  <a:lnTo>
                    <a:pt x="78714" y="499846"/>
                  </a:lnTo>
                  <a:close/>
                </a:path>
                <a:path w="2666365" h="805814">
                  <a:moveTo>
                    <a:pt x="78714" y="447636"/>
                  </a:moveTo>
                  <a:lnTo>
                    <a:pt x="59626" y="447636"/>
                  </a:lnTo>
                  <a:lnTo>
                    <a:pt x="59626" y="476745"/>
                  </a:lnTo>
                  <a:lnTo>
                    <a:pt x="78714" y="476745"/>
                  </a:lnTo>
                  <a:lnTo>
                    <a:pt x="78714" y="447636"/>
                  </a:lnTo>
                  <a:close/>
                </a:path>
                <a:path w="2666365" h="805814">
                  <a:moveTo>
                    <a:pt x="78714" y="395655"/>
                  </a:moveTo>
                  <a:lnTo>
                    <a:pt x="59626" y="395655"/>
                  </a:lnTo>
                  <a:lnTo>
                    <a:pt x="59626" y="424764"/>
                  </a:lnTo>
                  <a:lnTo>
                    <a:pt x="78714" y="424764"/>
                  </a:lnTo>
                  <a:lnTo>
                    <a:pt x="78714" y="395655"/>
                  </a:lnTo>
                  <a:close/>
                </a:path>
                <a:path w="2666365" h="805814">
                  <a:moveTo>
                    <a:pt x="78714" y="342950"/>
                  </a:moveTo>
                  <a:lnTo>
                    <a:pt x="59626" y="342950"/>
                  </a:lnTo>
                  <a:lnTo>
                    <a:pt x="59626" y="372046"/>
                  </a:lnTo>
                  <a:lnTo>
                    <a:pt x="78714" y="372046"/>
                  </a:lnTo>
                  <a:lnTo>
                    <a:pt x="78714" y="342950"/>
                  </a:lnTo>
                  <a:close/>
                </a:path>
                <a:path w="2666365" h="805814">
                  <a:moveTo>
                    <a:pt x="78714" y="290741"/>
                  </a:moveTo>
                  <a:lnTo>
                    <a:pt x="59626" y="290741"/>
                  </a:lnTo>
                  <a:lnTo>
                    <a:pt x="59626" y="319849"/>
                  </a:lnTo>
                  <a:lnTo>
                    <a:pt x="78714" y="319849"/>
                  </a:lnTo>
                  <a:lnTo>
                    <a:pt x="78714" y="290741"/>
                  </a:lnTo>
                  <a:close/>
                </a:path>
                <a:path w="2666365" h="805814">
                  <a:moveTo>
                    <a:pt x="78714" y="238531"/>
                  </a:moveTo>
                  <a:lnTo>
                    <a:pt x="59626" y="238531"/>
                  </a:lnTo>
                  <a:lnTo>
                    <a:pt x="59626" y="267804"/>
                  </a:lnTo>
                  <a:lnTo>
                    <a:pt x="78714" y="267804"/>
                  </a:lnTo>
                  <a:lnTo>
                    <a:pt x="78714" y="238531"/>
                  </a:lnTo>
                  <a:close/>
                </a:path>
                <a:path w="2666365" h="805814">
                  <a:moveTo>
                    <a:pt x="78714" y="185978"/>
                  </a:moveTo>
                  <a:lnTo>
                    <a:pt x="59626" y="185978"/>
                  </a:lnTo>
                  <a:lnTo>
                    <a:pt x="59626" y="215087"/>
                  </a:lnTo>
                  <a:lnTo>
                    <a:pt x="78714" y="215087"/>
                  </a:lnTo>
                  <a:lnTo>
                    <a:pt x="78714" y="185978"/>
                  </a:lnTo>
                  <a:close/>
                </a:path>
                <a:path w="2666365" h="805814">
                  <a:moveTo>
                    <a:pt x="78714" y="133769"/>
                  </a:moveTo>
                  <a:lnTo>
                    <a:pt x="59626" y="133769"/>
                  </a:lnTo>
                  <a:lnTo>
                    <a:pt x="59626" y="162877"/>
                  </a:lnTo>
                  <a:lnTo>
                    <a:pt x="78714" y="162877"/>
                  </a:lnTo>
                  <a:lnTo>
                    <a:pt x="78714" y="133769"/>
                  </a:lnTo>
                  <a:close/>
                </a:path>
                <a:path w="2666365" h="805814">
                  <a:moveTo>
                    <a:pt x="78714" y="81534"/>
                  </a:moveTo>
                  <a:lnTo>
                    <a:pt x="59626" y="81534"/>
                  </a:lnTo>
                  <a:lnTo>
                    <a:pt x="59626" y="110642"/>
                  </a:lnTo>
                  <a:lnTo>
                    <a:pt x="78714" y="110642"/>
                  </a:lnTo>
                  <a:lnTo>
                    <a:pt x="78714" y="81534"/>
                  </a:lnTo>
                  <a:close/>
                </a:path>
                <a:path w="2666365" h="805814">
                  <a:moveTo>
                    <a:pt x="82969" y="710920"/>
                  </a:moveTo>
                  <a:lnTo>
                    <a:pt x="63652" y="710920"/>
                  </a:lnTo>
                  <a:lnTo>
                    <a:pt x="63652" y="742632"/>
                  </a:lnTo>
                  <a:lnTo>
                    <a:pt x="82969" y="742632"/>
                  </a:lnTo>
                  <a:lnTo>
                    <a:pt x="82969" y="710920"/>
                  </a:lnTo>
                  <a:close/>
                </a:path>
                <a:path w="2666365" h="805814">
                  <a:moveTo>
                    <a:pt x="95580" y="780796"/>
                  </a:moveTo>
                  <a:lnTo>
                    <a:pt x="82969" y="780796"/>
                  </a:lnTo>
                  <a:lnTo>
                    <a:pt x="82969" y="768121"/>
                  </a:lnTo>
                  <a:lnTo>
                    <a:pt x="63652" y="768121"/>
                  </a:lnTo>
                  <a:lnTo>
                    <a:pt x="63652" y="799833"/>
                  </a:lnTo>
                  <a:lnTo>
                    <a:pt x="95580" y="799833"/>
                  </a:lnTo>
                  <a:lnTo>
                    <a:pt x="95580" y="780796"/>
                  </a:lnTo>
                  <a:close/>
                </a:path>
                <a:path w="2666365" h="805814">
                  <a:moveTo>
                    <a:pt x="143776" y="71780"/>
                  </a:moveTo>
                  <a:lnTo>
                    <a:pt x="71755" y="0"/>
                  </a:lnTo>
                  <a:lnTo>
                    <a:pt x="0" y="71780"/>
                  </a:lnTo>
                  <a:lnTo>
                    <a:pt x="21437" y="93230"/>
                  </a:lnTo>
                  <a:lnTo>
                    <a:pt x="71755" y="42900"/>
                  </a:lnTo>
                  <a:lnTo>
                    <a:pt x="122326" y="93230"/>
                  </a:lnTo>
                  <a:lnTo>
                    <a:pt x="143776" y="71780"/>
                  </a:lnTo>
                  <a:close/>
                </a:path>
                <a:path w="2666365" h="805814">
                  <a:moveTo>
                    <a:pt x="152831" y="780796"/>
                  </a:moveTo>
                  <a:lnTo>
                    <a:pt x="120904" y="780796"/>
                  </a:lnTo>
                  <a:lnTo>
                    <a:pt x="120904" y="799833"/>
                  </a:lnTo>
                  <a:lnTo>
                    <a:pt x="152831" y="799833"/>
                  </a:lnTo>
                  <a:lnTo>
                    <a:pt x="152831" y="780796"/>
                  </a:lnTo>
                  <a:close/>
                </a:path>
                <a:path w="2666365" h="805814">
                  <a:moveTo>
                    <a:pt x="209524" y="786257"/>
                  </a:moveTo>
                  <a:lnTo>
                    <a:pt x="179476" y="786257"/>
                  </a:lnTo>
                  <a:lnTo>
                    <a:pt x="179476" y="805319"/>
                  </a:lnTo>
                  <a:lnTo>
                    <a:pt x="209524" y="805319"/>
                  </a:lnTo>
                  <a:lnTo>
                    <a:pt x="209524" y="786257"/>
                  </a:lnTo>
                  <a:close/>
                </a:path>
                <a:path w="2666365" h="805814">
                  <a:moveTo>
                    <a:pt x="263410" y="786257"/>
                  </a:moveTo>
                  <a:lnTo>
                    <a:pt x="233349" y="786257"/>
                  </a:lnTo>
                  <a:lnTo>
                    <a:pt x="233349" y="805319"/>
                  </a:lnTo>
                  <a:lnTo>
                    <a:pt x="263410" y="805319"/>
                  </a:lnTo>
                  <a:lnTo>
                    <a:pt x="263410" y="786257"/>
                  </a:lnTo>
                  <a:close/>
                </a:path>
                <a:path w="2666365" h="805814">
                  <a:moveTo>
                    <a:pt x="317246" y="786257"/>
                  </a:moveTo>
                  <a:lnTo>
                    <a:pt x="287197" y="786257"/>
                  </a:lnTo>
                  <a:lnTo>
                    <a:pt x="287197" y="805319"/>
                  </a:lnTo>
                  <a:lnTo>
                    <a:pt x="317246" y="805319"/>
                  </a:lnTo>
                  <a:lnTo>
                    <a:pt x="317246" y="786257"/>
                  </a:lnTo>
                  <a:close/>
                </a:path>
                <a:path w="2666365" h="805814">
                  <a:moveTo>
                    <a:pt x="371602" y="786257"/>
                  </a:moveTo>
                  <a:lnTo>
                    <a:pt x="341553" y="786257"/>
                  </a:lnTo>
                  <a:lnTo>
                    <a:pt x="341553" y="805319"/>
                  </a:lnTo>
                  <a:lnTo>
                    <a:pt x="371602" y="805319"/>
                  </a:lnTo>
                  <a:lnTo>
                    <a:pt x="371602" y="786257"/>
                  </a:lnTo>
                  <a:close/>
                </a:path>
                <a:path w="2666365" h="805814">
                  <a:moveTo>
                    <a:pt x="425450" y="786257"/>
                  </a:moveTo>
                  <a:lnTo>
                    <a:pt x="395401" y="786257"/>
                  </a:lnTo>
                  <a:lnTo>
                    <a:pt x="395401" y="805319"/>
                  </a:lnTo>
                  <a:lnTo>
                    <a:pt x="425450" y="805319"/>
                  </a:lnTo>
                  <a:lnTo>
                    <a:pt x="425450" y="786257"/>
                  </a:lnTo>
                  <a:close/>
                </a:path>
                <a:path w="2666365" h="805814">
                  <a:moveTo>
                    <a:pt x="479323" y="786257"/>
                  </a:moveTo>
                  <a:lnTo>
                    <a:pt x="449275" y="786257"/>
                  </a:lnTo>
                  <a:lnTo>
                    <a:pt x="449275" y="805319"/>
                  </a:lnTo>
                  <a:lnTo>
                    <a:pt x="479323" y="805319"/>
                  </a:lnTo>
                  <a:lnTo>
                    <a:pt x="479323" y="786257"/>
                  </a:lnTo>
                  <a:close/>
                </a:path>
                <a:path w="2666365" h="805814">
                  <a:moveTo>
                    <a:pt x="533641" y="786257"/>
                  </a:moveTo>
                  <a:lnTo>
                    <a:pt x="503593" y="786257"/>
                  </a:lnTo>
                  <a:lnTo>
                    <a:pt x="503593" y="805319"/>
                  </a:lnTo>
                  <a:lnTo>
                    <a:pt x="533641" y="805319"/>
                  </a:lnTo>
                  <a:lnTo>
                    <a:pt x="533641" y="786257"/>
                  </a:lnTo>
                  <a:close/>
                </a:path>
                <a:path w="2666365" h="805814">
                  <a:moveTo>
                    <a:pt x="587489" y="786257"/>
                  </a:moveTo>
                  <a:lnTo>
                    <a:pt x="557466" y="786257"/>
                  </a:lnTo>
                  <a:lnTo>
                    <a:pt x="557466" y="805319"/>
                  </a:lnTo>
                  <a:lnTo>
                    <a:pt x="587489" y="805319"/>
                  </a:lnTo>
                  <a:lnTo>
                    <a:pt x="587489" y="786257"/>
                  </a:lnTo>
                  <a:close/>
                </a:path>
                <a:path w="2666365" h="805814">
                  <a:moveTo>
                    <a:pt x="641362" y="786257"/>
                  </a:moveTo>
                  <a:lnTo>
                    <a:pt x="611314" y="786257"/>
                  </a:lnTo>
                  <a:lnTo>
                    <a:pt x="611314" y="805319"/>
                  </a:lnTo>
                  <a:lnTo>
                    <a:pt x="641362" y="805319"/>
                  </a:lnTo>
                  <a:lnTo>
                    <a:pt x="641362" y="786257"/>
                  </a:lnTo>
                  <a:close/>
                </a:path>
                <a:path w="2666365" h="805814">
                  <a:moveTo>
                    <a:pt x="695693" y="786257"/>
                  </a:moveTo>
                  <a:lnTo>
                    <a:pt x="665670" y="786257"/>
                  </a:lnTo>
                  <a:lnTo>
                    <a:pt x="665670" y="805319"/>
                  </a:lnTo>
                  <a:lnTo>
                    <a:pt x="695693" y="805319"/>
                  </a:lnTo>
                  <a:lnTo>
                    <a:pt x="695693" y="786257"/>
                  </a:lnTo>
                  <a:close/>
                </a:path>
                <a:path w="2666365" h="805814">
                  <a:moveTo>
                    <a:pt x="749566" y="786257"/>
                  </a:moveTo>
                  <a:lnTo>
                    <a:pt x="719518" y="786257"/>
                  </a:lnTo>
                  <a:lnTo>
                    <a:pt x="719518" y="805319"/>
                  </a:lnTo>
                  <a:lnTo>
                    <a:pt x="749566" y="805319"/>
                  </a:lnTo>
                  <a:lnTo>
                    <a:pt x="749566" y="786257"/>
                  </a:lnTo>
                  <a:close/>
                </a:path>
                <a:path w="2666365" h="805814">
                  <a:moveTo>
                    <a:pt x="803414" y="786257"/>
                  </a:moveTo>
                  <a:lnTo>
                    <a:pt x="773391" y="786257"/>
                  </a:lnTo>
                  <a:lnTo>
                    <a:pt x="773391" y="805319"/>
                  </a:lnTo>
                  <a:lnTo>
                    <a:pt x="803414" y="805319"/>
                  </a:lnTo>
                  <a:lnTo>
                    <a:pt x="803414" y="786257"/>
                  </a:lnTo>
                  <a:close/>
                </a:path>
                <a:path w="2666365" h="805814">
                  <a:moveTo>
                    <a:pt x="857986" y="786257"/>
                  </a:moveTo>
                  <a:lnTo>
                    <a:pt x="827811" y="786257"/>
                  </a:lnTo>
                  <a:lnTo>
                    <a:pt x="827811" y="805319"/>
                  </a:lnTo>
                  <a:lnTo>
                    <a:pt x="857986" y="805319"/>
                  </a:lnTo>
                  <a:lnTo>
                    <a:pt x="857986" y="786257"/>
                  </a:lnTo>
                  <a:close/>
                </a:path>
                <a:path w="2666365" h="805814">
                  <a:moveTo>
                    <a:pt x="911606" y="786257"/>
                  </a:moveTo>
                  <a:lnTo>
                    <a:pt x="881646" y="786257"/>
                  </a:lnTo>
                  <a:lnTo>
                    <a:pt x="881646" y="805319"/>
                  </a:lnTo>
                  <a:lnTo>
                    <a:pt x="911606" y="805319"/>
                  </a:lnTo>
                  <a:lnTo>
                    <a:pt x="911606" y="786257"/>
                  </a:lnTo>
                  <a:close/>
                </a:path>
                <a:path w="2666365" h="805814">
                  <a:moveTo>
                    <a:pt x="965708" y="786257"/>
                  </a:moveTo>
                  <a:lnTo>
                    <a:pt x="935532" y="786257"/>
                  </a:lnTo>
                  <a:lnTo>
                    <a:pt x="935532" y="805319"/>
                  </a:lnTo>
                  <a:lnTo>
                    <a:pt x="965708" y="805319"/>
                  </a:lnTo>
                  <a:lnTo>
                    <a:pt x="965708" y="786257"/>
                  </a:lnTo>
                  <a:close/>
                </a:path>
                <a:path w="2666365" h="805814">
                  <a:moveTo>
                    <a:pt x="1020064" y="786257"/>
                  </a:moveTo>
                  <a:lnTo>
                    <a:pt x="989850" y="786257"/>
                  </a:lnTo>
                  <a:lnTo>
                    <a:pt x="989850" y="805319"/>
                  </a:lnTo>
                  <a:lnTo>
                    <a:pt x="1020064" y="805319"/>
                  </a:lnTo>
                  <a:lnTo>
                    <a:pt x="1020064" y="786257"/>
                  </a:lnTo>
                  <a:close/>
                </a:path>
                <a:path w="2666365" h="805814">
                  <a:moveTo>
                    <a:pt x="1073683" y="786257"/>
                  </a:moveTo>
                  <a:lnTo>
                    <a:pt x="1043698" y="786257"/>
                  </a:lnTo>
                  <a:lnTo>
                    <a:pt x="1043698" y="805319"/>
                  </a:lnTo>
                  <a:lnTo>
                    <a:pt x="1073683" y="805319"/>
                  </a:lnTo>
                  <a:lnTo>
                    <a:pt x="1073683" y="786257"/>
                  </a:lnTo>
                  <a:close/>
                </a:path>
                <a:path w="2666365" h="805814">
                  <a:moveTo>
                    <a:pt x="1127785" y="786257"/>
                  </a:moveTo>
                  <a:lnTo>
                    <a:pt x="1097572" y="786257"/>
                  </a:lnTo>
                  <a:lnTo>
                    <a:pt x="1097572" y="805319"/>
                  </a:lnTo>
                  <a:lnTo>
                    <a:pt x="1127785" y="805319"/>
                  </a:lnTo>
                  <a:lnTo>
                    <a:pt x="1127785" y="786257"/>
                  </a:lnTo>
                  <a:close/>
                </a:path>
                <a:path w="2666365" h="805814">
                  <a:moveTo>
                    <a:pt x="1182204" y="786257"/>
                  </a:moveTo>
                  <a:lnTo>
                    <a:pt x="1151890" y="786257"/>
                  </a:lnTo>
                  <a:lnTo>
                    <a:pt x="1151890" y="805319"/>
                  </a:lnTo>
                  <a:lnTo>
                    <a:pt x="1182204" y="805319"/>
                  </a:lnTo>
                  <a:lnTo>
                    <a:pt x="1182204" y="786257"/>
                  </a:lnTo>
                  <a:close/>
                </a:path>
                <a:path w="2666365" h="805814">
                  <a:moveTo>
                    <a:pt x="1235824" y="786257"/>
                  </a:moveTo>
                  <a:lnTo>
                    <a:pt x="1205776" y="786257"/>
                  </a:lnTo>
                  <a:lnTo>
                    <a:pt x="1205776" y="805319"/>
                  </a:lnTo>
                  <a:lnTo>
                    <a:pt x="1235824" y="805319"/>
                  </a:lnTo>
                  <a:lnTo>
                    <a:pt x="1235824" y="786257"/>
                  </a:lnTo>
                  <a:close/>
                </a:path>
                <a:path w="2666365" h="805814">
                  <a:moveTo>
                    <a:pt x="1289926" y="786257"/>
                  </a:moveTo>
                  <a:lnTo>
                    <a:pt x="1259865" y="786257"/>
                  </a:lnTo>
                  <a:lnTo>
                    <a:pt x="1259865" y="805319"/>
                  </a:lnTo>
                  <a:lnTo>
                    <a:pt x="1289926" y="805319"/>
                  </a:lnTo>
                  <a:lnTo>
                    <a:pt x="1289926" y="786257"/>
                  </a:lnTo>
                  <a:close/>
                </a:path>
                <a:path w="2666365" h="805814">
                  <a:moveTo>
                    <a:pt x="1344244" y="786257"/>
                  </a:moveTo>
                  <a:lnTo>
                    <a:pt x="1314196" y="786257"/>
                  </a:lnTo>
                  <a:lnTo>
                    <a:pt x="1314196" y="805319"/>
                  </a:lnTo>
                  <a:lnTo>
                    <a:pt x="1344244" y="805319"/>
                  </a:lnTo>
                  <a:lnTo>
                    <a:pt x="1344244" y="786257"/>
                  </a:lnTo>
                  <a:close/>
                </a:path>
                <a:path w="2666365" h="805814">
                  <a:moveTo>
                    <a:pt x="1397863" y="786257"/>
                  </a:moveTo>
                  <a:lnTo>
                    <a:pt x="1367815" y="786257"/>
                  </a:lnTo>
                  <a:lnTo>
                    <a:pt x="1367815" y="805319"/>
                  </a:lnTo>
                  <a:lnTo>
                    <a:pt x="1397863" y="805319"/>
                  </a:lnTo>
                  <a:lnTo>
                    <a:pt x="1397863" y="786257"/>
                  </a:lnTo>
                  <a:close/>
                </a:path>
                <a:path w="2666365" h="805814">
                  <a:moveTo>
                    <a:pt x="1451965" y="786257"/>
                  </a:moveTo>
                  <a:lnTo>
                    <a:pt x="1421917" y="786257"/>
                  </a:lnTo>
                  <a:lnTo>
                    <a:pt x="1421917" y="805319"/>
                  </a:lnTo>
                  <a:lnTo>
                    <a:pt x="1451965" y="805319"/>
                  </a:lnTo>
                  <a:lnTo>
                    <a:pt x="1451965" y="786257"/>
                  </a:lnTo>
                  <a:close/>
                </a:path>
                <a:path w="2666365" h="805814">
                  <a:moveTo>
                    <a:pt x="1508671" y="782002"/>
                  </a:moveTo>
                  <a:lnTo>
                    <a:pt x="1476959" y="782002"/>
                  </a:lnTo>
                  <a:lnTo>
                    <a:pt x="1476959" y="801319"/>
                  </a:lnTo>
                  <a:lnTo>
                    <a:pt x="1508671" y="801319"/>
                  </a:lnTo>
                  <a:lnTo>
                    <a:pt x="1508671" y="782002"/>
                  </a:lnTo>
                  <a:close/>
                </a:path>
                <a:path w="2666365" h="805814">
                  <a:moveTo>
                    <a:pt x="1565846" y="769289"/>
                  </a:moveTo>
                  <a:lnTo>
                    <a:pt x="1546758" y="769289"/>
                  </a:lnTo>
                  <a:lnTo>
                    <a:pt x="1546758" y="782002"/>
                  </a:lnTo>
                  <a:lnTo>
                    <a:pt x="1534147" y="782002"/>
                  </a:lnTo>
                  <a:lnTo>
                    <a:pt x="1534147" y="801319"/>
                  </a:lnTo>
                  <a:lnTo>
                    <a:pt x="1565846" y="801319"/>
                  </a:lnTo>
                  <a:lnTo>
                    <a:pt x="1565846" y="769289"/>
                  </a:lnTo>
                  <a:close/>
                </a:path>
                <a:path w="2666365" h="805814">
                  <a:moveTo>
                    <a:pt x="1565846" y="712101"/>
                  </a:moveTo>
                  <a:lnTo>
                    <a:pt x="1546758" y="712101"/>
                  </a:lnTo>
                  <a:lnTo>
                    <a:pt x="1546758" y="744067"/>
                  </a:lnTo>
                  <a:lnTo>
                    <a:pt x="1565846" y="744067"/>
                  </a:lnTo>
                  <a:lnTo>
                    <a:pt x="1565846" y="712101"/>
                  </a:lnTo>
                  <a:close/>
                </a:path>
                <a:path w="2666365" h="805814">
                  <a:moveTo>
                    <a:pt x="1571599" y="656717"/>
                  </a:moveTo>
                  <a:lnTo>
                    <a:pt x="1552498" y="656717"/>
                  </a:lnTo>
                  <a:lnTo>
                    <a:pt x="1552498" y="685850"/>
                  </a:lnTo>
                  <a:lnTo>
                    <a:pt x="1571599" y="685850"/>
                  </a:lnTo>
                  <a:lnTo>
                    <a:pt x="1571599" y="656717"/>
                  </a:lnTo>
                  <a:close/>
                </a:path>
                <a:path w="2666365" h="805814">
                  <a:moveTo>
                    <a:pt x="1571599" y="604507"/>
                  </a:moveTo>
                  <a:lnTo>
                    <a:pt x="1552498" y="604507"/>
                  </a:lnTo>
                  <a:lnTo>
                    <a:pt x="1552498" y="633615"/>
                  </a:lnTo>
                  <a:lnTo>
                    <a:pt x="1571599" y="633615"/>
                  </a:lnTo>
                  <a:lnTo>
                    <a:pt x="1571599" y="604507"/>
                  </a:lnTo>
                  <a:close/>
                </a:path>
                <a:path w="2666365" h="805814">
                  <a:moveTo>
                    <a:pt x="1571599" y="552310"/>
                  </a:moveTo>
                  <a:lnTo>
                    <a:pt x="1552498" y="552310"/>
                  </a:lnTo>
                  <a:lnTo>
                    <a:pt x="1552498" y="581406"/>
                  </a:lnTo>
                  <a:lnTo>
                    <a:pt x="1571599" y="581406"/>
                  </a:lnTo>
                  <a:lnTo>
                    <a:pt x="1571599" y="552310"/>
                  </a:lnTo>
                  <a:close/>
                </a:path>
                <a:path w="2666365" h="805814">
                  <a:moveTo>
                    <a:pt x="1571599" y="499592"/>
                  </a:moveTo>
                  <a:lnTo>
                    <a:pt x="1552498" y="499592"/>
                  </a:lnTo>
                  <a:lnTo>
                    <a:pt x="1552498" y="528701"/>
                  </a:lnTo>
                  <a:lnTo>
                    <a:pt x="1571599" y="528701"/>
                  </a:lnTo>
                  <a:lnTo>
                    <a:pt x="1571599" y="499592"/>
                  </a:lnTo>
                  <a:close/>
                </a:path>
                <a:path w="2666365" h="805814">
                  <a:moveTo>
                    <a:pt x="1571599" y="447636"/>
                  </a:moveTo>
                  <a:lnTo>
                    <a:pt x="1552498" y="447636"/>
                  </a:lnTo>
                  <a:lnTo>
                    <a:pt x="1552498" y="476745"/>
                  </a:lnTo>
                  <a:lnTo>
                    <a:pt x="1571599" y="476745"/>
                  </a:lnTo>
                  <a:lnTo>
                    <a:pt x="1571599" y="447636"/>
                  </a:lnTo>
                  <a:close/>
                </a:path>
                <a:path w="2666365" h="805814">
                  <a:moveTo>
                    <a:pt x="1571599" y="395401"/>
                  </a:moveTo>
                  <a:lnTo>
                    <a:pt x="1552498" y="395401"/>
                  </a:lnTo>
                  <a:lnTo>
                    <a:pt x="1552498" y="424510"/>
                  </a:lnTo>
                  <a:lnTo>
                    <a:pt x="1571599" y="424510"/>
                  </a:lnTo>
                  <a:lnTo>
                    <a:pt x="1571599" y="395401"/>
                  </a:lnTo>
                  <a:close/>
                </a:path>
                <a:path w="2666365" h="805814">
                  <a:moveTo>
                    <a:pt x="1571599" y="342722"/>
                  </a:moveTo>
                  <a:lnTo>
                    <a:pt x="1552498" y="342722"/>
                  </a:lnTo>
                  <a:lnTo>
                    <a:pt x="1552498" y="371830"/>
                  </a:lnTo>
                  <a:lnTo>
                    <a:pt x="1571599" y="371830"/>
                  </a:lnTo>
                  <a:lnTo>
                    <a:pt x="1571599" y="342722"/>
                  </a:lnTo>
                  <a:close/>
                </a:path>
                <a:path w="2666365" h="805814">
                  <a:moveTo>
                    <a:pt x="1571599" y="290487"/>
                  </a:moveTo>
                  <a:lnTo>
                    <a:pt x="1552498" y="290487"/>
                  </a:lnTo>
                  <a:lnTo>
                    <a:pt x="1552498" y="319849"/>
                  </a:lnTo>
                  <a:lnTo>
                    <a:pt x="1571599" y="319849"/>
                  </a:lnTo>
                  <a:lnTo>
                    <a:pt x="1571599" y="290487"/>
                  </a:lnTo>
                  <a:close/>
                </a:path>
                <a:path w="2666365" h="805814">
                  <a:moveTo>
                    <a:pt x="1571599" y="238277"/>
                  </a:moveTo>
                  <a:lnTo>
                    <a:pt x="1552498" y="238277"/>
                  </a:lnTo>
                  <a:lnTo>
                    <a:pt x="1552498" y="267322"/>
                  </a:lnTo>
                  <a:lnTo>
                    <a:pt x="1571599" y="267322"/>
                  </a:lnTo>
                  <a:lnTo>
                    <a:pt x="1571599" y="238277"/>
                  </a:lnTo>
                  <a:close/>
                </a:path>
                <a:path w="2666365" h="805814">
                  <a:moveTo>
                    <a:pt x="1571599" y="185508"/>
                  </a:moveTo>
                  <a:lnTo>
                    <a:pt x="1552498" y="185508"/>
                  </a:lnTo>
                  <a:lnTo>
                    <a:pt x="1552498" y="214858"/>
                  </a:lnTo>
                  <a:lnTo>
                    <a:pt x="1571599" y="214858"/>
                  </a:lnTo>
                  <a:lnTo>
                    <a:pt x="1571599" y="185508"/>
                  </a:lnTo>
                  <a:close/>
                </a:path>
                <a:path w="2666365" h="805814">
                  <a:moveTo>
                    <a:pt x="1571599" y="133515"/>
                  </a:moveTo>
                  <a:lnTo>
                    <a:pt x="1552498" y="133515"/>
                  </a:lnTo>
                  <a:lnTo>
                    <a:pt x="1552498" y="162623"/>
                  </a:lnTo>
                  <a:lnTo>
                    <a:pt x="1571599" y="162623"/>
                  </a:lnTo>
                  <a:lnTo>
                    <a:pt x="1571599" y="133515"/>
                  </a:lnTo>
                  <a:close/>
                </a:path>
                <a:path w="2666365" h="805814">
                  <a:moveTo>
                    <a:pt x="1571599" y="81318"/>
                  </a:moveTo>
                  <a:lnTo>
                    <a:pt x="1552498" y="81318"/>
                  </a:lnTo>
                  <a:lnTo>
                    <a:pt x="1552498" y="110426"/>
                  </a:lnTo>
                  <a:lnTo>
                    <a:pt x="1571599" y="110426"/>
                  </a:lnTo>
                  <a:lnTo>
                    <a:pt x="1571599" y="81318"/>
                  </a:lnTo>
                  <a:close/>
                </a:path>
                <a:path w="2666365" h="805814">
                  <a:moveTo>
                    <a:pt x="1634299" y="84721"/>
                  </a:moveTo>
                  <a:lnTo>
                    <a:pt x="1562290" y="12687"/>
                  </a:lnTo>
                  <a:lnTo>
                    <a:pt x="1490522" y="84721"/>
                  </a:lnTo>
                  <a:lnTo>
                    <a:pt x="1511973" y="106159"/>
                  </a:lnTo>
                  <a:lnTo>
                    <a:pt x="1562290" y="55613"/>
                  </a:lnTo>
                  <a:lnTo>
                    <a:pt x="1612836" y="106159"/>
                  </a:lnTo>
                  <a:lnTo>
                    <a:pt x="1634299" y="84721"/>
                  </a:lnTo>
                  <a:close/>
                </a:path>
                <a:path w="2666365" h="805814">
                  <a:moveTo>
                    <a:pt x="2422182" y="656971"/>
                  </a:moveTo>
                  <a:lnTo>
                    <a:pt x="2403094" y="656971"/>
                  </a:lnTo>
                  <a:lnTo>
                    <a:pt x="2403094" y="686079"/>
                  </a:lnTo>
                  <a:lnTo>
                    <a:pt x="2422182" y="686079"/>
                  </a:lnTo>
                  <a:lnTo>
                    <a:pt x="2422182" y="656971"/>
                  </a:lnTo>
                  <a:close/>
                </a:path>
                <a:path w="2666365" h="805814">
                  <a:moveTo>
                    <a:pt x="2422182" y="604761"/>
                  </a:moveTo>
                  <a:lnTo>
                    <a:pt x="2403094" y="604761"/>
                  </a:lnTo>
                  <a:lnTo>
                    <a:pt x="2403094" y="633869"/>
                  </a:lnTo>
                  <a:lnTo>
                    <a:pt x="2422182" y="633869"/>
                  </a:lnTo>
                  <a:lnTo>
                    <a:pt x="2422182" y="604761"/>
                  </a:lnTo>
                  <a:close/>
                </a:path>
                <a:path w="2666365" h="805814">
                  <a:moveTo>
                    <a:pt x="2422182" y="552526"/>
                  </a:moveTo>
                  <a:lnTo>
                    <a:pt x="2403094" y="552526"/>
                  </a:lnTo>
                  <a:lnTo>
                    <a:pt x="2403094" y="581634"/>
                  </a:lnTo>
                  <a:lnTo>
                    <a:pt x="2422182" y="581634"/>
                  </a:lnTo>
                  <a:lnTo>
                    <a:pt x="2422182" y="552526"/>
                  </a:lnTo>
                  <a:close/>
                </a:path>
                <a:path w="2666365" h="805814">
                  <a:moveTo>
                    <a:pt x="2422182" y="499846"/>
                  </a:moveTo>
                  <a:lnTo>
                    <a:pt x="2403094" y="499846"/>
                  </a:lnTo>
                  <a:lnTo>
                    <a:pt x="2403094" y="529170"/>
                  </a:lnTo>
                  <a:lnTo>
                    <a:pt x="2422182" y="529170"/>
                  </a:lnTo>
                  <a:lnTo>
                    <a:pt x="2422182" y="499846"/>
                  </a:lnTo>
                  <a:close/>
                </a:path>
                <a:path w="2666365" h="805814">
                  <a:moveTo>
                    <a:pt x="2422182" y="447636"/>
                  </a:moveTo>
                  <a:lnTo>
                    <a:pt x="2403094" y="447636"/>
                  </a:lnTo>
                  <a:lnTo>
                    <a:pt x="2403094" y="476745"/>
                  </a:lnTo>
                  <a:lnTo>
                    <a:pt x="2422182" y="476745"/>
                  </a:lnTo>
                  <a:lnTo>
                    <a:pt x="2422182" y="447636"/>
                  </a:lnTo>
                  <a:close/>
                </a:path>
                <a:path w="2666365" h="805814">
                  <a:moveTo>
                    <a:pt x="2422182" y="395655"/>
                  </a:moveTo>
                  <a:lnTo>
                    <a:pt x="2403094" y="395655"/>
                  </a:lnTo>
                  <a:lnTo>
                    <a:pt x="2403094" y="424764"/>
                  </a:lnTo>
                  <a:lnTo>
                    <a:pt x="2422182" y="424764"/>
                  </a:lnTo>
                  <a:lnTo>
                    <a:pt x="2422182" y="395655"/>
                  </a:lnTo>
                  <a:close/>
                </a:path>
                <a:path w="2666365" h="805814">
                  <a:moveTo>
                    <a:pt x="2422182" y="342950"/>
                  </a:moveTo>
                  <a:lnTo>
                    <a:pt x="2403094" y="342950"/>
                  </a:lnTo>
                  <a:lnTo>
                    <a:pt x="2403094" y="372046"/>
                  </a:lnTo>
                  <a:lnTo>
                    <a:pt x="2422182" y="372046"/>
                  </a:lnTo>
                  <a:lnTo>
                    <a:pt x="2422182" y="342950"/>
                  </a:lnTo>
                  <a:close/>
                </a:path>
                <a:path w="2666365" h="805814">
                  <a:moveTo>
                    <a:pt x="2422182" y="290741"/>
                  </a:moveTo>
                  <a:lnTo>
                    <a:pt x="2403094" y="290741"/>
                  </a:lnTo>
                  <a:lnTo>
                    <a:pt x="2403094" y="319849"/>
                  </a:lnTo>
                  <a:lnTo>
                    <a:pt x="2422182" y="319849"/>
                  </a:lnTo>
                  <a:lnTo>
                    <a:pt x="2422182" y="290741"/>
                  </a:lnTo>
                  <a:close/>
                </a:path>
                <a:path w="2666365" h="805814">
                  <a:moveTo>
                    <a:pt x="2422182" y="238531"/>
                  </a:moveTo>
                  <a:lnTo>
                    <a:pt x="2403094" y="238531"/>
                  </a:lnTo>
                  <a:lnTo>
                    <a:pt x="2403094" y="267804"/>
                  </a:lnTo>
                  <a:lnTo>
                    <a:pt x="2422182" y="267804"/>
                  </a:lnTo>
                  <a:lnTo>
                    <a:pt x="2422182" y="238531"/>
                  </a:lnTo>
                  <a:close/>
                </a:path>
                <a:path w="2666365" h="805814">
                  <a:moveTo>
                    <a:pt x="2422182" y="185978"/>
                  </a:moveTo>
                  <a:lnTo>
                    <a:pt x="2403094" y="185978"/>
                  </a:lnTo>
                  <a:lnTo>
                    <a:pt x="2403094" y="215087"/>
                  </a:lnTo>
                  <a:lnTo>
                    <a:pt x="2422182" y="215087"/>
                  </a:lnTo>
                  <a:lnTo>
                    <a:pt x="2422182" y="185978"/>
                  </a:lnTo>
                  <a:close/>
                </a:path>
                <a:path w="2666365" h="805814">
                  <a:moveTo>
                    <a:pt x="2422182" y="133769"/>
                  </a:moveTo>
                  <a:lnTo>
                    <a:pt x="2403094" y="133769"/>
                  </a:lnTo>
                  <a:lnTo>
                    <a:pt x="2403094" y="162877"/>
                  </a:lnTo>
                  <a:lnTo>
                    <a:pt x="2422182" y="162877"/>
                  </a:lnTo>
                  <a:lnTo>
                    <a:pt x="2422182" y="133769"/>
                  </a:lnTo>
                  <a:close/>
                </a:path>
                <a:path w="2666365" h="805814">
                  <a:moveTo>
                    <a:pt x="2422182" y="81534"/>
                  </a:moveTo>
                  <a:lnTo>
                    <a:pt x="2403094" y="81534"/>
                  </a:lnTo>
                  <a:lnTo>
                    <a:pt x="2403094" y="110642"/>
                  </a:lnTo>
                  <a:lnTo>
                    <a:pt x="2422182" y="110642"/>
                  </a:lnTo>
                  <a:lnTo>
                    <a:pt x="2422182" y="81534"/>
                  </a:lnTo>
                  <a:close/>
                </a:path>
                <a:path w="2666365" h="805814">
                  <a:moveTo>
                    <a:pt x="2554427" y="786257"/>
                  </a:moveTo>
                  <a:lnTo>
                    <a:pt x="2523426" y="786257"/>
                  </a:lnTo>
                  <a:lnTo>
                    <a:pt x="2523426" y="805319"/>
                  </a:lnTo>
                  <a:lnTo>
                    <a:pt x="2554427" y="805319"/>
                  </a:lnTo>
                  <a:lnTo>
                    <a:pt x="2554427" y="786257"/>
                  </a:lnTo>
                  <a:close/>
                </a:path>
                <a:path w="2666365" h="805814">
                  <a:moveTo>
                    <a:pt x="2610180" y="786257"/>
                  </a:moveTo>
                  <a:lnTo>
                    <a:pt x="2579014" y="786257"/>
                  </a:lnTo>
                  <a:lnTo>
                    <a:pt x="2579014" y="805319"/>
                  </a:lnTo>
                  <a:lnTo>
                    <a:pt x="2610180" y="805319"/>
                  </a:lnTo>
                  <a:lnTo>
                    <a:pt x="2610180" y="786257"/>
                  </a:lnTo>
                  <a:close/>
                </a:path>
                <a:path w="2666365" h="805814">
                  <a:moveTo>
                    <a:pt x="2665996" y="786257"/>
                  </a:moveTo>
                  <a:lnTo>
                    <a:pt x="2634767" y="786257"/>
                  </a:lnTo>
                  <a:lnTo>
                    <a:pt x="2634767" y="805319"/>
                  </a:lnTo>
                  <a:lnTo>
                    <a:pt x="2665996" y="805319"/>
                  </a:lnTo>
                  <a:lnTo>
                    <a:pt x="2665996" y="786257"/>
                  </a:lnTo>
                  <a:close/>
                </a:path>
              </a:pathLst>
            </a:custGeom>
            <a:solidFill>
              <a:srgbClr val="000000"/>
            </a:solidFill>
          </p:spPr>
          <p:txBody>
            <a:bodyPr wrap="square" lIns="0" tIns="0" rIns="0" bIns="0" rtlCol="0"/>
            <a:lstStyle/>
            <a:p>
              <a:endParaRPr/>
            </a:p>
          </p:txBody>
        </p:sp>
        <p:sp>
          <p:nvSpPr>
            <p:cNvPr id="27" name="object 27"/>
            <p:cNvSpPr/>
            <p:nvPr/>
          </p:nvSpPr>
          <p:spPr>
            <a:xfrm>
              <a:off x="6244564" y="3068992"/>
              <a:ext cx="1510030" cy="805815"/>
            </a:xfrm>
            <a:custGeom>
              <a:avLst/>
              <a:gdLst/>
              <a:ahLst/>
              <a:cxnLst/>
              <a:rect l="l" t="t" r="r" b="b"/>
              <a:pathLst>
                <a:path w="1510029" h="805814">
                  <a:moveTo>
                    <a:pt x="82867" y="710920"/>
                  </a:moveTo>
                  <a:lnTo>
                    <a:pt x="63842" y="710920"/>
                  </a:lnTo>
                  <a:lnTo>
                    <a:pt x="63842" y="742632"/>
                  </a:lnTo>
                  <a:lnTo>
                    <a:pt x="82867" y="742632"/>
                  </a:lnTo>
                  <a:lnTo>
                    <a:pt x="82867" y="710920"/>
                  </a:lnTo>
                  <a:close/>
                </a:path>
                <a:path w="1510029" h="805814">
                  <a:moveTo>
                    <a:pt x="95554" y="780796"/>
                  </a:moveTo>
                  <a:lnTo>
                    <a:pt x="82867" y="780796"/>
                  </a:lnTo>
                  <a:lnTo>
                    <a:pt x="82867" y="768121"/>
                  </a:lnTo>
                  <a:lnTo>
                    <a:pt x="63842" y="768121"/>
                  </a:lnTo>
                  <a:lnTo>
                    <a:pt x="63842" y="799833"/>
                  </a:lnTo>
                  <a:lnTo>
                    <a:pt x="95554" y="799833"/>
                  </a:lnTo>
                  <a:lnTo>
                    <a:pt x="95554" y="780796"/>
                  </a:lnTo>
                  <a:close/>
                </a:path>
                <a:path w="1510029" h="805814">
                  <a:moveTo>
                    <a:pt x="143675" y="71780"/>
                  </a:moveTo>
                  <a:lnTo>
                    <a:pt x="71920" y="0"/>
                  </a:lnTo>
                  <a:lnTo>
                    <a:pt x="0" y="71780"/>
                  </a:lnTo>
                  <a:lnTo>
                    <a:pt x="21437" y="93230"/>
                  </a:lnTo>
                  <a:lnTo>
                    <a:pt x="71920" y="42900"/>
                  </a:lnTo>
                  <a:lnTo>
                    <a:pt x="122199" y="93230"/>
                  </a:lnTo>
                  <a:lnTo>
                    <a:pt x="143675" y="71780"/>
                  </a:lnTo>
                  <a:close/>
                </a:path>
                <a:path w="1510029" h="805814">
                  <a:moveTo>
                    <a:pt x="152730" y="780796"/>
                  </a:moveTo>
                  <a:lnTo>
                    <a:pt x="121031" y="780796"/>
                  </a:lnTo>
                  <a:lnTo>
                    <a:pt x="121031" y="799833"/>
                  </a:lnTo>
                  <a:lnTo>
                    <a:pt x="152730" y="799833"/>
                  </a:lnTo>
                  <a:lnTo>
                    <a:pt x="152730" y="780796"/>
                  </a:lnTo>
                  <a:close/>
                </a:path>
                <a:path w="1510029" h="805814">
                  <a:moveTo>
                    <a:pt x="210858" y="786257"/>
                  </a:moveTo>
                  <a:lnTo>
                    <a:pt x="179857" y="786257"/>
                  </a:lnTo>
                  <a:lnTo>
                    <a:pt x="179857" y="805319"/>
                  </a:lnTo>
                  <a:lnTo>
                    <a:pt x="210858" y="805319"/>
                  </a:lnTo>
                  <a:lnTo>
                    <a:pt x="210858" y="786257"/>
                  </a:lnTo>
                  <a:close/>
                </a:path>
                <a:path w="1510029" h="805814">
                  <a:moveTo>
                    <a:pt x="378434" y="786257"/>
                  </a:moveTo>
                  <a:lnTo>
                    <a:pt x="347433" y="786257"/>
                  </a:lnTo>
                  <a:lnTo>
                    <a:pt x="347433" y="805319"/>
                  </a:lnTo>
                  <a:lnTo>
                    <a:pt x="378434" y="805319"/>
                  </a:lnTo>
                  <a:lnTo>
                    <a:pt x="378434" y="786257"/>
                  </a:lnTo>
                  <a:close/>
                </a:path>
                <a:path w="1510029" h="805814">
                  <a:moveTo>
                    <a:pt x="433959" y="786257"/>
                  </a:moveTo>
                  <a:lnTo>
                    <a:pt x="402958" y="786257"/>
                  </a:lnTo>
                  <a:lnTo>
                    <a:pt x="402958" y="805319"/>
                  </a:lnTo>
                  <a:lnTo>
                    <a:pt x="433959" y="805319"/>
                  </a:lnTo>
                  <a:lnTo>
                    <a:pt x="433959" y="786257"/>
                  </a:lnTo>
                  <a:close/>
                </a:path>
                <a:path w="1510029" h="805814">
                  <a:moveTo>
                    <a:pt x="489712" y="786257"/>
                  </a:moveTo>
                  <a:lnTo>
                    <a:pt x="458711" y="786257"/>
                  </a:lnTo>
                  <a:lnTo>
                    <a:pt x="458711" y="805319"/>
                  </a:lnTo>
                  <a:lnTo>
                    <a:pt x="489712" y="805319"/>
                  </a:lnTo>
                  <a:lnTo>
                    <a:pt x="489712" y="786257"/>
                  </a:lnTo>
                  <a:close/>
                </a:path>
                <a:path w="1510029" h="805814">
                  <a:moveTo>
                    <a:pt x="545934" y="786257"/>
                  </a:moveTo>
                  <a:lnTo>
                    <a:pt x="514781" y="786257"/>
                  </a:lnTo>
                  <a:lnTo>
                    <a:pt x="514781" y="805319"/>
                  </a:lnTo>
                  <a:lnTo>
                    <a:pt x="545934" y="805319"/>
                  </a:lnTo>
                  <a:lnTo>
                    <a:pt x="545934" y="786257"/>
                  </a:lnTo>
                  <a:close/>
                </a:path>
                <a:path w="1510029" h="805814">
                  <a:moveTo>
                    <a:pt x="601535" y="786257"/>
                  </a:moveTo>
                  <a:lnTo>
                    <a:pt x="570522" y="786257"/>
                  </a:lnTo>
                  <a:lnTo>
                    <a:pt x="570522" y="805319"/>
                  </a:lnTo>
                  <a:lnTo>
                    <a:pt x="601535" y="805319"/>
                  </a:lnTo>
                  <a:lnTo>
                    <a:pt x="601535" y="786257"/>
                  </a:lnTo>
                  <a:close/>
                </a:path>
                <a:path w="1510029" h="805814">
                  <a:moveTo>
                    <a:pt x="657275" y="786257"/>
                  </a:moveTo>
                  <a:lnTo>
                    <a:pt x="626059" y="786257"/>
                  </a:lnTo>
                  <a:lnTo>
                    <a:pt x="626059" y="805319"/>
                  </a:lnTo>
                  <a:lnTo>
                    <a:pt x="657275" y="805319"/>
                  </a:lnTo>
                  <a:lnTo>
                    <a:pt x="657275" y="786257"/>
                  </a:lnTo>
                  <a:close/>
                </a:path>
                <a:path w="1510029" h="805814">
                  <a:moveTo>
                    <a:pt x="713257" y="786257"/>
                  </a:moveTo>
                  <a:lnTo>
                    <a:pt x="682282" y="786257"/>
                  </a:lnTo>
                  <a:lnTo>
                    <a:pt x="682282" y="805319"/>
                  </a:lnTo>
                  <a:lnTo>
                    <a:pt x="713257" y="805319"/>
                  </a:lnTo>
                  <a:lnTo>
                    <a:pt x="713257" y="786257"/>
                  </a:lnTo>
                  <a:close/>
                </a:path>
                <a:path w="1510029" h="805814">
                  <a:moveTo>
                    <a:pt x="769010" y="786257"/>
                  </a:moveTo>
                  <a:lnTo>
                    <a:pt x="737781" y="786257"/>
                  </a:lnTo>
                  <a:lnTo>
                    <a:pt x="737781" y="805319"/>
                  </a:lnTo>
                  <a:lnTo>
                    <a:pt x="769010" y="805319"/>
                  </a:lnTo>
                  <a:lnTo>
                    <a:pt x="769010" y="786257"/>
                  </a:lnTo>
                  <a:close/>
                </a:path>
                <a:path w="1510029" h="805814">
                  <a:moveTo>
                    <a:pt x="824788" y="786257"/>
                  </a:moveTo>
                  <a:lnTo>
                    <a:pt x="793623" y="786257"/>
                  </a:lnTo>
                  <a:lnTo>
                    <a:pt x="793623" y="805319"/>
                  </a:lnTo>
                  <a:lnTo>
                    <a:pt x="824788" y="805319"/>
                  </a:lnTo>
                  <a:lnTo>
                    <a:pt x="824788" y="786257"/>
                  </a:lnTo>
                  <a:close/>
                </a:path>
                <a:path w="1510029" h="805814">
                  <a:moveTo>
                    <a:pt x="880859" y="786257"/>
                  </a:moveTo>
                  <a:lnTo>
                    <a:pt x="849858" y="786257"/>
                  </a:lnTo>
                  <a:lnTo>
                    <a:pt x="849858" y="805319"/>
                  </a:lnTo>
                  <a:lnTo>
                    <a:pt x="880859" y="805319"/>
                  </a:lnTo>
                  <a:lnTo>
                    <a:pt x="880859" y="786257"/>
                  </a:lnTo>
                  <a:close/>
                </a:path>
                <a:path w="1510029" h="805814">
                  <a:moveTo>
                    <a:pt x="936358" y="786257"/>
                  </a:moveTo>
                  <a:lnTo>
                    <a:pt x="905383" y="786257"/>
                  </a:lnTo>
                  <a:lnTo>
                    <a:pt x="905383" y="805319"/>
                  </a:lnTo>
                  <a:lnTo>
                    <a:pt x="936358" y="805319"/>
                  </a:lnTo>
                  <a:lnTo>
                    <a:pt x="936358" y="786257"/>
                  </a:lnTo>
                  <a:close/>
                </a:path>
                <a:path w="1510029" h="805814">
                  <a:moveTo>
                    <a:pt x="992098" y="786257"/>
                  </a:moveTo>
                  <a:lnTo>
                    <a:pt x="961136" y="786257"/>
                  </a:lnTo>
                  <a:lnTo>
                    <a:pt x="961136" y="805319"/>
                  </a:lnTo>
                  <a:lnTo>
                    <a:pt x="992098" y="805319"/>
                  </a:lnTo>
                  <a:lnTo>
                    <a:pt x="992098" y="786257"/>
                  </a:lnTo>
                  <a:close/>
                </a:path>
                <a:path w="1510029" h="805814">
                  <a:moveTo>
                    <a:pt x="1048334" y="786257"/>
                  </a:moveTo>
                  <a:lnTo>
                    <a:pt x="1017104" y="786257"/>
                  </a:lnTo>
                  <a:lnTo>
                    <a:pt x="1017104" y="805319"/>
                  </a:lnTo>
                  <a:lnTo>
                    <a:pt x="1048334" y="805319"/>
                  </a:lnTo>
                  <a:lnTo>
                    <a:pt x="1048334" y="786257"/>
                  </a:lnTo>
                  <a:close/>
                </a:path>
                <a:path w="1510029" h="805814">
                  <a:moveTo>
                    <a:pt x="1103858" y="786257"/>
                  </a:moveTo>
                  <a:lnTo>
                    <a:pt x="1072946" y="786257"/>
                  </a:lnTo>
                  <a:lnTo>
                    <a:pt x="1072946" y="805319"/>
                  </a:lnTo>
                  <a:lnTo>
                    <a:pt x="1103858" y="805319"/>
                  </a:lnTo>
                  <a:lnTo>
                    <a:pt x="1103858" y="786257"/>
                  </a:lnTo>
                  <a:close/>
                </a:path>
                <a:path w="1510029" h="805814">
                  <a:moveTo>
                    <a:pt x="1159700" y="786257"/>
                  </a:moveTo>
                  <a:lnTo>
                    <a:pt x="1128699" y="786257"/>
                  </a:lnTo>
                  <a:lnTo>
                    <a:pt x="1128699" y="805319"/>
                  </a:lnTo>
                  <a:lnTo>
                    <a:pt x="1159700" y="805319"/>
                  </a:lnTo>
                  <a:lnTo>
                    <a:pt x="1159700" y="786257"/>
                  </a:lnTo>
                  <a:close/>
                </a:path>
                <a:path w="1510029" h="805814">
                  <a:moveTo>
                    <a:pt x="1215936" y="786257"/>
                  </a:moveTo>
                  <a:lnTo>
                    <a:pt x="1184668" y="786257"/>
                  </a:lnTo>
                  <a:lnTo>
                    <a:pt x="1184668" y="805319"/>
                  </a:lnTo>
                  <a:lnTo>
                    <a:pt x="1215936" y="805319"/>
                  </a:lnTo>
                  <a:lnTo>
                    <a:pt x="1215936" y="786257"/>
                  </a:lnTo>
                  <a:close/>
                </a:path>
                <a:path w="1510029" h="805814">
                  <a:moveTo>
                    <a:pt x="1271435" y="786257"/>
                  </a:moveTo>
                  <a:lnTo>
                    <a:pt x="1240205" y="786257"/>
                  </a:lnTo>
                  <a:lnTo>
                    <a:pt x="1240205" y="805319"/>
                  </a:lnTo>
                  <a:lnTo>
                    <a:pt x="1271435" y="805319"/>
                  </a:lnTo>
                  <a:lnTo>
                    <a:pt x="1271435" y="786257"/>
                  </a:lnTo>
                  <a:close/>
                </a:path>
                <a:path w="1510029" h="805814">
                  <a:moveTo>
                    <a:pt x="1327175" y="786257"/>
                  </a:moveTo>
                  <a:lnTo>
                    <a:pt x="1295958" y="786257"/>
                  </a:lnTo>
                  <a:lnTo>
                    <a:pt x="1295958" y="805319"/>
                  </a:lnTo>
                  <a:lnTo>
                    <a:pt x="1327175" y="805319"/>
                  </a:lnTo>
                  <a:lnTo>
                    <a:pt x="1327175" y="786257"/>
                  </a:lnTo>
                  <a:close/>
                </a:path>
                <a:path w="1510029" h="805814">
                  <a:moveTo>
                    <a:pt x="1384452" y="782002"/>
                  </a:moveTo>
                  <a:lnTo>
                    <a:pt x="1352753" y="782002"/>
                  </a:lnTo>
                  <a:lnTo>
                    <a:pt x="1352753" y="801319"/>
                  </a:lnTo>
                  <a:lnTo>
                    <a:pt x="1384452" y="801319"/>
                  </a:lnTo>
                  <a:lnTo>
                    <a:pt x="1384452" y="782002"/>
                  </a:lnTo>
                  <a:close/>
                </a:path>
                <a:path w="1510029" h="805814">
                  <a:moveTo>
                    <a:pt x="1441602" y="769289"/>
                  </a:moveTo>
                  <a:lnTo>
                    <a:pt x="1422539" y="769289"/>
                  </a:lnTo>
                  <a:lnTo>
                    <a:pt x="1422539" y="782002"/>
                  </a:lnTo>
                  <a:lnTo>
                    <a:pt x="1409903" y="782002"/>
                  </a:lnTo>
                  <a:lnTo>
                    <a:pt x="1409903" y="801319"/>
                  </a:lnTo>
                  <a:lnTo>
                    <a:pt x="1441602" y="801319"/>
                  </a:lnTo>
                  <a:lnTo>
                    <a:pt x="1441602" y="769289"/>
                  </a:lnTo>
                  <a:close/>
                </a:path>
                <a:path w="1510029" h="805814">
                  <a:moveTo>
                    <a:pt x="1441602" y="712101"/>
                  </a:moveTo>
                  <a:lnTo>
                    <a:pt x="1422539" y="712101"/>
                  </a:lnTo>
                  <a:lnTo>
                    <a:pt x="1422539" y="744067"/>
                  </a:lnTo>
                  <a:lnTo>
                    <a:pt x="1441602" y="744067"/>
                  </a:lnTo>
                  <a:lnTo>
                    <a:pt x="1441602" y="712101"/>
                  </a:lnTo>
                  <a:close/>
                </a:path>
                <a:path w="1510029" h="805814">
                  <a:moveTo>
                    <a:pt x="1447063" y="656717"/>
                  </a:moveTo>
                  <a:lnTo>
                    <a:pt x="1428038" y="656717"/>
                  </a:lnTo>
                  <a:lnTo>
                    <a:pt x="1428038" y="685850"/>
                  </a:lnTo>
                  <a:lnTo>
                    <a:pt x="1447063" y="685850"/>
                  </a:lnTo>
                  <a:lnTo>
                    <a:pt x="1447063" y="656717"/>
                  </a:lnTo>
                  <a:close/>
                </a:path>
                <a:path w="1510029" h="805814">
                  <a:moveTo>
                    <a:pt x="1447063" y="604507"/>
                  </a:moveTo>
                  <a:lnTo>
                    <a:pt x="1428038" y="604507"/>
                  </a:lnTo>
                  <a:lnTo>
                    <a:pt x="1428038" y="633615"/>
                  </a:lnTo>
                  <a:lnTo>
                    <a:pt x="1447063" y="633615"/>
                  </a:lnTo>
                  <a:lnTo>
                    <a:pt x="1447063" y="604507"/>
                  </a:lnTo>
                  <a:close/>
                </a:path>
                <a:path w="1510029" h="805814">
                  <a:moveTo>
                    <a:pt x="1447063" y="552310"/>
                  </a:moveTo>
                  <a:lnTo>
                    <a:pt x="1428038" y="552310"/>
                  </a:lnTo>
                  <a:lnTo>
                    <a:pt x="1428038" y="581406"/>
                  </a:lnTo>
                  <a:lnTo>
                    <a:pt x="1447063" y="581406"/>
                  </a:lnTo>
                  <a:lnTo>
                    <a:pt x="1447063" y="552310"/>
                  </a:lnTo>
                  <a:close/>
                </a:path>
                <a:path w="1510029" h="805814">
                  <a:moveTo>
                    <a:pt x="1447063" y="499592"/>
                  </a:moveTo>
                  <a:lnTo>
                    <a:pt x="1428038" y="499592"/>
                  </a:lnTo>
                  <a:lnTo>
                    <a:pt x="1428038" y="528701"/>
                  </a:lnTo>
                  <a:lnTo>
                    <a:pt x="1447063" y="528701"/>
                  </a:lnTo>
                  <a:lnTo>
                    <a:pt x="1447063" y="499592"/>
                  </a:lnTo>
                  <a:close/>
                </a:path>
                <a:path w="1510029" h="805814">
                  <a:moveTo>
                    <a:pt x="1447063" y="447636"/>
                  </a:moveTo>
                  <a:lnTo>
                    <a:pt x="1428038" y="447636"/>
                  </a:lnTo>
                  <a:lnTo>
                    <a:pt x="1428038" y="476745"/>
                  </a:lnTo>
                  <a:lnTo>
                    <a:pt x="1447063" y="476745"/>
                  </a:lnTo>
                  <a:lnTo>
                    <a:pt x="1447063" y="447636"/>
                  </a:lnTo>
                  <a:close/>
                </a:path>
                <a:path w="1510029" h="805814">
                  <a:moveTo>
                    <a:pt x="1447063" y="395401"/>
                  </a:moveTo>
                  <a:lnTo>
                    <a:pt x="1428038" y="395401"/>
                  </a:lnTo>
                  <a:lnTo>
                    <a:pt x="1428038" y="424510"/>
                  </a:lnTo>
                  <a:lnTo>
                    <a:pt x="1447063" y="424510"/>
                  </a:lnTo>
                  <a:lnTo>
                    <a:pt x="1447063" y="395401"/>
                  </a:lnTo>
                  <a:close/>
                </a:path>
                <a:path w="1510029" h="805814">
                  <a:moveTo>
                    <a:pt x="1447063" y="342722"/>
                  </a:moveTo>
                  <a:lnTo>
                    <a:pt x="1428038" y="342722"/>
                  </a:lnTo>
                  <a:lnTo>
                    <a:pt x="1428038" y="371830"/>
                  </a:lnTo>
                  <a:lnTo>
                    <a:pt x="1447063" y="371830"/>
                  </a:lnTo>
                  <a:lnTo>
                    <a:pt x="1447063" y="342722"/>
                  </a:lnTo>
                  <a:close/>
                </a:path>
                <a:path w="1510029" h="805814">
                  <a:moveTo>
                    <a:pt x="1447063" y="290487"/>
                  </a:moveTo>
                  <a:lnTo>
                    <a:pt x="1428038" y="290487"/>
                  </a:lnTo>
                  <a:lnTo>
                    <a:pt x="1428038" y="319849"/>
                  </a:lnTo>
                  <a:lnTo>
                    <a:pt x="1447063" y="319849"/>
                  </a:lnTo>
                  <a:lnTo>
                    <a:pt x="1447063" y="290487"/>
                  </a:lnTo>
                  <a:close/>
                </a:path>
                <a:path w="1510029" h="805814">
                  <a:moveTo>
                    <a:pt x="1447063" y="238277"/>
                  </a:moveTo>
                  <a:lnTo>
                    <a:pt x="1428038" y="238277"/>
                  </a:lnTo>
                  <a:lnTo>
                    <a:pt x="1428038" y="267322"/>
                  </a:lnTo>
                  <a:lnTo>
                    <a:pt x="1447063" y="267322"/>
                  </a:lnTo>
                  <a:lnTo>
                    <a:pt x="1447063" y="238277"/>
                  </a:lnTo>
                  <a:close/>
                </a:path>
                <a:path w="1510029" h="805814">
                  <a:moveTo>
                    <a:pt x="1447063" y="185508"/>
                  </a:moveTo>
                  <a:lnTo>
                    <a:pt x="1428038" y="185508"/>
                  </a:lnTo>
                  <a:lnTo>
                    <a:pt x="1428038" y="214858"/>
                  </a:lnTo>
                  <a:lnTo>
                    <a:pt x="1447063" y="214858"/>
                  </a:lnTo>
                  <a:lnTo>
                    <a:pt x="1447063" y="185508"/>
                  </a:lnTo>
                  <a:close/>
                </a:path>
                <a:path w="1510029" h="805814">
                  <a:moveTo>
                    <a:pt x="1447063" y="133515"/>
                  </a:moveTo>
                  <a:lnTo>
                    <a:pt x="1428038" y="133515"/>
                  </a:lnTo>
                  <a:lnTo>
                    <a:pt x="1428038" y="162623"/>
                  </a:lnTo>
                  <a:lnTo>
                    <a:pt x="1447063" y="162623"/>
                  </a:lnTo>
                  <a:lnTo>
                    <a:pt x="1447063" y="133515"/>
                  </a:lnTo>
                  <a:close/>
                </a:path>
                <a:path w="1510029" h="805814">
                  <a:moveTo>
                    <a:pt x="1447063" y="81318"/>
                  </a:moveTo>
                  <a:lnTo>
                    <a:pt x="1428038" y="81318"/>
                  </a:lnTo>
                  <a:lnTo>
                    <a:pt x="1428038" y="110426"/>
                  </a:lnTo>
                  <a:lnTo>
                    <a:pt x="1447063" y="110426"/>
                  </a:lnTo>
                  <a:lnTo>
                    <a:pt x="1447063" y="81318"/>
                  </a:lnTo>
                  <a:close/>
                </a:path>
                <a:path w="1510029" h="805814">
                  <a:moveTo>
                    <a:pt x="1509522" y="84721"/>
                  </a:moveTo>
                  <a:lnTo>
                    <a:pt x="1437830" y="12687"/>
                  </a:lnTo>
                  <a:lnTo>
                    <a:pt x="1365846" y="84721"/>
                  </a:lnTo>
                  <a:lnTo>
                    <a:pt x="1387284" y="106159"/>
                  </a:lnTo>
                  <a:lnTo>
                    <a:pt x="1437830" y="55613"/>
                  </a:lnTo>
                  <a:lnTo>
                    <a:pt x="1488046" y="106159"/>
                  </a:lnTo>
                  <a:lnTo>
                    <a:pt x="1509522" y="84721"/>
                  </a:lnTo>
                  <a:close/>
                </a:path>
              </a:pathLst>
            </a:custGeom>
            <a:solidFill>
              <a:srgbClr val="000000"/>
            </a:solidFill>
          </p:spPr>
          <p:txBody>
            <a:bodyPr wrap="square" lIns="0" tIns="0" rIns="0" bIns="0" rtlCol="0"/>
            <a:lstStyle/>
            <a:p>
              <a:endParaRPr/>
            </a:p>
          </p:txBody>
        </p:sp>
      </p:grpSp>
      <p:sp>
        <p:nvSpPr>
          <p:cNvPr id="28" name="object 28"/>
          <p:cNvSpPr txBox="1"/>
          <p:nvPr/>
        </p:nvSpPr>
        <p:spPr>
          <a:xfrm>
            <a:off x="6777079" y="3676107"/>
            <a:ext cx="542290" cy="161925"/>
          </a:xfrm>
          <a:prstGeom prst="rect">
            <a:avLst/>
          </a:prstGeom>
        </p:spPr>
        <p:txBody>
          <a:bodyPr vert="horz" wrap="square" lIns="0" tIns="11430" rIns="0" bIns="0" rtlCol="0">
            <a:spAutoFit/>
          </a:bodyPr>
          <a:lstStyle/>
          <a:p>
            <a:pPr marL="12700">
              <a:lnSpc>
                <a:spcPct val="100000"/>
              </a:lnSpc>
              <a:spcBef>
                <a:spcPts val="90"/>
              </a:spcBef>
            </a:pPr>
            <a:r>
              <a:rPr sz="900" spc="-5" dirty="0">
                <a:latin typeface="Arial"/>
                <a:cs typeface="Arial"/>
              </a:rPr>
              <a:t>mes</a:t>
            </a:r>
            <a:r>
              <a:rPr sz="900" spc="-10" dirty="0">
                <a:latin typeface="Arial"/>
                <a:cs typeface="Arial"/>
              </a:rPr>
              <a:t>s</a:t>
            </a:r>
            <a:r>
              <a:rPr sz="900" spc="-5" dirty="0">
                <a:latin typeface="Arial"/>
                <a:cs typeface="Arial"/>
              </a:rPr>
              <a:t>ag</a:t>
            </a:r>
            <a:r>
              <a:rPr sz="900" spc="-10" dirty="0">
                <a:latin typeface="Arial"/>
                <a:cs typeface="Arial"/>
              </a:rPr>
              <a:t>e</a:t>
            </a:r>
            <a:r>
              <a:rPr sz="900" spc="-5" dirty="0">
                <a:latin typeface="Arial"/>
                <a:cs typeface="Arial"/>
              </a:rPr>
              <a:t>s</a:t>
            </a:r>
            <a:endParaRPr sz="900">
              <a:latin typeface="Arial"/>
              <a:cs typeface="Arial"/>
            </a:endParaRPr>
          </a:p>
        </p:txBody>
      </p:sp>
      <p:sp>
        <p:nvSpPr>
          <p:cNvPr id="29" name="object 29"/>
          <p:cNvSpPr txBox="1"/>
          <p:nvPr/>
        </p:nvSpPr>
        <p:spPr>
          <a:xfrm>
            <a:off x="4476524" y="3676107"/>
            <a:ext cx="542290" cy="161925"/>
          </a:xfrm>
          <a:prstGeom prst="rect">
            <a:avLst/>
          </a:prstGeom>
        </p:spPr>
        <p:txBody>
          <a:bodyPr vert="horz" wrap="square" lIns="0" tIns="11430" rIns="0" bIns="0" rtlCol="0">
            <a:spAutoFit/>
          </a:bodyPr>
          <a:lstStyle/>
          <a:p>
            <a:pPr marL="12700">
              <a:lnSpc>
                <a:spcPct val="100000"/>
              </a:lnSpc>
              <a:spcBef>
                <a:spcPts val="90"/>
              </a:spcBef>
            </a:pPr>
            <a:r>
              <a:rPr sz="900" spc="-5" dirty="0">
                <a:latin typeface="Arial"/>
                <a:cs typeface="Arial"/>
              </a:rPr>
              <a:t>mes</a:t>
            </a:r>
            <a:r>
              <a:rPr sz="900" spc="-10" dirty="0">
                <a:latin typeface="Arial"/>
                <a:cs typeface="Arial"/>
              </a:rPr>
              <a:t>s</a:t>
            </a:r>
            <a:r>
              <a:rPr sz="900" spc="-5" dirty="0">
                <a:latin typeface="Arial"/>
                <a:cs typeface="Arial"/>
              </a:rPr>
              <a:t>ag</a:t>
            </a:r>
            <a:r>
              <a:rPr sz="900" spc="-10" dirty="0">
                <a:latin typeface="Arial"/>
                <a:cs typeface="Arial"/>
              </a:rPr>
              <a:t>e</a:t>
            </a:r>
            <a:r>
              <a:rPr sz="900" spc="-5" dirty="0">
                <a:latin typeface="Arial"/>
                <a:cs typeface="Arial"/>
              </a:rPr>
              <a:t>s</a:t>
            </a:r>
            <a:endParaRPr sz="900">
              <a:latin typeface="Arial"/>
              <a:cs typeface="Arial"/>
            </a:endParaRPr>
          </a:p>
        </p:txBody>
      </p:sp>
      <p:sp>
        <p:nvSpPr>
          <p:cNvPr id="30" name="object 30"/>
          <p:cNvSpPr txBox="1"/>
          <p:nvPr/>
        </p:nvSpPr>
        <p:spPr>
          <a:xfrm>
            <a:off x="5536139" y="4942349"/>
            <a:ext cx="847090" cy="877569"/>
          </a:xfrm>
          <a:prstGeom prst="rect">
            <a:avLst/>
          </a:prstGeom>
        </p:spPr>
        <p:txBody>
          <a:bodyPr vert="horz" wrap="square" lIns="0" tIns="12700" rIns="0" bIns="0" rtlCol="0">
            <a:spAutoFit/>
          </a:bodyPr>
          <a:lstStyle/>
          <a:p>
            <a:pPr marL="12700">
              <a:lnSpc>
                <a:spcPct val="100000"/>
              </a:lnSpc>
              <a:spcBef>
                <a:spcPts val="100"/>
              </a:spcBef>
            </a:pPr>
            <a:r>
              <a:rPr sz="1250" dirty="0">
                <a:latin typeface="Arial"/>
                <a:cs typeface="Arial"/>
              </a:rPr>
              <a:t>mi</a:t>
            </a:r>
            <a:r>
              <a:rPr sz="1250" spc="-5" dirty="0">
                <a:latin typeface="Arial"/>
                <a:cs typeface="Arial"/>
              </a:rPr>
              <a:t>c</a:t>
            </a:r>
            <a:r>
              <a:rPr sz="1250" dirty="0">
                <a:latin typeface="Arial"/>
                <a:cs typeface="Arial"/>
              </a:rPr>
              <a:t>rokernel</a:t>
            </a:r>
            <a:endParaRPr sz="1250">
              <a:latin typeface="Arial"/>
              <a:cs typeface="Arial"/>
            </a:endParaRPr>
          </a:p>
          <a:p>
            <a:pPr>
              <a:lnSpc>
                <a:spcPct val="100000"/>
              </a:lnSpc>
            </a:pPr>
            <a:endParaRPr sz="1400">
              <a:latin typeface="Arial"/>
              <a:cs typeface="Arial"/>
            </a:endParaRPr>
          </a:p>
          <a:p>
            <a:pPr>
              <a:lnSpc>
                <a:spcPct val="100000"/>
              </a:lnSpc>
              <a:spcBef>
                <a:spcPts val="25"/>
              </a:spcBef>
            </a:pPr>
            <a:endParaRPr sz="1800">
              <a:latin typeface="Arial"/>
              <a:cs typeface="Arial"/>
            </a:endParaRPr>
          </a:p>
          <a:p>
            <a:pPr marL="92075">
              <a:lnSpc>
                <a:spcPct val="100000"/>
              </a:lnSpc>
              <a:spcBef>
                <a:spcPts val="5"/>
              </a:spcBef>
            </a:pPr>
            <a:r>
              <a:rPr sz="1250" dirty="0">
                <a:latin typeface="Arial"/>
                <a:cs typeface="Arial"/>
              </a:rPr>
              <a:t>hardware</a:t>
            </a:r>
            <a:endParaRPr sz="1250">
              <a:latin typeface="Arial"/>
              <a:cs typeface="Arial"/>
            </a:endParaRPr>
          </a:p>
        </p:txBody>
      </p:sp>
      <p:grpSp>
        <p:nvGrpSpPr>
          <p:cNvPr id="31" name="object 31"/>
          <p:cNvGrpSpPr/>
          <p:nvPr/>
        </p:nvGrpSpPr>
        <p:grpSpPr>
          <a:xfrm>
            <a:off x="4074095" y="2369240"/>
            <a:ext cx="5489575" cy="3308985"/>
            <a:chOff x="4074095" y="2369240"/>
            <a:chExt cx="5489575" cy="3308985"/>
          </a:xfrm>
        </p:grpSpPr>
        <p:sp>
          <p:nvSpPr>
            <p:cNvPr id="32" name="object 32"/>
            <p:cNvSpPr/>
            <p:nvPr/>
          </p:nvSpPr>
          <p:spPr>
            <a:xfrm>
              <a:off x="4074083" y="4988712"/>
              <a:ext cx="3601720" cy="689610"/>
            </a:xfrm>
            <a:custGeom>
              <a:avLst/>
              <a:gdLst/>
              <a:ahLst/>
              <a:cxnLst/>
              <a:rect l="l" t="t" r="r" b="b"/>
              <a:pathLst>
                <a:path w="3601720" h="689610">
                  <a:moveTo>
                    <a:pt x="83616" y="112801"/>
                  </a:moveTo>
                  <a:lnTo>
                    <a:pt x="41656" y="40538"/>
                  </a:lnTo>
                  <a:lnTo>
                    <a:pt x="0" y="112801"/>
                  </a:lnTo>
                  <a:lnTo>
                    <a:pt x="36690" y="112801"/>
                  </a:lnTo>
                  <a:lnTo>
                    <a:pt x="36690" y="351955"/>
                  </a:lnTo>
                  <a:lnTo>
                    <a:pt x="36690" y="616673"/>
                  </a:lnTo>
                  <a:lnTo>
                    <a:pt x="0" y="616673"/>
                  </a:lnTo>
                  <a:lnTo>
                    <a:pt x="41871" y="689165"/>
                  </a:lnTo>
                  <a:lnTo>
                    <a:pt x="83616" y="616673"/>
                  </a:lnTo>
                  <a:lnTo>
                    <a:pt x="46926" y="616673"/>
                  </a:lnTo>
                  <a:lnTo>
                    <a:pt x="46926" y="351955"/>
                  </a:lnTo>
                  <a:lnTo>
                    <a:pt x="46926" y="112801"/>
                  </a:lnTo>
                  <a:lnTo>
                    <a:pt x="83616" y="112801"/>
                  </a:lnTo>
                  <a:close/>
                </a:path>
                <a:path w="3601720" h="689610">
                  <a:moveTo>
                    <a:pt x="3601605" y="72504"/>
                  </a:moveTo>
                  <a:lnTo>
                    <a:pt x="3559899" y="0"/>
                  </a:lnTo>
                  <a:lnTo>
                    <a:pt x="3518179" y="72504"/>
                  </a:lnTo>
                  <a:lnTo>
                    <a:pt x="3554933" y="72504"/>
                  </a:lnTo>
                  <a:lnTo>
                    <a:pt x="3554933" y="311670"/>
                  </a:lnTo>
                  <a:lnTo>
                    <a:pt x="3554933" y="576122"/>
                  </a:lnTo>
                  <a:lnTo>
                    <a:pt x="3518179" y="576122"/>
                  </a:lnTo>
                  <a:lnTo>
                    <a:pt x="3559899" y="648639"/>
                  </a:lnTo>
                  <a:lnTo>
                    <a:pt x="3601605" y="576122"/>
                  </a:lnTo>
                  <a:lnTo>
                    <a:pt x="3564852" y="576122"/>
                  </a:lnTo>
                  <a:lnTo>
                    <a:pt x="3564852" y="311670"/>
                  </a:lnTo>
                  <a:lnTo>
                    <a:pt x="3564852" y="72504"/>
                  </a:lnTo>
                  <a:lnTo>
                    <a:pt x="3601605" y="72504"/>
                  </a:lnTo>
                  <a:close/>
                </a:path>
              </a:pathLst>
            </a:custGeom>
            <a:solidFill>
              <a:srgbClr val="000000"/>
            </a:solidFill>
          </p:spPr>
          <p:txBody>
            <a:bodyPr wrap="square" lIns="0" tIns="0" rIns="0" bIns="0" rtlCol="0"/>
            <a:lstStyle/>
            <a:p>
              <a:endParaRPr/>
            </a:p>
          </p:txBody>
        </p:sp>
        <p:sp>
          <p:nvSpPr>
            <p:cNvPr id="33" name="object 33"/>
            <p:cNvSpPr/>
            <p:nvPr/>
          </p:nvSpPr>
          <p:spPr>
            <a:xfrm>
              <a:off x="9414070" y="2375548"/>
              <a:ext cx="143510" cy="2783840"/>
            </a:xfrm>
            <a:custGeom>
              <a:avLst/>
              <a:gdLst/>
              <a:ahLst/>
              <a:cxnLst/>
              <a:rect l="l" t="t" r="r" b="b"/>
              <a:pathLst>
                <a:path w="143509" h="2783840">
                  <a:moveTo>
                    <a:pt x="9561" y="0"/>
                  </a:moveTo>
                  <a:lnTo>
                    <a:pt x="142982" y="0"/>
                  </a:lnTo>
                  <a:lnTo>
                    <a:pt x="142982" y="810785"/>
                  </a:lnTo>
                  <a:lnTo>
                    <a:pt x="9561" y="810785"/>
                  </a:lnTo>
                </a:path>
                <a:path w="143509" h="2783840">
                  <a:moveTo>
                    <a:pt x="0" y="1319651"/>
                  </a:moveTo>
                  <a:lnTo>
                    <a:pt x="133452" y="1319651"/>
                  </a:lnTo>
                  <a:lnTo>
                    <a:pt x="133452" y="2783845"/>
                  </a:lnTo>
                  <a:lnTo>
                    <a:pt x="0" y="2783845"/>
                  </a:lnTo>
                </a:path>
              </a:pathLst>
            </a:custGeom>
            <a:ln w="12618">
              <a:solidFill>
                <a:srgbClr val="000000"/>
              </a:solidFill>
            </a:ln>
          </p:spPr>
          <p:txBody>
            <a:bodyPr wrap="square" lIns="0" tIns="0" rIns="0" bIns="0" rtlCol="0"/>
            <a:lstStyle/>
            <a:p>
              <a:endParaRPr/>
            </a:p>
          </p:txBody>
        </p:sp>
      </p:grpSp>
      <p:sp>
        <p:nvSpPr>
          <p:cNvPr id="34" name="object 34"/>
          <p:cNvSpPr txBox="1"/>
          <p:nvPr/>
        </p:nvSpPr>
        <p:spPr>
          <a:xfrm>
            <a:off x="9601755" y="2553587"/>
            <a:ext cx="423545" cy="407670"/>
          </a:xfrm>
          <a:prstGeom prst="rect">
            <a:avLst/>
          </a:prstGeom>
        </p:spPr>
        <p:txBody>
          <a:bodyPr vert="horz" wrap="square" lIns="0" tIns="12700" rIns="0" bIns="0" rtlCol="0">
            <a:spAutoFit/>
          </a:bodyPr>
          <a:lstStyle/>
          <a:p>
            <a:pPr marL="12700" marR="5080">
              <a:lnSpc>
                <a:spcPct val="100000"/>
              </a:lnSpc>
              <a:spcBef>
                <a:spcPts val="100"/>
              </a:spcBef>
            </a:pPr>
            <a:r>
              <a:rPr sz="1250" dirty="0">
                <a:latin typeface="Arial"/>
                <a:cs typeface="Arial"/>
              </a:rPr>
              <a:t>user  mode</a:t>
            </a:r>
            <a:endParaRPr sz="1250">
              <a:latin typeface="Arial"/>
              <a:cs typeface="Arial"/>
            </a:endParaRPr>
          </a:p>
        </p:txBody>
      </p:sp>
      <p:sp>
        <p:nvSpPr>
          <p:cNvPr id="35" name="object 35"/>
          <p:cNvSpPr txBox="1"/>
          <p:nvPr/>
        </p:nvSpPr>
        <p:spPr>
          <a:xfrm>
            <a:off x="9623928" y="4176588"/>
            <a:ext cx="459105" cy="407670"/>
          </a:xfrm>
          <a:prstGeom prst="rect">
            <a:avLst/>
          </a:prstGeom>
        </p:spPr>
        <p:txBody>
          <a:bodyPr vert="horz" wrap="square" lIns="0" tIns="12700" rIns="0" bIns="0" rtlCol="0">
            <a:spAutoFit/>
          </a:bodyPr>
          <a:lstStyle/>
          <a:p>
            <a:pPr marL="12700" marR="5080">
              <a:lnSpc>
                <a:spcPct val="100000"/>
              </a:lnSpc>
              <a:spcBef>
                <a:spcPts val="100"/>
              </a:spcBef>
            </a:pPr>
            <a:r>
              <a:rPr sz="1250" dirty="0">
                <a:latin typeface="Arial"/>
                <a:cs typeface="Arial"/>
              </a:rPr>
              <a:t>kernel  mode</a:t>
            </a:r>
            <a:endParaRPr sz="1250">
              <a:latin typeface="Arial"/>
              <a:cs typeface="Arial"/>
            </a:endParaRPr>
          </a:p>
        </p:txBody>
      </p:sp>
    </p:spTree>
    <p:extLst>
      <p:ext uri="{BB962C8B-B14F-4D97-AF65-F5344CB8AC3E}">
        <p14:creationId xmlns:p14="http://schemas.microsoft.com/office/powerpoint/2010/main" val="287631714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59968"/>
            <a:ext cx="7271384" cy="697230"/>
          </a:xfrm>
          <a:prstGeom prst="rect">
            <a:avLst/>
          </a:prstGeom>
        </p:spPr>
        <p:txBody>
          <a:bodyPr vert="horz" wrap="square" lIns="0" tIns="13335" rIns="0" bIns="0" rtlCol="0">
            <a:spAutoFit/>
          </a:bodyPr>
          <a:lstStyle/>
          <a:p>
            <a:pPr marL="12700">
              <a:lnSpc>
                <a:spcPct val="100000"/>
              </a:lnSpc>
              <a:spcBef>
                <a:spcPts val="105"/>
              </a:spcBef>
            </a:pPr>
            <a:r>
              <a:rPr spc="-5" dirty="0">
                <a:solidFill>
                  <a:srgbClr val="FF0000"/>
                </a:solidFill>
                <a:latin typeface="Times New Roman"/>
                <a:cs typeface="Times New Roman"/>
              </a:rPr>
              <a:t>Microkernel </a:t>
            </a:r>
            <a:r>
              <a:rPr dirty="0">
                <a:solidFill>
                  <a:srgbClr val="FF0000"/>
                </a:solidFill>
                <a:latin typeface="Times New Roman"/>
                <a:cs typeface="Times New Roman"/>
              </a:rPr>
              <a:t>System</a:t>
            </a:r>
            <a:r>
              <a:rPr spc="-95" dirty="0">
                <a:solidFill>
                  <a:srgbClr val="FF0000"/>
                </a:solidFill>
                <a:latin typeface="Times New Roman"/>
                <a:cs typeface="Times New Roman"/>
              </a:rPr>
              <a:t> </a:t>
            </a:r>
            <a:r>
              <a:rPr spc="-10" dirty="0">
                <a:solidFill>
                  <a:srgbClr val="FF0000"/>
                </a:solidFill>
                <a:latin typeface="Times New Roman"/>
                <a:cs typeface="Times New Roman"/>
              </a:rPr>
              <a:t>Structure</a:t>
            </a:r>
          </a:p>
        </p:txBody>
      </p:sp>
      <p:graphicFrame>
        <p:nvGraphicFramePr>
          <p:cNvPr id="3" name="object 3"/>
          <p:cNvGraphicFramePr>
            <a:graphicFrameLocks noGrp="1"/>
          </p:cNvGraphicFramePr>
          <p:nvPr/>
        </p:nvGraphicFramePr>
        <p:xfrm>
          <a:off x="3533266" y="2107438"/>
          <a:ext cx="5457823" cy="3711828"/>
        </p:xfrm>
        <a:graphic>
          <a:graphicData uri="http://schemas.openxmlformats.org/drawingml/2006/table">
            <a:tbl>
              <a:tblPr firstRow="1" bandRow="1">
                <a:tableStyleId>{2D5ABB26-0587-4C30-8999-92F81FD0307C}</a:tableStyleId>
              </a:tblPr>
              <a:tblGrid>
                <a:gridCol w="1070610">
                  <a:extLst>
                    <a:ext uri="{9D8B030D-6E8A-4147-A177-3AD203B41FA5}">
                      <a16:colId xmlns:a16="http://schemas.microsoft.com/office/drawing/2014/main" xmlns="" val="20000"/>
                    </a:ext>
                  </a:extLst>
                </a:gridCol>
                <a:gridCol w="669290">
                  <a:extLst>
                    <a:ext uri="{9D8B030D-6E8A-4147-A177-3AD203B41FA5}">
                      <a16:colId xmlns:a16="http://schemas.microsoft.com/office/drawing/2014/main" xmlns="" val="20001"/>
                    </a:ext>
                  </a:extLst>
                </a:gridCol>
                <a:gridCol w="669289">
                  <a:extLst>
                    <a:ext uri="{9D8B030D-6E8A-4147-A177-3AD203B41FA5}">
                      <a16:colId xmlns:a16="http://schemas.microsoft.com/office/drawing/2014/main" xmlns="" val="20002"/>
                    </a:ext>
                  </a:extLst>
                </a:gridCol>
                <a:gridCol w="669289">
                  <a:extLst>
                    <a:ext uri="{9D8B030D-6E8A-4147-A177-3AD203B41FA5}">
                      <a16:colId xmlns:a16="http://schemas.microsoft.com/office/drawing/2014/main" xmlns="" val="20003"/>
                    </a:ext>
                  </a:extLst>
                </a:gridCol>
                <a:gridCol w="2379345">
                  <a:extLst>
                    <a:ext uri="{9D8B030D-6E8A-4147-A177-3AD203B41FA5}">
                      <a16:colId xmlns:a16="http://schemas.microsoft.com/office/drawing/2014/main" xmlns="" val="20004"/>
                    </a:ext>
                  </a:extLst>
                </a:gridCol>
              </a:tblGrid>
              <a:tr h="728599">
                <a:tc gridSpan="5">
                  <a:txBody>
                    <a:bodyPr/>
                    <a:lstStyle/>
                    <a:p>
                      <a:pPr marL="3175" algn="ctr">
                        <a:lnSpc>
                          <a:spcPct val="100000"/>
                        </a:lnSpc>
                        <a:spcBef>
                          <a:spcPts val="1755"/>
                        </a:spcBef>
                      </a:pPr>
                      <a:r>
                        <a:rPr sz="1800" b="1" spc="-5" dirty="0">
                          <a:solidFill>
                            <a:srgbClr val="FFFFFF"/>
                          </a:solidFill>
                          <a:latin typeface="Gothic Uralic"/>
                          <a:cs typeface="Gothic Uralic"/>
                        </a:rPr>
                        <a:t>User </a:t>
                      </a:r>
                      <a:r>
                        <a:rPr sz="1800" b="1" dirty="0">
                          <a:solidFill>
                            <a:srgbClr val="FFFFFF"/>
                          </a:solidFill>
                          <a:latin typeface="Gothic Uralic"/>
                          <a:cs typeface="Gothic Uralic"/>
                        </a:rPr>
                        <a:t>Space</a:t>
                      </a:r>
                      <a:r>
                        <a:rPr sz="1800" b="1" spc="-25" dirty="0">
                          <a:solidFill>
                            <a:srgbClr val="FFFFFF"/>
                          </a:solidFill>
                          <a:latin typeface="Gothic Uralic"/>
                          <a:cs typeface="Gothic Uralic"/>
                        </a:rPr>
                        <a:t> </a:t>
                      </a:r>
                      <a:r>
                        <a:rPr sz="1800" b="1" spc="-5" dirty="0">
                          <a:solidFill>
                            <a:srgbClr val="FFFFFF"/>
                          </a:solidFill>
                          <a:latin typeface="Gothic Uralic"/>
                          <a:cs typeface="Gothic Uralic"/>
                        </a:rPr>
                        <a:t>Processes</a:t>
                      </a:r>
                      <a:endParaRPr sz="1800">
                        <a:latin typeface="Gothic Uralic"/>
                        <a:cs typeface="Gothic Uralic"/>
                      </a:endParaRPr>
                    </a:p>
                  </a:txBody>
                  <a:tcPr marL="0" marR="0" marT="22288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6FAC46"/>
                    </a:solidFill>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xmlns="" val="10000"/>
                  </a:ext>
                </a:extLst>
              </a:tr>
              <a:tr h="1725549">
                <a:tc>
                  <a:txBody>
                    <a:bodyPr/>
                    <a:lstStyle/>
                    <a:p>
                      <a:pPr marL="107314" marR="100965" indent="571500">
                        <a:lnSpc>
                          <a:spcPct val="100000"/>
                        </a:lnSpc>
                        <a:spcBef>
                          <a:spcPts val="685"/>
                        </a:spcBef>
                      </a:pPr>
                      <a:r>
                        <a:rPr sz="1800" b="1" spc="-5" dirty="0">
                          <a:latin typeface="Gothic Uralic"/>
                          <a:cs typeface="Gothic Uralic"/>
                        </a:rPr>
                        <a:t>File  </a:t>
                      </a:r>
                      <a:r>
                        <a:rPr sz="1800" b="1" dirty="0">
                          <a:latin typeface="Gothic Uralic"/>
                          <a:cs typeface="Gothic Uralic"/>
                        </a:rPr>
                        <a:t>Management</a:t>
                      </a:r>
                      <a:endParaRPr sz="1800">
                        <a:latin typeface="Gothic Uralic"/>
                        <a:cs typeface="Gothic Uralic"/>
                      </a:endParaRPr>
                    </a:p>
                  </a:txBody>
                  <a:tcPr marL="0" marR="0" marT="86995" marB="0" vert="vert27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6040">
                        <a:lnSpc>
                          <a:spcPct val="100000"/>
                        </a:lnSpc>
                        <a:spcBef>
                          <a:spcPts val="685"/>
                        </a:spcBef>
                      </a:pPr>
                      <a:r>
                        <a:rPr sz="1800" b="1" spc="-5" dirty="0">
                          <a:latin typeface="Gothic Uralic"/>
                          <a:cs typeface="Gothic Uralic"/>
                        </a:rPr>
                        <a:t>Process</a:t>
                      </a:r>
                      <a:r>
                        <a:rPr sz="1800" b="1" spc="-60" dirty="0">
                          <a:latin typeface="Gothic Uralic"/>
                          <a:cs typeface="Gothic Uralic"/>
                        </a:rPr>
                        <a:t> </a:t>
                      </a:r>
                      <a:r>
                        <a:rPr sz="1800" b="1" dirty="0">
                          <a:latin typeface="Gothic Uralic"/>
                          <a:cs typeface="Gothic Uralic"/>
                        </a:rPr>
                        <a:t>Server</a:t>
                      </a:r>
                      <a:endParaRPr sz="1800">
                        <a:latin typeface="Gothic Uralic"/>
                        <a:cs typeface="Gothic Uralic"/>
                      </a:endParaRPr>
                    </a:p>
                  </a:txBody>
                  <a:tcPr marL="0" marR="0" marT="86995" marB="0" vert="vert27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70485">
                        <a:lnSpc>
                          <a:spcPct val="100000"/>
                        </a:lnSpc>
                        <a:spcBef>
                          <a:spcPts val="690"/>
                        </a:spcBef>
                      </a:pPr>
                      <a:r>
                        <a:rPr sz="1800" b="1" spc="-5" dirty="0">
                          <a:latin typeface="Gothic Uralic"/>
                          <a:cs typeface="Gothic Uralic"/>
                        </a:rPr>
                        <a:t>Device</a:t>
                      </a:r>
                      <a:r>
                        <a:rPr sz="1800" b="1" spc="-50" dirty="0">
                          <a:latin typeface="Gothic Uralic"/>
                          <a:cs typeface="Gothic Uralic"/>
                        </a:rPr>
                        <a:t> </a:t>
                      </a:r>
                      <a:r>
                        <a:rPr sz="1800" b="1" spc="-5" dirty="0">
                          <a:latin typeface="Gothic Uralic"/>
                          <a:cs typeface="Gothic Uralic"/>
                        </a:rPr>
                        <a:t>Drivers</a:t>
                      </a:r>
                      <a:endParaRPr sz="1800">
                        <a:latin typeface="Gothic Uralic"/>
                        <a:cs typeface="Gothic Uralic"/>
                      </a:endParaRPr>
                    </a:p>
                  </a:txBody>
                  <a:tcPr marL="0" marR="0" marT="87630" marB="0" vert="vert27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536575">
                        <a:lnSpc>
                          <a:spcPct val="100000"/>
                        </a:lnSpc>
                        <a:spcBef>
                          <a:spcPts val="685"/>
                        </a:spcBef>
                      </a:pPr>
                      <a:r>
                        <a:rPr sz="1800" b="1" spc="-5" dirty="0">
                          <a:latin typeface="Gothic Uralic"/>
                          <a:cs typeface="Gothic Uralic"/>
                        </a:rPr>
                        <a:t>Pager</a:t>
                      </a:r>
                      <a:endParaRPr sz="1800">
                        <a:latin typeface="Gothic Uralic"/>
                        <a:cs typeface="Gothic Uralic"/>
                      </a:endParaRPr>
                    </a:p>
                  </a:txBody>
                  <a:tcPr marL="0" marR="0" marT="86995" marB="0" vert="vert27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nSpc>
                          <a:spcPct val="100000"/>
                        </a:lnSpc>
                      </a:pPr>
                      <a:endParaRPr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xmlns="" val="10001"/>
                  </a:ext>
                </a:extLst>
              </a:tr>
              <a:tr h="1257680">
                <a:tc gridSpan="5">
                  <a:txBody>
                    <a:bodyPr/>
                    <a:lstStyle/>
                    <a:p>
                      <a:pPr>
                        <a:lnSpc>
                          <a:spcPct val="100000"/>
                        </a:lnSpc>
                      </a:pPr>
                      <a:endParaRPr sz="2400">
                        <a:latin typeface="Times New Roman"/>
                        <a:cs typeface="Times New Roman"/>
                      </a:endParaRPr>
                    </a:p>
                    <a:p>
                      <a:pPr marL="635" algn="ctr">
                        <a:lnSpc>
                          <a:spcPct val="100000"/>
                        </a:lnSpc>
                      </a:pPr>
                      <a:r>
                        <a:rPr sz="1800" b="1" dirty="0">
                          <a:solidFill>
                            <a:srgbClr val="C00000"/>
                          </a:solidFill>
                          <a:latin typeface="Gothic Uralic"/>
                          <a:cs typeface="Gothic Uralic"/>
                        </a:rPr>
                        <a:t>Micro</a:t>
                      </a:r>
                      <a:r>
                        <a:rPr sz="1800" b="1" spc="-15" dirty="0">
                          <a:solidFill>
                            <a:srgbClr val="C00000"/>
                          </a:solidFill>
                          <a:latin typeface="Gothic Uralic"/>
                          <a:cs typeface="Gothic Uralic"/>
                        </a:rPr>
                        <a:t> </a:t>
                      </a:r>
                      <a:r>
                        <a:rPr sz="1800" b="1" spc="-5" dirty="0">
                          <a:solidFill>
                            <a:srgbClr val="C00000"/>
                          </a:solidFill>
                          <a:latin typeface="Gothic Uralic"/>
                          <a:cs typeface="Gothic Uralic"/>
                        </a:rPr>
                        <a:t>Kernel</a:t>
                      </a:r>
                      <a:endParaRPr sz="1800">
                        <a:latin typeface="Gothic Uralic"/>
                        <a:cs typeface="Gothic Uralic"/>
                      </a:endParaRPr>
                    </a:p>
                    <a:p>
                      <a:pPr marL="64769" algn="ctr">
                        <a:lnSpc>
                          <a:spcPct val="100000"/>
                        </a:lnSpc>
                        <a:spcBef>
                          <a:spcPts val="5"/>
                        </a:spcBef>
                      </a:pPr>
                      <a:r>
                        <a:rPr sz="1800" b="1" spc="-5" dirty="0">
                          <a:solidFill>
                            <a:srgbClr val="C00000"/>
                          </a:solidFill>
                          <a:latin typeface="Gothic Uralic"/>
                          <a:cs typeface="Gothic Uralic"/>
                        </a:rPr>
                        <a:t>(IPC ,</a:t>
                      </a:r>
                      <a:r>
                        <a:rPr sz="1800" b="1" spc="-20" dirty="0">
                          <a:solidFill>
                            <a:srgbClr val="C00000"/>
                          </a:solidFill>
                          <a:latin typeface="Gothic Uralic"/>
                          <a:cs typeface="Gothic Uralic"/>
                        </a:rPr>
                        <a:t> </a:t>
                      </a:r>
                      <a:r>
                        <a:rPr sz="1800" b="1" dirty="0">
                          <a:solidFill>
                            <a:srgbClr val="C00000"/>
                          </a:solidFill>
                          <a:latin typeface="Gothic Uralic"/>
                          <a:cs typeface="Gothic Uralic"/>
                        </a:rPr>
                        <a:t>Scheduling)</a:t>
                      </a:r>
                      <a:endParaRPr sz="1800">
                        <a:latin typeface="Gothic Uralic"/>
                        <a:cs typeface="Gothic Uralic"/>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8CAAC"/>
                    </a:solidFill>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xmlns="" val="10002"/>
                  </a:ext>
                </a:extLst>
              </a:tr>
            </a:tbl>
          </a:graphicData>
        </a:graphic>
      </p:graphicFrame>
      <p:grpSp>
        <p:nvGrpSpPr>
          <p:cNvPr id="4" name="object 4"/>
          <p:cNvGrpSpPr/>
          <p:nvPr/>
        </p:nvGrpSpPr>
        <p:grpSpPr>
          <a:xfrm>
            <a:off x="8989821" y="4550409"/>
            <a:ext cx="2256790" cy="1282700"/>
            <a:chOff x="8989821" y="4550409"/>
            <a:chExt cx="2256790" cy="1282700"/>
          </a:xfrm>
        </p:grpSpPr>
        <p:sp>
          <p:nvSpPr>
            <p:cNvPr id="5" name="object 5"/>
            <p:cNvSpPr/>
            <p:nvPr/>
          </p:nvSpPr>
          <p:spPr>
            <a:xfrm>
              <a:off x="8996171" y="4556759"/>
              <a:ext cx="532130" cy="1270000"/>
            </a:xfrm>
            <a:custGeom>
              <a:avLst/>
              <a:gdLst/>
              <a:ahLst/>
              <a:cxnLst/>
              <a:rect l="l" t="t" r="r" b="b"/>
              <a:pathLst>
                <a:path w="532129" h="1270000">
                  <a:moveTo>
                    <a:pt x="0" y="0"/>
                  </a:moveTo>
                  <a:lnTo>
                    <a:pt x="57954" y="1994"/>
                  </a:lnTo>
                  <a:lnTo>
                    <a:pt x="114101" y="7838"/>
                  </a:lnTo>
                  <a:lnTo>
                    <a:pt x="168115" y="17324"/>
                  </a:lnTo>
                  <a:lnTo>
                    <a:pt x="219673" y="30246"/>
                  </a:lnTo>
                  <a:lnTo>
                    <a:pt x="268449" y="46397"/>
                  </a:lnTo>
                  <a:lnTo>
                    <a:pt x="314120" y="65568"/>
                  </a:lnTo>
                  <a:lnTo>
                    <a:pt x="356361" y="87553"/>
                  </a:lnTo>
                  <a:lnTo>
                    <a:pt x="394848" y="112144"/>
                  </a:lnTo>
                  <a:lnTo>
                    <a:pt x="429255" y="139135"/>
                  </a:lnTo>
                  <a:lnTo>
                    <a:pt x="459260" y="168317"/>
                  </a:lnTo>
                  <a:lnTo>
                    <a:pt x="484536" y="199484"/>
                  </a:lnTo>
                  <a:lnTo>
                    <a:pt x="504760" y="232428"/>
                  </a:lnTo>
                  <a:lnTo>
                    <a:pt x="528755" y="302819"/>
                  </a:lnTo>
                  <a:lnTo>
                    <a:pt x="531876" y="339851"/>
                  </a:lnTo>
                  <a:lnTo>
                    <a:pt x="531876" y="929639"/>
                  </a:lnTo>
                  <a:lnTo>
                    <a:pt x="519608" y="1002553"/>
                  </a:lnTo>
                  <a:lnTo>
                    <a:pt x="484536" y="1070013"/>
                  </a:lnTo>
                  <a:lnTo>
                    <a:pt x="459260" y="1101180"/>
                  </a:lnTo>
                  <a:lnTo>
                    <a:pt x="429255" y="1130362"/>
                  </a:lnTo>
                  <a:lnTo>
                    <a:pt x="394848" y="1157352"/>
                  </a:lnTo>
                  <a:lnTo>
                    <a:pt x="356361" y="1181942"/>
                  </a:lnTo>
                  <a:lnTo>
                    <a:pt x="314120" y="1203927"/>
                  </a:lnTo>
                  <a:lnTo>
                    <a:pt x="268449" y="1223097"/>
                  </a:lnTo>
                  <a:lnTo>
                    <a:pt x="219673" y="1239246"/>
                  </a:lnTo>
                  <a:lnTo>
                    <a:pt x="168115" y="1252168"/>
                  </a:lnTo>
                  <a:lnTo>
                    <a:pt x="114101" y="1261654"/>
                  </a:lnTo>
                  <a:lnTo>
                    <a:pt x="57954" y="1267498"/>
                  </a:lnTo>
                  <a:lnTo>
                    <a:pt x="0" y="1269492"/>
                  </a:lnTo>
                </a:path>
              </a:pathLst>
            </a:custGeom>
            <a:ln w="12192">
              <a:solidFill>
                <a:srgbClr val="5B9BD4"/>
              </a:solidFill>
            </a:ln>
          </p:spPr>
          <p:txBody>
            <a:bodyPr wrap="square" lIns="0" tIns="0" rIns="0" bIns="0" rtlCol="0"/>
            <a:lstStyle/>
            <a:p>
              <a:endParaRPr/>
            </a:p>
          </p:txBody>
        </p:sp>
        <p:sp>
          <p:nvSpPr>
            <p:cNvPr id="6" name="object 6"/>
            <p:cNvSpPr/>
            <p:nvPr/>
          </p:nvSpPr>
          <p:spPr>
            <a:xfrm>
              <a:off x="9784011" y="5093026"/>
              <a:ext cx="1462413" cy="237384"/>
            </a:xfrm>
            <a:prstGeom prst="rect">
              <a:avLst/>
            </a:prstGeom>
            <a:blipFill>
              <a:blip r:embed="rId2" cstate="print"/>
              <a:stretch>
                <a:fillRect/>
              </a:stretch>
            </a:blipFill>
          </p:spPr>
          <p:txBody>
            <a:bodyPr wrap="square" lIns="0" tIns="0" rIns="0" bIns="0" rtlCol="0"/>
            <a:lstStyle/>
            <a:p>
              <a:endParaRPr/>
            </a:p>
          </p:txBody>
        </p:sp>
      </p:grpSp>
      <p:sp>
        <p:nvSpPr>
          <p:cNvPr id="7" name="object 7"/>
          <p:cNvSpPr txBox="1"/>
          <p:nvPr/>
        </p:nvSpPr>
        <p:spPr>
          <a:xfrm>
            <a:off x="9761346" y="5028946"/>
            <a:ext cx="1498600" cy="299720"/>
          </a:xfrm>
          <a:prstGeom prst="rect">
            <a:avLst/>
          </a:prstGeom>
        </p:spPr>
        <p:txBody>
          <a:bodyPr vert="horz" wrap="square" lIns="0" tIns="12700" rIns="0" bIns="0" rtlCol="0">
            <a:spAutoFit/>
          </a:bodyPr>
          <a:lstStyle/>
          <a:p>
            <a:pPr marL="12700">
              <a:lnSpc>
                <a:spcPct val="100000"/>
              </a:lnSpc>
              <a:spcBef>
                <a:spcPts val="100"/>
              </a:spcBef>
            </a:pPr>
            <a:r>
              <a:rPr sz="1800" spc="-5" dirty="0">
                <a:latin typeface="Gothic Uralic"/>
                <a:cs typeface="Gothic Uralic"/>
              </a:rPr>
              <a:t>Kernel</a:t>
            </a:r>
            <a:r>
              <a:rPr sz="1800" spc="-50" dirty="0">
                <a:latin typeface="Gothic Uralic"/>
                <a:cs typeface="Gothic Uralic"/>
              </a:rPr>
              <a:t> </a:t>
            </a:r>
            <a:r>
              <a:rPr sz="1800" spc="-5" dirty="0">
                <a:latin typeface="Gothic Uralic"/>
                <a:cs typeface="Gothic Uralic"/>
              </a:rPr>
              <a:t>Space</a:t>
            </a:r>
            <a:endParaRPr sz="1800">
              <a:latin typeface="Gothic Uralic"/>
              <a:cs typeface="Gothic Uralic"/>
            </a:endParaRPr>
          </a:p>
        </p:txBody>
      </p:sp>
      <p:grpSp>
        <p:nvGrpSpPr>
          <p:cNvPr id="8" name="object 8"/>
          <p:cNvGrpSpPr/>
          <p:nvPr/>
        </p:nvGrpSpPr>
        <p:grpSpPr>
          <a:xfrm>
            <a:off x="9454895" y="4774691"/>
            <a:ext cx="327660" cy="824865"/>
            <a:chOff x="9454895" y="4774691"/>
            <a:chExt cx="327660" cy="824865"/>
          </a:xfrm>
        </p:grpSpPr>
        <p:sp>
          <p:nvSpPr>
            <p:cNvPr id="9" name="object 9"/>
            <p:cNvSpPr/>
            <p:nvPr/>
          </p:nvSpPr>
          <p:spPr>
            <a:xfrm>
              <a:off x="9454895" y="4774691"/>
              <a:ext cx="327621" cy="824496"/>
            </a:xfrm>
            <a:prstGeom prst="rect">
              <a:avLst/>
            </a:prstGeom>
            <a:blipFill>
              <a:blip r:embed="rId3" cstate="print"/>
              <a:stretch>
                <a:fillRect/>
              </a:stretch>
            </a:blipFill>
          </p:spPr>
          <p:txBody>
            <a:bodyPr wrap="square" lIns="0" tIns="0" rIns="0" bIns="0" rtlCol="0"/>
            <a:lstStyle/>
            <a:p>
              <a:endParaRPr/>
            </a:p>
          </p:txBody>
        </p:sp>
        <p:sp>
          <p:nvSpPr>
            <p:cNvPr id="10" name="object 10"/>
            <p:cNvSpPr/>
            <p:nvPr/>
          </p:nvSpPr>
          <p:spPr>
            <a:xfrm>
              <a:off x="9528047" y="4847843"/>
              <a:ext cx="185927" cy="672084"/>
            </a:xfrm>
            <a:prstGeom prst="rect">
              <a:avLst/>
            </a:prstGeom>
            <a:blipFill>
              <a:blip r:embed="rId4" cstate="print"/>
              <a:stretch>
                <a:fillRect/>
              </a:stretch>
            </a:blipFill>
          </p:spPr>
          <p:txBody>
            <a:bodyPr wrap="square" lIns="0" tIns="0" rIns="0" bIns="0" rtlCol="0"/>
            <a:lstStyle/>
            <a:p>
              <a:endParaRPr/>
            </a:p>
          </p:txBody>
        </p:sp>
        <p:sp>
          <p:nvSpPr>
            <p:cNvPr id="11" name="object 11"/>
            <p:cNvSpPr/>
            <p:nvPr/>
          </p:nvSpPr>
          <p:spPr>
            <a:xfrm>
              <a:off x="9528047" y="4847843"/>
              <a:ext cx="186055" cy="672465"/>
            </a:xfrm>
            <a:custGeom>
              <a:avLst/>
              <a:gdLst/>
              <a:ahLst/>
              <a:cxnLst/>
              <a:rect l="l" t="t" r="r" b="b"/>
              <a:pathLst>
                <a:path w="186054" h="672464">
                  <a:moveTo>
                    <a:pt x="0" y="672083"/>
                  </a:moveTo>
                  <a:lnTo>
                    <a:pt x="185927" y="336041"/>
                  </a:lnTo>
                  <a:lnTo>
                    <a:pt x="0" y="0"/>
                  </a:lnTo>
                  <a:lnTo>
                    <a:pt x="0" y="672083"/>
                  </a:lnTo>
                  <a:close/>
                </a:path>
              </a:pathLst>
            </a:custGeom>
            <a:ln w="12192">
              <a:solidFill>
                <a:srgbClr val="A4A4A4"/>
              </a:solidFill>
            </a:ln>
          </p:spPr>
          <p:txBody>
            <a:bodyPr wrap="square" lIns="0" tIns="0" rIns="0" bIns="0" rtlCol="0"/>
            <a:lstStyle/>
            <a:p>
              <a:endParaRPr/>
            </a:p>
          </p:txBody>
        </p:sp>
      </p:grpSp>
    </p:spTree>
    <p:extLst>
      <p:ext uri="{BB962C8B-B14F-4D97-AF65-F5344CB8AC3E}">
        <p14:creationId xmlns:p14="http://schemas.microsoft.com/office/powerpoint/2010/main" val="579652467"/>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16939" y="1804161"/>
            <a:ext cx="9359265" cy="3909060"/>
          </a:xfrm>
          <a:prstGeom prst="rect">
            <a:avLst/>
          </a:prstGeom>
        </p:spPr>
        <p:txBody>
          <a:bodyPr vert="horz" wrap="square" lIns="0" tIns="60960" rIns="0" bIns="0" rtlCol="0">
            <a:spAutoFit/>
          </a:bodyPr>
          <a:lstStyle/>
          <a:p>
            <a:pPr marL="241300" marR="5080" indent="-228600">
              <a:lnSpc>
                <a:spcPts val="3020"/>
              </a:lnSpc>
              <a:spcBef>
                <a:spcPts val="480"/>
              </a:spcBef>
              <a:buClr>
                <a:srgbClr val="EC7C30"/>
              </a:buClr>
              <a:buFont typeface="Wingdings"/>
              <a:buChar char=""/>
              <a:tabLst>
                <a:tab pos="241300" algn="l"/>
              </a:tabLst>
            </a:pPr>
            <a:r>
              <a:rPr sz="2800" spc="-5" dirty="0">
                <a:latin typeface="Times New Roman"/>
                <a:cs typeface="Times New Roman"/>
              </a:rPr>
              <a:t>Many modern operating </a:t>
            </a:r>
            <a:r>
              <a:rPr sz="2800" dirty="0">
                <a:latin typeface="Times New Roman"/>
                <a:cs typeface="Times New Roman"/>
              </a:rPr>
              <a:t>systems </a:t>
            </a:r>
            <a:r>
              <a:rPr sz="2800" spc="-5" dirty="0">
                <a:latin typeface="Times New Roman"/>
                <a:cs typeface="Times New Roman"/>
              </a:rPr>
              <a:t>implement </a:t>
            </a:r>
            <a:r>
              <a:rPr sz="2800" dirty="0">
                <a:solidFill>
                  <a:srgbClr val="3366FF"/>
                </a:solidFill>
                <a:latin typeface="Times New Roman"/>
                <a:cs typeface="Times New Roman"/>
              </a:rPr>
              <a:t>loadable </a:t>
            </a:r>
            <a:r>
              <a:rPr sz="2800" spc="-10" dirty="0">
                <a:solidFill>
                  <a:srgbClr val="3366FF"/>
                </a:solidFill>
                <a:latin typeface="Times New Roman"/>
                <a:cs typeface="Times New Roman"/>
              </a:rPr>
              <a:t>kernel  </a:t>
            </a:r>
            <a:r>
              <a:rPr sz="2800" dirty="0">
                <a:solidFill>
                  <a:srgbClr val="3366FF"/>
                </a:solidFill>
                <a:latin typeface="Times New Roman"/>
                <a:cs typeface="Times New Roman"/>
              </a:rPr>
              <a:t>modules</a:t>
            </a:r>
            <a:endParaRPr sz="2800" dirty="0">
              <a:latin typeface="Times New Roman"/>
              <a:cs typeface="Times New Roman"/>
            </a:endParaRPr>
          </a:p>
          <a:p>
            <a:pPr marL="698500" lvl="1" indent="-229235">
              <a:lnSpc>
                <a:spcPct val="100000"/>
              </a:lnSpc>
              <a:spcBef>
                <a:spcPts val="635"/>
              </a:spcBef>
              <a:buClr>
                <a:srgbClr val="EC7C30"/>
              </a:buClr>
              <a:buFont typeface="Wingdings"/>
              <a:buChar char=""/>
              <a:tabLst>
                <a:tab pos="699135" algn="l"/>
              </a:tabLst>
            </a:pPr>
            <a:r>
              <a:rPr sz="2800" spc="-5" dirty="0">
                <a:latin typeface="Times New Roman"/>
                <a:cs typeface="Times New Roman"/>
              </a:rPr>
              <a:t>Uses object-oriented</a:t>
            </a:r>
            <a:r>
              <a:rPr sz="2800" spc="5" dirty="0">
                <a:latin typeface="Times New Roman"/>
                <a:cs typeface="Times New Roman"/>
              </a:rPr>
              <a:t> </a:t>
            </a:r>
            <a:r>
              <a:rPr sz="2800" spc="-10" dirty="0">
                <a:latin typeface="Times New Roman"/>
                <a:cs typeface="Times New Roman"/>
              </a:rPr>
              <a:t>approach</a:t>
            </a:r>
            <a:endParaRPr sz="2800" dirty="0">
              <a:latin typeface="Times New Roman"/>
              <a:cs typeface="Times New Roman"/>
            </a:endParaRPr>
          </a:p>
          <a:p>
            <a:pPr marL="698500" lvl="1" indent="-229235">
              <a:lnSpc>
                <a:spcPct val="100000"/>
              </a:lnSpc>
              <a:spcBef>
                <a:spcPts val="670"/>
              </a:spcBef>
              <a:buClr>
                <a:srgbClr val="EC7C30"/>
              </a:buClr>
              <a:buFont typeface="Wingdings"/>
              <a:buChar char=""/>
              <a:tabLst>
                <a:tab pos="699135" algn="l"/>
              </a:tabLst>
            </a:pPr>
            <a:r>
              <a:rPr sz="2800" spc="-5" dirty="0">
                <a:latin typeface="Times New Roman"/>
                <a:cs typeface="Times New Roman"/>
              </a:rPr>
              <a:t>Each </a:t>
            </a:r>
            <a:r>
              <a:rPr sz="2800" spc="-20" dirty="0">
                <a:latin typeface="Times New Roman"/>
                <a:cs typeface="Times New Roman"/>
              </a:rPr>
              <a:t>core </a:t>
            </a:r>
            <a:r>
              <a:rPr sz="2800" spc="-5" dirty="0">
                <a:latin typeface="Times New Roman"/>
                <a:cs typeface="Times New Roman"/>
              </a:rPr>
              <a:t>component is</a:t>
            </a:r>
            <a:r>
              <a:rPr sz="2800" spc="30" dirty="0">
                <a:latin typeface="Times New Roman"/>
                <a:cs typeface="Times New Roman"/>
              </a:rPr>
              <a:t> </a:t>
            </a:r>
            <a:r>
              <a:rPr sz="2800" spc="-5" dirty="0">
                <a:latin typeface="Times New Roman"/>
                <a:cs typeface="Times New Roman"/>
              </a:rPr>
              <a:t>separate</a:t>
            </a:r>
            <a:endParaRPr sz="2800" dirty="0">
              <a:latin typeface="Times New Roman"/>
              <a:cs typeface="Times New Roman"/>
            </a:endParaRPr>
          </a:p>
          <a:p>
            <a:pPr marL="698500" lvl="1" indent="-229235">
              <a:lnSpc>
                <a:spcPct val="100000"/>
              </a:lnSpc>
              <a:spcBef>
                <a:spcPts val="675"/>
              </a:spcBef>
              <a:buClr>
                <a:srgbClr val="EC7C30"/>
              </a:buClr>
              <a:buFont typeface="Wingdings"/>
              <a:buChar char=""/>
              <a:tabLst>
                <a:tab pos="699135" algn="l"/>
              </a:tabLst>
            </a:pPr>
            <a:r>
              <a:rPr sz="2800" spc="-5" dirty="0">
                <a:latin typeface="Times New Roman"/>
                <a:cs typeface="Times New Roman"/>
              </a:rPr>
              <a:t>Each talks to the </a:t>
            </a:r>
            <a:r>
              <a:rPr sz="2800" dirty="0">
                <a:latin typeface="Times New Roman"/>
                <a:cs typeface="Times New Roman"/>
              </a:rPr>
              <a:t>others </a:t>
            </a:r>
            <a:r>
              <a:rPr sz="2800" spc="-5" dirty="0">
                <a:latin typeface="Times New Roman"/>
                <a:cs typeface="Times New Roman"/>
              </a:rPr>
              <a:t>over </a:t>
            </a:r>
            <a:r>
              <a:rPr sz="2800" spc="-15" dirty="0">
                <a:latin typeface="Times New Roman"/>
                <a:cs typeface="Times New Roman"/>
              </a:rPr>
              <a:t>known</a:t>
            </a:r>
            <a:r>
              <a:rPr sz="2800" spc="15" dirty="0">
                <a:latin typeface="Times New Roman"/>
                <a:cs typeface="Times New Roman"/>
              </a:rPr>
              <a:t> </a:t>
            </a:r>
            <a:r>
              <a:rPr sz="2800" spc="-5" dirty="0">
                <a:latin typeface="Times New Roman"/>
                <a:cs typeface="Times New Roman"/>
              </a:rPr>
              <a:t>interfaces</a:t>
            </a:r>
            <a:endParaRPr sz="2800" dirty="0">
              <a:latin typeface="Times New Roman"/>
              <a:cs typeface="Times New Roman"/>
            </a:endParaRPr>
          </a:p>
          <a:p>
            <a:pPr marL="698500" lvl="1" indent="-229235">
              <a:lnSpc>
                <a:spcPct val="100000"/>
              </a:lnSpc>
              <a:spcBef>
                <a:spcPts val="670"/>
              </a:spcBef>
              <a:buClr>
                <a:srgbClr val="EC7C30"/>
              </a:buClr>
              <a:buFont typeface="Wingdings"/>
              <a:buChar char=""/>
              <a:tabLst>
                <a:tab pos="699135" algn="l"/>
              </a:tabLst>
            </a:pPr>
            <a:r>
              <a:rPr sz="2800" spc="-5" dirty="0">
                <a:latin typeface="Times New Roman"/>
                <a:cs typeface="Times New Roman"/>
              </a:rPr>
              <a:t>Each is loadable as needed </a:t>
            </a:r>
            <a:r>
              <a:rPr sz="2800" spc="-10" dirty="0">
                <a:latin typeface="Times New Roman"/>
                <a:cs typeface="Times New Roman"/>
              </a:rPr>
              <a:t>within </a:t>
            </a:r>
            <a:r>
              <a:rPr sz="2800" spc="-5" dirty="0">
                <a:latin typeface="Times New Roman"/>
                <a:cs typeface="Times New Roman"/>
              </a:rPr>
              <a:t>the</a:t>
            </a:r>
            <a:r>
              <a:rPr sz="2800" spc="65" dirty="0">
                <a:latin typeface="Times New Roman"/>
                <a:cs typeface="Times New Roman"/>
              </a:rPr>
              <a:t> </a:t>
            </a:r>
            <a:r>
              <a:rPr sz="2800" spc="-10" dirty="0">
                <a:latin typeface="Times New Roman"/>
                <a:cs typeface="Times New Roman"/>
              </a:rPr>
              <a:t>kernel</a:t>
            </a:r>
            <a:endParaRPr sz="2800" dirty="0">
              <a:latin typeface="Times New Roman"/>
              <a:cs typeface="Times New Roman"/>
            </a:endParaRPr>
          </a:p>
          <a:p>
            <a:pPr marL="241300" indent="-228600">
              <a:lnSpc>
                <a:spcPct val="100000"/>
              </a:lnSpc>
              <a:spcBef>
                <a:spcPts val="675"/>
              </a:spcBef>
              <a:buClr>
                <a:srgbClr val="EC7C30"/>
              </a:buClr>
              <a:buFont typeface="Wingdings"/>
              <a:buChar char=""/>
              <a:tabLst>
                <a:tab pos="241300" algn="l"/>
              </a:tabLst>
            </a:pPr>
            <a:r>
              <a:rPr sz="2800" spc="-5" dirty="0">
                <a:latin typeface="Times New Roman"/>
                <a:cs typeface="Times New Roman"/>
              </a:rPr>
              <a:t>Overall, </a:t>
            </a:r>
            <a:r>
              <a:rPr sz="2800" dirty="0">
                <a:latin typeface="Times New Roman"/>
                <a:cs typeface="Times New Roman"/>
              </a:rPr>
              <a:t>similar </a:t>
            </a:r>
            <a:r>
              <a:rPr sz="2800" spc="-5" dirty="0">
                <a:latin typeface="Times New Roman"/>
                <a:cs typeface="Times New Roman"/>
              </a:rPr>
              <a:t>to </a:t>
            </a:r>
            <a:r>
              <a:rPr sz="2800" dirty="0">
                <a:latin typeface="Times New Roman"/>
                <a:cs typeface="Times New Roman"/>
              </a:rPr>
              <a:t>layers but </a:t>
            </a:r>
            <a:r>
              <a:rPr sz="2800" spc="-10" dirty="0">
                <a:latin typeface="Times New Roman"/>
                <a:cs typeface="Times New Roman"/>
              </a:rPr>
              <a:t>with </a:t>
            </a:r>
            <a:r>
              <a:rPr sz="2800" spc="-15" dirty="0">
                <a:latin typeface="Times New Roman"/>
                <a:cs typeface="Times New Roman"/>
              </a:rPr>
              <a:t>more</a:t>
            </a:r>
            <a:r>
              <a:rPr sz="2800" spc="-25" dirty="0">
                <a:latin typeface="Times New Roman"/>
                <a:cs typeface="Times New Roman"/>
              </a:rPr>
              <a:t> </a:t>
            </a:r>
            <a:r>
              <a:rPr sz="2800" dirty="0">
                <a:latin typeface="Times New Roman"/>
                <a:cs typeface="Times New Roman"/>
              </a:rPr>
              <a:t>flexible</a:t>
            </a:r>
          </a:p>
          <a:p>
            <a:pPr marL="698500" lvl="1" indent="-229235">
              <a:lnSpc>
                <a:spcPct val="100000"/>
              </a:lnSpc>
              <a:spcBef>
                <a:spcPts val="675"/>
              </a:spcBef>
              <a:buClr>
                <a:srgbClr val="EC7C30"/>
              </a:buClr>
              <a:buFont typeface="Wingdings"/>
              <a:buChar char=""/>
              <a:tabLst>
                <a:tab pos="699135" algn="l"/>
              </a:tabLst>
            </a:pPr>
            <a:r>
              <a:rPr sz="2800" spc="-5" dirty="0">
                <a:latin typeface="Times New Roman"/>
                <a:cs typeface="Times New Roman"/>
              </a:rPr>
              <a:t>Linux, Solaris,</a:t>
            </a:r>
            <a:r>
              <a:rPr sz="2800" dirty="0">
                <a:latin typeface="Times New Roman"/>
                <a:cs typeface="Times New Roman"/>
              </a:rPr>
              <a:t> </a:t>
            </a:r>
            <a:r>
              <a:rPr sz="2800" spc="-5" dirty="0">
                <a:latin typeface="Times New Roman"/>
                <a:cs typeface="Times New Roman"/>
              </a:rPr>
              <a:t>etc</a:t>
            </a:r>
            <a:endParaRPr sz="2800" dirty="0">
              <a:latin typeface="Times New Roman"/>
              <a:cs typeface="Times New Roman"/>
            </a:endParaRPr>
          </a:p>
        </p:txBody>
      </p:sp>
      <p:sp>
        <p:nvSpPr>
          <p:cNvPr id="3" name="object 3"/>
          <p:cNvSpPr txBox="1">
            <a:spLocks noGrp="1"/>
          </p:cNvSpPr>
          <p:nvPr>
            <p:ph type="title"/>
          </p:nvPr>
        </p:nvSpPr>
        <p:spPr>
          <a:xfrm>
            <a:off x="916939" y="659968"/>
            <a:ext cx="2077720" cy="697230"/>
          </a:xfrm>
          <a:prstGeom prst="rect">
            <a:avLst/>
          </a:prstGeom>
        </p:spPr>
        <p:txBody>
          <a:bodyPr vert="horz" wrap="square" lIns="0" tIns="13335" rIns="0" bIns="0" rtlCol="0">
            <a:spAutoFit/>
          </a:bodyPr>
          <a:lstStyle/>
          <a:p>
            <a:pPr marL="12700">
              <a:lnSpc>
                <a:spcPct val="100000"/>
              </a:lnSpc>
              <a:spcBef>
                <a:spcPts val="105"/>
              </a:spcBef>
            </a:pPr>
            <a:r>
              <a:rPr dirty="0">
                <a:solidFill>
                  <a:srgbClr val="FF0000"/>
                </a:solidFill>
                <a:latin typeface="Times New Roman"/>
                <a:cs typeface="Times New Roman"/>
              </a:rPr>
              <a:t>Modules</a:t>
            </a:r>
          </a:p>
        </p:txBody>
      </p:sp>
    </p:spTree>
    <p:extLst>
      <p:ext uri="{BB962C8B-B14F-4D97-AF65-F5344CB8AC3E}">
        <p14:creationId xmlns:p14="http://schemas.microsoft.com/office/powerpoint/2010/main" val="1631993115"/>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2191365" cy="6858000"/>
            <a:chOff x="0" y="0"/>
            <a:chExt cx="12191365" cy="6858000"/>
          </a:xfrm>
        </p:grpSpPr>
        <p:sp>
          <p:nvSpPr>
            <p:cNvPr id="3" name="object 3"/>
            <p:cNvSpPr/>
            <p:nvPr/>
          </p:nvSpPr>
          <p:spPr>
            <a:xfrm>
              <a:off x="758951" y="1638406"/>
              <a:ext cx="11432286" cy="180381"/>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2939795" y="2429255"/>
              <a:ext cx="6957059" cy="3747516"/>
            </a:xfrm>
            <a:prstGeom prst="rect">
              <a:avLst/>
            </a:prstGeom>
            <a:blipFill>
              <a:blip r:embed="rId3" cstate="print"/>
              <a:stretch>
                <a:fillRect/>
              </a:stretch>
            </a:blipFill>
          </p:spPr>
          <p:txBody>
            <a:bodyPr wrap="square" lIns="0" tIns="0" rIns="0" bIns="0" rtlCol="0"/>
            <a:lstStyle/>
            <a:p>
              <a:endParaRPr/>
            </a:p>
          </p:txBody>
        </p:sp>
      </p:grpSp>
      <p:sp>
        <p:nvSpPr>
          <p:cNvPr id="5" name="object 5"/>
          <p:cNvSpPr txBox="1">
            <a:spLocks noGrp="1"/>
          </p:cNvSpPr>
          <p:nvPr>
            <p:ph type="title"/>
          </p:nvPr>
        </p:nvSpPr>
        <p:spPr>
          <a:xfrm>
            <a:off x="916939" y="659968"/>
            <a:ext cx="6408420" cy="697230"/>
          </a:xfrm>
          <a:prstGeom prst="rect">
            <a:avLst/>
          </a:prstGeom>
        </p:spPr>
        <p:txBody>
          <a:bodyPr vert="horz" wrap="square" lIns="0" tIns="13335" rIns="0" bIns="0" rtlCol="0">
            <a:spAutoFit/>
          </a:bodyPr>
          <a:lstStyle/>
          <a:p>
            <a:pPr marL="12700">
              <a:lnSpc>
                <a:spcPct val="100000"/>
              </a:lnSpc>
              <a:spcBef>
                <a:spcPts val="105"/>
              </a:spcBef>
            </a:pPr>
            <a:r>
              <a:rPr dirty="0">
                <a:solidFill>
                  <a:srgbClr val="FF0000"/>
                </a:solidFill>
                <a:latin typeface="Times New Roman"/>
                <a:cs typeface="Times New Roman"/>
              </a:rPr>
              <a:t>Solaris Modular</a:t>
            </a:r>
            <a:r>
              <a:rPr spc="-385" dirty="0">
                <a:solidFill>
                  <a:srgbClr val="FF0000"/>
                </a:solidFill>
                <a:latin typeface="Times New Roman"/>
                <a:cs typeface="Times New Roman"/>
              </a:rPr>
              <a:t> </a:t>
            </a:r>
            <a:r>
              <a:rPr spc="-10" dirty="0">
                <a:solidFill>
                  <a:srgbClr val="FF0000"/>
                </a:solidFill>
                <a:latin typeface="Times New Roman"/>
                <a:cs typeface="Times New Roman"/>
              </a:rPr>
              <a:t>Approach</a:t>
            </a:r>
          </a:p>
        </p:txBody>
      </p:sp>
    </p:spTree>
    <p:extLst>
      <p:ext uri="{BB962C8B-B14F-4D97-AF65-F5344CB8AC3E}">
        <p14:creationId xmlns:p14="http://schemas.microsoft.com/office/powerpoint/2010/main" val="2068319092"/>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16939" y="1739007"/>
            <a:ext cx="10073005" cy="2769235"/>
          </a:xfrm>
          <a:prstGeom prst="rect">
            <a:avLst/>
          </a:prstGeom>
        </p:spPr>
        <p:txBody>
          <a:bodyPr vert="horz" wrap="square" lIns="0" tIns="85090" rIns="0" bIns="0" rtlCol="0">
            <a:spAutoFit/>
          </a:bodyPr>
          <a:lstStyle/>
          <a:p>
            <a:pPr marL="241300" indent="-228600">
              <a:lnSpc>
                <a:spcPct val="100000"/>
              </a:lnSpc>
              <a:spcBef>
                <a:spcPts val="670"/>
              </a:spcBef>
              <a:buClr>
                <a:srgbClr val="EC7C30"/>
              </a:buClr>
              <a:buFont typeface="Wingdings"/>
              <a:buChar char=""/>
              <a:tabLst>
                <a:tab pos="241300" algn="l"/>
              </a:tabLst>
            </a:pPr>
            <a:r>
              <a:rPr sz="2400" dirty="0">
                <a:latin typeface="Times New Roman"/>
                <a:cs typeface="Times New Roman"/>
              </a:rPr>
              <a:t>Most modern operating systems </a:t>
            </a:r>
            <a:r>
              <a:rPr sz="2400" spc="-15" dirty="0">
                <a:latin typeface="Times New Roman"/>
                <a:cs typeface="Times New Roman"/>
              </a:rPr>
              <a:t>are </a:t>
            </a:r>
            <a:r>
              <a:rPr sz="2400" dirty="0">
                <a:latin typeface="Times New Roman"/>
                <a:cs typeface="Times New Roman"/>
              </a:rPr>
              <a:t>actually </a:t>
            </a:r>
            <a:r>
              <a:rPr sz="2400" spc="-5" dirty="0">
                <a:latin typeface="Times New Roman"/>
                <a:cs typeface="Times New Roman"/>
              </a:rPr>
              <a:t>not one </a:t>
            </a:r>
            <a:r>
              <a:rPr sz="2400" spc="-15" dirty="0">
                <a:latin typeface="Times New Roman"/>
                <a:cs typeface="Times New Roman"/>
              </a:rPr>
              <a:t>pure</a:t>
            </a:r>
            <a:r>
              <a:rPr sz="2400" spc="-20" dirty="0">
                <a:latin typeface="Times New Roman"/>
                <a:cs typeface="Times New Roman"/>
              </a:rPr>
              <a:t> </a:t>
            </a:r>
            <a:r>
              <a:rPr sz="2400" dirty="0">
                <a:latin typeface="Times New Roman"/>
                <a:cs typeface="Times New Roman"/>
              </a:rPr>
              <a:t>model</a:t>
            </a:r>
          </a:p>
          <a:p>
            <a:pPr marL="698500" lvl="1" indent="-229235">
              <a:lnSpc>
                <a:spcPts val="2740"/>
              </a:lnSpc>
              <a:spcBef>
                <a:spcPts val="580"/>
              </a:spcBef>
              <a:buClr>
                <a:srgbClr val="EC7C30"/>
              </a:buClr>
              <a:buFont typeface="Wingdings"/>
              <a:buChar char=""/>
              <a:tabLst>
                <a:tab pos="699135" algn="l"/>
              </a:tabLst>
            </a:pPr>
            <a:r>
              <a:rPr sz="2400" dirty="0">
                <a:latin typeface="Times New Roman"/>
                <a:cs typeface="Times New Roman"/>
              </a:rPr>
              <a:t>Hybrid combines multiple </a:t>
            </a:r>
            <a:r>
              <a:rPr sz="2400" spc="-5" dirty="0">
                <a:latin typeface="Times New Roman"/>
                <a:cs typeface="Times New Roman"/>
              </a:rPr>
              <a:t>approaches </a:t>
            </a:r>
            <a:r>
              <a:rPr sz="2400" dirty="0">
                <a:latin typeface="Times New Roman"/>
                <a:cs typeface="Times New Roman"/>
              </a:rPr>
              <a:t>to </a:t>
            </a:r>
            <a:r>
              <a:rPr sz="2400" spc="-10" dirty="0">
                <a:latin typeface="Times New Roman"/>
                <a:cs typeface="Times New Roman"/>
              </a:rPr>
              <a:t>address </a:t>
            </a:r>
            <a:r>
              <a:rPr sz="2400" dirty="0">
                <a:latin typeface="Times New Roman"/>
                <a:cs typeface="Times New Roman"/>
              </a:rPr>
              <a:t>performance,</a:t>
            </a:r>
            <a:r>
              <a:rPr sz="2400" spc="-95" dirty="0">
                <a:latin typeface="Times New Roman"/>
                <a:cs typeface="Times New Roman"/>
              </a:rPr>
              <a:t> </a:t>
            </a:r>
            <a:r>
              <a:rPr sz="2400" spc="-15" dirty="0">
                <a:latin typeface="Times New Roman"/>
                <a:cs typeface="Times New Roman"/>
              </a:rPr>
              <a:t>security,</a:t>
            </a:r>
            <a:endParaRPr sz="2400" dirty="0">
              <a:latin typeface="Times New Roman"/>
              <a:cs typeface="Times New Roman"/>
            </a:endParaRPr>
          </a:p>
          <a:p>
            <a:pPr marL="698500">
              <a:lnSpc>
                <a:spcPts val="2740"/>
              </a:lnSpc>
            </a:pPr>
            <a:r>
              <a:rPr sz="2400" dirty="0">
                <a:latin typeface="Times New Roman"/>
                <a:cs typeface="Times New Roman"/>
              </a:rPr>
              <a:t>usability</a:t>
            </a:r>
            <a:r>
              <a:rPr sz="2400" spc="-30" dirty="0">
                <a:latin typeface="Times New Roman"/>
                <a:cs typeface="Times New Roman"/>
              </a:rPr>
              <a:t> </a:t>
            </a:r>
            <a:r>
              <a:rPr sz="2400" spc="-5" dirty="0">
                <a:latin typeface="Times New Roman"/>
                <a:cs typeface="Times New Roman"/>
              </a:rPr>
              <a:t>needs</a:t>
            </a:r>
            <a:endParaRPr sz="2400" dirty="0">
              <a:latin typeface="Times New Roman"/>
              <a:cs typeface="Times New Roman"/>
            </a:endParaRPr>
          </a:p>
          <a:p>
            <a:pPr marL="698500" marR="349250" lvl="1" indent="-228600">
              <a:lnSpc>
                <a:spcPts val="2590"/>
              </a:lnSpc>
              <a:spcBef>
                <a:spcPts val="900"/>
              </a:spcBef>
              <a:buClr>
                <a:srgbClr val="EC7C30"/>
              </a:buClr>
              <a:buFont typeface="Wingdings"/>
              <a:buChar char=""/>
              <a:tabLst>
                <a:tab pos="699135" algn="l"/>
              </a:tabLst>
            </a:pPr>
            <a:r>
              <a:rPr sz="2400" spc="-5" dirty="0">
                <a:latin typeface="Times New Roman"/>
                <a:cs typeface="Times New Roman"/>
              </a:rPr>
              <a:t>Linux and </a:t>
            </a:r>
            <a:r>
              <a:rPr sz="2400" dirty="0">
                <a:latin typeface="Times New Roman"/>
                <a:cs typeface="Times New Roman"/>
              </a:rPr>
              <a:t>Solaris kernels </a:t>
            </a:r>
            <a:r>
              <a:rPr sz="2400" spc="-5" dirty="0">
                <a:latin typeface="Times New Roman"/>
                <a:cs typeface="Times New Roman"/>
              </a:rPr>
              <a:t>in </a:t>
            </a:r>
            <a:r>
              <a:rPr sz="2400" dirty="0">
                <a:latin typeface="Times New Roman"/>
                <a:cs typeface="Times New Roman"/>
              </a:rPr>
              <a:t>kernel </a:t>
            </a:r>
            <a:r>
              <a:rPr sz="2400" spc="-10" dirty="0">
                <a:latin typeface="Times New Roman"/>
                <a:cs typeface="Times New Roman"/>
              </a:rPr>
              <a:t>address </a:t>
            </a:r>
            <a:r>
              <a:rPr sz="2400" spc="-5" dirty="0">
                <a:latin typeface="Times New Roman"/>
                <a:cs typeface="Times New Roman"/>
              </a:rPr>
              <a:t>space, so </a:t>
            </a:r>
            <a:r>
              <a:rPr sz="2400" dirty="0">
                <a:latin typeface="Times New Roman"/>
                <a:cs typeface="Times New Roman"/>
              </a:rPr>
              <a:t>monolithic, </a:t>
            </a:r>
            <a:r>
              <a:rPr sz="2400" spc="-5" dirty="0">
                <a:latin typeface="Times New Roman"/>
                <a:cs typeface="Times New Roman"/>
              </a:rPr>
              <a:t>plus  modular for dynamic </a:t>
            </a:r>
            <a:r>
              <a:rPr sz="2400" dirty="0">
                <a:latin typeface="Times New Roman"/>
                <a:cs typeface="Times New Roman"/>
              </a:rPr>
              <a:t>loading </a:t>
            </a:r>
            <a:r>
              <a:rPr sz="2400" spc="-5" dirty="0">
                <a:latin typeface="Times New Roman"/>
                <a:cs typeface="Times New Roman"/>
              </a:rPr>
              <a:t>of</a:t>
            </a:r>
            <a:r>
              <a:rPr sz="2400" spc="-105" dirty="0">
                <a:latin typeface="Times New Roman"/>
                <a:cs typeface="Times New Roman"/>
              </a:rPr>
              <a:t> </a:t>
            </a:r>
            <a:r>
              <a:rPr sz="2400" dirty="0">
                <a:latin typeface="Times New Roman"/>
                <a:cs typeface="Times New Roman"/>
              </a:rPr>
              <a:t>functionality</a:t>
            </a:r>
          </a:p>
          <a:p>
            <a:pPr marL="698500" lvl="1" indent="-229235">
              <a:lnSpc>
                <a:spcPts val="2735"/>
              </a:lnSpc>
              <a:spcBef>
                <a:spcPts val="540"/>
              </a:spcBef>
              <a:buClr>
                <a:srgbClr val="EC7C30"/>
              </a:buClr>
              <a:buFont typeface="Wingdings"/>
              <a:buChar char=""/>
              <a:tabLst>
                <a:tab pos="699135" algn="l"/>
              </a:tabLst>
            </a:pPr>
            <a:r>
              <a:rPr sz="2400" spc="-15" dirty="0">
                <a:latin typeface="Times New Roman"/>
                <a:cs typeface="Times New Roman"/>
              </a:rPr>
              <a:t>Windows </a:t>
            </a:r>
            <a:r>
              <a:rPr sz="2400" dirty="0">
                <a:latin typeface="Times New Roman"/>
                <a:cs typeface="Times New Roman"/>
              </a:rPr>
              <a:t>mostly monolithic, plus </a:t>
            </a:r>
            <a:r>
              <a:rPr sz="2400" spc="-5" dirty="0">
                <a:latin typeface="Times New Roman"/>
                <a:cs typeface="Times New Roman"/>
              </a:rPr>
              <a:t>microkernel </a:t>
            </a:r>
            <a:r>
              <a:rPr sz="2400" dirty="0">
                <a:latin typeface="Times New Roman"/>
                <a:cs typeface="Times New Roman"/>
              </a:rPr>
              <a:t>for </a:t>
            </a:r>
            <a:r>
              <a:rPr sz="2400" spc="-5" dirty="0">
                <a:latin typeface="Times New Roman"/>
                <a:cs typeface="Times New Roman"/>
              </a:rPr>
              <a:t>different</a:t>
            </a:r>
            <a:r>
              <a:rPr sz="2400" spc="-114" dirty="0">
                <a:latin typeface="Times New Roman"/>
                <a:cs typeface="Times New Roman"/>
              </a:rPr>
              <a:t> </a:t>
            </a:r>
            <a:r>
              <a:rPr sz="2400" dirty="0">
                <a:latin typeface="Times New Roman"/>
                <a:cs typeface="Times New Roman"/>
              </a:rPr>
              <a:t>subsystem</a:t>
            </a:r>
          </a:p>
          <a:p>
            <a:pPr marL="698500">
              <a:lnSpc>
                <a:spcPts val="2735"/>
              </a:lnSpc>
            </a:pPr>
            <a:r>
              <a:rPr sz="2400" i="1" dirty="0">
                <a:latin typeface="Times New Roman"/>
                <a:cs typeface="Times New Roman"/>
              </a:rPr>
              <a:t>personalities</a:t>
            </a:r>
            <a:endParaRPr sz="2400" dirty="0">
              <a:latin typeface="Times New Roman"/>
              <a:cs typeface="Times New Roman"/>
            </a:endParaRPr>
          </a:p>
        </p:txBody>
      </p:sp>
      <p:sp>
        <p:nvSpPr>
          <p:cNvPr id="3" name="object 3"/>
          <p:cNvSpPr txBox="1">
            <a:spLocks noGrp="1"/>
          </p:cNvSpPr>
          <p:nvPr>
            <p:ph type="title"/>
          </p:nvPr>
        </p:nvSpPr>
        <p:spPr>
          <a:xfrm>
            <a:off x="916939" y="659968"/>
            <a:ext cx="3834765" cy="697230"/>
          </a:xfrm>
          <a:prstGeom prst="rect">
            <a:avLst/>
          </a:prstGeom>
        </p:spPr>
        <p:txBody>
          <a:bodyPr vert="horz" wrap="square" lIns="0" tIns="13335" rIns="0" bIns="0" rtlCol="0">
            <a:spAutoFit/>
          </a:bodyPr>
          <a:lstStyle/>
          <a:p>
            <a:pPr marL="12700">
              <a:lnSpc>
                <a:spcPct val="100000"/>
              </a:lnSpc>
              <a:spcBef>
                <a:spcPts val="105"/>
              </a:spcBef>
            </a:pPr>
            <a:r>
              <a:rPr dirty="0">
                <a:solidFill>
                  <a:srgbClr val="FF0000"/>
                </a:solidFill>
                <a:latin typeface="Times New Roman"/>
                <a:cs typeface="Times New Roman"/>
              </a:rPr>
              <a:t>Hybrid</a:t>
            </a:r>
            <a:r>
              <a:rPr spc="-60" dirty="0">
                <a:solidFill>
                  <a:srgbClr val="FF0000"/>
                </a:solidFill>
                <a:latin typeface="Times New Roman"/>
                <a:cs typeface="Times New Roman"/>
              </a:rPr>
              <a:t> </a:t>
            </a:r>
            <a:r>
              <a:rPr dirty="0">
                <a:solidFill>
                  <a:srgbClr val="FF0000"/>
                </a:solidFill>
                <a:latin typeface="Times New Roman"/>
                <a:cs typeface="Times New Roman"/>
              </a:rPr>
              <a:t>Systems</a:t>
            </a:r>
          </a:p>
        </p:txBody>
      </p:sp>
    </p:spTree>
    <p:extLst>
      <p:ext uri="{BB962C8B-B14F-4D97-AF65-F5344CB8AC3E}">
        <p14:creationId xmlns:p14="http://schemas.microsoft.com/office/powerpoint/2010/main" val="874753982"/>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16939" y="1739007"/>
            <a:ext cx="10253345" cy="4305935"/>
          </a:xfrm>
          <a:prstGeom prst="rect">
            <a:avLst/>
          </a:prstGeom>
        </p:spPr>
        <p:txBody>
          <a:bodyPr vert="horz" wrap="square" lIns="0" tIns="85090" rIns="0" bIns="0" rtlCol="0">
            <a:spAutoFit/>
          </a:bodyPr>
          <a:lstStyle/>
          <a:p>
            <a:pPr marL="241300" indent="-228600">
              <a:lnSpc>
                <a:spcPct val="100000"/>
              </a:lnSpc>
              <a:spcBef>
                <a:spcPts val="670"/>
              </a:spcBef>
              <a:buClr>
                <a:srgbClr val="EC7C30"/>
              </a:buClr>
              <a:buFont typeface="Wingdings"/>
              <a:buChar char=""/>
              <a:tabLst>
                <a:tab pos="241300" algn="l"/>
              </a:tabLst>
            </a:pPr>
            <a:r>
              <a:rPr sz="2400" dirty="0">
                <a:latin typeface="Times New Roman"/>
                <a:cs typeface="Times New Roman"/>
              </a:rPr>
              <a:t>Most modern operating systems </a:t>
            </a:r>
            <a:r>
              <a:rPr sz="2400" spc="-15" dirty="0">
                <a:latin typeface="Times New Roman"/>
                <a:cs typeface="Times New Roman"/>
              </a:rPr>
              <a:t>are </a:t>
            </a:r>
            <a:r>
              <a:rPr sz="2400" dirty="0">
                <a:latin typeface="Times New Roman"/>
                <a:cs typeface="Times New Roman"/>
              </a:rPr>
              <a:t>actually </a:t>
            </a:r>
            <a:r>
              <a:rPr sz="2400" spc="-5" dirty="0">
                <a:latin typeface="Times New Roman"/>
                <a:cs typeface="Times New Roman"/>
              </a:rPr>
              <a:t>not one </a:t>
            </a:r>
            <a:r>
              <a:rPr sz="2400" spc="-15" dirty="0">
                <a:latin typeface="Times New Roman"/>
                <a:cs typeface="Times New Roman"/>
              </a:rPr>
              <a:t>pure</a:t>
            </a:r>
            <a:r>
              <a:rPr sz="2400" spc="-20" dirty="0">
                <a:latin typeface="Times New Roman"/>
                <a:cs typeface="Times New Roman"/>
              </a:rPr>
              <a:t> </a:t>
            </a:r>
            <a:r>
              <a:rPr sz="2400" dirty="0">
                <a:latin typeface="Times New Roman"/>
                <a:cs typeface="Times New Roman"/>
              </a:rPr>
              <a:t>model</a:t>
            </a:r>
          </a:p>
          <a:p>
            <a:pPr marL="698500" lvl="1" indent="-229235">
              <a:lnSpc>
                <a:spcPts val="2740"/>
              </a:lnSpc>
              <a:spcBef>
                <a:spcPts val="580"/>
              </a:spcBef>
              <a:buClr>
                <a:srgbClr val="EC7C30"/>
              </a:buClr>
              <a:buFont typeface="Wingdings"/>
              <a:buChar char=""/>
              <a:tabLst>
                <a:tab pos="699135" algn="l"/>
              </a:tabLst>
            </a:pPr>
            <a:r>
              <a:rPr sz="2400" dirty="0">
                <a:latin typeface="Times New Roman"/>
                <a:cs typeface="Times New Roman"/>
              </a:rPr>
              <a:t>Hybrid combines multiple </a:t>
            </a:r>
            <a:r>
              <a:rPr sz="2400" spc="-5" dirty="0">
                <a:latin typeface="Times New Roman"/>
                <a:cs typeface="Times New Roman"/>
              </a:rPr>
              <a:t>approaches </a:t>
            </a:r>
            <a:r>
              <a:rPr sz="2400" dirty="0">
                <a:latin typeface="Times New Roman"/>
                <a:cs typeface="Times New Roman"/>
              </a:rPr>
              <a:t>to </a:t>
            </a:r>
            <a:r>
              <a:rPr sz="2400" spc="-10" dirty="0">
                <a:latin typeface="Times New Roman"/>
                <a:cs typeface="Times New Roman"/>
              </a:rPr>
              <a:t>address </a:t>
            </a:r>
            <a:r>
              <a:rPr sz="2400" dirty="0">
                <a:latin typeface="Times New Roman"/>
                <a:cs typeface="Times New Roman"/>
              </a:rPr>
              <a:t>performance,</a:t>
            </a:r>
            <a:r>
              <a:rPr sz="2400" spc="-85" dirty="0">
                <a:latin typeface="Times New Roman"/>
                <a:cs typeface="Times New Roman"/>
              </a:rPr>
              <a:t> </a:t>
            </a:r>
            <a:r>
              <a:rPr sz="2400" spc="-15" dirty="0">
                <a:latin typeface="Times New Roman"/>
                <a:cs typeface="Times New Roman"/>
              </a:rPr>
              <a:t>security,</a:t>
            </a:r>
            <a:endParaRPr sz="2400" dirty="0">
              <a:latin typeface="Times New Roman"/>
              <a:cs typeface="Times New Roman"/>
            </a:endParaRPr>
          </a:p>
          <a:p>
            <a:pPr marL="698500">
              <a:lnSpc>
                <a:spcPts val="2740"/>
              </a:lnSpc>
            </a:pPr>
            <a:r>
              <a:rPr sz="2400" dirty="0">
                <a:latin typeface="Times New Roman"/>
                <a:cs typeface="Times New Roman"/>
              </a:rPr>
              <a:t>usability</a:t>
            </a:r>
            <a:r>
              <a:rPr sz="2400" spc="-30" dirty="0">
                <a:latin typeface="Times New Roman"/>
                <a:cs typeface="Times New Roman"/>
              </a:rPr>
              <a:t> </a:t>
            </a:r>
            <a:r>
              <a:rPr sz="2400" spc="-5" dirty="0">
                <a:latin typeface="Times New Roman"/>
                <a:cs typeface="Times New Roman"/>
              </a:rPr>
              <a:t>needs</a:t>
            </a:r>
            <a:endParaRPr sz="2400" dirty="0">
              <a:latin typeface="Times New Roman"/>
              <a:cs typeface="Times New Roman"/>
            </a:endParaRPr>
          </a:p>
          <a:p>
            <a:pPr marL="698500" marR="529590" lvl="1" indent="-228600">
              <a:lnSpc>
                <a:spcPts val="2590"/>
              </a:lnSpc>
              <a:spcBef>
                <a:spcPts val="900"/>
              </a:spcBef>
              <a:buClr>
                <a:srgbClr val="EC7C30"/>
              </a:buClr>
              <a:buFont typeface="Wingdings"/>
              <a:buChar char=""/>
              <a:tabLst>
                <a:tab pos="699135" algn="l"/>
              </a:tabLst>
            </a:pPr>
            <a:r>
              <a:rPr sz="2400" spc="-5" dirty="0">
                <a:latin typeface="Times New Roman"/>
                <a:cs typeface="Times New Roman"/>
              </a:rPr>
              <a:t>Linux and </a:t>
            </a:r>
            <a:r>
              <a:rPr sz="2400" dirty="0">
                <a:latin typeface="Times New Roman"/>
                <a:cs typeface="Times New Roman"/>
              </a:rPr>
              <a:t>Solaris kernels </a:t>
            </a:r>
            <a:r>
              <a:rPr sz="2400" spc="-5" dirty="0">
                <a:latin typeface="Times New Roman"/>
                <a:cs typeface="Times New Roman"/>
              </a:rPr>
              <a:t>in </a:t>
            </a:r>
            <a:r>
              <a:rPr sz="2400" dirty="0">
                <a:latin typeface="Times New Roman"/>
                <a:cs typeface="Times New Roman"/>
              </a:rPr>
              <a:t>kernel </a:t>
            </a:r>
            <a:r>
              <a:rPr sz="2400" spc="-10" dirty="0">
                <a:latin typeface="Times New Roman"/>
                <a:cs typeface="Times New Roman"/>
              </a:rPr>
              <a:t>address </a:t>
            </a:r>
            <a:r>
              <a:rPr sz="2400" spc="-5" dirty="0">
                <a:latin typeface="Times New Roman"/>
                <a:cs typeface="Times New Roman"/>
              </a:rPr>
              <a:t>space, so </a:t>
            </a:r>
            <a:r>
              <a:rPr sz="2400" dirty="0">
                <a:latin typeface="Times New Roman"/>
                <a:cs typeface="Times New Roman"/>
              </a:rPr>
              <a:t>monolithic, </a:t>
            </a:r>
            <a:r>
              <a:rPr sz="2400" spc="-5" dirty="0">
                <a:latin typeface="Times New Roman"/>
                <a:cs typeface="Times New Roman"/>
              </a:rPr>
              <a:t>plus  modular for dynamic </a:t>
            </a:r>
            <a:r>
              <a:rPr sz="2400" dirty="0">
                <a:latin typeface="Times New Roman"/>
                <a:cs typeface="Times New Roman"/>
              </a:rPr>
              <a:t>loading </a:t>
            </a:r>
            <a:r>
              <a:rPr sz="2400" spc="-5" dirty="0">
                <a:latin typeface="Times New Roman"/>
                <a:cs typeface="Times New Roman"/>
              </a:rPr>
              <a:t>of</a:t>
            </a:r>
            <a:r>
              <a:rPr sz="2400" spc="-105" dirty="0">
                <a:latin typeface="Times New Roman"/>
                <a:cs typeface="Times New Roman"/>
              </a:rPr>
              <a:t> </a:t>
            </a:r>
            <a:r>
              <a:rPr sz="2400" dirty="0">
                <a:latin typeface="Times New Roman"/>
                <a:cs typeface="Times New Roman"/>
              </a:rPr>
              <a:t>functionality</a:t>
            </a:r>
          </a:p>
          <a:p>
            <a:pPr marL="698500" lvl="1" indent="-229235">
              <a:lnSpc>
                <a:spcPts val="2735"/>
              </a:lnSpc>
              <a:spcBef>
                <a:spcPts val="540"/>
              </a:spcBef>
              <a:buClr>
                <a:srgbClr val="EC7C30"/>
              </a:buClr>
              <a:buFont typeface="Wingdings"/>
              <a:buChar char=""/>
              <a:tabLst>
                <a:tab pos="699135" algn="l"/>
              </a:tabLst>
            </a:pPr>
            <a:r>
              <a:rPr sz="2400" spc="-15" dirty="0">
                <a:latin typeface="Times New Roman"/>
                <a:cs typeface="Times New Roman"/>
              </a:rPr>
              <a:t>Windows </a:t>
            </a:r>
            <a:r>
              <a:rPr sz="2400" dirty="0">
                <a:latin typeface="Times New Roman"/>
                <a:cs typeface="Times New Roman"/>
              </a:rPr>
              <a:t>mostly monolithic, plus </a:t>
            </a:r>
            <a:r>
              <a:rPr sz="2400" spc="-5" dirty="0">
                <a:latin typeface="Times New Roman"/>
                <a:cs typeface="Times New Roman"/>
              </a:rPr>
              <a:t>microkernel </a:t>
            </a:r>
            <a:r>
              <a:rPr sz="2400" dirty="0">
                <a:latin typeface="Times New Roman"/>
                <a:cs typeface="Times New Roman"/>
              </a:rPr>
              <a:t>for </a:t>
            </a:r>
            <a:r>
              <a:rPr sz="2400" spc="-5" dirty="0">
                <a:latin typeface="Times New Roman"/>
                <a:cs typeface="Times New Roman"/>
              </a:rPr>
              <a:t>different</a:t>
            </a:r>
            <a:r>
              <a:rPr sz="2400" spc="-114" dirty="0">
                <a:latin typeface="Times New Roman"/>
                <a:cs typeface="Times New Roman"/>
              </a:rPr>
              <a:t> </a:t>
            </a:r>
            <a:r>
              <a:rPr sz="2400" dirty="0">
                <a:latin typeface="Times New Roman"/>
                <a:cs typeface="Times New Roman"/>
              </a:rPr>
              <a:t>subsystem</a:t>
            </a:r>
          </a:p>
          <a:p>
            <a:pPr marL="698500">
              <a:lnSpc>
                <a:spcPts val="2735"/>
              </a:lnSpc>
            </a:pPr>
            <a:r>
              <a:rPr sz="2400" i="1" dirty="0">
                <a:latin typeface="Times New Roman"/>
                <a:cs typeface="Times New Roman"/>
              </a:rPr>
              <a:t>personalities</a:t>
            </a:r>
            <a:endParaRPr sz="2400" dirty="0">
              <a:latin typeface="Times New Roman"/>
              <a:cs typeface="Times New Roman"/>
            </a:endParaRPr>
          </a:p>
          <a:p>
            <a:pPr marL="241300" marR="1069340" indent="-228600">
              <a:lnSpc>
                <a:spcPts val="2590"/>
              </a:lnSpc>
              <a:spcBef>
                <a:spcPts val="905"/>
              </a:spcBef>
              <a:buClr>
                <a:srgbClr val="EC7C30"/>
              </a:buClr>
              <a:buFont typeface="Wingdings"/>
              <a:buChar char=""/>
              <a:tabLst>
                <a:tab pos="241300" algn="l"/>
              </a:tabLst>
            </a:pPr>
            <a:r>
              <a:rPr sz="2400" spc="-5" dirty="0">
                <a:latin typeface="Times New Roman"/>
                <a:cs typeface="Times New Roman"/>
              </a:rPr>
              <a:t>Apple </a:t>
            </a:r>
            <a:r>
              <a:rPr sz="2400" dirty="0">
                <a:latin typeface="Times New Roman"/>
                <a:cs typeface="Times New Roman"/>
              </a:rPr>
              <a:t>Mac OS </a:t>
            </a:r>
            <a:r>
              <a:rPr sz="2400" spc="-5" dirty="0">
                <a:latin typeface="Times New Roman"/>
                <a:cs typeface="Times New Roman"/>
              </a:rPr>
              <a:t>X </a:t>
            </a:r>
            <a:r>
              <a:rPr sz="2400" dirty="0">
                <a:latin typeface="Times New Roman"/>
                <a:cs typeface="Times New Roman"/>
              </a:rPr>
              <a:t>hybrid, </a:t>
            </a:r>
            <a:r>
              <a:rPr sz="2400" spc="-5" dirty="0">
                <a:latin typeface="Times New Roman"/>
                <a:cs typeface="Times New Roman"/>
              </a:rPr>
              <a:t>layered, </a:t>
            </a:r>
            <a:r>
              <a:rPr sz="2400" spc="-5" dirty="0">
                <a:solidFill>
                  <a:srgbClr val="3366FF"/>
                </a:solidFill>
                <a:latin typeface="Times New Roman"/>
                <a:cs typeface="Times New Roman"/>
              </a:rPr>
              <a:t>Aqua </a:t>
            </a:r>
            <a:r>
              <a:rPr sz="2400" spc="-5" dirty="0">
                <a:latin typeface="Times New Roman"/>
                <a:cs typeface="Times New Roman"/>
              </a:rPr>
              <a:t>UI plus </a:t>
            </a:r>
            <a:r>
              <a:rPr sz="2400" dirty="0">
                <a:solidFill>
                  <a:srgbClr val="3366FF"/>
                </a:solidFill>
                <a:latin typeface="Times New Roman"/>
                <a:cs typeface="Times New Roman"/>
              </a:rPr>
              <a:t>Cocoa</a:t>
            </a:r>
            <a:r>
              <a:rPr sz="2400" spc="-145" dirty="0">
                <a:solidFill>
                  <a:srgbClr val="3366FF"/>
                </a:solidFill>
                <a:latin typeface="Times New Roman"/>
                <a:cs typeface="Times New Roman"/>
              </a:rPr>
              <a:t> </a:t>
            </a:r>
            <a:r>
              <a:rPr sz="2400" spc="-5" dirty="0">
                <a:latin typeface="Times New Roman"/>
                <a:cs typeface="Times New Roman"/>
              </a:rPr>
              <a:t>programming  environment</a:t>
            </a:r>
            <a:endParaRPr sz="2400" dirty="0">
              <a:latin typeface="Times New Roman"/>
              <a:cs typeface="Times New Roman"/>
            </a:endParaRPr>
          </a:p>
          <a:p>
            <a:pPr marL="698500" marR="5080" lvl="1" indent="-228600">
              <a:lnSpc>
                <a:spcPts val="2590"/>
              </a:lnSpc>
              <a:spcBef>
                <a:spcPts val="869"/>
              </a:spcBef>
              <a:buClr>
                <a:srgbClr val="EC7C30"/>
              </a:buClr>
              <a:buFont typeface="Wingdings"/>
              <a:buChar char=""/>
              <a:tabLst>
                <a:tab pos="699135" algn="l"/>
              </a:tabLst>
            </a:pPr>
            <a:r>
              <a:rPr sz="2400" dirty="0">
                <a:latin typeface="Times New Roman"/>
                <a:cs typeface="Times New Roman"/>
              </a:rPr>
              <a:t>Below </a:t>
            </a:r>
            <a:r>
              <a:rPr sz="2400" spc="-5" dirty="0">
                <a:latin typeface="Times New Roman"/>
                <a:cs typeface="Times New Roman"/>
              </a:rPr>
              <a:t>is </a:t>
            </a:r>
            <a:r>
              <a:rPr sz="2400" dirty="0">
                <a:latin typeface="Times New Roman"/>
                <a:cs typeface="Times New Roman"/>
              </a:rPr>
              <a:t>kernel consisting of Mach </a:t>
            </a:r>
            <a:r>
              <a:rPr sz="2400" spc="-5" dirty="0">
                <a:latin typeface="Times New Roman"/>
                <a:cs typeface="Times New Roman"/>
              </a:rPr>
              <a:t>microkernel and BSD Unix </a:t>
            </a:r>
            <a:r>
              <a:rPr sz="2400" dirty="0">
                <a:latin typeface="Times New Roman"/>
                <a:cs typeface="Times New Roman"/>
              </a:rPr>
              <a:t>parts,</a:t>
            </a:r>
            <a:r>
              <a:rPr sz="2400" spc="-60" dirty="0">
                <a:latin typeface="Times New Roman"/>
                <a:cs typeface="Times New Roman"/>
              </a:rPr>
              <a:t> </a:t>
            </a:r>
            <a:r>
              <a:rPr sz="2400" spc="-5" dirty="0">
                <a:latin typeface="Times New Roman"/>
                <a:cs typeface="Times New Roman"/>
              </a:rPr>
              <a:t>plus  I/O </a:t>
            </a:r>
            <a:r>
              <a:rPr sz="2400" dirty="0">
                <a:latin typeface="Times New Roman"/>
                <a:cs typeface="Times New Roman"/>
              </a:rPr>
              <a:t>kit </a:t>
            </a:r>
            <a:r>
              <a:rPr sz="2400" spc="-5" dirty="0">
                <a:latin typeface="Times New Roman"/>
                <a:cs typeface="Times New Roman"/>
              </a:rPr>
              <a:t>and </a:t>
            </a:r>
            <a:r>
              <a:rPr sz="2400" dirty="0">
                <a:latin typeface="Times New Roman"/>
                <a:cs typeface="Times New Roman"/>
              </a:rPr>
              <a:t>dynamically loadable </a:t>
            </a:r>
            <a:r>
              <a:rPr sz="2400" spc="-5" dirty="0">
                <a:latin typeface="Times New Roman"/>
                <a:cs typeface="Times New Roman"/>
              </a:rPr>
              <a:t>modules </a:t>
            </a:r>
            <a:r>
              <a:rPr sz="2400" dirty="0">
                <a:latin typeface="Times New Roman"/>
                <a:cs typeface="Times New Roman"/>
              </a:rPr>
              <a:t>(called </a:t>
            </a:r>
            <a:r>
              <a:rPr sz="2400" dirty="0">
                <a:solidFill>
                  <a:srgbClr val="3366FF"/>
                </a:solidFill>
                <a:latin typeface="Times New Roman"/>
                <a:cs typeface="Times New Roman"/>
              </a:rPr>
              <a:t>kernel</a:t>
            </a:r>
            <a:r>
              <a:rPr sz="2400" spc="-85" dirty="0">
                <a:solidFill>
                  <a:srgbClr val="3366FF"/>
                </a:solidFill>
                <a:latin typeface="Times New Roman"/>
                <a:cs typeface="Times New Roman"/>
              </a:rPr>
              <a:t> </a:t>
            </a:r>
            <a:r>
              <a:rPr sz="2400" dirty="0">
                <a:solidFill>
                  <a:srgbClr val="3366FF"/>
                </a:solidFill>
                <a:latin typeface="Times New Roman"/>
                <a:cs typeface="Times New Roman"/>
              </a:rPr>
              <a:t>extensions</a:t>
            </a:r>
            <a:r>
              <a:rPr sz="2400" dirty="0">
                <a:latin typeface="Times New Roman"/>
                <a:cs typeface="Times New Roman"/>
              </a:rPr>
              <a:t>)</a:t>
            </a:r>
          </a:p>
        </p:txBody>
      </p:sp>
      <p:sp>
        <p:nvSpPr>
          <p:cNvPr id="3" name="object 3"/>
          <p:cNvSpPr txBox="1">
            <a:spLocks noGrp="1"/>
          </p:cNvSpPr>
          <p:nvPr>
            <p:ph type="title"/>
          </p:nvPr>
        </p:nvSpPr>
        <p:spPr>
          <a:xfrm>
            <a:off x="916939" y="659968"/>
            <a:ext cx="3834765" cy="697230"/>
          </a:xfrm>
          <a:prstGeom prst="rect">
            <a:avLst/>
          </a:prstGeom>
        </p:spPr>
        <p:txBody>
          <a:bodyPr vert="horz" wrap="square" lIns="0" tIns="13335" rIns="0" bIns="0" rtlCol="0">
            <a:spAutoFit/>
          </a:bodyPr>
          <a:lstStyle/>
          <a:p>
            <a:pPr marL="12700">
              <a:lnSpc>
                <a:spcPct val="100000"/>
              </a:lnSpc>
              <a:spcBef>
                <a:spcPts val="105"/>
              </a:spcBef>
            </a:pPr>
            <a:r>
              <a:rPr dirty="0">
                <a:solidFill>
                  <a:srgbClr val="FF0000"/>
                </a:solidFill>
                <a:latin typeface="Times New Roman"/>
                <a:cs typeface="Times New Roman"/>
              </a:rPr>
              <a:t>Hybrid</a:t>
            </a:r>
            <a:r>
              <a:rPr spc="-60" dirty="0">
                <a:solidFill>
                  <a:srgbClr val="FF0000"/>
                </a:solidFill>
                <a:latin typeface="Times New Roman"/>
                <a:cs typeface="Times New Roman"/>
              </a:rPr>
              <a:t> </a:t>
            </a:r>
            <a:r>
              <a:rPr dirty="0">
                <a:solidFill>
                  <a:srgbClr val="FF0000"/>
                </a:solidFill>
                <a:latin typeface="Times New Roman"/>
                <a:cs typeface="Times New Roman"/>
              </a:rPr>
              <a:t>Systems</a:t>
            </a:r>
          </a:p>
        </p:txBody>
      </p:sp>
    </p:spTree>
    <p:extLst>
      <p:ext uri="{BB962C8B-B14F-4D97-AF65-F5344CB8AC3E}">
        <p14:creationId xmlns:p14="http://schemas.microsoft.com/office/powerpoint/2010/main" val="3370473459"/>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2191365" cy="6858000"/>
            <a:chOff x="0" y="0"/>
            <a:chExt cx="12191365" cy="6858000"/>
          </a:xfrm>
        </p:grpSpPr>
        <p:sp>
          <p:nvSpPr>
            <p:cNvPr id="3" name="object 3"/>
            <p:cNvSpPr/>
            <p:nvPr/>
          </p:nvSpPr>
          <p:spPr>
            <a:xfrm>
              <a:off x="2104796" y="1830831"/>
              <a:ext cx="7986395" cy="1951355"/>
            </a:xfrm>
            <a:custGeom>
              <a:avLst/>
              <a:gdLst/>
              <a:ahLst/>
              <a:cxnLst/>
              <a:rect l="l" t="t" r="r" b="b"/>
              <a:pathLst>
                <a:path w="7986395" h="1951354">
                  <a:moveTo>
                    <a:pt x="7985925" y="908532"/>
                  </a:moveTo>
                  <a:lnTo>
                    <a:pt x="0" y="908519"/>
                  </a:lnTo>
                  <a:lnTo>
                    <a:pt x="0" y="1951177"/>
                  </a:lnTo>
                  <a:lnTo>
                    <a:pt x="7985925" y="1951177"/>
                  </a:lnTo>
                  <a:lnTo>
                    <a:pt x="7985925" y="908532"/>
                  </a:lnTo>
                  <a:close/>
                </a:path>
                <a:path w="7986395" h="1951354">
                  <a:moveTo>
                    <a:pt x="7985925" y="0"/>
                  </a:moveTo>
                  <a:lnTo>
                    <a:pt x="0" y="0"/>
                  </a:lnTo>
                  <a:lnTo>
                    <a:pt x="0" y="631151"/>
                  </a:lnTo>
                  <a:lnTo>
                    <a:pt x="7985925" y="631151"/>
                  </a:lnTo>
                  <a:lnTo>
                    <a:pt x="7985925" y="0"/>
                  </a:lnTo>
                  <a:close/>
                </a:path>
              </a:pathLst>
            </a:custGeom>
            <a:solidFill>
              <a:srgbClr val="D4F0F3"/>
            </a:solidFill>
          </p:spPr>
          <p:txBody>
            <a:bodyPr wrap="square" lIns="0" tIns="0" rIns="0" bIns="0" rtlCol="0"/>
            <a:lstStyle/>
            <a:p>
              <a:endParaRPr/>
            </a:p>
          </p:txBody>
        </p:sp>
        <p:sp>
          <p:nvSpPr>
            <p:cNvPr id="4" name="object 4"/>
            <p:cNvSpPr/>
            <p:nvPr/>
          </p:nvSpPr>
          <p:spPr>
            <a:xfrm>
              <a:off x="2104797" y="1830828"/>
              <a:ext cx="7986395" cy="1951355"/>
            </a:xfrm>
            <a:custGeom>
              <a:avLst/>
              <a:gdLst/>
              <a:ahLst/>
              <a:cxnLst/>
              <a:rect l="l" t="t" r="r" b="b"/>
              <a:pathLst>
                <a:path w="7986395" h="1951354">
                  <a:moveTo>
                    <a:pt x="7985929" y="631149"/>
                  </a:moveTo>
                  <a:lnTo>
                    <a:pt x="0" y="631149"/>
                  </a:lnTo>
                  <a:lnTo>
                    <a:pt x="0" y="0"/>
                  </a:lnTo>
                  <a:lnTo>
                    <a:pt x="7985929" y="0"/>
                  </a:lnTo>
                  <a:lnTo>
                    <a:pt x="7985929" y="631149"/>
                  </a:lnTo>
                  <a:close/>
                </a:path>
                <a:path w="7986395" h="1951354">
                  <a:moveTo>
                    <a:pt x="7985929" y="1951177"/>
                  </a:moveTo>
                  <a:lnTo>
                    <a:pt x="0" y="1951177"/>
                  </a:lnTo>
                  <a:lnTo>
                    <a:pt x="0" y="908523"/>
                  </a:lnTo>
                  <a:lnTo>
                    <a:pt x="7985929" y="908523"/>
                  </a:lnTo>
                  <a:lnTo>
                    <a:pt x="7985929" y="1951177"/>
                  </a:lnTo>
                  <a:close/>
                </a:path>
              </a:pathLst>
            </a:custGeom>
            <a:ln w="12655">
              <a:solidFill>
                <a:srgbClr val="000000"/>
              </a:solidFill>
            </a:ln>
          </p:spPr>
          <p:txBody>
            <a:bodyPr wrap="square" lIns="0" tIns="0" rIns="0" bIns="0" rtlCol="0"/>
            <a:lstStyle/>
            <a:p>
              <a:endParaRPr/>
            </a:p>
          </p:txBody>
        </p:sp>
      </p:grpSp>
      <p:sp>
        <p:nvSpPr>
          <p:cNvPr id="5" name="object 5"/>
          <p:cNvSpPr txBox="1"/>
          <p:nvPr/>
        </p:nvSpPr>
        <p:spPr>
          <a:xfrm>
            <a:off x="2181530" y="1819068"/>
            <a:ext cx="2188210" cy="276860"/>
          </a:xfrm>
          <a:prstGeom prst="rect">
            <a:avLst/>
          </a:prstGeom>
        </p:spPr>
        <p:txBody>
          <a:bodyPr vert="horz" wrap="square" lIns="0" tIns="12700" rIns="0" bIns="0" rtlCol="0">
            <a:spAutoFit/>
          </a:bodyPr>
          <a:lstStyle/>
          <a:p>
            <a:pPr>
              <a:lnSpc>
                <a:spcPct val="100000"/>
              </a:lnSpc>
              <a:spcBef>
                <a:spcPts val="100"/>
              </a:spcBef>
            </a:pPr>
            <a:r>
              <a:rPr sz="1650" spc="-5" dirty="0">
                <a:latin typeface="Arial"/>
                <a:cs typeface="Arial"/>
              </a:rPr>
              <a:t>graphical </a:t>
            </a:r>
            <a:r>
              <a:rPr sz="1650" dirty="0">
                <a:latin typeface="Arial"/>
                <a:cs typeface="Arial"/>
              </a:rPr>
              <a:t>user</a:t>
            </a:r>
            <a:r>
              <a:rPr sz="1650" spc="-25" dirty="0">
                <a:latin typeface="Arial"/>
                <a:cs typeface="Arial"/>
              </a:rPr>
              <a:t> </a:t>
            </a:r>
            <a:r>
              <a:rPr sz="1650" spc="-5" dirty="0">
                <a:latin typeface="Arial"/>
                <a:cs typeface="Arial"/>
              </a:rPr>
              <a:t>interface</a:t>
            </a:r>
            <a:endParaRPr sz="1650">
              <a:latin typeface="Arial"/>
              <a:cs typeface="Arial"/>
            </a:endParaRPr>
          </a:p>
        </p:txBody>
      </p:sp>
      <p:sp>
        <p:nvSpPr>
          <p:cNvPr id="6" name="object 6"/>
          <p:cNvSpPr txBox="1"/>
          <p:nvPr/>
        </p:nvSpPr>
        <p:spPr>
          <a:xfrm>
            <a:off x="5773839" y="1962311"/>
            <a:ext cx="502284" cy="276860"/>
          </a:xfrm>
          <a:prstGeom prst="rect">
            <a:avLst/>
          </a:prstGeom>
        </p:spPr>
        <p:txBody>
          <a:bodyPr vert="horz" wrap="square" lIns="0" tIns="12700" rIns="0" bIns="0" rtlCol="0">
            <a:spAutoFit/>
          </a:bodyPr>
          <a:lstStyle/>
          <a:p>
            <a:pPr>
              <a:lnSpc>
                <a:spcPct val="100000"/>
              </a:lnSpc>
              <a:spcBef>
                <a:spcPts val="100"/>
              </a:spcBef>
            </a:pPr>
            <a:r>
              <a:rPr sz="1650" dirty="0">
                <a:latin typeface="Arial"/>
                <a:cs typeface="Arial"/>
              </a:rPr>
              <a:t>Aqua</a:t>
            </a:r>
            <a:endParaRPr sz="1650">
              <a:latin typeface="Arial"/>
              <a:cs typeface="Arial"/>
            </a:endParaRPr>
          </a:p>
        </p:txBody>
      </p:sp>
      <p:grpSp>
        <p:nvGrpSpPr>
          <p:cNvPr id="7" name="object 7"/>
          <p:cNvGrpSpPr/>
          <p:nvPr/>
        </p:nvGrpSpPr>
        <p:grpSpPr>
          <a:xfrm>
            <a:off x="2730824" y="3202870"/>
            <a:ext cx="2700020" cy="431165"/>
            <a:chOff x="2730824" y="3202870"/>
            <a:chExt cx="2700020" cy="431165"/>
          </a:xfrm>
        </p:grpSpPr>
        <p:sp>
          <p:nvSpPr>
            <p:cNvPr id="8" name="object 8"/>
            <p:cNvSpPr/>
            <p:nvPr/>
          </p:nvSpPr>
          <p:spPr>
            <a:xfrm>
              <a:off x="2735904" y="3207950"/>
              <a:ext cx="1090930" cy="421005"/>
            </a:xfrm>
            <a:custGeom>
              <a:avLst/>
              <a:gdLst/>
              <a:ahLst/>
              <a:cxnLst/>
              <a:rect l="l" t="t" r="r" b="b"/>
              <a:pathLst>
                <a:path w="1090929" h="421004">
                  <a:moveTo>
                    <a:pt x="545358" y="0"/>
                  </a:moveTo>
                  <a:lnTo>
                    <a:pt x="476942" y="1639"/>
                  </a:lnTo>
                  <a:lnTo>
                    <a:pt x="411064" y="6427"/>
                  </a:lnTo>
                  <a:lnTo>
                    <a:pt x="348235" y="14166"/>
                  </a:lnTo>
                  <a:lnTo>
                    <a:pt x="288965" y="24660"/>
                  </a:lnTo>
                  <a:lnTo>
                    <a:pt x="233766" y="37712"/>
                  </a:lnTo>
                  <a:lnTo>
                    <a:pt x="183148" y="53126"/>
                  </a:lnTo>
                  <a:lnTo>
                    <a:pt x="137622" y="70704"/>
                  </a:lnTo>
                  <a:lnTo>
                    <a:pt x="97699" y="90251"/>
                  </a:lnTo>
                  <a:lnTo>
                    <a:pt x="63889" y="111570"/>
                  </a:lnTo>
                  <a:lnTo>
                    <a:pt x="16653" y="158735"/>
                  </a:lnTo>
                  <a:lnTo>
                    <a:pt x="0" y="210627"/>
                  </a:lnTo>
                  <a:lnTo>
                    <a:pt x="4248" y="237017"/>
                  </a:lnTo>
                  <a:lnTo>
                    <a:pt x="36704" y="286665"/>
                  </a:lnTo>
                  <a:lnTo>
                    <a:pt x="97699" y="330821"/>
                  </a:lnTo>
                  <a:lnTo>
                    <a:pt x="137622" y="350347"/>
                  </a:lnTo>
                  <a:lnTo>
                    <a:pt x="183148" y="367909"/>
                  </a:lnTo>
                  <a:lnTo>
                    <a:pt x="233766" y="383310"/>
                  </a:lnTo>
                  <a:lnTo>
                    <a:pt x="288965" y="396352"/>
                  </a:lnTo>
                  <a:lnTo>
                    <a:pt x="348235" y="406840"/>
                  </a:lnTo>
                  <a:lnTo>
                    <a:pt x="411064" y="414575"/>
                  </a:lnTo>
                  <a:lnTo>
                    <a:pt x="476942" y="419360"/>
                  </a:lnTo>
                  <a:lnTo>
                    <a:pt x="545358" y="420999"/>
                  </a:lnTo>
                  <a:lnTo>
                    <a:pt x="613725" y="419360"/>
                  </a:lnTo>
                  <a:lnTo>
                    <a:pt x="679558" y="414575"/>
                  </a:lnTo>
                  <a:lnTo>
                    <a:pt x="742347" y="406840"/>
                  </a:lnTo>
                  <a:lnTo>
                    <a:pt x="801580" y="396352"/>
                  </a:lnTo>
                  <a:lnTo>
                    <a:pt x="856747" y="383310"/>
                  </a:lnTo>
                  <a:lnTo>
                    <a:pt x="907337" y="367909"/>
                  </a:lnTo>
                  <a:lnTo>
                    <a:pt x="952840" y="350347"/>
                  </a:lnTo>
                  <a:lnTo>
                    <a:pt x="992743" y="330821"/>
                  </a:lnTo>
                  <a:lnTo>
                    <a:pt x="1026537" y="309528"/>
                  </a:lnTo>
                  <a:lnTo>
                    <a:pt x="1073752" y="262429"/>
                  </a:lnTo>
                  <a:lnTo>
                    <a:pt x="1090398" y="210627"/>
                  </a:lnTo>
                  <a:lnTo>
                    <a:pt x="1086152" y="184188"/>
                  </a:lnTo>
                  <a:lnTo>
                    <a:pt x="1053710" y="134463"/>
                  </a:lnTo>
                  <a:lnTo>
                    <a:pt x="992743" y="90251"/>
                  </a:lnTo>
                  <a:lnTo>
                    <a:pt x="952840" y="70704"/>
                  </a:lnTo>
                  <a:lnTo>
                    <a:pt x="907337" y="53126"/>
                  </a:lnTo>
                  <a:lnTo>
                    <a:pt x="856747" y="37712"/>
                  </a:lnTo>
                  <a:lnTo>
                    <a:pt x="801580" y="24660"/>
                  </a:lnTo>
                  <a:lnTo>
                    <a:pt x="742347" y="14166"/>
                  </a:lnTo>
                  <a:lnTo>
                    <a:pt x="679558" y="6427"/>
                  </a:lnTo>
                  <a:lnTo>
                    <a:pt x="613725" y="1639"/>
                  </a:lnTo>
                  <a:lnTo>
                    <a:pt x="545358" y="0"/>
                  </a:lnTo>
                  <a:close/>
                </a:path>
              </a:pathLst>
            </a:custGeom>
            <a:solidFill>
              <a:srgbClr val="D2D2D2"/>
            </a:solidFill>
          </p:spPr>
          <p:txBody>
            <a:bodyPr wrap="square" lIns="0" tIns="0" rIns="0" bIns="0" rtlCol="0"/>
            <a:lstStyle/>
            <a:p>
              <a:endParaRPr/>
            </a:p>
          </p:txBody>
        </p:sp>
        <p:sp>
          <p:nvSpPr>
            <p:cNvPr id="9" name="object 9"/>
            <p:cNvSpPr/>
            <p:nvPr/>
          </p:nvSpPr>
          <p:spPr>
            <a:xfrm>
              <a:off x="2735904" y="3207950"/>
              <a:ext cx="1090930" cy="421005"/>
            </a:xfrm>
            <a:custGeom>
              <a:avLst/>
              <a:gdLst/>
              <a:ahLst/>
              <a:cxnLst/>
              <a:rect l="l" t="t" r="r" b="b"/>
              <a:pathLst>
                <a:path w="1090929" h="421004">
                  <a:moveTo>
                    <a:pt x="1090398" y="210627"/>
                  </a:moveTo>
                  <a:lnTo>
                    <a:pt x="1086152" y="237017"/>
                  </a:lnTo>
                  <a:lnTo>
                    <a:pt x="1073752" y="262429"/>
                  </a:lnTo>
                  <a:lnTo>
                    <a:pt x="1026537" y="309528"/>
                  </a:lnTo>
                  <a:lnTo>
                    <a:pt x="992743" y="330821"/>
                  </a:lnTo>
                  <a:lnTo>
                    <a:pt x="952840" y="350347"/>
                  </a:lnTo>
                  <a:lnTo>
                    <a:pt x="907337" y="367909"/>
                  </a:lnTo>
                  <a:lnTo>
                    <a:pt x="856747" y="383310"/>
                  </a:lnTo>
                  <a:lnTo>
                    <a:pt x="801580" y="396352"/>
                  </a:lnTo>
                  <a:lnTo>
                    <a:pt x="742347" y="406840"/>
                  </a:lnTo>
                  <a:lnTo>
                    <a:pt x="679558" y="414575"/>
                  </a:lnTo>
                  <a:lnTo>
                    <a:pt x="613725" y="419360"/>
                  </a:lnTo>
                  <a:lnTo>
                    <a:pt x="545358" y="420999"/>
                  </a:lnTo>
                  <a:lnTo>
                    <a:pt x="476942" y="419360"/>
                  </a:lnTo>
                  <a:lnTo>
                    <a:pt x="411064" y="414575"/>
                  </a:lnTo>
                  <a:lnTo>
                    <a:pt x="348235" y="406840"/>
                  </a:lnTo>
                  <a:lnTo>
                    <a:pt x="288965" y="396352"/>
                  </a:lnTo>
                  <a:lnTo>
                    <a:pt x="233766" y="383310"/>
                  </a:lnTo>
                  <a:lnTo>
                    <a:pt x="183148" y="367909"/>
                  </a:lnTo>
                  <a:lnTo>
                    <a:pt x="137622" y="350347"/>
                  </a:lnTo>
                  <a:lnTo>
                    <a:pt x="97699" y="330821"/>
                  </a:lnTo>
                  <a:lnTo>
                    <a:pt x="63889" y="309528"/>
                  </a:lnTo>
                  <a:lnTo>
                    <a:pt x="16653" y="262429"/>
                  </a:lnTo>
                  <a:lnTo>
                    <a:pt x="0" y="210627"/>
                  </a:lnTo>
                  <a:lnTo>
                    <a:pt x="4248" y="184188"/>
                  </a:lnTo>
                  <a:lnTo>
                    <a:pt x="36704" y="134463"/>
                  </a:lnTo>
                  <a:lnTo>
                    <a:pt x="97699" y="90251"/>
                  </a:lnTo>
                  <a:lnTo>
                    <a:pt x="137622" y="70704"/>
                  </a:lnTo>
                  <a:lnTo>
                    <a:pt x="183148" y="53126"/>
                  </a:lnTo>
                  <a:lnTo>
                    <a:pt x="233766" y="37712"/>
                  </a:lnTo>
                  <a:lnTo>
                    <a:pt x="288965" y="24660"/>
                  </a:lnTo>
                  <a:lnTo>
                    <a:pt x="348235" y="14166"/>
                  </a:lnTo>
                  <a:lnTo>
                    <a:pt x="411064" y="6427"/>
                  </a:lnTo>
                  <a:lnTo>
                    <a:pt x="476942" y="1639"/>
                  </a:lnTo>
                  <a:lnTo>
                    <a:pt x="545358" y="0"/>
                  </a:lnTo>
                  <a:lnTo>
                    <a:pt x="613725" y="1639"/>
                  </a:lnTo>
                  <a:lnTo>
                    <a:pt x="679558" y="6427"/>
                  </a:lnTo>
                  <a:lnTo>
                    <a:pt x="742347" y="14166"/>
                  </a:lnTo>
                  <a:lnTo>
                    <a:pt x="801580" y="24660"/>
                  </a:lnTo>
                  <a:lnTo>
                    <a:pt x="856747" y="37712"/>
                  </a:lnTo>
                  <a:lnTo>
                    <a:pt x="907337" y="53126"/>
                  </a:lnTo>
                  <a:lnTo>
                    <a:pt x="952840" y="70704"/>
                  </a:lnTo>
                  <a:lnTo>
                    <a:pt x="992743" y="90251"/>
                  </a:lnTo>
                  <a:lnTo>
                    <a:pt x="1026537" y="111570"/>
                  </a:lnTo>
                  <a:lnTo>
                    <a:pt x="1073752" y="158735"/>
                  </a:lnTo>
                  <a:lnTo>
                    <a:pt x="1090398" y="210627"/>
                  </a:lnTo>
                  <a:close/>
                </a:path>
              </a:pathLst>
            </a:custGeom>
            <a:ln w="9570">
              <a:solidFill>
                <a:srgbClr val="080909"/>
              </a:solidFill>
            </a:ln>
          </p:spPr>
          <p:txBody>
            <a:bodyPr wrap="square" lIns="0" tIns="0" rIns="0" bIns="0" rtlCol="0"/>
            <a:lstStyle/>
            <a:p>
              <a:endParaRPr/>
            </a:p>
          </p:txBody>
        </p:sp>
        <p:sp>
          <p:nvSpPr>
            <p:cNvPr id="10" name="object 10"/>
            <p:cNvSpPr/>
            <p:nvPr/>
          </p:nvSpPr>
          <p:spPr>
            <a:xfrm>
              <a:off x="4334792" y="3207950"/>
              <a:ext cx="1090930" cy="421005"/>
            </a:xfrm>
            <a:custGeom>
              <a:avLst/>
              <a:gdLst/>
              <a:ahLst/>
              <a:cxnLst/>
              <a:rect l="l" t="t" r="r" b="b"/>
              <a:pathLst>
                <a:path w="1090929" h="421004">
                  <a:moveTo>
                    <a:pt x="545135" y="0"/>
                  </a:moveTo>
                  <a:lnTo>
                    <a:pt x="476767" y="1639"/>
                  </a:lnTo>
                  <a:lnTo>
                    <a:pt x="410929" y="6427"/>
                  </a:lnTo>
                  <a:lnTo>
                    <a:pt x="348133" y="14166"/>
                  </a:lnTo>
                  <a:lnTo>
                    <a:pt x="288891" y="24660"/>
                  </a:lnTo>
                  <a:lnTo>
                    <a:pt x="233714" y="37712"/>
                  </a:lnTo>
                  <a:lnTo>
                    <a:pt x="183114" y="53126"/>
                  </a:lnTo>
                  <a:lnTo>
                    <a:pt x="137601" y="70704"/>
                  </a:lnTo>
                  <a:lnTo>
                    <a:pt x="97686" y="90251"/>
                  </a:lnTo>
                  <a:lnTo>
                    <a:pt x="63883" y="111570"/>
                  </a:lnTo>
                  <a:lnTo>
                    <a:pt x="16652" y="158735"/>
                  </a:lnTo>
                  <a:lnTo>
                    <a:pt x="0" y="210627"/>
                  </a:lnTo>
                  <a:lnTo>
                    <a:pt x="4248" y="237017"/>
                  </a:lnTo>
                  <a:lnTo>
                    <a:pt x="36701" y="286665"/>
                  </a:lnTo>
                  <a:lnTo>
                    <a:pt x="97686" y="330821"/>
                  </a:lnTo>
                  <a:lnTo>
                    <a:pt x="137601" y="350347"/>
                  </a:lnTo>
                  <a:lnTo>
                    <a:pt x="183114" y="367909"/>
                  </a:lnTo>
                  <a:lnTo>
                    <a:pt x="233714" y="383310"/>
                  </a:lnTo>
                  <a:lnTo>
                    <a:pt x="288891" y="396352"/>
                  </a:lnTo>
                  <a:lnTo>
                    <a:pt x="348133" y="406840"/>
                  </a:lnTo>
                  <a:lnTo>
                    <a:pt x="410929" y="414575"/>
                  </a:lnTo>
                  <a:lnTo>
                    <a:pt x="476767" y="419360"/>
                  </a:lnTo>
                  <a:lnTo>
                    <a:pt x="545135" y="420999"/>
                  </a:lnTo>
                  <a:lnTo>
                    <a:pt x="613551" y="419360"/>
                  </a:lnTo>
                  <a:lnTo>
                    <a:pt x="679429" y="414575"/>
                  </a:lnTo>
                  <a:lnTo>
                    <a:pt x="742258" y="406840"/>
                  </a:lnTo>
                  <a:lnTo>
                    <a:pt x="801528" y="396352"/>
                  </a:lnTo>
                  <a:lnTo>
                    <a:pt x="856727" y="383310"/>
                  </a:lnTo>
                  <a:lnTo>
                    <a:pt x="907345" y="367909"/>
                  </a:lnTo>
                  <a:lnTo>
                    <a:pt x="952871" y="350347"/>
                  </a:lnTo>
                  <a:lnTo>
                    <a:pt x="992794" y="330821"/>
                  </a:lnTo>
                  <a:lnTo>
                    <a:pt x="1026604" y="309528"/>
                  </a:lnTo>
                  <a:lnTo>
                    <a:pt x="1073840" y="262429"/>
                  </a:lnTo>
                  <a:lnTo>
                    <a:pt x="1090494" y="210627"/>
                  </a:lnTo>
                  <a:lnTo>
                    <a:pt x="1086245" y="184188"/>
                  </a:lnTo>
                  <a:lnTo>
                    <a:pt x="1053790" y="134463"/>
                  </a:lnTo>
                  <a:lnTo>
                    <a:pt x="992794" y="90251"/>
                  </a:lnTo>
                  <a:lnTo>
                    <a:pt x="952871" y="70704"/>
                  </a:lnTo>
                  <a:lnTo>
                    <a:pt x="907345" y="53126"/>
                  </a:lnTo>
                  <a:lnTo>
                    <a:pt x="856727" y="37712"/>
                  </a:lnTo>
                  <a:lnTo>
                    <a:pt x="801528" y="24660"/>
                  </a:lnTo>
                  <a:lnTo>
                    <a:pt x="742258" y="14166"/>
                  </a:lnTo>
                  <a:lnTo>
                    <a:pt x="679429" y="6427"/>
                  </a:lnTo>
                  <a:lnTo>
                    <a:pt x="613551" y="1639"/>
                  </a:lnTo>
                  <a:lnTo>
                    <a:pt x="545135" y="0"/>
                  </a:lnTo>
                  <a:close/>
                </a:path>
              </a:pathLst>
            </a:custGeom>
            <a:solidFill>
              <a:srgbClr val="D2D2D2"/>
            </a:solidFill>
          </p:spPr>
          <p:txBody>
            <a:bodyPr wrap="square" lIns="0" tIns="0" rIns="0" bIns="0" rtlCol="0"/>
            <a:lstStyle/>
            <a:p>
              <a:endParaRPr/>
            </a:p>
          </p:txBody>
        </p:sp>
        <p:sp>
          <p:nvSpPr>
            <p:cNvPr id="11" name="object 11"/>
            <p:cNvSpPr/>
            <p:nvPr/>
          </p:nvSpPr>
          <p:spPr>
            <a:xfrm>
              <a:off x="4334792" y="3207950"/>
              <a:ext cx="1090930" cy="421005"/>
            </a:xfrm>
            <a:custGeom>
              <a:avLst/>
              <a:gdLst/>
              <a:ahLst/>
              <a:cxnLst/>
              <a:rect l="l" t="t" r="r" b="b"/>
              <a:pathLst>
                <a:path w="1090929" h="421004">
                  <a:moveTo>
                    <a:pt x="1090494" y="210627"/>
                  </a:moveTo>
                  <a:lnTo>
                    <a:pt x="1086245" y="237017"/>
                  </a:lnTo>
                  <a:lnTo>
                    <a:pt x="1073840" y="262429"/>
                  </a:lnTo>
                  <a:lnTo>
                    <a:pt x="1026604" y="309528"/>
                  </a:lnTo>
                  <a:lnTo>
                    <a:pt x="992794" y="330821"/>
                  </a:lnTo>
                  <a:lnTo>
                    <a:pt x="952871" y="350347"/>
                  </a:lnTo>
                  <a:lnTo>
                    <a:pt x="907345" y="367909"/>
                  </a:lnTo>
                  <a:lnTo>
                    <a:pt x="856727" y="383310"/>
                  </a:lnTo>
                  <a:lnTo>
                    <a:pt x="801528" y="396352"/>
                  </a:lnTo>
                  <a:lnTo>
                    <a:pt x="742258" y="406840"/>
                  </a:lnTo>
                  <a:lnTo>
                    <a:pt x="679429" y="414575"/>
                  </a:lnTo>
                  <a:lnTo>
                    <a:pt x="613551" y="419360"/>
                  </a:lnTo>
                  <a:lnTo>
                    <a:pt x="545135" y="420999"/>
                  </a:lnTo>
                  <a:lnTo>
                    <a:pt x="476767" y="419360"/>
                  </a:lnTo>
                  <a:lnTo>
                    <a:pt x="410929" y="414575"/>
                  </a:lnTo>
                  <a:lnTo>
                    <a:pt x="348133" y="406840"/>
                  </a:lnTo>
                  <a:lnTo>
                    <a:pt x="288891" y="396352"/>
                  </a:lnTo>
                  <a:lnTo>
                    <a:pt x="233714" y="383310"/>
                  </a:lnTo>
                  <a:lnTo>
                    <a:pt x="183114" y="367909"/>
                  </a:lnTo>
                  <a:lnTo>
                    <a:pt x="137601" y="350347"/>
                  </a:lnTo>
                  <a:lnTo>
                    <a:pt x="97686" y="330821"/>
                  </a:lnTo>
                  <a:lnTo>
                    <a:pt x="63883" y="309528"/>
                  </a:lnTo>
                  <a:lnTo>
                    <a:pt x="16652" y="262429"/>
                  </a:lnTo>
                  <a:lnTo>
                    <a:pt x="0" y="210627"/>
                  </a:lnTo>
                  <a:lnTo>
                    <a:pt x="4248" y="184188"/>
                  </a:lnTo>
                  <a:lnTo>
                    <a:pt x="36701" y="134463"/>
                  </a:lnTo>
                  <a:lnTo>
                    <a:pt x="97686" y="90251"/>
                  </a:lnTo>
                  <a:lnTo>
                    <a:pt x="137601" y="70704"/>
                  </a:lnTo>
                  <a:lnTo>
                    <a:pt x="183114" y="53126"/>
                  </a:lnTo>
                  <a:lnTo>
                    <a:pt x="233714" y="37712"/>
                  </a:lnTo>
                  <a:lnTo>
                    <a:pt x="288891" y="24660"/>
                  </a:lnTo>
                  <a:lnTo>
                    <a:pt x="348133" y="14166"/>
                  </a:lnTo>
                  <a:lnTo>
                    <a:pt x="410929" y="6427"/>
                  </a:lnTo>
                  <a:lnTo>
                    <a:pt x="476767" y="1639"/>
                  </a:lnTo>
                  <a:lnTo>
                    <a:pt x="545135" y="0"/>
                  </a:lnTo>
                  <a:lnTo>
                    <a:pt x="613551" y="1639"/>
                  </a:lnTo>
                  <a:lnTo>
                    <a:pt x="679429" y="6427"/>
                  </a:lnTo>
                  <a:lnTo>
                    <a:pt x="742258" y="14166"/>
                  </a:lnTo>
                  <a:lnTo>
                    <a:pt x="801528" y="24660"/>
                  </a:lnTo>
                  <a:lnTo>
                    <a:pt x="856727" y="37712"/>
                  </a:lnTo>
                  <a:lnTo>
                    <a:pt x="907345" y="53126"/>
                  </a:lnTo>
                  <a:lnTo>
                    <a:pt x="952871" y="70704"/>
                  </a:lnTo>
                  <a:lnTo>
                    <a:pt x="992794" y="90251"/>
                  </a:lnTo>
                  <a:lnTo>
                    <a:pt x="1026604" y="111570"/>
                  </a:lnTo>
                  <a:lnTo>
                    <a:pt x="1073840" y="158735"/>
                  </a:lnTo>
                  <a:lnTo>
                    <a:pt x="1090494" y="210627"/>
                  </a:lnTo>
                  <a:close/>
                </a:path>
              </a:pathLst>
            </a:custGeom>
            <a:ln w="9570">
              <a:solidFill>
                <a:srgbClr val="080909"/>
              </a:solidFill>
            </a:ln>
          </p:spPr>
          <p:txBody>
            <a:bodyPr wrap="square" lIns="0" tIns="0" rIns="0" bIns="0" rtlCol="0"/>
            <a:lstStyle/>
            <a:p>
              <a:endParaRPr/>
            </a:p>
          </p:txBody>
        </p:sp>
      </p:grpSp>
      <p:sp>
        <p:nvSpPr>
          <p:cNvPr id="12" name="object 12"/>
          <p:cNvSpPr txBox="1"/>
          <p:nvPr/>
        </p:nvSpPr>
        <p:spPr>
          <a:xfrm>
            <a:off x="2177891" y="2717778"/>
            <a:ext cx="3561715" cy="822325"/>
          </a:xfrm>
          <a:prstGeom prst="rect">
            <a:avLst/>
          </a:prstGeom>
        </p:spPr>
        <p:txBody>
          <a:bodyPr vert="horz" wrap="square" lIns="0" tIns="12700" rIns="0" bIns="0" rtlCol="0">
            <a:spAutoFit/>
          </a:bodyPr>
          <a:lstStyle/>
          <a:p>
            <a:pPr>
              <a:lnSpc>
                <a:spcPct val="100000"/>
              </a:lnSpc>
              <a:spcBef>
                <a:spcPts val="100"/>
              </a:spcBef>
            </a:pPr>
            <a:r>
              <a:rPr sz="1650" spc="-5" dirty="0">
                <a:latin typeface="Arial"/>
                <a:cs typeface="Arial"/>
              </a:rPr>
              <a:t>application environments </a:t>
            </a:r>
            <a:r>
              <a:rPr sz="1650" dirty="0">
                <a:latin typeface="Arial"/>
                <a:cs typeface="Arial"/>
              </a:rPr>
              <a:t>and</a:t>
            </a:r>
            <a:r>
              <a:rPr sz="1650" spc="5" dirty="0">
                <a:latin typeface="Arial"/>
                <a:cs typeface="Arial"/>
              </a:rPr>
              <a:t> </a:t>
            </a:r>
            <a:r>
              <a:rPr sz="1650" dirty="0">
                <a:latin typeface="Arial"/>
                <a:cs typeface="Arial"/>
              </a:rPr>
              <a:t>services</a:t>
            </a:r>
            <a:endParaRPr sz="1650">
              <a:latin typeface="Arial"/>
              <a:cs typeface="Arial"/>
            </a:endParaRPr>
          </a:p>
          <a:p>
            <a:pPr>
              <a:lnSpc>
                <a:spcPct val="100000"/>
              </a:lnSpc>
              <a:spcBef>
                <a:spcPts val="10"/>
              </a:spcBef>
            </a:pPr>
            <a:endParaRPr sz="2000">
              <a:latin typeface="Arial"/>
              <a:cs typeface="Arial"/>
            </a:endParaRPr>
          </a:p>
          <a:p>
            <a:pPr marL="847725">
              <a:lnSpc>
                <a:spcPct val="100000"/>
              </a:lnSpc>
              <a:tabLst>
                <a:tab pos="2379345" algn="l"/>
              </a:tabLst>
            </a:pPr>
            <a:r>
              <a:rPr sz="1650" dirty="0">
                <a:latin typeface="Arial"/>
                <a:cs typeface="Arial"/>
              </a:rPr>
              <a:t>Java	Cocoa</a:t>
            </a:r>
            <a:endParaRPr sz="1650">
              <a:latin typeface="Arial"/>
              <a:cs typeface="Arial"/>
            </a:endParaRPr>
          </a:p>
        </p:txBody>
      </p:sp>
      <p:grpSp>
        <p:nvGrpSpPr>
          <p:cNvPr id="13" name="object 13"/>
          <p:cNvGrpSpPr/>
          <p:nvPr/>
        </p:nvGrpSpPr>
        <p:grpSpPr>
          <a:xfrm>
            <a:off x="6009477" y="3202870"/>
            <a:ext cx="1255395" cy="431165"/>
            <a:chOff x="6009477" y="3202870"/>
            <a:chExt cx="1255395" cy="431165"/>
          </a:xfrm>
        </p:grpSpPr>
        <p:sp>
          <p:nvSpPr>
            <p:cNvPr id="14" name="object 14"/>
            <p:cNvSpPr/>
            <p:nvPr/>
          </p:nvSpPr>
          <p:spPr>
            <a:xfrm>
              <a:off x="6014557" y="3207950"/>
              <a:ext cx="1245235" cy="421005"/>
            </a:xfrm>
            <a:custGeom>
              <a:avLst/>
              <a:gdLst/>
              <a:ahLst/>
              <a:cxnLst/>
              <a:rect l="l" t="t" r="r" b="b"/>
              <a:pathLst>
                <a:path w="1245234" h="421004">
                  <a:moveTo>
                    <a:pt x="622570" y="0"/>
                  </a:moveTo>
                  <a:lnTo>
                    <a:pt x="554740" y="1234"/>
                  </a:lnTo>
                  <a:lnTo>
                    <a:pt x="489024" y="4853"/>
                  </a:lnTo>
                  <a:lnTo>
                    <a:pt x="425802" y="10729"/>
                  </a:lnTo>
                  <a:lnTo>
                    <a:pt x="365454" y="18732"/>
                  </a:lnTo>
                  <a:lnTo>
                    <a:pt x="308361" y="28736"/>
                  </a:lnTo>
                  <a:lnTo>
                    <a:pt x="254902" y="40612"/>
                  </a:lnTo>
                  <a:lnTo>
                    <a:pt x="205457" y="54233"/>
                  </a:lnTo>
                  <a:lnTo>
                    <a:pt x="160406" y="69469"/>
                  </a:lnTo>
                  <a:lnTo>
                    <a:pt x="120129" y="86194"/>
                  </a:lnTo>
                  <a:lnTo>
                    <a:pt x="85006" y="104279"/>
                  </a:lnTo>
                  <a:lnTo>
                    <a:pt x="31742" y="144017"/>
                  </a:lnTo>
                  <a:lnTo>
                    <a:pt x="3653" y="187661"/>
                  </a:lnTo>
                  <a:lnTo>
                    <a:pt x="0" y="210627"/>
                  </a:lnTo>
                  <a:lnTo>
                    <a:pt x="3653" y="233551"/>
                  </a:lnTo>
                  <a:lnTo>
                    <a:pt x="31742" y="277124"/>
                  </a:lnTo>
                  <a:lnTo>
                    <a:pt x="85006" y="316809"/>
                  </a:lnTo>
                  <a:lnTo>
                    <a:pt x="120129" y="334874"/>
                  </a:lnTo>
                  <a:lnTo>
                    <a:pt x="160406" y="351581"/>
                  </a:lnTo>
                  <a:lnTo>
                    <a:pt x="205457" y="366803"/>
                  </a:lnTo>
                  <a:lnTo>
                    <a:pt x="254902" y="380412"/>
                  </a:lnTo>
                  <a:lnTo>
                    <a:pt x="308361" y="392279"/>
                  </a:lnTo>
                  <a:lnTo>
                    <a:pt x="365454" y="402276"/>
                  </a:lnTo>
                  <a:lnTo>
                    <a:pt x="425802" y="410275"/>
                  </a:lnTo>
                  <a:lnTo>
                    <a:pt x="489024" y="416147"/>
                  </a:lnTo>
                  <a:lnTo>
                    <a:pt x="554740" y="419765"/>
                  </a:lnTo>
                  <a:lnTo>
                    <a:pt x="622570" y="420999"/>
                  </a:lnTo>
                  <a:lnTo>
                    <a:pt x="690395" y="419765"/>
                  </a:lnTo>
                  <a:lnTo>
                    <a:pt x="756106" y="416147"/>
                  </a:lnTo>
                  <a:lnTo>
                    <a:pt x="819323" y="410275"/>
                  </a:lnTo>
                  <a:lnTo>
                    <a:pt x="879667" y="402276"/>
                  </a:lnTo>
                  <a:lnTo>
                    <a:pt x="936757" y="392279"/>
                  </a:lnTo>
                  <a:lnTo>
                    <a:pt x="990214" y="380412"/>
                  </a:lnTo>
                  <a:lnTo>
                    <a:pt x="1039657" y="366803"/>
                  </a:lnTo>
                  <a:lnTo>
                    <a:pt x="1084706" y="351581"/>
                  </a:lnTo>
                  <a:lnTo>
                    <a:pt x="1124982" y="334874"/>
                  </a:lnTo>
                  <a:lnTo>
                    <a:pt x="1160104" y="316809"/>
                  </a:lnTo>
                  <a:lnTo>
                    <a:pt x="1213367" y="277124"/>
                  </a:lnTo>
                  <a:lnTo>
                    <a:pt x="1241455" y="233551"/>
                  </a:lnTo>
                  <a:lnTo>
                    <a:pt x="1245109" y="210627"/>
                  </a:lnTo>
                  <a:lnTo>
                    <a:pt x="1241455" y="187661"/>
                  </a:lnTo>
                  <a:lnTo>
                    <a:pt x="1213367" y="144017"/>
                  </a:lnTo>
                  <a:lnTo>
                    <a:pt x="1160104" y="104279"/>
                  </a:lnTo>
                  <a:lnTo>
                    <a:pt x="1124982" y="86194"/>
                  </a:lnTo>
                  <a:lnTo>
                    <a:pt x="1084706" y="69469"/>
                  </a:lnTo>
                  <a:lnTo>
                    <a:pt x="1039657" y="54233"/>
                  </a:lnTo>
                  <a:lnTo>
                    <a:pt x="990214" y="40612"/>
                  </a:lnTo>
                  <a:lnTo>
                    <a:pt x="936757" y="28736"/>
                  </a:lnTo>
                  <a:lnTo>
                    <a:pt x="879667" y="18732"/>
                  </a:lnTo>
                  <a:lnTo>
                    <a:pt x="819323" y="10729"/>
                  </a:lnTo>
                  <a:lnTo>
                    <a:pt x="756106" y="4853"/>
                  </a:lnTo>
                  <a:lnTo>
                    <a:pt x="690395" y="1234"/>
                  </a:lnTo>
                  <a:lnTo>
                    <a:pt x="622570" y="0"/>
                  </a:lnTo>
                  <a:close/>
                </a:path>
              </a:pathLst>
            </a:custGeom>
            <a:solidFill>
              <a:srgbClr val="D2D2D2"/>
            </a:solidFill>
          </p:spPr>
          <p:txBody>
            <a:bodyPr wrap="square" lIns="0" tIns="0" rIns="0" bIns="0" rtlCol="0"/>
            <a:lstStyle/>
            <a:p>
              <a:endParaRPr/>
            </a:p>
          </p:txBody>
        </p:sp>
        <p:sp>
          <p:nvSpPr>
            <p:cNvPr id="15" name="object 15"/>
            <p:cNvSpPr/>
            <p:nvPr/>
          </p:nvSpPr>
          <p:spPr>
            <a:xfrm>
              <a:off x="6014557" y="3207950"/>
              <a:ext cx="1245235" cy="421005"/>
            </a:xfrm>
            <a:custGeom>
              <a:avLst/>
              <a:gdLst/>
              <a:ahLst/>
              <a:cxnLst/>
              <a:rect l="l" t="t" r="r" b="b"/>
              <a:pathLst>
                <a:path w="1245234" h="421004">
                  <a:moveTo>
                    <a:pt x="1245109" y="210627"/>
                  </a:moveTo>
                  <a:lnTo>
                    <a:pt x="1241455" y="233551"/>
                  </a:lnTo>
                  <a:lnTo>
                    <a:pt x="1230748" y="255759"/>
                  </a:lnTo>
                  <a:lnTo>
                    <a:pt x="1189692" y="297517"/>
                  </a:lnTo>
                  <a:lnTo>
                    <a:pt x="1124982" y="334874"/>
                  </a:lnTo>
                  <a:lnTo>
                    <a:pt x="1084706" y="351581"/>
                  </a:lnTo>
                  <a:lnTo>
                    <a:pt x="1039657" y="366803"/>
                  </a:lnTo>
                  <a:lnTo>
                    <a:pt x="990214" y="380412"/>
                  </a:lnTo>
                  <a:lnTo>
                    <a:pt x="936757" y="392279"/>
                  </a:lnTo>
                  <a:lnTo>
                    <a:pt x="879667" y="402276"/>
                  </a:lnTo>
                  <a:lnTo>
                    <a:pt x="819323" y="410275"/>
                  </a:lnTo>
                  <a:lnTo>
                    <a:pt x="756106" y="416147"/>
                  </a:lnTo>
                  <a:lnTo>
                    <a:pt x="690395" y="419765"/>
                  </a:lnTo>
                  <a:lnTo>
                    <a:pt x="622570" y="420999"/>
                  </a:lnTo>
                  <a:lnTo>
                    <a:pt x="554740" y="419765"/>
                  </a:lnTo>
                  <a:lnTo>
                    <a:pt x="489024" y="416147"/>
                  </a:lnTo>
                  <a:lnTo>
                    <a:pt x="425802" y="410275"/>
                  </a:lnTo>
                  <a:lnTo>
                    <a:pt x="365454" y="402276"/>
                  </a:lnTo>
                  <a:lnTo>
                    <a:pt x="308361" y="392279"/>
                  </a:lnTo>
                  <a:lnTo>
                    <a:pt x="254902" y="380412"/>
                  </a:lnTo>
                  <a:lnTo>
                    <a:pt x="205457" y="366803"/>
                  </a:lnTo>
                  <a:lnTo>
                    <a:pt x="160406" y="351581"/>
                  </a:lnTo>
                  <a:lnTo>
                    <a:pt x="120129" y="334874"/>
                  </a:lnTo>
                  <a:lnTo>
                    <a:pt x="85006" y="316809"/>
                  </a:lnTo>
                  <a:lnTo>
                    <a:pt x="31742" y="277124"/>
                  </a:lnTo>
                  <a:lnTo>
                    <a:pt x="3653" y="233551"/>
                  </a:lnTo>
                  <a:lnTo>
                    <a:pt x="0" y="210627"/>
                  </a:lnTo>
                  <a:lnTo>
                    <a:pt x="3653" y="187661"/>
                  </a:lnTo>
                  <a:lnTo>
                    <a:pt x="31742" y="144017"/>
                  </a:lnTo>
                  <a:lnTo>
                    <a:pt x="85006" y="104279"/>
                  </a:lnTo>
                  <a:lnTo>
                    <a:pt x="120129" y="86194"/>
                  </a:lnTo>
                  <a:lnTo>
                    <a:pt x="160406" y="69469"/>
                  </a:lnTo>
                  <a:lnTo>
                    <a:pt x="205457" y="54233"/>
                  </a:lnTo>
                  <a:lnTo>
                    <a:pt x="254902" y="40612"/>
                  </a:lnTo>
                  <a:lnTo>
                    <a:pt x="308361" y="28736"/>
                  </a:lnTo>
                  <a:lnTo>
                    <a:pt x="365454" y="18732"/>
                  </a:lnTo>
                  <a:lnTo>
                    <a:pt x="425802" y="10729"/>
                  </a:lnTo>
                  <a:lnTo>
                    <a:pt x="489024" y="4853"/>
                  </a:lnTo>
                  <a:lnTo>
                    <a:pt x="554740" y="1234"/>
                  </a:lnTo>
                  <a:lnTo>
                    <a:pt x="622570" y="0"/>
                  </a:lnTo>
                  <a:lnTo>
                    <a:pt x="690395" y="1234"/>
                  </a:lnTo>
                  <a:lnTo>
                    <a:pt x="756106" y="4853"/>
                  </a:lnTo>
                  <a:lnTo>
                    <a:pt x="819323" y="10729"/>
                  </a:lnTo>
                  <a:lnTo>
                    <a:pt x="879667" y="18732"/>
                  </a:lnTo>
                  <a:lnTo>
                    <a:pt x="936757" y="28736"/>
                  </a:lnTo>
                  <a:lnTo>
                    <a:pt x="990214" y="40612"/>
                  </a:lnTo>
                  <a:lnTo>
                    <a:pt x="1039657" y="54233"/>
                  </a:lnTo>
                  <a:lnTo>
                    <a:pt x="1084706" y="69469"/>
                  </a:lnTo>
                  <a:lnTo>
                    <a:pt x="1124982" y="86194"/>
                  </a:lnTo>
                  <a:lnTo>
                    <a:pt x="1160104" y="104279"/>
                  </a:lnTo>
                  <a:lnTo>
                    <a:pt x="1213367" y="144017"/>
                  </a:lnTo>
                  <a:lnTo>
                    <a:pt x="1241455" y="187661"/>
                  </a:lnTo>
                  <a:lnTo>
                    <a:pt x="1245109" y="210627"/>
                  </a:lnTo>
                  <a:close/>
                </a:path>
              </a:pathLst>
            </a:custGeom>
            <a:ln w="9570">
              <a:solidFill>
                <a:srgbClr val="080909"/>
              </a:solidFill>
            </a:ln>
          </p:spPr>
          <p:txBody>
            <a:bodyPr wrap="square" lIns="0" tIns="0" rIns="0" bIns="0" rtlCol="0"/>
            <a:lstStyle/>
            <a:p>
              <a:endParaRPr/>
            </a:p>
          </p:txBody>
        </p:sp>
      </p:grpSp>
      <p:sp>
        <p:nvSpPr>
          <p:cNvPr id="16" name="object 16"/>
          <p:cNvSpPr txBox="1"/>
          <p:nvPr/>
        </p:nvSpPr>
        <p:spPr>
          <a:xfrm>
            <a:off x="6170224" y="3262969"/>
            <a:ext cx="943610" cy="276860"/>
          </a:xfrm>
          <a:prstGeom prst="rect">
            <a:avLst/>
          </a:prstGeom>
        </p:spPr>
        <p:txBody>
          <a:bodyPr vert="horz" wrap="square" lIns="0" tIns="12700" rIns="0" bIns="0" rtlCol="0">
            <a:spAutoFit/>
          </a:bodyPr>
          <a:lstStyle/>
          <a:p>
            <a:pPr>
              <a:lnSpc>
                <a:spcPct val="100000"/>
              </a:lnSpc>
              <a:spcBef>
                <a:spcPts val="100"/>
              </a:spcBef>
            </a:pPr>
            <a:r>
              <a:rPr sz="1650" spc="-5" dirty="0">
                <a:latin typeface="Arial"/>
                <a:cs typeface="Arial"/>
              </a:rPr>
              <a:t>Quicktime</a:t>
            </a:r>
            <a:endParaRPr sz="1650">
              <a:latin typeface="Arial"/>
              <a:cs typeface="Arial"/>
            </a:endParaRPr>
          </a:p>
        </p:txBody>
      </p:sp>
      <p:grpSp>
        <p:nvGrpSpPr>
          <p:cNvPr id="17" name="object 17"/>
          <p:cNvGrpSpPr/>
          <p:nvPr/>
        </p:nvGrpSpPr>
        <p:grpSpPr>
          <a:xfrm>
            <a:off x="7943853" y="3202870"/>
            <a:ext cx="1100455" cy="431165"/>
            <a:chOff x="7943853" y="3202870"/>
            <a:chExt cx="1100455" cy="431165"/>
          </a:xfrm>
        </p:grpSpPr>
        <p:sp>
          <p:nvSpPr>
            <p:cNvPr id="18" name="object 18"/>
            <p:cNvSpPr/>
            <p:nvPr/>
          </p:nvSpPr>
          <p:spPr>
            <a:xfrm>
              <a:off x="7948933" y="3207950"/>
              <a:ext cx="1090295" cy="421005"/>
            </a:xfrm>
            <a:custGeom>
              <a:avLst/>
              <a:gdLst/>
              <a:ahLst/>
              <a:cxnLst/>
              <a:rect l="l" t="t" r="r" b="b"/>
              <a:pathLst>
                <a:path w="1090295" h="421004">
                  <a:moveTo>
                    <a:pt x="545040" y="0"/>
                  </a:moveTo>
                  <a:lnTo>
                    <a:pt x="476673" y="1639"/>
                  </a:lnTo>
                  <a:lnTo>
                    <a:pt x="410839" y="6427"/>
                  </a:lnTo>
                  <a:lnTo>
                    <a:pt x="348051" y="14166"/>
                  </a:lnTo>
                  <a:lnTo>
                    <a:pt x="288817" y="24660"/>
                  </a:lnTo>
                  <a:lnTo>
                    <a:pt x="233650" y="37712"/>
                  </a:lnTo>
                  <a:lnTo>
                    <a:pt x="183060" y="53126"/>
                  </a:lnTo>
                  <a:lnTo>
                    <a:pt x="137558" y="70704"/>
                  </a:lnTo>
                  <a:lnTo>
                    <a:pt x="97655" y="90251"/>
                  </a:lnTo>
                  <a:lnTo>
                    <a:pt x="63861" y="111570"/>
                  </a:lnTo>
                  <a:lnTo>
                    <a:pt x="16646" y="158735"/>
                  </a:lnTo>
                  <a:lnTo>
                    <a:pt x="0" y="210627"/>
                  </a:lnTo>
                  <a:lnTo>
                    <a:pt x="4246" y="237017"/>
                  </a:lnTo>
                  <a:lnTo>
                    <a:pt x="36688" y="286665"/>
                  </a:lnTo>
                  <a:lnTo>
                    <a:pt x="97655" y="330821"/>
                  </a:lnTo>
                  <a:lnTo>
                    <a:pt x="137558" y="350347"/>
                  </a:lnTo>
                  <a:lnTo>
                    <a:pt x="183060" y="367909"/>
                  </a:lnTo>
                  <a:lnTo>
                    <a:pt x="233650" y="383310"/>
                  </a:lnTo>
                  <a:lnTo>
                    <a:pt x="288817" y="396352"/>
                  </a:lnTo>
                  <a:lnTo>
                    <a:pt x="348051" y="406840"/>
                  </a:lnTo>
                  <a:lnTo>
                    <a:pt x="410839" y="414575"/>
                  </a:lnTo>
                  <a:lnTo>
                    <a:pt x="476673" y="419360"/>
                  </a:lnTo>
                  <a:lnTo>
                    <a:pt x="545040" y="420999"/>
                  </a:lnTo>
                  <a:lnTo>
                    <a:pt x="613452" y="419360"/>
                  </a:lnTo>
                  <a:lnTo>
                    <a:pt x="679320" y="414575"/>
                  </a:lnTo>
                  <a:lnTo>
                    <a:pt x="742133" y="406840"/>
                  </a:lnTo>
                  <a:lnTo>
                    <a:pt x="801382" y="396352"/>
                  </a:lnTo>
                  <a:lnTo>
                    <a:pt x="856558" y="383310"/>
                  </a:lnTo>
                  <a:lnTo>
                    <a:pt x="907151" y="367909"/>
                  </a:lnTo>
                  <a:lnTo>
                    <a:pt x="952651" y="350347"/>
                  </a:lnTo>
                  <a:lnTo>
                    <a:pt x="992549" y="330821"/>
                  </a:lnTo>
                  <a:lnTo>
                    <a:pt x="1026336" y="309528"/>
                  </a:lnTo>
                  <a:lnTo>
                    <a:pt x="1073536" y="262429"/>
                  </a:lnTo>
                  <a:lnTo>
                    <a:pt x="1090175" y="210627"/>
                  </a:lnTo>
                  <a:lnTo>
                    <a:pt x="1085930" y="184188"/>
                  </a:lnTo>
                  <a:lnTo>
                    <a:pt x="1053501" y="134463"/>
                  </a:lnTo>
                  <a:lnTo>
                    <a:pt x="992549" y="90251"/>
                  </a:lnTo>
                  <a:lnTo>
                    <a:pt x="952651" y="70704"/>
                  </a:lnTo>
                  <a:lnTo>
                    <a:pt x="907151" y="53126"/>
                  </a:lnTo>
                  <a:lnTo>
                    <a:pt x="856558" y="37712"/>
                  </a:lnTo>
                  <a:lnTo>
                    <a:pt x="801382" y="24660"/>
                  </a:lnTo>
                  <a:lnTo>
                    <a:pt x="742133" y="14166"/>
                  </a:lnTo>
                  <a:lnTo>
                    <a:pt x="679320" y="6427"/>
                  </a:lnTo>
                  <a:lnTo>
                    <a:pt x="613452" y="1639"/>
                  </a:lnTo>
                  <a:lnTo>
                    <a:pt x="545040" y="0"/>
                  </a:lnTo>
                  <a:close/>
                </a:path>
              </a:pathLst>
            </a:custGeom>
            <a:solidFill>
              <a:srgbClr val="D2D2D2"/>
            </a:solidFill>
          </p:spPr>
          <p:txBody>
            <a:bodyPr wrap="square" lIns="0" tIns="0" rIns="0" bIns="0" rtlCol="0"/>
            <a:lstStyle/>
            <a:p>
              <a:endParaRPr/>
            </a:p>
          </p:txBody>
        </p:sp>
        <p:sp>
          <p:nvSpPr>
            <p:cNvPr id="19" name="object 19"/>
            <p:cNvSpPr/>
            <p:nvPr/>
          </p:nvSpPr>
          <p:spPr>
            <a:xfrm>
              <a:off x="7948933" y="3207950"/>
              <a:ext cx="1090295" cy="421005"/>
            </a:xfrm>
            <a:custGeom>
              <a:avLst/>
              <a:gdLst/>
              <a:ahLst/>
              <a:cxnLst/>
              <a:rect l="l" t="t" r="r" b="b"/>
              <a:pathLst>
                <a:path w="1090295" h="421004">
                  <a:moveTo>
                    <a:pt x="1090175" y="210627"/>
                  </a:moveTo>
                  <a:lnTo>
                    <a:pt x="1085930" y="237017"/>
                  </a:lnTo>
                  <a:lnTo>
                    <a:pt x="1073536" y="262429"/>
                  </a:lnTo>
                  <a:lnTo>
                    <a:pt x="1026336" y="309528"/>
                  </a:lnTo>
                  <a:lnTo>
                    <a:pt x="992549" y="330821"/>
                  </a:lnTo>
                  <a:lnTo>
                    <a:pt x="952651" y="350347"/>
                  </a:lnTo>
                  <a:lnTo>
                    <a:pt x="907151" y="367909"/>
                  </a:lnTo>
                  <a:lnTo>
                    <a:pt x="856558" y="383310"/>
                  </a:lnTo>
                  <a:lnTo>
                    <a:pt x="801382" y="396352"/>
                  </a:lnTo>
                  <a:lnTo>
                    <a:pt x="742133" y="406840"/>
                  </a:lnTo>
                  <a:lnTo>
                    <a:pt x="679320" y="414575"/>
                  </a:lnTo>
                  <a:lnTo>
                    <a:pt x="613452" y="419360"/>
                  </a:lnTo>
                  <a:lnTo>
                    <a:pt x="545040" y="420999"/>
                  </a:lnTo>
                  <a:lnTo>
                    <a:pt x="476673" y="419360"/>
                  </a:lnTo>
                  <a:lnTo>
                    <a:pt x="410839" y="414575"/>
                  </a:lnTo>
                  <a:lnTo>
                    <a:pt x="348051" y="406840"/>
                  </a:lnTo>
                  <a:lnTo>
                    <a:pt x="288817" y="396352"/>
                  </a:lnTo>
                  <a:lnTo>
                    <a:pt x="233650" y="383310"/>
                  </a:lnTo>
                  <a:lnTo>
                    <a:pt x="183060" y="367909"/>
                  </a:lnTo>
                  <a:lnTo>
                    <a:pt x="137558" y="350347"/>
                  </a:lnTo>
                  <a:lnTo>
                    <a:pt x="97655" y="330821"/>
                  </a:lnTo>
                  <a:lnTo>
                    <a:pt x="63861" y="309528"/>
                  </a:lnTo>
                  <a:lnTo>
                    <a:pt x="16646" y="262429"/>
                  </a:lnTo>
                  <a:lnTo>
                    <a:pt x="0" y="210627"/>
                  </a:lnTo>
                  <a:lnTo>
                    <a:pt x="4246" y="184188"/>
                  </a:lnTo>
                  <a:lnTo>
                    <a:pt x="36688" y="134463"/>
                  </a:lnTo>
                  <a:lnTo>
                    <a:pt x="97655" y="90251"/>
                  </a:lnTo>
                  <a:lnTo>
                    <a:pt x="137558" y="70704"/>
                  </a:lnTo>
                  <a:lnTo>
                    <a:pt x="183060" y="53126"/>
                  </a:lnTo>
                  <a:lnTo>
                    <a:pt x="233650" y="37712"/>
                  </a:lnTo>
                  <a:lnTo>
                    <a:pt x="288817" y="24660"/>
                  </a:lnTo>
                  <a:lnTo>
                    <a:pt x="348051" y="14166"/>
                  </a:lnTo>
                  <a:lnTo>
                    <a:pt x="410839" y="6427"/>
                  </a:lnTo>
                  <a:lnTo>
                    <a:pt x="476673" y="1639"/>
                  </a:lnTo>
                  <a:lnTo>
                    <a:pt x="545040" y="0"/>
                  </a:lnTo>
                  <a:lnTo>
                    <a:pt x="613452" y="1639"/>
                  </a:lnTo>
                  <a:lnTo>
                    <a:pt x="679320" y="6427"/>
                  </a:lnTo>
                  <a:lnTo>
                    <a:pt x="742133" y="14166"/>
                  </a:lnTo>
                  <a:lnTo>
                    <a:pt x="801382" y="24660"/>
                  </a:lnTo>
                  <a:lnTo>
                    <a:pt x="856558" y="37712"/>
                  </a:lnTo>
                  <a:lnTo>
                    <a:pt x="907151" y="53126"/>
                  </a:lnTo>
                  <a:lnTo>
                    <a:pt x="952651" y="70704"/>
                  </a:lnTo>
                  <a:lnTo>
                    <a:pt x="992549" y="90251"/>
                  </a:lnTo>
                  <a:lnTo>
                    <a:pt x="1026336" y="111570"/>
                  </a:lnTo>
                  <a:lnTo>
                    <a:pt x="1073536" y="158735"/>
                  </a:lnTo>
                  <a:lnTo>
                    <a:pt x="1090175" y="210627"/>
                  </a:lnTo>
                  <a:close/>
                </a:path>
              </a:pathLst>
            </a:custGeom>
            <a:ln w="9570">
              <a:solidFill>
                <a:srgbClr val="080909"/>
              </a:solidFill>
            </a:ln>
          </p:spPr>
          <p:txBody>
            <a:bodyPr wrap="square" lIns="0" tIns="0" rIns="0" bIns="0" rtlCol="0"/>
            <a:lstStyle/>
            <a:p>
              <a:endParaRPr/>
            </a:p>
          </p:txBody>
        </p:sp>
      </p:grpSp>
      <p:sp>
        <p:nvSpPr>
          <p:cNvPr id="20" name="object 20"/>
          <p:cNvSpPr txBox="1"/>
          <p:nvPr/>
        </p:nvSpPr>
        <p:spPr>
          <a:xfrm>
            <a:off x="8280693" y="3272941"/>
            <a:ext cx="443230" cy="276860"/>
          </a:xfrm>
          <a:prstGeom prst="rect">
            <a:avLst/>
          </a:prstGeom>
        </p:spPr>
        <p:txBody>
          <a:bodyPr vert="horz" wrap="square" lIns="0" tIns="12700" rIns="0" bIns="0" rtlCol="0">
            <a:spAutoFit/>
          </a:bodyPr>
          <a:lstStyle/>
          <a:p>
            <a:pPr>
              <a:lnSpc>
                <a:spcPct val="100000"/>
              </a:lnSpc>
              <a:spcBef>
                <a:spcPts val="100"/>
              </a:spcBef>
            </a:pPr>
            <a:r>
              <a:rPr sz="1650" spc="-5" dirty="0">
                <a:latin typeface="Arial"/>
                <a:cs typeface="Arial"/>
              </a:rPr>
              <a:t>BSD</a:t>
            </a:r>
            <a:endParaRPr sz="1650">
              <a:latin typeface="Arial"/>
              <a:cs typeface="Arial"/>
            </a:endParaRPr>
          </a:p>
        </p:txBody>
      </p:sp>
      <p:sp>
        <p:nvSpPr>
          <p:cNvPr id="21" name="object 21"/>
          <p:cNvSpPr/>
          <p:nvPr/>
        </p:nvSpPr>
        <p:spPr>
          <a:xfrm>
            <a:off x="8481797" y="3643363"/>
            <a:ext cx="19685" cy="354330"/>
          </a:xfrm>
          <a:custGeom>
            <a:avLst/>
            <a:gdLst/>
            <a:ahLst/>
            <a:cxnLst/>
            <a:rect l="l" t="t" r="r" b="b"/>
            <a:pathLst>
              <a:path w="19684" h="354329">
                <a:moveTo>
                  <a:pt x="19113" y="318439"/>
                </a:moveTo>
                <a:lnTo>
                  <a:pt x="0" y="318439"/>
                </a:lnTo>
                <a:lnTo>
                  <a:pt x="0" y="354088"/>
                </a:lnTo>
                <a:lnTo>
                  <a:pt x="19113" y="354088"/>
                </a:lnTo>
                <a:lnTo>
                  <a:pt x="19113" y="318439"/>
                </a:lnTo>
                <a:close/>
              </a:path>
              <a:path w="19684" h="354329">
                <a:moveTo>
                  <a:pt x="19113" y="254838"/>
                </a:moveTo>
                <a:lnTo>
                  <a:pt x="0" y="254838"/>
                </a:lnTo>
                <a:lnTo>
                  <a:pt x="0" y="290271"/>
                </a:lnTo>
                <a:lnTo>
                  <a:pt x="19113" y="290271"/>
                </a:lnTo>
                <a:lnTo>
                  <a:pt x="19113" y="254838"/>
                </a:lnTo>
                <a:close/>
              </a:path>
              <a:path w="19684" h="354329">
                <a:moveTo>
                  <a:pt x="19113" y="191249"/>
                </a:moveTo>
                <a:lnTo>
                  <a:pt x="0" y="191249"/>
                </a:lnTo>
                <a:lnTo>
                  <a:pt x="0" y="226898"/>
                </a:lnTo>
                <a:lnTo>
                  <a:pt x="19113" y="226898"/>
                </a:lnTo>
                <a:lnTo>
                  <a:pt x="19113" y="191249"/>
                </a:lnTo>
                <a:close/>
              </a:path>
              <a:path w="19684" h="354329">
                <a:moveTo>
                  <a:pt x="19113" y="127177"/>
                </a:moveTo>
                <a:lnTo>
                  <a:pt x="0" y="127177"/>
                </a:lnTo>
                <a:lnTo>
                  <a:pt x="0" y="162763"/>
                </a:lnTo>
                <a:lnTo>
                  <a:pt x="19113" y="162763"/>
                </a:lnTo>
                <a:lnTo>
                  <a:pt x="19113" y="127177"/>
                </a:lnTo>
                <a:close/>
              </a:path>
              <a:path w="19684" h="354329">
                <a:moveTo>
                  <a:pt x="19113" y="63588"/>
                </a:moveTo>
                <a:lnTo>
                  <a:pt x="0" y="63588"/>
                </a:lnTo>
                <a:lnTo>
                  <a:pt x="0" y="98945"/>
                </a:lnTo>
                <a:lnTo>
                  <a:pt x="19113" y="98945"/>
                </a:lnTo>
                <a:lnTo>
                  <a:pt x="19113" y="63588"/>
                </a:lnTo>
                <a:close/>
              </a:path>
              <a:path w="19684" h="354329">
                <a:moveTo>
                  <a:pt x="19113" y="0"/>
                </a:moveTo>
                <a:lnTo>
                  <a:pt x="0" y="0"/>
                </a:lnTo>
                <a:lnTo>
                  <a:pt x="0" y="35585"/>
                </a:lnTo>
                <a:lnTo>
                  <a:pt x="19113" y="35585"/>
                </a:lnTo>
                <a:lnTo>
                  <a:pt x="19113" y="0"/>
                </a:lnTo>
                <a:close/>
              </a:path>
            </a:pathLst>
          </a:custGeom>
          <a:solidFill>
            <a:srgbClr val="000000"/>
          </a:solidFill>
        </p:spPr>
        <p:txBody>
          <a:bodyPr wrap="square" lIns="0" tIns="0" rIns="0" bIns="0" rtlCol="0"/>
          <a:lstStyle/>
          <a:p>
            <a:endParaRPr/>
          </a:p>
        </p:txBody>
      </p:sp>
      <p:sp>
        <p:nvSpPr>
          <p:cNvPr id="22" name="object 22"/>
          <p:cNvSpPr/>
          <p:nvPr/>
        </p:nvSpPr>
        <p:spPr>
          <a:xfrm>
            <a:off x="8481797" y="4089526"/>
            <a:ext cx="19685" cy="290830"/>
          </a:xfrm>
          <a:custGeom>
            <a:avLst/>
            <a:gdLst/>
            <a:ahLst/>
            <a:cxnLst/>
            <a:rect l="l" t="t" r="r" b="b"/>
            <a:pathLst>
              <a:path w="19684" h="290829">
                <a:moveTo>
                  <a:pt x="19113" y="254812"/>
                </a:moveTo>
                <a:lnTo>
                  <a:pt x="0" y="254812"/>
                </a:lnTo>
                <a:lnTo>
                  <a:pt x="0" y="290499"/>
                </a:lnTo>
                <a:lnTo>
                  <a:pt x="19113" y="290499"/>
                </a:lnTo>
                <a:lnTo>
                  <a:pt x="19113" y="254812"/>
                </a:lnTo>
                <a:close/>
              </a:path>
              <a:path w="19684" h="290829">
                <a:moveTo>
                  <a:pt x="19113" y="191223"/>
                </a:moveTo>
                <a:lnTo>
                  <a:pt x="0" y="191223"/>
                </a:lnTo>
                <a:lnTo>
                  <a:pt x="0" y="226593"/>
                </a:lnTo>
                <a:lnTo>
                  <a:pt x="19113" y="226593"/>
                </a:lnTo>
                <a:lnTo>
                  <a:pt x="19113" y="191223"/>
                </a:lnTo>
                <a:close/>
              </a:path>
              <a:path w="19684" h="290829">
                <a:moveTo>
                  <a:pt x="19113" y="127635"/>
                </a:moveTo>
                <a:lnTo>
                  <a:pt x="0" y="127635"/>
                </a:lnTo>
                <a:lnTo>
                  <a:pt x="0" y="163245"/>
                </a:lnTo>
                <a:lnTo>
                  <a:pt x="19113" y="163245"/>
                </a:lnTo>
                <a:lnTo>
                  <a:pt x="19113" y="127635"/>
                </a:lnTo>
                <a:close/>
              </a:path>
              <a:path w="19684" h="290829">
                <a:moveTo>
                  <a:pt x="19113" y="63588"/>
                </a:moveTo>
                <a:lnTo>
                  <a:pt x="0" y="63588"/>
                </a:lnTo>
                <a:lnTo>
                  <a:pt x="0" y="99174"/>
                </a:lnTo>
                <a:lnTo>
                  <a:pt x="19113" y="99174"/>
                </a:lnTo>
                <a:lnTo>
                  <a:pt x="19113" y="63588"/>
                </a:lnTo>
                <a:close/>
              </a:path>
              <a:path w="19684" h="290829">
                <a:moveTo>
                  <a:pt x="19113" y="0"/>
                </a:moveTo>
                <a:lnTo>
                  <a:pt x="0" y="0"/>
                </a:lnTo>
                <a:lnTo>
                  <a:pt x="0" y="35331"/>
                </a:lnTo>
                <a:lnTo>
                  <a:pt x="19113" y="35331"/>
                </a:lnTo>
                <a:lnTo>
                  <a:pt x="19113" y="0"/>
                </a:lnTo>
                <a:close/>
              </a:path>
            </a:pathLst>
          </a:custGeom>
          <a:solidFill>
            <a:srgbClr val="000000"/>
          </a:solidFill>
        </p:spPr>
        <p:txBody>
          <a:bodyPr wrap="square" lIns="0" tIns="0" rIns="0" bIns="0" rtlCol="0"/>
          <a:lstStyle/>
          <a:p>
            <a:endParaRPr/>
          </a:p>
        </p:txBody>
      </p:sp>
      <p:graphicFrame>
        <p:nvGraphicFramePr>
          <p:cNvPr id="23" name="object 23"/>
          <p:cNvGraphicFramePr>
            <a:graphicFrameLocks noGrp="1"/>
          </p:cNvGraphicFramePr>
          <p:nvPr/>
        </p:nvGraphicFramePr>
        <p:xfrm>
          <a:off x="2098469" y="4039490"/>
          <a:ext cx="7985759" cy="2118127"/>
        </p:xfrm>
        <a:graphic>
          <a:graphicData uri="http://schemas.openxmlformats.org/drawingml/2006/table">
            <a:tbl>
              <a:tblPr firstRow="1" bandRow="1">
                <a:tableStyleId>{2D5ABB26-0587-4C30-8999-92F81FD0307C}</a:tableStyleId>
              </a:tblPr>
              <a:tblGrid>
                <a:gridCol w="3175000">
                  <a:extLst>
                    <a:ext uri="{9D8B030D-6E8A-4147-A177-3AD203B41FA5}">
                      <a16:colId xmlns:a16="http://schemas.microsoft.com/office/drawing/2014/main" xmlns="" val="20000"/>
                    </a:ext>
                  </a:extLst>
                </a:gridCol>
                <a:gridCol w="734695">
                  <a:extLst>
                    <a:ext uri="{9D8B030D-6E8A-4147-A177-3AD203B41FA5}">
                      <a16:colId xmlns:a16="http://schemas.microsoft.com/office/drawing/2014/main" xmlns="" val="20001"/>
                    </a:ext>
                  </a:extLst>
                </a:gridCol>
                <a:gridCol w="4076064">
                  <a:extLst>
                    <a:ext uri="{9D8B030D-6E8A-4147-A177-3AD203B41FA5}">
                      <a16:colId xmlns:a16="http://schemas.microsoft.com/office/drawing/2014/main" xmlns="" val="20002"/>
                    </a:ext>
                  </a:extLst>
                </a:gridCol>
              </a:tblGrid>
              <a:tr h="1013725">
                <a:tc>
                  <a:txBody>
                    <a:bodyPr/>
                    <a:lstStyle/>
                    <a:p>
                      <a:pPr marL="69215">
                        <a:lnSpc>
                          <a:spcPts val="1905"/>
                        </a:lnSpc>
                      </a:pPr>
                      <a:r>
                        <a:rPr sz="1650" dirty="0">
                          <a:latin typeface="Arial"/>
                          <a:cs typeface="Arial"/>
                        </a:rPr>
                        <a:t>kernel</a:t>
                      </a:r>
                      <a:r>
                        <a:rPr sz="1650" spc="-5" dirty="0">
                          <a:latin typeface="Arial"/>
                          <a:cs typeface="Arial"/>
                        </a:rPr>
                        <a:t> environment</a:t>
                      </a:r>
                      <a:endParaRPr sz="1650">
                        <a:latin typeface="Arial"/>
                        <a:cs typeface="Arial"/>
                      </a:endParaRPr>
                    </a:p>
                    <a:p>
                      <a:pPr>
                        <a:lnSpc>
                          <a:spcPct val="100000"/>
                        </a:lnSpc>
                      </a:pPr>
                      <a:endParaRPr sz="1800">
                        <a:latin typeface="Times New Roman"/>
                        <a:cs typeface="Times New Roman"/>
                      </a:endParaRPr>
                    </a:p>
                    <a:p>
                      <a:pPr>
                        <a:lnSpc>
                          <a:spcPct val="100000"/>
                        </a:lnSpc>
                        <a:spcBef>
                          <a:spcPts val="45"/>
                        </a:spcBef>
                      </a:pPr>
                      <a:endParaRPr sz="2300">
                        <a:latin typeface="Times New Roman"/>
                        <a:cs typeface="Times New Roman"/>
                      </a:endParaRPr>
                    </a:p>
                    <a:p>
                      <a:pPr marL="122555" algn="ctr">
                        <a:lnSpc>
                          <a:spcPts val="1210"/>
                        </a:lnSpc>
                      </a:pPr>
                      <a:r>
                        <a:rPr sz="1650" dirty="0">
                          <a:latin typeface="Arial"/>
                          <a:cs typeface="Arial"/>
                        </a:rPr>
                        <a:t>Mach</a:t>
                      </a:r>
                      <a:endParaRPr sz="1650">
                        <a:latin typeface="Arial"/>
                        <a:cs typeface="Arial"/>
                      </a:endParaRPr>
                    </a:p>
                  </a:txBody>
                  <a:tcPr marL="0" marR="0" marT="0" marB="0">
                    <a:lnL w="12700">
                      <a:solidFill>
                        <a:srgbClr val="000000"/>
                      </a:solidFill>
                      <a:prstDash val="solid"/>
                    </a:lnL>
                    <a:lnR w="12700">
                      <a:solidFill>
                        <a:srgbClr val="080909"/>
                      </a:solidFill>
                      <a:prstDash val="solid"/>
                    </a:lnR>
                    <a:lnT w="12700">
                      <a:solidFill>
                        <a:srgbClr val="000000"/>
                      </a:solidFill>
                      <a:prstDash val="solid"/>
                    </a:lnT>
                    <a:solidFill>
                      <a:srgbClr val="D4F0F3"/>
                    </a:solidFill>
                  </a:tcPr>
                </a:tc>
                <a:tc gridSpan="2">
                  <a:txBody>
                    <a:bodyPr/>
                    <a:lstStyle/>
                    <a:p>
                      <a:pPr>
                        <a:lnSpc>
                          <a:spcPct val="100000"/>
                        </a:lnSpc>
                        <a:spcBef>
                          <a:spcPts val="5"/>
                        </a:spcBef>
                      </a:pPr>
                      <a:endParaRPr sz="2550">
                        <a:latin typeface="Times New Roman"/>
                        <a:cs typeface="Times New Roman"/>
                      </a:endParaRPr>
                    </a:p>
                    <a:p>
                      <a:pPr marR="81915" algn="ctr">
                        <a:lnSpc>
                          <a:spcPct val="100000"/>
                        </a:lnSpc>
                        <a:spcBef>
                          <a:spcPts val="5"/>
                        </a:spcBef>
                      </a:pPr>
                      <a:r>
                        <a:rPr sz="1650" spc="-5" dirty="0">
                          <a:latin typeface="Arial"/>
                          <a:cs typeface="Arial"/>
                        </a:rPr>
                        <a:t>BSD</a:t>
                      </a:r>
                      <a:endParaRPr sz="1650">
                        <a:latin typeface="Arial"/>
                        <a:cs typeface="Arial"/>
                      </a:endParaRPr>
                    </a:p>
                  </a:txBody>
                  <a:tcPr marL="0" marR="0" marT="635" marB="0">
                    <a:lnL w="12700">
                      <a:solidFill>
                        <a:srgbClr val="080909"/>
                      </a:solidFill>
                      <a:prstDash val="solid"/>
                    </a:lnL>
                    <a:lnR w="12700">
                      <a:solidFill>
                        <a:srgbClr val="000000"/>
                      </a:solidFill>
                      <a:prstDash val="solid"/>
                    </a:lnR>
                    <a:lnT w="53975">
                      <a:solidFill>
                        <a:srgbClr val="000000"/>
                      </a:solidFill>
                      <a:prstDash val="solid"/>
                    </a:lnT>
                    <a:lnB w="12700">
                      <a:solidFill>
                        <a:srgbClr val="080909"/>
                      </a:solidFill>
                      <a:prstDash val="solid"/>
                    </a:lnB>
                    <a:solidFill>
                      <a:srgbClr val="D2D2D2"/>
                    </a:solidFill>
                  </a:tcPr>
                </a:tc>
                <a:tc hMerge="1">
                  <a:txBody>
                    <a:bodyPr/>
                    <a:lstStyle/>
                    <a:p>
                      <a:endParaRPr/>
                    </a:p>
                  </a:txBody>
                  <a:tcPr marL="0" marR="0" marT="0" marB="0"/>
                </a:tc>
                <a:extLst>
                  <a:ext uri="{0D108BD9-81ED-4DB2-BD59-A6C34878D82A}">
                    <a16:rowId xmlns:a16="http://schemas.microsoft.com/office/drawing/2014/main" xmlns="" val="10000"/>
                  </a:ext>
                </a:extLst>
              </a:tr>
              <a:tr h="640770">
                <a:tc gridSpan="3">
                  <a:txBody>
                    <a:bodyPr/>
                    <a:lstStyle/>
                    <a:p>
                      <a:pPr>
                        <a:lnSpc>
                          <a:spcPct val="100000"/>
                        </a:lnSpc>
                      </a:pPr>
                      <a:endParaRPr sz="1900">
                        <a:latin typeface="Times New Roman"/>
                        <a:cs typeface="Times New Roman"/>
                      </a:endParaRPr>
                    </a:p>
                  </a:txBody>
                  <a:tcPr marL="0" marR="0" marT="0" marB="0">
                    <a:lnL w="12700">
                      <a:solidFill>
                        <a:srgbClr val="000000"/>
                      </a:solidFill>
                      <a:prstDash val="solid"/>
                    </a:lnL>
                    <a:lnR w="12700">
                      <a:solidFill>
                        <a:srgbClr val="000000"/>
                      </a:solidFill>
                      <a:prstDash val="solid"/>
                    </a:lnR>
                    <a:lnB w="12700">
                      <a:solidFill>
                        <a:srgbClr val="000000"/>
                      </a:solidFill>
                      <a:prstDash val="solid"/>
                    </a:lnB>
                    <a:solidFill>
                      <a:srgbClr val="D4F0F3"/>
                    </a:solidFill>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xmlns="" val="10001"/>
                  </a:ext>
                </a:extLst>
              </a:tr>
              <a:tr h="458817">
                <a:tc gridSpan="2">
                  <a:txBody>
                    <a:bodyPr/>
                    <a:lstStyle/>
                    <a:p>
                      <a:pPr marL="80010" algn="ctr">
                        <a:lnSpc>
                          <a:spcPct val="100000"/>
                        </a:lnSpc>
                        <a:spcBef>
                          <a:spcPts val="830"/>
                        </a:spcBef>
                      </a:pPr>
                      <a:r>
                        <a:rPr sz="1650" dirty="0">
                          <a:latin typeface="Arial"/>
                          <a:cs typeface="Arial"/>
                        </a:rPr>
                        <a:t>I/O</a:t>
                      </a:r>
                      <a:r>
                        <a:rPr sz="1650" spc="-10" dirty="0">
                          <a:latin typeface="Arial"/>
                          <a:cs typeface="Arial"/>
                        </a:rPr>
                        <a:t> </a:t>
                      </a:r>
                      <a:r>
                        <a:rPr sz="1650" dirty="0">
                          <a:latin typeface="Arial"/>
                          <a:cs typeface="Arial"/>
                        </a:rPr>
                        <a:t>kit</a:t>
                      </a:r>
                      <a:endParaRPr sz="1650">
                        <a:latin typeface="Arial"/>
                        <a:cs typeface="Arial"/>
                      </a:endParaRPr>
                    </a:p>
                  </a:txBody>
                  <a:tcPr marL="0" marR="0" marT="1054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4F0F3"/>
                    </a:solidFill>
                  </a:tcPr>
                </a:tc>
                <a:tc hMerge="1">
                  <a:txBody>
                    <a:bodyPr/>
                    <a:lstStyle/>
                    <a:p>
                      <a:endParaRPr/>
                    </a:p>
                  </a:txBody>
                  <a:tcPr marL="0" marR="0" marT="0" marB="0"/>
                </a:tc>
                <a:tc>
                  <a:txBody>
                    <a:bodyPr/>
                    <a:lstStyle/>
                    <a:p>
                      <a:pPr marL="235585" algn="ctr">
                        <a:lnSpc>
                          <a:spcPct val="100000"/>
                        </a:lnSpc>
                        <a:spcBef>
                          <a:spcPts val="830"/>
                        </a:spcBef>
                      </a:pPr>
                      <a:r>
                        <a:rPr sz="1650" dirty="0">
                          <a:latin typeface="Arial"/>
                          <a:cs typeface="Arial"/>
                        </a:rPr>
                        <a:t>kernel</a:t>
                      </a:r>
                      <a:r>
                        <a:rPr sz="1650" spc="-5" dirty="0">
                          <a:latin typeface="Arial"/>
                          <a:cs typeface="Arial"/>
                        </a:rPr>
                        <a:t> extensions</a:t>
                      </a:r>
                      <a:endParaRPr sz="1650">
                        <a:latin typeface="Arial"/>
                        <a:cs typeface="Arial"/>
                      </a:endParaRPr>
                    </a:p>
                  </a:txBody>
                  <a:tcPr marL="0" marR="0" marT="1054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4F0F3"/>
                    </a:solidFill>
                  </a:tcPr>
                </a:tc>
                <a:extLst>
                  <a:ext uri="{0D108BD9-81ED-4DB2-BD59-A6C34878D82A}">
                    <a16:rowId xmlns:a16="http://schemas.microsoft.com/office/drawing/2014/main" xmlns="" val="10002"/>
                  </a:ext>
                </a:extLst>
              </a:tr>
            </a:tbl>
          </a:graphicData>
        </a:graphic>
      </p:graphicFrame>
      <p:sp>
        <p:nvSpPr>
          <p:cNvPr id="24" name="object 24"/>
          <p:cNvSpPr txBox="1">
            <a:spLocks noGrp="1"/>
          </p:cNvSpPr>
          <p:nvPr>
            <p:ph type="title"/>
          </p:nvPr>
        </p:nvSpPr>
        <p:spPr>
          <a:xfrm>
            <a:off x="916939" y="659968"/>
            <a:ext cx="4939665" cy="697230"/>
          </a:xfrm>
          <a:prstGeom prst="rect">
            <a:avLst/>
          </a:prstGeom>
        </p:spPr>
        <p:txBody>
          <a:bodyPr vert="horz" wrap="square" lIns="0" tIns="13335" rIns="0" bIns="0" rtlCol="0">
            <a:spAutoFit/>
          </a:bodyPr>
          <a:lstStyle/>
          <a:p>
            <a:pPr marL="12700">
              <a:lnSpc>
                <a:spcPct val="100000"/>
              </a:lnSpc>
              <a:spcBef>
                <a:spcPts val="105"/>
              </a:spcBef>
            </a:pPr>
            <a:r>
              <a:rPr dirty="0">
                <a:solidFill>
                  <a:srgbClr val="FF0000"/>
                </a:solidFill>
                <a:latin typeface="Times New Roman"/>
                <a:cs typeface="Times New Roman"/>
              </a:rPr>
              <a:t>Mac OS X</a:t>
            </a:r>
            <a:r>
              <a:rPr spc="-70" dirty="0">
                <a:solidFill>
                  <a:srgbClr val="FF0000"/>
                </a:solidFill>
                <a:latin typeface="Times New Roman"/>
                <a:cs typeface="Times New Roman"/>
              </a:rPr>
              <a:t> </a:t>
            </a:r>
            <a:r>
              <a:rPr spc="-10" dirty="0">
                <a:solidFill>
                  <a:srgbClr val="FF0000"/>
                </a:solidFill>
                <a:latin typeface="Times New Roman"/>
                <a:cs typeface="Times New Roman"/>
              </a:rPr>
              <a:t>Structure</a:t>
            </a:r>
          </a:p>
        </p:txBody>
      </p:sp>
    </p:spTree>
    <p:extLst>
      <p:ext uri="{BB962C8B-B14F-4D97-AF65-F5344CB8AC3E}">
        <p14:creationId xmlns:p14="http://schemas.microsoft.com/office/powerpoint/2010/main" val="3143426973"/>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16939" y="1739007"/>
            <a:ext cx="8491220" cy="3579185"/>
          </a:xfrm>
          <a:prstGeom prst="rect">
            <a:avLst/>
          </a:prstGeom>
        </p:spPr>
        <p:txBody>
          <a:bodyPr vert="horz" wrap="square" lIns="0" tIns="85090" rIns="0" bIns="0" rtlCol="0">
            <a:spAutoFit/>
          </a:bodyPr>
          <a:lstStyle/>
          <a:p>
            <a:pPr marL="241300" indent="-228600">
              <a:lnSpc>
                <a:spcPct val="100000"/>
              </a:lnSpc>
              <a:spcBef>
                <a:spcPts val="670"/>
              </a:spcBef>
              <a:buClr>
                <a:srgbClr val="EC7C30"/>
              </a:buClr>
              <a:buFont typeface="Wingdings"/>
              <a:buChar char=""/>
              <a:tabLst>
                <a:tab pos="241300" algn="l"/>
              </a:tabLst>
            </a:pPr>
            <a:r>
              <a:rPr sz="2400" spc="-5" dirty="0">
                <a:latin typeface="Times New Roman"/>
                <a:cs typeface="Times New Roman"/>
              </a:rPr>
              <a:t>Apple </a:t>
            </a:r>
            <a:r>
              <a:rPr sz="2400" dirty="0">
                <a:latin typeface="Times New Roman"/>
                <a:cs typeface="Times New Roman"/>
              </a:rPr>
              <a:t>mobile </a:t>
            </a:r>
            <a:r>
              <a:rPr sz="2400" spc="-5" dirty="0">
                <a:latin typeface="Times New Roman"/>
                <a:cs typeface="Times New Roman"/>
              </a:rPr>
              <a:t>OS </a:t>
            </a:r>
            <a:r>
              <a:rPr sz="2400" dirty="0">
                <a:latin typeface="Times New Roman"/>
                <a:cs typeface="Times New Roman"/>
              </a:rPr>
              <a:t>for </a:t>
            </a:r>
            <a:r>
              <a:rPr sz="2400" i="1" spc="-5" dirty="0">
                <a:latin typeface="Times New Roman"/>
                <a:cs typeface="Times New Roman"/>
              </a:rPr>
              <a:t>iPhone</a:t>
            </a:r>
            <a:r>
              <a:rPr sz="2400" spc="-5" dirty="0">
                <a:latin typeface="Times New Roman"/>
                <a:cs typeface="Times New Roman"/>
              </a:rPr>
              <a:t>,</a:t>
            </a:r>
            <a:r>
              <a:rPr sz="2400" spc="-75" dirty="0">
                <a:latin typeface="Times New Roman"/>
                <a:cs typeface="Times New Roman"/>
              </a:rPr>
              <a:t> </a:t>
            </a:r>
            <a:r>
              <a:rPr sz="2400" i="1" dirty="0">
                <a:latin typeface="Times New Roman"/>
                <a:cs typeface="Times New Roman"/>
              </a:rPr>
              <a:t>iPad</a:t>
            </a:r>
            <a:endParaRPr sz="2400" dirty="0">
              <a:latin typeface="Times New Roman"/>
              <a:cs typeface="Times New Roman"/>
            </a:endParaRPr>
          </a:p>
          <a:p>
            <a:pPr marL="698500" lvl="1" indent="-229235">
              <a:lnSpc>
                <a:spcPct val="100000"/>
              </a:lnSpc>
              <a:spcBef>
                <a:spcPts val="580"/>
              </a:spcBef>
              <a:buClr>
                <a:srgbClr val="EC7C30"/>
              </a:buClr>
              <a:buFont typeface="Wingdings"/>
              <a:buChar char=""/>
              <a:tabLst>
                <a:tab pos="699135" algn="l"/>
              </a:tabLst>
            </a:pPr>
            <a:r>
              <a:rPr sz="2400" spc="-5" dirty="0">
                <a:latin typeface="Times New Roman"/>
                <a:cs typeface="Times New Roman"/>
              </a:rPr>
              <a:t>Structured </a:t>
            </a:r>
            <a:r>
              <a:rPr sz="2400" dirty="0">
                <a:latin typeface="Times New Roman"/>
                <a:cs typeface="Times New Roman"/>
              </a:rPr>
              <a:t>on Mac OS </a:t>
            </a:r>
            <a:r>
              <a:rPr sz="2400" spc="-5" dirty="0">
                <a:latin typeface="Times New Roman"/>
                <a:cs typeface="Times New Roman"/>
              </a:rPr>
              <a:t>X, added</a:t>
            </a:r>
            <a:r>
              <a:rPr sz="2400" spc="-15" dirty="0">
                <a:latin typeface="Times New Roman"/>
                <a:cs typeface="Times New Roman"/>
              </a:rPr>
              <a:t> </a:t>
            </a:r>
            <a:r>
              <a:rPr sz="2400" dirty="0">
                <a:latin typeface="Times New Roman"/>
                <a:cs typeface="Times New Roman"/>
              </a:rPr>
              <a:t>functionality</a:t>
            </a:r>
          </a:p>
          <a:p>
            <a:pPr marL="698500" lvl="1" indent="-229235">
              <a:lnSpc>
                <a:spcPct val="100000"/>
              </a:lnSpc>
              <a:spcBef>
                <a:spcPts val="575"/>
              </a:spcBef>
              <a:buClr>
                <a:srgbClr val="EC7C30"/>
              </a:buClr>
              <a:buFont typeface="Wingdings"/>
              <a:buChar char=""/>
              <a:tabLst>
                <a:tab pos="699135" algn="l"/>
              </a:tabLst>
            </a:pPr>
            <a:r>
              <a:rPr sz="2400" spc="-5" dirty="0">
                <a:latin typeface="Times New Roman"/>
                <a:cs typeface="Times New Roman"/>
              </a:rPr>
              <a:t>Does not run OS X </a:t>
            </a:r>
            <a:r>
              <a:rPr sz="2400" dirty="0">
                <a:latin typeface="Times New Roman"/>
                <a:cs typeface="Times New Roman"/>
              </a:rPr>
              <a:t>applications natively</a:t>
            </a:r>
          </a:p>
          <a:p>
            <a:pPr marL="1155700" lvl="2" indent="-229235">
              <a:lnSpc>
                <a:spcPct val="100000"/>
              </a:lnSpc>
              <a:spcBef>
                <a:spcPts val="580"/>
              </a:spcBef>
              <a:buClr>
                <a:srgbClr val="EC7C30"/>
              </a:buClr>
              <a:buFont typeface="Wingdings"/>
              <a:buChar char=""/>
              <a:tabLst>
                <a:tab pos="1156335" algn="l"/>
              </a:tabLst>
            </a:pPr>
            <a:r>
              <a:rPr sz="2400" spc="-5" dirty="0">
                <a:latin typeface="Times New Roman"/>
                <a:cs typeface="Times New Roman"/>
              </a:rPr>
              <a:t>Also runs on different CPU </a:t>
            </a:r>
            <a:r>
              <a:rPr sz="2400" spc="-10" dirty="0">
                <a:latin typeface="Times New Roman"/>
                <a:cs typeface="Times New Roman"/>
              </a:rPr>
              <a:t>architecture </a:t>
            </a:r>
            <a:r>
              <a:rPr sz="2400" spc="-5" dirty="0">
                <a:latin typeface="Times New Roman"/>
                <a:cs typeface="Times New Roman"/>
              </a:rPr>
              <a:t>(ARM vs.</a:t>
            </a:r>
            <a:r>
              <a:rPr sz="2400" spc="60" dirty="0">
                <a:latin typeface="Times New Roman"/>
                <a:cs typeface="Times New Roman"/>
              </a:rPr>
              <a:t> </a:t>
            </a:r>
            <a:r>
              <a:rPr sz="2400" spc="-5" dirty="0">
                <a:latin typeface="Times New Roman"/>
                <a:cs typeface="Times New Roman"/>
              </a:rPr>
              <a:t>Intel)</a:t>
            </a:r>
            <a:endParaRPr sz="2400" dirty="0">
              <a:latin typeface="Times New Roman"/>
              <a:cs typeface="Times New Roman"/>
            </a:endParaRPr>
          </a:p>
          <a:p>
            <a:pPr marL="698500" lvl="1" indent="-229235">
              <a:lnSpc>
                <a:spcPct val="100000"/>
              </a:lnSpc>
              <a:spcBef>
                <a:spcPts val="575"/>
              </a:spcBef>
              <a:buClr>
                <a:srgbClr val="EC7C30"/>
              </a:buClr>
              <a:buFont typeface="Wingdings"/>
              <a:buChar char=""/>
              <a:tabLst>
                <a:tab pos="699135" algn="l"/>
              </a:tabLst>
            </a:pPr>
            <a:r>
              <a:rPr sz="2400" spc="-5" dirty="0">
                <a:solidFill>
                  <a:srgbClr val="3366FF"/>
                </a:solidFill>
                <a:latin typeface="Times New Roman"/>
                <a:cs typeface="Times New Roman"/>
              </a:rPr>
              <a:t>Cocoa </a:t>
            </a:r>
            <a:r>
              <a:rPr sz="2400" spc="-45" dirty="0">
                <a:solidFill>
                  <a:srgbClr val="3366FF"/>
                </a:solidFill>
                <a:latin typeface="Times New Roman"/>
                <a:cs typeface="Times New Roman"/>
              </a:rPr>
              <a:t>Touch </a:t>
            </a:r>
            <a:r>
              <a:rPr sz="2400" dirty="0">
                <a:latin typeface="Times New Roman"/>
                <a:cs typeface="Times New Roman"/>
              </a:rPr>
              <a:t>Objective-C </a:t>
            </a:r>
            <a:r>
              <a:rPr sz="2400" spc="-5" dirty="0">
                <a:latin typeface="Times New Roman"/>
                <a:cs typeface="Times New Roman"/>
              </a:rPr>
              <a:t>API </a:t>
            </a:r>
            <a:r>
              <a:rPr sz="2400" dirty="0">
                <a:latin typeface="Times New Roman"/>
                <a:cs typeface="Times New Roman"/>
              </a:rPr>
              <a:t>for developing</a:t>
            </a:r>
            <a:r>
              <a:rPr sz="2400" spc="-229" dirty="0">
                <a:latin typeface="Times New Roman"/>
                <a:cs typeface="Times New Roman"/>
              </a:rPr>
              <a:t> </a:t>
            </a:r>
            <a:r>
              <a:rPr sz="2400" spc="-5" dirty="0">
                <a:latin typeface="Times New Roman"/>
                <a:cs typeface="Times New Roman"/>
              </a:rPr>
              <a:t>apps</a:t>
            </a:r>
            <a:endParaRPr sz="2400" dirty="0">
              <a:latin typeface="Times New Roman"/>
              <a:cs typeface="Times New Roman"/>
            </a:endParaRPr>
          </a:p>
          <a:p>
            <a:pPr marL="698500" lvl="1" indent="-229235">
              <a:lnSpc>
                <a:spcPct val="100000"/>
              </a:lnSpc>
              <a:spcBef>
                <a:spcPts val="575"/>
              </a:spcBef>
              <a:buClr>
                <a:srgbClr val="EC7C30"/>
              </a:buClr>
              <a:buFont typeface="Wingdings"/>
              <a:buChar char=""/>
              <a:tabLst>
                <a:tab pos="699135" algn="l"/>
              </a:tabLst>
            </a:pPr>
            <a:r>
              <a:rPr sz="2400" dirty="0">
                <a:solidFill>
                  <a:srgbClr val="3366FF"/>
                </a:solidFill>
                <a:latin typeface="Times New Roman"/>
                <a:cs typeface="Times New Roman"/>
              </a:rPr>
              <a:t>Media services </a:t>
            </a:r>
            <a:r>
              <a:rPr sz="2400" dirty="0">
                <a:latin typeface="Times New Roman"/>
                <a:cs typeface="Times New Roman"/>
              </a:rPr>
              <a:t>layer for </a:t>
            </a:r>
            <a:r>
              <a:rPr sz="2400" spc="-5" dirty="0">
                <a:latin typeface="Times New Roman"/>
                <a:cs typeface="Times New Roman"/>
              </a:rPr>
              <a:t>graphics, audio,</a:t>
            </a:r>
            <a:r>
              <a:rPr sz="2400" spc="-145" dirty="0">
                <a:latin typeface="Times New Roman"/>
                <a:cs typeface="Times New Roman"/>
              </a:rPr>
              <a:t> </a:t>
            </a:r>
            <a:r>
              <a:rPr sz="2400" dirty="0">
                <a:latin typeface="Times New Roman"/>
                <a:cs typeface="Times New Roman"/>
              </a:rPr>
              <a:t>video</a:t>
            </a:r>
          </a:p>
          <a:p>
            <a:pPr marL="698500" lvl="1" indent="-229235">
              <a:lnSpc>
                <a:spcPct val="100000"/>
              </a:lnSpc>
              <a:spcBef>
                <a:spcPts val="580"/>
              </a:spcBef>
              <a:buClr>
                <a:srgbClr val="EC7C30"/>
              </a:buClr>
              <a:buFont typeface="Wingdings"/>
              <a:buChar char=""/>
              <a:tabLst>
                <a:tab pos="699135" algn="l"/>
              </a:tabLst>
            </a:pPr>
            <a:r>
              <a:rPr sz="2400" spc="-15" dirty="0">
                <a:solidFill>
                  <a:srgbClr val="3366FF"/>
                </a:solidFill>
                <a:latin typeface="Times New Roman"/>
                <a:cs typeface="Times New Roman"/>
              </a:rPr>
              <a:t>Core </a:t>
            </a:r>
            <a:r>
              <a:rPr sz="2400" dirty="0">
                <a:solidFill>
                  <a:srgbClr val="3366FF"/>
                </a:solidFill>
                <a:latin typeface="Times New Roman"/>
                <a:cs typeface="Times New Roman"/>
              </a:rPr>
              <a:t>services </a:t>
            </a:r>
            <a:r>
              <a:rPr sz="2400" spc="-10" dirty="0">
                <a:latin typeface="Times New Roman"/>
                <a:cs typeface="Times New Roman"/>
              </a:rPr>
              <a:t>provides </a:t>
            </a:r>
            <a:r>
              <a:rPr sz="2400" spc="-5" dirty="0">
                <a:latin typeface="Times New Roman"/>
                <a:cs typeface="Times New Roman"/>
              </a:rPr>
              <a:t>cloud </a:t>
            </a:r>
            <a:r>
              <a:rPr sz="2400" dirty="0">
                <a:latin typeface="Times New Roman"/>
                <a:cs typeface="Times New Roman"/>
              </a:rPr>
              <a:t>computing,</a:t>
            </a:r>
            <a:r>
              <a:rPr sz="2400" spc="5" dirty="0">
                <a:latin typeface="Times New Roman"/>
                <a:cs typeface="Times New Roman"/>
              </a:rPr>
              <a:t> </a:t>
            </a:r>
            <a:r>
              <a:rPr sz="2400" spc="-5" dirty="0">
                <a:latin typeface="Times New Roman"/>
                <a:cs typeface="Times New Roman"/>
              </a:rPr>
              <a:t>databases</a:t>
            </a:r>
            <a:endParaRPr sz="2400" dirty="0">
              <a:latin typeface="Times New Roman"/>
              <a:cs typeface="Times New Roman"/>
            </a:endParaRPr>
          </a:p>
          <a:p>
            <a:pPr marL="698500" lvl="1" indent="-229235">
              <a:lnSpc>
                <a:spcPct val="100000"/>
              </a:lnSpc>
              <a:spcBef>
                <a:spcPts val="575"/>
              </a:spcBef>
              <a:buClr>
                <a:srgbClr val="EC7C30"/>
              </a:buClr>
              <a:buFont typeface="Wingdings"/>
              <a:buChar char=""/>
              <a:tabLst>
                <a:tab pos="699135" algn="l"/>
              </a:tabLst>
            </a:pPr>
            <a:r>
              <a:rPr sz="2400" spc="-15" dirty="0">
                <a:latin typeface="Times New Roman"/>
                <a:cs typeface="Times New Roman"/>
              </a:rPr>
              <a:t>Core </a:t>
            </a:r>
            <a:r>
              <a:rPr sz="2400" dirty="0">
                <a:latin typeface="Times New Roman"/>
                <a:cs typeface="Times New Roman"/>
              </a:rPr>
              <a:t>operating system, </a:t>
            </a:r>
            <a:r>
              <a:rPr sz="2400" spc="-5" dirty="0">
                <a:latin typeface="Times New Roman"/>
                <a:cs typeface="Times New Roman"/>
              </a:rPr>
              <a:t>based on </a:t>
            </a:r>
            <a:r>
              <a:rPr sz="2400" dirty="0">
                <a:latin typeface="Times New Roman"/>
                <a:cs typeface="Times New Roman"/>
              </a:rPr>
              <a:t>Mac </a:t>
            </a:r>
            <a:r>
              <a:rPr sz="2400" spc="-5" dirty="0">
                <a:latin typeface="Times New Roman"/>
                <a:cs typeface="Times New Roman"/>
              </a:rPr>
              <a:t>OS X </a:t>
            </a:r>
            <a:r>
              <a:rPr sz="2400" dirty="0">
                <a:latin typeface="Times New Roman"/>
                <a:cs typeface="Times New Roman"/>
              </a:rPr>
              <a:t>kernel</a:t>
            </a:r>
          </a:p>
        </p:txBody>
      </p:sp>
      <p:sp>
        <p:nvSpPr>
          <p:cNvPr id="3" name="object 3"/>
          <p:cNvSpPr txBox="1">
            <a:spLocks noGrp="1"/>
          </p:cNvSpPr>
          <p:nvPr>
            <p:ph type="title"/>
          </p:nvPr>
        </p:nvSpPr>
        <p:spPr>
          <a:xfrm>
            <a:off x="916939" y="659968"/>
            <a:ext cx="927735" cy="697230"/>
          </a:xfrm>
          <a:prstGeom prst="rect">
            <a:avLst/>
          </a:prstGeom>
        </p:spPr>
        <p:txBody>
          <a:bodyPr vert="horz" wrap="square" lIns="0" tIns="13335" rIns="0" bIns="0" rtlCol="0">
            <a:spAutoFit/>
          </a:bodyPr>
          <a:lstStyle/>
          <a:p>
            <a:pPr marL="12700">
              <a:lnSpc>
                <a:spcPct val="100000"/>
              </a:lnSpc>
              <a:spcBef>
                <a:spcPts val="105"/>
              </a:spcBef>
            </a:pPr>
            <a:r>
              <a:rPr dirty="0">
                <a:solidFill>
                  <a:srgbClr val="FF0000"/>
                </a:solidFill>
                <a:latin typeface="Times New Roman"/>
                <a:cs typeface="Times New Roman"/>
              </a:rPr>
              <a:t>iOS</a:t>
            </a:r>
          </a:p>
        </p:txBody>
      </p:sp>
      <p:grpSp>
        <p:nvGrpSpPr>
          <p:cNvPr id="4" name="object 4"/>
          <p:cNvGrpSpPr/>
          <p:nvPr/>
        </p:nvGrpSpPr>
        <p:grpSpPr>
          <a:xfrm>
            <a:off x="9733766" y="3632591"/>
            <a:ext cx="1952625" cy="2047875"/>
            <a:chOff x="9733766" y="3632591"/>
            <a:chExt cx="1952625" cy="2047875"/>
          </a:xfrm>
        </p:grpSpPr>
        <p:sp>
          <p:nvSpPr>
            <p:cNvPr id="5" name="object 5"/>
            <p:cNvSpPr/>
            <p:nvPr/>
          </p:nvSpPr>
          <p:spPr>
            <a:xfrm>
              <a:off x="9738962" y="3637788"/>
              <a:ext cx="1942464" cy="346710"/>
            </a:xfrm>
            <a:custGeom>
              <a:avLst/>
              <a:gdLst/>
              <a:ahLst/>
              <a:cxnLst/>
              <a:rect l="l" t="t" r="r" b="b"/>
              <a:pathLst>
                <a:path w="1942465" h="346710">
                  <a:moveTo>
                    <a:pt x="0" y="346469"/>
                  </a:moveTo>
                  <a:lnTo>
                    <a:pt x="1942180" y="346469"/>
                  </a:lnTo>
                  <a:lnTo>
                    <a:pt x="1942180" y="0"/>
                  </a:lnTo>
                  <a:lnTo>
                    <a:pt x="0" y="0"/>
                  </a:lnTo>
                  <a:lnTo>
                    <a:pt x="0" y="346469"/>
                  </a:lnTo>
                  <a:close/>
                </a:path>
              </a:pathLst>
            </a:custGeom>
            <a:solidFill>
              <a:srgbClr val="C6EAFA"/>
            </a:solidFill>
          </p:spPr>
          <p:txBody>
            <a:bodyPr wrap="square" lIns="0" tIns="0" rIns="0" bIns="0" rtlCol="0"/>
            <a:lstStyle/>
            <a:p>
              <a:endParaRPr/>
            </a:p>
          </p:txBody>
        </p:sp>
        <p:sp>
          <p:nvSpPr>
            <p:cNvPr id="6" name="object 6"/>
            <p:cNvSpPr/>
            <p:nvPr/>
          </p:nvSpPr>
          <p:spPr>
            <a:xfrm>
              <a:off x="9738962" y="3637788"/>
              <a:ext cx="1942464" cy="346710"/>
            </a:xfrm>
            <a:custGeom>
              <a:avLst/>
              <a:gdLst/>
              <a:ahLst/>
              <a:cxnLst/>
              <a:rect l="l" t="t" r="r" b="b"/>
              <a:pathLst>
                <a:path w="1942465" h="346710">
                  <a:moveTo>
                    <a:pt x="1942180" y="346469"/>
                  </a:moveTo>
                  <a:lnTo>
                    <a:pt x="0" y="346469"/>
                  </a:lnTo>
                  <a:lnTo>
                    <a:pt x="0" y="0"/>
                  </a:lnTo>
                </a:path>
                <a:path w="1942465" h="346710">
                  <a:moveTo>
                    <a:pt x="1942180" y="0"/>
                  </a:moveTo>
                  <a:lnTo>
                    <a:pt x="1942180" y="346469"/>
                  </a:lnTo>
                </a:path>
              </a:pathLst>
            </a:custGeom>
            <a:ln w="10371">
              <a:solidFill>
                <a:srgbClr val="221F1F"/>
              </a:solidFill>
            </a:ln>
          </p:spPr>
          <p:txBody>
            <a:bodyPr wrap="square" lIns="0" tIns="0" rIns="0" bIns="0" rtlCol="0"/>
            <a:lstStyle/>
            <a:p>
              <a:endParaRPr/>
            </a:p>
          </p:txBody>
        </p:sp>
        <p:sp>
          <p:nvSpPr>
            <p:cNvPr id="7" name="object 7"/>
            <p:cNvSpPr/>
            <p:nvPr/>
          </p:nvSpPr>
          <p:spPr>
            <a:xfrm>
              <a:off x="9738962" y="4192139"/>
              <a:ext cx="1942464" cy="357505"/>
            </a:xfrm>
            <a:custGeom>
              <a:avLst/>
              <a:gdLst/>
              <a:ahLst/>
              <a:cxnLst/>
              <a:rect l="l" t="t" r="r" b="b"/>
              <a:pathLst>
                <a:path w="1942465" h="357504">
                  <a:moveTo>
                    <a:pt x="1942180" y="0"/>
                  </a:moveTo>
                  <a:lnTo>
                    <a:pt x="0" y="0"/>
                  </a:lnTo>
                  <a:lnTo>
                    <a:pt x="0" y="356879"/>
                  </a:lnTo>
                  <a:lnTo>
                    <a:pt x="1942180" y="356879"/>
                  </a:lnTo>
                  <a:lnTo>
                    <a:pt x="1942180" y="0"/>
                  </a:lnTo>
                  <a:close/>
                </a:path>
              </a:pathLst>
            </a:custGeom>
            <a:solidFill>
              <a:srgbClr val="C6EAFA"/>
            </a:solidFill>
          </p:spPr>
          <p:txBody>
            <a:bodyPr wrap="square" lIns="0" tIns="0" rIns="0" bIns="0" rtlCol="0"/>
            <a:lstStyle/>
            <a:p>
              <a:endParaRPr/>
            </a:p>
          </p:txBody>
        </p:sp>
        <p:sp>
          <p:nvSpPr>
            <p:cNvPr id="8" name="object 8"/>
            <p:cNvSpPr/>
            <p:nvPr/>
          </p:nvSpPr>
          <p:spPr>
            <a:xfrm>
              <a:off x="9738962" y="4192139"/>
              <a:ext cx="1942464" cy="357505"/>
            </a:xfrm>
            <a:custGeom>
              <a:avLst/>
              <a:gdLst/>
              <a:ahLst/>
              <a:cxnLst/>
              <a:rect l="l" t="t" r="r" b="b"/>
              <a:pathLst>
                <a:path w="1942465" h="357504">
                  <a:moveTo>
                    <a:pt x="1942180" y="356879"/>
                  </a:moveTo>
                  <a:lnTo>
                    <a:pt x="0" y="356879"/>
                  </a:lnTo>
                  <a:lnTo>
                    <a:pt x="0" y="0"/>
                  </a:lnTo>
                  <a:lnTo>
                    <a:pt x="1942180" y="0"/>
                  </a:lnTo>
                  <a:lnTo>
                    <a:pt x="1942180" y="356879"/>
                  </a:lnTo>
                  <a:close/>
                </a:path>
              </a:pathLst>
            </a:custGeom>
            <a:ln w="10393">
              <a:solidFill>
                <a:srgbClr val="221F1F"/>
              </a:solidFill>
            </a:ln>
          </p:spPr>
          <p:txBody>
            <a:bodyPr wrap="square" lIns="0" tIns="0" rIns="0" bIns="0" rtlCol="0"/>
            <a:lstStyle/>
            <a:p>
              <a:endParaRPr/>
            </a:p>
          </p:txBody>
        </p:sp>
        <p:sp>
          <p:nvSpPr>
            <p:cNvPr id="9" name="object 9"/>
            <p:cNvSpPr/>
            <p:nvPr/>
          </p:nvSpPr>
          <p:spPr>
            <a:xfrm>
              <a:off x="9738962" y="4756900"/>
              <a:ext cx="1942464" cy="355600"/>
            </a:xfrm>
            <a:custGeom>
              <a:avLst/>
              <a:gdLst/>
              <a:ahLst/>
              <a:cxnLst/>
              <a:rect l="l" t="t" r="r" b="b"/>
              <a:pathLst>
                <a:path w="1942465" h="355600">
                  <a:moveTo>
                    <a:pt x="1942180" y="0"/>
                  </a:moveTo>
                  <a:lnTo>
                    <a:pt x="0" y="0"/>
                  </a:lnTo>
                  <a:lnTo>
                    <a:pt x="0" y="355125"/>
                  </a:lnTo>
                  <a:lnTo>
                    <a:pt x="1942180" y="355125"/>
                  </a:lnTo>
                  <a:lnTo>
                    <a:pt x="1942180" y="0"/>
                  </a:lnTo>
                  <a:close/>
                </a:path>
              </a:pathLst>
            </a:custGeom>
            <a:solidFill>
              <a:srgbClr val="C6EAFA"/>
            </a:solidFill>
          </p:spPr>
          <p:txBody>
            <a:bodyPr wrap="square" lIns="0" tIns="0" rIns="0" bIns="0" rtlCol="0"/>
            <a:lstStyle/>
            <a:p>
              <a:endParaRPr/>
            </a:p>
          </p:txBody>
        </p:sp>
        <p:sp>
          <p:nvSpPr>
            <p:cNvPr id="10" name="object 10"/>
            <p:cNvSpPr/>
            <p:nvPr/>
          </p:nvSpPr>
          <p:spPr>
            <a:xfrm>
              <a:off x="9738962" y="4756900"/>
              <a:ext cx="1942464" cy="355600"/>
            </a:xfrm>
            <a:custGeom>
              <a:avLst/>
              <a:gdLst/>
              <a:ahLst/>
              <a:cxnLst/>
              <a:rect l="l" t="t" r="r" b="b"/>
              <a:pathLst>
                <a:path w="1942465" h="355600">
                  <a:moveTo>
                    <a:pt x="1942180" y="355125"/>
                  </a:moveTo>
                  <a:lnTo>
                    <a:pt x="0" y="355125"/>
                  </a:lnTo>
                  <a:lnTo>
                    <a:pt x="0" y="0"/>
                  </a:lnTo>
                  <a:lnTo>
                    <a:pt x="1942180" y="0"/>
                  </a:lnTo>
                  <a:lnTo>
                    <a:pt x="1942180" y="355125"/>
                  </a:lnTo>
                  <a:close/>
                </a:path>
              </a:pathLst>
            </a:custGeom>
            <a:ln w="10393">
              <a:solidFill>
                <a:srgbClr val="221F1F"/>
              </a:solidFill>
            </a:ln>
          </p:spPr>
          <p:txBody>
            <a:bodyPr wrap="square" lIns="0" tIns="0" rIns="0" bIns="0" rtlCol="0"/>
            <a:lstStyle/>
            <a:p>
              <a:endParaRPr/>
            </a:p>
          </p:txBody>
        </p:sp>
        <p:sp>
          <p:nvSpPr>
            <p:cNvPr id="11" name="object 11"/>
            <p:cNvSpPr/>
            <p:nvPr/>
          </p:nvSpPr>
          <p:spPr>
            <a:xfrm>
              <a:off x="9738962" y="5319906"/>
              <a:ext cx="1942464" cy="355600"/>
            </a:xfrm>
            <a:custGeom>
              <a:avLst/>
              <a:gdLst/>
              <a:ahLst/>
              <a:cxnLst/>
              <a:rect l="l" t="t" r="r" b="b"/>
              <a:pathLst>
                <a:path w="1942465" h="355600">
                  <a:moveTo>
                    <a:pt x="1942180" y="0"/>
                  </a:moveTo>
                  <a:lnTo>
                    <a:pt x="0" y="0"/>
                  </a:lnTo>
                  <a:lnTo>
                    <a:pt x="0" y="355142"/>
                  </a:lnTo>
                  <a:lnTo>
                    <a:pt x="1942180" y="355142"/>
                  </a:lnTo>
                  <a:lnTo>
                    <a:pt x="1942180" y="0"/>
                  </a:lnTo>
                  <a:close/>
                </a:path>
              </a:pathLst>
            </a:custGeom>
            <a:solidFill>
              <a:srgbClr val="C6EAFA"/>
            </a:solidFill>
          </p:spPr>
          <p:txBody>
            <a:bodyPr wrap="square" lIns="0" tIns="0" rIns="0" bIns="0" rtlCol="0"/>
            <a:lstStyle/>
            <a:p>
              <a:endParaRPr/>
            </a:p>
          </p:txBody>
        </p:sp>
        <p:sp>
          <p:nvSpPr>
            <p:cNvPr id="12" name="object 12"/>
            <p:cNvSpPr/>
            <p:nvPr/>
          </p:nvSpPr>
          <p:spPr>
            <a:xfrm>
              <a:off x="9738962" y="5319906"/>
              <a:ext cx="1942464" cy="355600"/>
            </a:xfrm>
            <a:custGeom>
              <a:avLst/>
              <a:gdLst/>
              <a:ahLst/>
              <a:cxnLst/>
              <a:rect l="l" t="t" r="r" b="b"/>
              <a:pathLst>
                <a:path w="1942465" h="355600">
                  <a:moveTo>
                    <a:pt x="1942180" y="355142"/>
                  </a:moveTo>
                  <a:lnTo>
                    <a:pt x="0" y="355142"/>
                  </a:lnTo>
                  <a:lnTo>
                    <a:pt x="0" y="0"/>
                  </a:lnTo>
                  <a:lnTo>
                    <a:pt x="1942180" y="0"/>
                  </a:lnTo>
                  <a:lnTo>
                    <a:pt x="1942180" y="355142"/>
                  </a:lnTo>
                  <a:close/>
                </a:path>
              </a:pathLst>
            </a:custGeom>
            <a:ln w="10393">
              <a:solidFill>
                <a:srgbClr val="221F1F"/>
              </a:solidFill>
            </a:ln>
          </p:spPr>
          <p:txBody>
            <a:bodyPr wrap="square" lIns="0" tIns="0" rIns="0" bIns="0" rtlCol="0"/>
            <a:lstStyle/>
            <a:p>
              <a:endParaRPr/>
            </a:p>
          </p:txBody>
        </p:sp>
        <p:sp>
          <p:nvSpPr>
            <p:cNvPr id="13" name="object 13"/>
            <p:cNvSpPr/>
            <p:nvPr/>
          </p:nvSpPr>
          <p:spPr>
            <a:xfrm>
              <a:off x="10099447" y="3720934"/>
              <a:ext cx="583565" cy="156210"/>
            </a:xfrm>
            <a:custGeom>
              <a:avLst/>
              <a:gdLst/>
              <a:ahLst/>
              <a:cxnLst/>
              <a:rect l="l" t="t" r="r" b="b"/>
              <a:pathLst>
                <a:path w="583565" h="156210">
                  <a:moveTo>
                    <a:pt x="131089" y="97015"/>
                  </a:moveTo>
                  <a:lnTo>
                    <a:pt x="112128" y="97015"/>
                  </a:lnTo>
                  <a:lnTo>
                    <a:pt x="104406" y="118135"/>
                  </a:lnTo>
                  <a:lnTo>
                    <a:pt x="93141" y="130797"/>
                  </a:lnTo>
                  <a:lnTo>
                    <a:pt x="80581" y="136969"/>
                  </a:lnTo>
                  <a:lnTo>
                    <a:pt x="68986" y="138595"/>
                  </a:lnTo>
                  <a:lnTo>
                    <a:pt x="46164" y="133718"/>
                  </a:lnTo>
                  <a:lnTo>
                    <a:pt x="31267" y="120408"/>
                  </a:lnTo>
                  <a:lnTo>
                    <a:pt x="23152" y="100609"/>
                  </a:lnTo>
                  <a:lnTo>
                    <a:pt x="20701" y="76250"/>
                  </a:lnTo>
                  <a:lnTo>
                    <a:pt x="24612" y="50965"/>
                  </a:lnTo>
                  <a:lnTo>
                    <a:pt x="35153" y="32499"/>
                  </a:lnTo>
                  <a:lnTo>
                    <a:pt x="50533" y="21183"/>
                  </a:lnTo>
                  <a:lnTo>
                    <a:pt x="68986" y="17335"/>
                  </a:lnTo>
                  <a:lnTo>
                    <a:pt x="80556" y="18554"/>
                  </a:lnTo>
                  <a:lnTo>
                    <a:pt x="92925" y="23177"/>
                  </a:lnTo>
                  <a:lnTo>
                    <a:pt x="103682" y="32689"/>
                  </a:lnTo>
                  <a:lnTo>
                    <a:pt x="110401" y="48526"/>
                  </a:lnTo>
                  <a:lnTo>
                    <a:pt x="129362" y="48526"/>
                  </a:lnTo>
                  <a:lnTo>
                    <a:pt x="124536" y="30708"/>
                  </a:lnTo>
                  <a:lnTo>
                    <a:pt x="112763" y="15163"/>
                  </a:lnTo>
                  <a:lnTo>
                    <a:pt x="94195" y="4178"/>
                  </a:lnTo>
                  <a:lnTo>
                    <a:pt x="68986" y="0"/>
                  </a:lnTo>
                  <a:lnTo>
                    <a:pt x="40017" y="5600"/>
                  </a:lnTo>
                  <a:lnTo>
                    <a:pt x="18326" y="21437"/>
                  </a:lnTo>
                  <a:lnTo>
                    <a:pt x="4711" y="46050"/>
                  </a:lnTo>
                  <a:lnTo>
                    <a:pt x="0" y="77978"/>
                  </a:lnTo>
                  <a:lnTo>
                    <a:pt x="5651" y="113538"/>
                  </a:lnTo>
                  <a:lnTo>
                    <a:pt x="20701" y="137731"/>
                  </a:lnTo>
                  <a:lnTo>
                    <a:pt x="42202" y="151536"/>
                  </a:lnTo>
                  <a:lnTo>
                    <a:pt x="67259" y="155930"/>
                  </a:lnTo>
                  <a:lnTo>
                    <a:pt x="80391" y="154762"/>
                  </a:lnTo>
                  <a:lnTo>
                    <a:pt x="99834" y="147916"/>
                  </a:lnTo>
                  <a:lnTo>
                    <a:pt x="118935" y="130340"/>
                  </a:lnTo>
                  <a:lnTo>
                    <a:pt x="131089" y="97015"/>
                  </a:lnTo>
                  <a:close/>
                </a:path>
                <a:path w="583565" h="156210">
                  <a:moveTo>
                    <a:pt x="248386" y="98755"/>
                  </a:moveTo>
                  <a:lnTo>
                    <a:pt x="245414" y="78130"/>
                  </a:lnTo>
                  <a:lnTo>
                    <a:pt x="236308" y="59791"/>
                  </a:lnTo>
                  <a:lnTo>
                    <a:pt x="233210" y="57175"/>
                  </a:lnTo>
                  <a:lnTo>
                    <a:pt x="229400" y="53962"/>
                  </a:lnTo>
                  <a:lnTo>
                    <a:pt x="229400" y="98755"/>
                  </a:lnTo>
                  <a:lnTo>
                    <a:pt x="228193" y="110832"/>
                  </a:lnTo>
                  <a:lnTo>
                    <a:pt x="223583" y="123875"/>
                  </a:lnTo>
                  <a:lnTo>
                    <a:pt x="214122" y="134315"/>
                  </a:lnTo>
                  <a:lnTo>
                    <a:pt x="198348" y="138595"/>
                  </a:lnTo>
                  <a:lnTo>
                    <a:pt x="182587" y="134315"/>
                  </a:lnTo>
                  <a:lnTo>
                    <a:pt x="173139" y="123875"/>
                  </a:lnTo>
                  <a:lnTo>
                    <a:pt x="168516" y="110832"/>
                  </a:lnTo>
                  <a:lnTo>
                    <a:pt x="167309" y="98755"/>
                  </a:lnTo>
                  <a:lnTo>
                    <a:pt x="168516" y="85686"/>
                  </a:lnTo>
                  <a:lnTo>
                    <a:pt x="173139" y="72123"/>
                  </a:lnTo>
                  <a:lnTo>
                    <a:pt x="182587" y="61480"/>
                  </a:lnTo>
                  <a:lnTo>
                    <a:pt x="198348" y="57175"/>
                  </a:lnTo>
                  <a:lnTo>
                    <a:pt x="214122" y="61480"/>
                  </a:lnTo>
                  <a:lnTo>
                    <a:pt x="223583" y="72123"/>
                  </a:lnTo>
                  <a:lnTo>
                    <a:pt x="228193" y="85686"/>
                  </a:lnTo>
                  <a:lnTo>
                    <a:pt x="229400" y="98755"/>
                  </a:lnTo>
                  <a:lnTo>
                    <a:pt x="229400" y="53962"/>
                  </a:lnTo>
                  <a:lnTo>
                    <a:pt x="220726" y="46634"/>
                  </a:lnTo>
                  <a:lnTo>
                    <a:pt x="198348" y="41592"/>
                  </a:lnTo>
                  <a:lnTo>
                    <a:pt x="175983" y="46634"/>
                  </a:lnTo>
                  <a:lnTo>
                    <a:pt x="160413" y="59791"/>
                  </a:lnTo>
                  <a:lnTo>
                    <a:pt x="151307" y="78130"/>
                  </a:lnTo>
                  <a:lnTo>
                    <a:pt x="148348" y="98755"/>
                  </a:lnTo>
                  <a:lnTo>
                    <a:pt x="151307" y="119380"/>
                  </a:lnTo>
                  <a:lnTo>
                    <a:pt x="160413" y="137731"/>
                  </a:lnTo>
                  <a:lnTo>
                    <a:pt x="175983" y="150888"/>
                  </a:lnTo>
                  <a:lnTo>
                    <a:pt x="198348" y="155930"/>
                  </a:lnTo>
                  <a:lnTo>
                    <a:pt x="220726" y="150888"/>
                  </a:lnTo>
                  <a:lnTo>
                    <a:pt x="235292" y="138595"/>
                  </a:lnTo>
                  <a:lnTo>
                    <a:pt x="236308" y="137731"/>
                  </a:lnTo>
                  <a:lnTo>
                    <a:pt x="245414" y="119380"/>
                  </a:lnTo>
                  <a:lnTo>
                    <a:pt x="248386" y="98755"/>
                  </a:lnTo>
                  <a:close/>
                </a:path>
                <a:path w="583565" h="156210">
                  <a:moveTo>
                    <a:pt x="353593" y="81432"/>
                  </a:moveTo>
                  <a:lnTo>
                    <a:pt x="350545" y="67170"/>
                  </a:lnTo>
                  <a:lnTo>
                    <a:pt x="343458" y="54368"/>
                  </a:lnTo>
                  <a:lnTo>
                    <a:pt x="331520" y="45135"/>
                  </a:lnTo>
                  <a:lnTo>
                    <a:pt x="313931" y="41592"/>
                  </a:lnTo>
                  <a:lnTo>
                    <a:pt x="290563" y="46164"/>
                  </a:lnTo>
                  <a:lnTo>
                    <a:pt x="274472" y="58699"/>
                  </a:lnTo>
                  <a:lnTo>
                    <a:pt x="265163" y="77393"/>
                  </a:lnTo>
                  <a:lnTo>
                    <a:pt x="262178" y="100482"/>
                  </a:lnTo>
                  <a:lnTo>
                    <a:pt x="265353" y="122301"/>
                  </a:lnTo>
                  <a:lnTo>
                    <a:pt x="274688" y="139903"/>
                  </a:lnTo>
                  <a:lnTo>
                    <a:pt x="289839" y="151650"/>
                  </a:lnTo>
                  <a:lnTo>
                    <a:pt x="310476" y="155930"/>
                  </a:lnTo>
                  <a:lnTo>
                    <a:pt x="330073" y="151866"/>
                  </a:lnTo>
                  <a:lnTo>
                    <a:pt x="343039" y="141630"/>
                  </a:lnTo>
                  <a:lnTo>
                    <a:pt x="350494" y="128155"/>
                  </a:lnTo>
                  <a:lnTo>
                    <a:pt x="353593" y="114350"/>
                  </a:lnTo>
                  <a:lnTo>
                    <a:pt x="336359" y="114350"/>
                  </a:lnTo>
                  <a:lnTo>
                    <a:pt x="332549" y="124993"/>
                  </a:lnTo>
                  <a:lnTo>
                    <a:pt x="326644" y="133197"/>
                  </a:lnTo>
                  <a:lnTo>
                    <a:pt x="319125" y="138480"/>
                  </a:lnTo>
                  <a:lnTo>
                    <a:pt x="310476" y="140347"/>
                  </a:lnTo>
                  <a:lnTo>
                    <a:pt x="295706" y="136283"/>
                  </a:lnTo>
                  <a:lnTo>
                    <a:pt x="286766" y="126047"/>
                  </a:lnTo>
                  <a:lnTo>
                    <a:pt x="282346" y="112560"/>
                  </a:lnTo>
                  <a:lnTo>
                    <a:pt x="281152" y="98755"/>
                  </a:lnTo>
                  <a:lnTo>
                    <a:pt x="282587" y="84226"/>
                  </a:lnTo>
                  <a:lnTo>
                    <a:pt x="287401" y="70827"/>
                  </a:lnTo>
                  <a:lnTo>
                    <a:pt x="296430" y="60998"/>
                  </a:lnTo>
                  <a:lnTo>
                    <a:pt x="310476" y="57175"/>
                  </a:lnTo>
                  <a:lnTo>
                    <a:pt x="320827" y="58775"/>
                  </a:lnTo>
                  <a:lnTo>
                    <a:pt x="328587" y="63461"/>
                  </a:lnTo>
                  <a:lnTo>
                    <a:pt x="333768" y="71069"/>
                  </a:lnTo>
                  <a:lnTo>
                    <a:pt x="336359" y="81432"/>
                  </a:lnTo>
                  <a:lnTo>
                    <a:pt x="353593" y="81432"/>
                  </a:lnTo>
                  <a:close/>
                </a:path>
                <a:path w="583565" h="156210">
                  <a:moveTo>
                    <a:pt x="465721" y="98755"/>
                  </a:moveTo>
                  <a:lnTo>
                    <a:pt x="462749" y="78130"/>
                  </a:lnTo>
                  <a:lnTo>
                    <a:pt x="453644" y="59791"/>
                  </a:lnTo>
                  <a:lnTo>
                    <a:pt x="450557" y="57175"/>
                  </a:lnTo>
                  <a:lnTo>
                    <a:pt x="446735" y="53962"/>
                  </a:lnTo>
                  <a:lnTo>
                    <a:pt x="446735" y="98755"/>
                  </a:lnTo>
                  <a:lnTo>
                    <a:pt x="445528" y="110832"/>
                  </a:lnTo>
                  <a:lnTo>
                    <a:pt x="440918" y="123875"/>
                  </a:lnTo>
                  <a:lnTo>
                    <a:pt x="431457" y="134315"/>
                  </a:lnTo>
                  <a:lnTo>
                    <a:pt x="415696" y="138595"/>
                  </a:lnTo>
                  <a:lnTo>
                    <a:pt x="399923" y="134315"/>
                  </a:lnTo>
                  <a:lnTo>
                    <a:pt x="390461" y="123875"/>
                  </a:lnTo>
                  <a:lnTo>
                    <a:pt x="385851" y="110832"/>
                  </a:lnTo>
                  <a:lnTo>
                    <a:pt x="384644" y="98755"/>
                  </a:lnTo>
                  <a:lnTo>
                    <a:pt x="385851" y="85686"/>
                  </a:lnTo>
                  <a:lnTo>
                    <a:pt x="390461" y="72123"/>
                  </a:lnTo>
                  <a:lnTo>
                    <a:pt x="399923" y="61480"/>
                  </a:lnTo>
                  <a:lnTo>
                    <a:pt x="415696" y="57175"/>
                  </a:lnTo>
                  <a:lnTo>
                    <a:pt x="431457" y="61480"/>
                  </a:lnTo>
                  <a:lnTo>
                    <a:pt x="440918" y="72123"/>
                  </a:lnTo>
                  <a:lnTo>
                    <a:pt x="445528" y="85686"/>
                  </a:lnTo>
                  <a:lnTo>
                    <a:pt x="446735" y="98755"/>
                  </a:lnTo>
                  <a:lnTo>
                    <a:pt x="446735" y="53962"/>
                  </a:lnTo>
                  <a:lnTo>
                    <a:pt x="438061" y="46634"/>
                  </a:lnTo>
                  <a:lnTo>
                    <a:pt x="415696" y="41592"/>
                  </a:lnTo>
                  <a:lnTo>
                    <a:pt x="394042" y="46634"/>
                  </a:lnTo>
                  <a:lnTo>
                    <a:pt x="378383" y="59791"/>
                  </a:lnTo>
                  <a:lnTo>
                    <a:pt x="368871" y="78130"/>
                  </a:lnTo>
                  <a:lnTo>
                    <a:pt x="365658" y="98755"/>
                  </a:lnTo>
                  <a:lnTo>
                    <a:pt x="368871" y="119380"/>
                  </a:lnTo>
                  <a:lnTo>
                    <a:pt x="378383" y="137731"/>
                  </a:lnTo>
                  <a:lnTo>
                    <a:pt x="394042" y="150888"/>
                  </a:lnTo>
                  <a:lnTo>
                    <a:pt x="415696" y="155930"/>
                  </a:lnTo>
                  <a:lnTo>
                    <a:pt x="438061" y="150888"/>
                  </a:lnTo>
                  <a:lnTo>
                    <a:pt x="452628" y="138595"/>
                  </a:lnTo>
                  <a:lnTo>
                    <a:pt x="453644" y="137731"/>
                  </a:lnTo>
                  <a:lnTo>
                    <a:pt x="462749" y="119380"/>
                  </a:lnTo>
                  <a:lnTo>
                    <a:pt x="465721" y="98755"/>
                  </a:lnTo>
                  <a:close/>
                </a:path>
                <a:path w="583565" h="156210">
                  <a:moveTo>
                    <a:pt x="582993" y="138595"/>
                  </a:moveTo>
                  <a:lnTo>
                    <a:pt x="581279" y="138595"/>
                  </a:lnTo>
                  <a:lnTo>
                    <a:pt x="579551" y="140347"/>
                  </a:lnTo>
                  <a:lnTo>
                    <a:pt x="572655" y="140347"/>
                  </a:lnTo>
                  <a:lnTo>
                    <a:pt x="570928" y="138595"/>
                  </a:lnTo>
                  <a:lnTo>
                    <a:pt x="570928" y="97015"/>
                  </a:lnTo>
                  <a:lnTo>
                    <a:pt x="570928" y="71056"/>
                  </a:lnTo>
                  <a:lnTo>
                    <a:pt x="566686" y="57175"/>
                  </a:lnTo>
                  <a:lnTo>
                    <a:pt x="565950" y="54749"/>
                  </a:lnTo>
                  <a:lnTo>
                    <a:pt x="554329" y="45923"/>
                  </a:lnTo>
                  <a:lnTo>
                    <a:pt x="541096" y="42303"/>
                  </a:lnTo>
                  <a:lnTo>
                    <a:pt x="531266" y="41592"/>
                  </a:lnTo>
                  <a:lnTo>
                    <a:pt x="513575" y="43624"/>
                  </a:lnTo>
                  <a:lnTo>
                    <a:pt x="499783" y="50038"/>
                  </a:lnTo>
                  <a:lnTo>
                    <a:pt x="490499" y="61328"/>
                  </a:lnTo>
                  <a:lnTo>
                    <a:pt x="486410" y="77978"/>
                  </a:lnTo>
                  <a:lnTo>
                    <a:pt x="503669" y="77978"/>
                  </a:lnTo>
                  <a:lnTo>
                    <a:pt x="505256" y="71056"/>
                  </a:lnTo>
                  <a:lnTo>
                    <a:pt x="508622" y="64325"/>
                  </a:lnTo>
                  <a:lnTo>
                    <a:pt x="515543" y="59207"/>
                  </a:lnTo>
                  <a:lnTo>
                    <a:pt x="527799" y="57175"/>
                  </a:lnTo>
                  <a:lnTo>
                    <a:pt x="539115" y="58178"/>
                  </a:lnTo>
                  <a:lnTo>
                    <a:pt x="547204" y="61290"/>
                  </a:lnTo>
                  <a:lnTo>
                    <a:pt x="552056" y="66687"/>
                  </a:lnTo>
                  <a:lnTo>
                    <a:pt x="553669" y="74510"/>
                  </a:lnTo>
                  <a:lnTo>
                    <a:pt x="553669" y="84899"/>
                  </a:lnTo>
                  <a:lnTo>
                    <a:pt x="553669" y="97015"/>
                  </a:lnTo>
                  <a:lnTo>
                    <a:pt x="553669" y="114350"/>
                  </a:lnTo>
                  <a:lnTo>
                    <a:pt x="550710" y="124993"/>
                  </a:lnTo>
                  <a:lnTo>
                    <a:pt x="542899" y="133197"/>
                  </a:lnTo>
                  <a:lnTo>
                    <a:pt x="531850" y="138480"/>
                  </a:lnTo>
                  <a:lnTo>
                    <a:pt x="519176" y="140347"/>
                  </a:lnTo>
                  <a:lnTo>
                    <a:pt x="511124" y="139065"/>
                  </a:lnTo>
                  <a:lnTo>
                    <a:pt x="505167" y="135356"/>
                  </a:lnTo>
                  <a:lnTo>
                    <a:pt x="501484" y="129374"/>
                  </a:lnTo>
                  <a:lnTo>
                    <a:pt x="500214" y="121285"/>
                  </a:lnTo>
                  <a:lnTo>
                    <a:pt x="502500" y="112979"/>
                  </a:lnTo>
                  <a:lnTo>
                    <a:pt x="508190" y="108077"/>
                  </a:lnTo>
                  <a:lnTo>
                    <a:pt x="515493" y="105448"/>
                  </a:lnTo>
                  <a:lnTo>
                    <a:pt x="522630" y="103949"/>
                  </a:lnTo>
                  <a:lnTo>
                    <a:pt x="536448" y="101650"/>
                  </a:lnTo>
                  <a:lnTo>
                    <a:pt x="545261" y="99834"/>
                  </a:lnTo>
                  <a:lnTo>
                    <a:pt x="550519" y="98348"/>
                  </a:lnTo>
                  <a:lnTo>
                    <a:pt x="553669" y="97015"/>
                  </a:lnTo>
                  <a:lnTo>
                    <a:pt x="553669" y="84899"/>
                  </a:lnTo>
                  <a:lnTo>
                    <a:pt x="548500" y="86626"/>
                  </a:lnTo>
                  <a:lnTo>
                    <a:pt x="543331" y="86626"/>
                  </a:lnTo>
                  <a:lnTo>
                    <a:pt x="496519" y="95504"/>
                  </a:lnTo>
                  <a:lnTo>
                    <a:pt x="481228" y="124739"/>
                  </a:lnTo>
                  <a:lnTo>
                    <a:pt x="483717" y="136931"/>
                  </a:lnTo>
                  <a:lnTo>
                    <a:pt x="490715" y="146837"/>
                  </a:lnTo>
                  <a:lnTo>
                    <a:pt x="501599" y="153492"/>
                  </a:lnTo>
                  <a:lnTo>
                    <a:pt x="515734" y="155930"/>
                  </a:lnTo>
                  <a:lnTo>
                    <a:pt x="529424" y="154190"/>
                  </a:lnTo>
                  <a:lnTo>
                    <a:pt x="539877" y="149860"/>
                  </a:lnTo>
                  <a:lnTo>
                    <a:pt x="547751" y="144233"/>
                  </a:lnTo>
                  <a:lnTo>
                    <a:pt x="551827" y="140347"/>
                  </a:lnTo>
                  <a:lnTo>
                    <a:pt x="553669" y="138595"/>
                  </a:lnTo>
                  <a:lnTo>
                    <a:pt x="555396" y="145542"/>
                  </a:lnTo>
                  <a:lnTo>
                    <a:pt x="557123" y="154190"/>
                  </a:lnTo>
                  <a:lnTo>
                    <a:pt x="577824" y="154190"/>
                  </a:lnTo>
                  <a:lnTo>
                    <a:pt x="579551" y="152463"/>
                  </a:lnTo>
                  <a:lnTo>
                    <a:pt x="582993" y="152463"/>
                  </a:lnTo>
                  <a:lnTo>
                    <a:pt x="582993" y="140347"/>
                  </a:lnTo>
                  <a:lnTo>
                    <a:pt x="582993" y="138595"/>
                  </a:lnTo>
                  <a:close/>
                </a:path>
              </a:pathLst>
            </a:custGeom>
            <a:solidFill>
              <a:srgbClr val="221F1F"/>
            </a:solidFill>
          </p:spPr>
          <p:txBody>
            <a:bodyPr wrap="square" lIns="0" tIns="0" rIns="0" bIns="0" rtlCol="0"/>
            <a:lstStyle/>
            <a:p>
              <a:endParaRPr/>
            </a:p>
          </p:txBody>
        </p:sp>
        <p:sp>
          <p:nvSpPr>
            <p:cNvPr id="14" name="object 14"/>
            <p:cNvSpPr/>
            <p:nvPr/>
          </p:nvSpPr>
          <p:spPr>
            <a:xfrm>
              <a:off x="10749717" y="3724417"/>
              <a:ext cx="229403" cy="152437"/>
            </a:xfrm>
            <a:prstGeom prst="rect">
              <a:avLst/>
            </a:prstGeom>
            <a:blipFill>
              <a:blip r:embed="rId2" cstate="print"/>
              <a:stretch>
                <a:fillRect/>
              </a:stretch>
            </a:blipFill>
          </p:spPr>
          <p:txBody>
            <a:bodyPr wrap="square" lIns="0" tIns="0" rIns="0" bIns="0" rtlCol="0"/>
            <a:lstStyle/>
            <a:p>
              <a:endParaRPr/>
            </a:p>
          </p:txBody>
        </p:sp>
        <p:sp>
          <p:nvSpPr>
            <p:cNvPr id="15" name="object 15"/>
            <p:cNvSpPr/>
            <p:nvPr/>
          </p:nvSpPr>
          <p:spPr>
            <a:xfrm>
              <a:off x="11001551" y="3765988"/>
              <a:ext cx="86250" cy="110865"/>
            </a:xfrm>
            <a:prstGeom prst="rect">
              <a:avLst/>
            </a:prstGeom>
            <a:blipFill>
              <a:blip r:embed="rId3" cstate="print"/>
              <a:stretch>
                <a:fillRect/>
              </a:stretch>
            </a:blipFill>
          </p:spPr>
          <p:txBody>
            <a:bodyPr wrap="square" lIns="0" tIns="0" rIns="0" bIns="0" rtlCol="0"/>
            <a:lstStyle/>
            <a:p>
              <a:endParaRPr/>
            </a:p>
          </p:txBody>
        </p:sp>
        <p:sp>
          <p:nvSpPr>
            <p:cNvPr id="16" name="object 16"/>
            <p:cNvSpPr/>
            <p:nvPr/>
          </p:nvSpPr>
          <p:spPr>
            <a:xfrm>
              <a:off x="11108485" y="3724417"/>
              <a:ext cx="198355" cy="152437"/>
            </a:xfrm>
            <a:prstGeom prst="rect">
              <a:avLst/>
            </a:prstGeom>
            <a:blipFill>
              <a:blip r:embed="rId4" cstate="print"/>
              <a:stretch>
                <a:fillRect/>
              </a:stretch>
            </a:blipFill>
          </p:spPr>
          <p:txBody>
            <a:bodyPr wrap="square" lIns="0" tIns="0" rIns="0" bIns="0" rtlCol="0"/>
            <a:lstStyle/>
            <a:p>
              <a:endParaRPr/>
            </a:p>
          </p:txBody>
        </p:sp>
        <p:sp>
          <p:nvSpPr>
            <p:cNvPr id="17" name="object 17"/>
            <p:cNvSpPr/>
            <p:nvPr/>
          </p:nvSpPr>
          <p:spPr>
            <a:xfrm>
              <a:off x="10013222" y="4289155"/>
              <a:ext cx="141429" cy="147243"/>
            </a:xfrm>
            <a:prstGeom prst="rect">
              <a:avLst/>
            </a:prstGeom>
            <a:blipFill>
              <a:blip r:embed="rId5" cstate="print"/>
              <a:stretch>
                <a:fillRect/>
              </a:stretch>
            </a:blipFill>
          </p:spPr>
          <p:txBody>
            <a:bodyPr wrap="square" lIns="0" tIns="0" rIns="0" bIns="0" rtlCol="0"/>
            <a:lstStyle/>
            <a:p>
              <a:endParaRPr/>
            </a:p>
          </p:txBody>
        </p:sp>
        <p:sp>
          <p:nvSpPr>
            <p:cNvPr id="18" name="object 18"/>
            <p:cNvSpPr/>
            <p:nvPr/>
          </p:nvSpPr>
          <p:spPr>
            <a:xfrm>
              <a:off x="10178806" y="4289155"/>
              <a:ext cx="210420" cy="150729"/>
            </a:xfrm>
            <a:prstGeom prst="rect">
              <a:avLst/>
            </a:prstGeom>
            <a:blipFill>
              <a:blip r:embed="rId6" cstate="print"/>
              <a:stretch>
                <a:fillRect/>
              </a:stretch>
            </a:blipFill>
          </p:spPr>
          <p:txBody>
            <a:bodyPr wrap="square" lIns="0" tIns="0" rIns="0" bIns="0" rtlCol="0"/>
            <a:lstStyle/>
            <a:p>
              <a:endParaRPr/>
            </a:p>
          </p:txBody>
        </p:sp>
        <p:sp>
          <p:nvSpPr>
            <p:cNvPr id="19" name="object 19"/>
            <p:cNvSpPr/>
            <p:nvPr/>
          </p:nvSpPr>
          <p:spPr>
            <a:xfrm>
              <a:off x="10415093" y="4289158"/>
              <a:ext cx="19050" cy="147320"/>
            </a:xfrm>
            <a:custGeom>
              <a:avLst/>
              <a:gdLst/>
              <a:ahLst/>
              <a:cxnLst/>
              <a:rect l="l" t="t" r="r" b="b"/>
              <a:pathLst>
                <a:path w="19050" h="147320">
                  <a:moveTo>
                    <a:pt x="18986" y="39839"/>
                  </a:moveTo>
                  <a:lnTo>
                    <a:pt x="0" y="39839"/>
                  </a:lnTo>
                  <a:lnTo>
                    <a:pt x="0" y="147243"/>
                  </a:lnTo>
                  <a:lnTo>
                    <a:pt x="18986" y="147243"/>
                  </a:lnTo>
                  <a:lnTo>
                    <a:pt x="18986" y="39839"/>
                  </a:lnTo>
                  <a:close/>
                </a:path>
                <a:path w="19050" h="147320">
                  <a:moveTo>
                    <a:pt x="18986" y="0"/>
                  </a:moveTo>
                  <a:lnTo>
                    <a:pt x="0" y="0"/>
                  </a:lnTo>
                  <a:lnTo>
                    <a:pt x="0" y="20802"/>
                  </a:lnTo>
                  <a:lnTo>
                    <a:pt x="18986" y="20802"/>
                  </a:lnTo>
                  <a:lnTo>
                    <a:pt x="18986" y="0"/>
                  </a:lnTo>
                  <a:close/>
                </a:path>
              </a:pathLst>
            </a:custGeom>
            <a:solidFill>
              <a:srgbClr val="221F1F"/>
            </a:solidFill>
          </p:spPr>
          <p:txBody>
            <a:bodyPr wrap="square" lIns="0" tIns="0" rIns="0" bIns="0" rtlCol="0"/>
            <a:lstStyle/>
            <a:p>
              <a:endParaRPr/>
            </a:p>
          </p:txBody>
        </p:sp>
        <p:sp>
          <p:nvSpPr>
            <p:cNvPr id="20" name="object 20"/>
            <p:cNvSpPr/>
            <p:nvPr/>
          </p:nvSpPr>
          <p:spPr>
            <a:xfrm>
              <a:off x="10454770" y="4325533"/>
              <a:ext cx="101763" cy="114350"/>
            </a:xfrm>
            <a:prstGeom prst="rect">
              <a:avLst/>
            </a:prstGeom>
            <a:blipFill>
              <a:blip r:embed="rId7" cstate="print"/>
              <a:stretch>
                <a:fillRect/>
              </a:stretch>
            </a:blipFill>
          </p:spPr>
          <p:txBody>
            <a:bodyPr wrap="square" lIns="0" tIns="0" rIns="0" bIns="0" rtlCol="0"/>
            <a:lstStyle/>
            <a:p>
              <a:endParaRPr/>
            </a:p>
          </p:txBody>
        </p:sp>
        <p:sp>
          <p:nvSpPr>
            <p:cNvPr id="21" name="object 21"/>
            <p:cNvSpPr/>
            <p:nvPr/>
          </p:nvSpPr>
          <p:spPr>
            <a:xfrm>
              <a:off x="10630718" y="4283961"/>
              <a:ext cx="232850" cy="155922"/>
            </a:xfrm>
            <a:prstGeom prst="rect">
              <a:avLst/>
            </a:prstGeom>
            <a:blipFill>
              <a:blip r:embed="rId8" cstate="print"/>
              <a:stretch>
                <a:fillRect/>
              </a:stretch>
            </a:blipFill>
          </p:spPr>
          <p:txBody>
            <a:bodyPr wrap="square" lIns="0" tIns="0" rIns="0" bIns="0" rtlCol="0"/>
            <a:lstStyle/>
            <a:p>
              <a:endParaRPr/>
            </a:p>
          </p:txBody>
        </p:sp>
        <p:sp>
          <p:nvSpPr>
            <p:cNvPr id="22" name="object 22"/>
            <p:cNvSpPr/>
            <p:nvPr/>
          </p:nvSpPr>
          <p:spPr>
            <a:xfrm>
              <a:off x="10889446" y="4289155"/>
              <a:ext cx="187990" cy="147243"/>
            </a:xfrm>
            <a:prstGeom prst="rect">
              <a:avLst/>
            </a:prstGeom>
            <a:blipFill>
              <a:blip r:embed="rId9" cstate="print"/>
              <a:stretch>
                <a:fillRect/>
              </a:stretch>
            </a:blipFill>
          </p:spPr>
          <p:txBody>
            <a:bodyPr wrap="square" lIns="0" tIns="0" rIns="0" bIns="0" rtlCol="0"/>
            <a:lstStyle/>
            <a:p>
              <a:endParaRPr/>
            </a:p>
          </p:txBody>
        </p:sp>
        <p:sp>
          <p:nvSpPr>
            <p:cNvPr id="23" name="object 23"/>
            <p:cNvSpPr/>
            <p:nvPr/>
          </p:nvSpPr>
          <p:spPr>
            <a:xfrm>
              <a:off x="11098143" y="4325533"/>
              <a:ext cx="307012" cy="114351"/>
            </a:xfrm>
            <a:prstGeom prst="rect">
              <a:avLst/>
            </a:prstGeom>
            <a:blipFill>
              <a:blip r:embed="rId10" cstate="print"/>
              <a:stretch>
                <a:fillRect/>
              </a:stretch>
            </a:blipFill>
          </p:spPr>
          <p:txBody>
            <a:bodyPr wrap="square" lIns="0" tIns="0" rIns="0" bIns="0" rtlCol="0"/>
            <a:lstStyle/>
            <a:p>
              <a:endParaRPr/>
            </a:p>
          </p:txBody>
        </p:sp>
        <p:sp>
          <p:nvSpPr>
            <p:cNvPr id="24" name="object 24"/>
            <p:cNvSpPr/>
            <p:nvPr/>
          </p:nvSpPr>
          <p:spPr>
            <a:xfrm>
              <a:off x="10064954" y="4848722"/>
              <a:ext cx="248386" cy="155899"/>
            </a:xfrm>
            <a:prstGeom prst="rect">
              <a:avLst/>
            </a:prstGeom>
            <a:blipFill>
              <a:blip r:embed="rId11" cstate="print"/>
              <a:stretch>
                <a:fillRect/>
              </a:stretch>
            </a:blipFill>
          </p:spPr>
          <p:txBody>
            <a:bodyPr wrap="square" lIns="0" tIns="0" rIns="0" bIns="0" rtlCol="0"/>
            <a:lstStyle/>
            <a:p>
              <a:endParaRPr/>
            </a:p>
          </p:txBody>
        </p:sp>
        <p:sp>
          <p:nvSpPr>
            <p:cNvPr id="25" name="object 25"/>
            <p:cNvSpPr/>
            <p:nvPr/>
          </p:nvSpPr>
          <p:spPr>
            <a:xfrm>
              <a:off x="10337494" y="4888563"/>
              <a:ext cx="158665" cy="114327"/>
            </a:xfrm>
            <a:prstGeom prst="rect">
              <a:avLst/>
            </a:prstGeom>
            <a:blipFill>
              <a:blip r:embed="rId12" cstate="print"/>
              <a:stretch>
                <a:fillRect/>
              </a:stretch>
            </a:blipFill>
          </p:spPr>
          <p:txBody>
            <a:bodyPr wrap="square" lIns="0" tIns="0" rIns="0" bIns="0" rtlCol="0"/>
            <a:lstStyle/>
            <a:p>
              <a:endParaRPr/>
            </a:p>
          </p:txBody>
        </p:sp>
        <p:sp>
          <p:nvSpPr>
            <p:cNvPr id="26" name="object 26"/>
            <p:cNvSpPr/>
            <p:nvPr/>
          </p:nvSpPr>
          <p:spPr>
            <a:xfrm>
              <a:off x="10572069" y="4848722"/>
              <a:ext cx="234574" cy="155899"/>
            </a:xfrm>
            <a:prstGeom prst="rect">
              <a:avLst/>
            </a:prstGeom>
            <a:blipFill>
              <a:blip r:embed="rId13" cstate="print"/>
              <a:stretch>
                <a:fillRect/>
              </a:stretch>
            </a:blipFill>
          </p:spPr>
          <p:txBody>
            <a:bodyPr wrap="square" lIns="0" tIns="0" rIns="0" bIns="0" rtlCol="0"/>
            <a:lstStyle/>
            <a:p>
              <a:endParaRPr/>
            </a:p>
          </p:txBody>
        </p:sp>
        <p:sp>
          <p:nvSpPr>
            <p:cNvPr id="27" name="object 27"/>
            <p:cNvSpPr/>
            <p:nvPr/>
          </p:nvSpPr>
          <p:spPr>
            <a:xfrm>
              <a:off x="10830797" y="4852184"/>
              <a:ext cx="187990" cy="147243"/>
            </a:xfrm>
            <a:prstGeom prst="rect">
              <a:avLst/>
            </a:prstGeom>
            <a:blipFill>
              <a:blip r:embed="rId14" cstate="print"/>
              <a:stretch>
                <a:fillRect/>
              </a:stretch>
            </a:blipFill>
          </p:spPr>
          <p:txBody>
            <a:bodyPr wrap="square" lIns="0" tIns="0" rIns="0" bIns="0" rtlCol="0"/>
            <a:lstStyle/>
            <a:p>
              <a:endParaRPr/>
            </a:p>
          </p:txBody>
        </p:sp>
        <p:sp>
          <p:nvSpPr>
            <p:cNvPr id="28" name="object 28"/>
            <p:cNvSpPr/>
            <p:nvPr/>
          </p:nvSpPr>
          <p:spPr>
            <a:xfrm>
              <a:off x="11039494" y="4888562"/>
              <a:ext cx="308759" cy="114327"/>
            </a:xfrm>
            <a:prstGeom prst="rect">
              <a:avLst/>
            </a:prstGeom>
            <a:blipFill>
              <a:blip r:embed="rId15" cstate="print"/>
              <a:stretch>
                <a:fillRect/>
              </a:stretch>
            </a:blipFill>
          </p:spPr>
          <p:txBody>
            <a:bodyPr wrap="square" lIns="0" tIns="0" rIns="0" bIns="0" rtlCol="0"/>
            <a:lstStyle/>
            <a:p>
              <a:endParaRPr/>
            </a:p>
          </p:txBody>
        </p:sp>
        <p:sp>
          <p:nvSpPr>
            <p:cNvPr id="29" name="object 29"/>
            <p:cNvSpPr/>
            <p:nvPr/>
          </p:nvSpPr>
          <p:spPr>
            <a:xfrm>
              <a:off x="10313341" y="5411729"/>
              <a:ext cx="246639" cy="155913"/>
            </a:xfrm>
            <a:prstGeom prst="rect">
              <a:avLst/>
            </a:prstGeom>
            <a:blipFill>
              <a:blip r:embed="rId16" cstate="print"/>
              <a:stretch>
                <a:fillRect/>
              </a:stretch>
            </a:blipFill>
          </p:spPr>
          <p:txBody>
            <a:bodyPr wrap="square" lIns="0" tIns="0" rIns="0" bIns="0" rtlCol="0"/>
            <a:lstStyle/>
            <a:p>
              <a:endParaRPr/>
            </a:p>
          </p:txBody>
        </p:sp>
        <p:sp>
          <p:nvSpPr>
            <p:cNvPr id="30" name="object 30"/>
            <p:cNvSpPr/>
            <p:nvPr/>
          </p:nvSpPr>
          <p:spPr>
            <a:xfrm>
              <a:off x="10584134" y="5453305"/>
              <a:ext cx="158688" cy="112605"/>
            </a:xfrm>
            <a:prstGeom prst="rect">
              <a:avLst/>
            </a:prstGeom>
            <a:blipFill>
              <a:blip r:embed="rId17" cstate="print"/>
              <a:stretch>
                <a:fillRect/>
              </a:stretch>
            </a:blipFill>
          </p:spPr>
          <p:txBody>
            <a:bodyPr wrap="square" lIns="0" tIns="0" rIns="0" bIns="0" rtlCol="0"/>
            <a:lstStyle/>
            <a:p>
              <a:endParaRPr/>
            </a:p>
          </p:txBody>
        </p:sp>
        <p:sp>
          <p:nvSpPr>
            <p:cNvPr id="31" name="object 31"/>
            <p:cNvSpPr/>
            <p:nvPr/>
          </p:nvSpPr>
          <p:spPr>
            <a:xfrm>
              <a:off x="10816985" y="5411729"/>
              <a:ext cx="281158" cy="155913"/>
            </a:xfrm>
            <a:prstGeom prst="rect">
              <a:avLst/>
            </a:prstGeom>
            <a:blipFill>
              <a:blip r:embed="rId18" cstate="print"/>
              <a:stretch>
                <a:fillRect/>
              </a:stretch>
            </a:blipFill>
          </p:spPr>
          <p:txBody>
            <a:bodyPr wrap="square" lIns="0" tIns="0" rIns="0" bIns="0" rtlCol="0"/>
            <a:lstStyle/>
            <a:p>
              <a:endParaRPr/>
            </a:p>
          </p:txBody>
        </p:sp>
      </p:grpSp>
    </p:spTree>
    <p:extLst>
      <p:ext uri="{BB962C8B-B14F-4D97-AF65-F5344CB8AC3E}">
        <p14:creationId xmlns:p14="http://schemas.microsoft.com/office/powerpoint/2010/main" val="1650365932"/>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16939" y="1748688"/>
            <a:ext cx="10238740" cy="4313104"/>
          </a:xfrm>
          <a:prstGeom prst="rect">
            <a:avLst/>
          </a:prstGeom>
        </p:spPr>
        <p:txBody>
          <a:bodyPr vert="horz" wrap="square" lIns="0" tIns="46355" rIns="0" bIns="0" rtlCol="0">
            <a:spAutoFit/>
          </a:bodyPr>
          <a:lstStyle/>
          <a:p>
            <a:pPr marL="241300" indent="-228600">
              <a:lnSpc>
                <a:spcPct val="100000"/>
              </a:lnSpc>
              <a:spcBef>
                <a:spcPts val="365"/>
              </a:spcBef>
              <a:buClr>
                <a:srgbClr val="EC7C30"/>
              </a:buClr>
              <a:buFont typeface="Wingdings"/>
              <a:buChar char=""/>
              <a:tabLst>
                <a:tab pos="241300" algn="l"/>
              </a:tabLst>
            </a:pPr>
            <a:r>
              <a:rPr sz="2200" spc="-5" dirty="0">
                <a:latin typeface="Times New Roman"/>
                <a:cs typeface="Times New Roman"/>
              </a:rPr>
              <a:t>Developed </a:t>
            </a:r>
            <a:r>
              <a:rPr sz="2200" dirty="0">
                <a:latin typeface="Times New Roman"/>
                <a:cs typeface="Times New Roman"/>
              </a:rPr>
              <a:t>by </a:t>
            </a:r>
            <a:r>
              <a:rPr sz="2200" spc="-5" dirty="0">
                <a:latin typeface="Times New Roman"/>
                <a:cs typeface="Times New Roman"/>
              </a:rPr>
              <a:t>Open Handset Alliance (mostly</a:t>
            </a:r>
            <a:r>
              <a:rPr sz="2200" spc="-30" dirty="0">
                <a:latin typeface="Times New Roman"/>
                <a:cs typeface="Times New Roman"/>
              </a:rPr>
              <a:t> </a:t>
            </a:r>
            <a:r>
              <a:rPr sz="2200" dirty="0">
                <a:latin typeface="Times New Roman"/>
                <a:cs typeface="Times New Roman"/>
              </a:rPr>
              <a:t>Google)</a:t>
            </a:r>
          </a:p>
          <a:p>
            <a:pPr marL="698500" lvl="1" indent="-229235">
              <a:lnSpc>
                <a:spcPct val="100000"/>
              </a:lnSpc>
              <a:spcBef>
                <a:spcPts val="260"/>
              </a:spcBef>
              <a:buClr>
                <a:srgbClr val="EC7C30"/>
              </a:buClr>
              <a:buFont typeface="Wingdings"/>
              <a:buChar char=""/>
              <a:tabLst>
                <a:tab pos="699135" algn="l"/>
              </a:tabLst>
            </a:pPr>
            <a:r>
              <a:rPr sz="2200" spc="-5" dirty="0">
                <a:latin typeface="Times New Roman"/>
                <a:cs typeface="Times New Roman"/>
              </a:rPr>
              <a:t>Open</a:t>
            </a:r>
            <a:r>
              <a:rPr sz="2200" spc="5" dirty="0">
                <a:latin typeface="Times New Roman"/>
                <a:cs typeface="Times New Roman"/>
              </a:rPr>
              <a:t> </a:t>
            </a:r>
            <a:r>
              <a:rPr sz="2200" spc="-10" dirty="0">
                <a:latin typeface="Times New Roman"/>
                <a:cs typeface="Times New Roman"/>
              </a:rPr>
              <a:t>Source</a:t>
            </a:r>
            <a:endParaRPr sz="2200" dirty="0">
              <a:latin typeface="Times New Roman"/>
              <a:cs typeface="Times New Roman"/>
            </a:endParaRPr>
          </a:p>
          <a:p>
            <a:pPr marL="241300" indent="-228600">
              <a:lnSpc>
                <a:spcPct val="100000"/>
              </a:lnSpc>
              <a:spcBef>
                <a:spcPts val="270"/>
              </a:spcBef>
              <a:buClr>
                <a:srgbClr val="EC7C30"/>
              </a:buClr>
              <a:buFont typeface="Wingdings"/>
              <a:buChar char=""/>
              <a:tabLst>
                <a:tab pos="241300" algn="l"/>
              </a:tabLst>
            </a:pPr>
            <a:r>
              <a:rPr sz="2200" spc="-5" dirty="0">
                <a:latin typeface="Times New Roman"/>
                <a:cs typeface="Times New Roman"/>
              </a:rPr>
              <a:t>Similar stack to</a:t>
            </a:r>
            <a:r>
              <a:rPr sz="2200" spc="-10" dirty="0">
                <a:latin typeface="Times New Roman"/>
                <a:cs typeface="Times New Roman"/>
              </a:rPr>
              <a:t> </a:t>
            </a:r>
            <a:r>
              <a:rPr sz="2200" spc="-5" dirty="0">
                <a:latin typeface="Times New Roman"/>
                <a:cs typeface="Times New Roman"/>
              </a:rPr>
              <a:t>IOS</a:t>
            </a:r>
            <a:endParaRPr sz="2200" dirty="0">
              <a:latin typeface="Times New Roman"/>
              <a:cs typeface="Times New Roman"/>
            </a:endParaRPr>
          </a:p>
          <a:p>
            <a:pPr marL="241300" indent="-228600">
              <a:lnSpc>
                <a:spcPct val="100000"/>
              </a:lnSpc>
              <a:spcBef>
                <a:spcPts val="265"/>
              </a:spcBef>
              <a:buClr>
                <a:srgbClr val="EC7C30"/>
              </a:buClr>
              <a:buFont typeface="Wingdings"/>
              <a:buChar char=""/>
              <a:tabLst>
                <a:tab pos="241300" algn="l"/>
              </a:tabLst>
            </a:pPr>
            <a:r>
              <a:rPr sz="2200" spc="-5" dirty="0">
                <a:latin typeface="Times New Roman"/>
                <a:cs typeface="Times New Roman"/>
              </a:rPr>
              <a:t>Based </a:t>
            </a:r>
            <a:r>
              <a:rPr sz="2200" dirty="0">
                <a:latin typeface="Times New Roman"/>
                <a:cs typeface="Times New Roman"/>
              </a:rPr>
              <a:t>on </a:t>
            </a:r>
            <a:r>
              <a:rPr sz="2200" spc="-5" dirty="0">
                <a:latin typeface="Times New Roman"/>
                <a:cs typeface="Times New Roman"/>
              </a:rPr>
              <a:t>Linux kernel but</a:t>
            </a:r>
            <a:r>
              <a:rPr sz="2200" spc="30" dirty="0">
                <a:latin typeface="Times New Roman"/>
                <a:cs typeface="Times New Roman"/>
              </a:rPr>
              <a:t> </a:t>
            </a:r>
            <a:r>
              <a:rPr sz="2200" spc="-5" dirty="0">
                <a:latin typeface="Times New Roman"/>
                <a:cs typeface="Times New Roman"/>
              </a:rPr>
              <a:t>modified</a:t>
            </a:r>
            <a:endParaRPr sz="2200" dirty="0">
              <a:latin typeface="Times New Roman"/>
              <a:cs typeface="Times New Roman"/>
            </a:endParaRPr>
          </a:p>
          <a:p>
            <a:pPr marL="698500" lvl="1" indent="-229235">
              <a:lnSpc>
                <a:spcPct val="100000"/>
              </a:lnSpc>
              <a:spcBef>
                <a:spcPts val="260"/>
              </a:spcBef>
              <a:buClr>
                <a:srgbClr val="EC7C30"/>
              </a:buClr>
              <a:buFont typeface="Wingdings"/>
              <a:buChar char=""/>
              <a:tabLst>
                <a:tab pos="699135" algn="l"/>
              </a:tabLst>
            </a:pPr>
            <a:r>
              <a:rPr sz="2200" spc="-10" dirty="0">
                <a:latin typeface="Times New Roman"/>
                <a:cs typeface="Times New Roman"/>
              </a:rPr>
              <a:t>Provides process, </a:t>
            </a:r>
            <a:r>
              <a:rPr sz="2200" spc="-25" dirty="0">
                <a:latin typeface="Times New Roman"/>
                <a:cs typeface="Times New Roman"/>
              </a:rPr>
              <a:t>memory, </a:t>
            </a:r>
            <a:r>
              <a:rPr sz="2200" spc="-5" dirty="0">
                <a:latin typeface="Times New Roman"/>
                <a:cs typeface="Times New Roman"/>
              </a:rPr>
              <a:t>device-driver</a:t>
            </a:r>
            <a:r>
              <a:rPr sz="2200" spc="25" dirty="0">
                <a:latin typeface="Times New Roman"/>
                <a:cs typeface="Times New Roman"/>
              </a:rPr>
              <a:t> </a:t>
            </a:r>
            <a:r>
              <a:rPr sz="2200" spc="-5" dirty="0">
                <a:latin typeface="Times New Roman"/>
                <a:cs typeface="Times New Roman"/>
              </a:rPr>
              <a:t>management</a:t>
            </a:r>
            <a:endParaRPr sz="2200" dirty="0">
              <a:latin typeface="Times New Roman"/>
              <a:cs typeface="Times New Roman"/>
            </a:endParaRPr>
          </a:p>
          <a:p>
            <a:pPr marL="698500" lvl="1" indent="-229235">
              <a:lnSpc>
                <a:spcPct val="100000"/>
              </a:lnSpc>
              <a:spcBef>
                <a:spcPts val="265"/>
              </a:spcBef>
              <a:buClr>
                <a:srgbClr val="EC7C30"/>
              </a:buClr>
              <a:buFont typeface="Wingdings"/>
              <a:buChar char=""/>
              <a:tabLst>
                <a:tab pos="699135" algn="l"/>
              </a:tabLst>
            </a:pPr>
            <a:r>
              <a:rPr sz="2200" spc="-5" dirty="0">
                <a:latin typeface="Times New Roman"/>
                <a:cs typeface="Times New Roman"/>
              </a:rPr>
              <a:t>Adds power</a:t>
            </a:r>
            <a:r>
              <a:rPr sz="2200" spc="-50" dirty="0">
                <a:latin typeface="Times New Roman"/>
                <a:cs typeface="Times New Roman"/>
              </a:rPr>
              <a:t> </a:t>
            </a:r>
            <a:r>
              <a:rPr sz="2200" spc="-5" dirty="0">
                <a:latin typeface="Times New Roman"/>
                <a:cs typeface="Times New Roman"/>
              </a:rPr>
              <a:t>management</a:t>
            </a:r>
            <a:endParaRPr sz="2200" dirty="0">
              <a:latin typeface="Times New Roman"/>
              <a:cs typeface="Times New Roman"/>
            </a:endParaRPr>
          </a:p>
          <a:p>
            <a:pPr marL="241300" indent="-228600">
              <a:lnSpc>
                <a:spcPct val="100000"/>
              </a:lnSpc>
              <a:spcBef>
                <a:spcPts val="265"/>
              </a:spcBef>
              <a:buClr>
                <a:srgbClr val="EC7C30"/>
              </a:buClr>
              <a:buFont typeface="Wingdings"/>
              <a:buChar char=""/>
              <a:tabLst>
                <a:tab pos="241300" algn="l"/>
              </a:tabLst>
            </a:pPr>
            <a:r>
              <a:rPr sz="2200" spc="-5" dirty="0">
                <a:latin typeface="Times New Roman"/>
                <a:cs typeface="Times New Roman"/>
              </a:rPr>
              <a:t>Runtime environment includes </a:t>
            </a:r>
            <a:r>
              <a:rPr sz="2200" spc="-15" dirty="0">
                <a:latin typeface="Times New Roman"/>
                <a:cs typeface="Times New Roman"/>
              </a:rPr>
              <a:t>core </a:t>
            </a:r>
            <a:r>
              <a:rPr sz="2200" spc="-5" dirty="0">
                <a:latin typeface="Times New Roman"/>
                <a:cs typeface="Times New Roman"/>
              </a:rPr>
              <a:t>set </a:t>
            </a:r>
            <a:r>
              <a:rPr sz="2200" dirty="0">
                <a:latin typeface="Times New Roman"/>
                <a:cs typeface="Times New Roman"/>
              </a:rPr>
              <a:t>of </a:t>
            </a:r>
            <a:r>
              <a:rPr sz="2200" spc="-5" dirty="0">
                <a:latin typeface="Times New Roman"/>
                <a:cs typeface="Times New Roman"/>
              </a:rPr>
              <a:t>libraries and Dalvik </a:t>
            </a:r>
            <a:r>
              <a:rPr sz="2200" dirty="0">
                <a:latin typeface="Times New Roman"/>
                <a:cs typeface="Times New Roman"/>
              </a:rPr>
              <a:t>virtual</a:t>
            </a:r>
            <a:r>
              <a:rPr sz="2200" spc="150" dirty="0">
                <a:latin typeface="Times New Roman"/>
                <a:cs typeface="Times New Roman"/>
              </a:rPr>
              <a:t> </a:t>
            </a:r>
            <a:r>
              <a:rPr sz="2200" spc="-5" dirty="0">
                <a:latin typeface="Times New Roman"/>
                <a:cs typeface="Times New Roman"/>
              </a:rPr>
              <a:t>machine</a:t>
            </a:r>
            <a:endParaRPr sz="2200" dirty="0">
              <a:latin typeface="Times New Roman"/>
              <a:cs typeface="Times New Roman"/>
            </a:endParaRPr>
          </a:p>
          <a:p>
            <a:pPr marL="698500" lvl="1" indent="-229235">
              <a:lnSpc>
                <a:spcPct val="100000"/>
              </a:lnSpc>
              <a:spcBef>
                <a:spcPts val="265"/>
              </a:spcBef>
              <a:buClr>
                <a:srgbClr val="EC7C30"/>
              </a:buClr>
              <a:buFont typeface="Wingdings"/>
              <a:buChar char=""/>
              <a:tabLst>
                <a:tab pos="699135" algn="l"/>
              </a:tabLst>
            </a:pPr>
            <a:r>
              <a:rPr sz="2200" spc="-5" dirty="0">
                <a:latin typeface="Times New Roman"/>
                <a:cs typeface="Times New Roman"/>
              </a:rPr>
              <a:t>Apps developed in </a:t>
            </a:r>
            <a:r>
              <a:rPr sz="2200" dirty="0">
                <a:latin typeface="Times New Roman"/>
                <a:cs typeface="Times New Roman"/>
              </a:rPr>
              <a:t>Java </a:t>
            </a:r>
            <a:r>
              <a:rPr sz="2200" spc="-5" dirty="0">
                <a:latin typeface="Times New Roman"/>
                <a:cs typeface="Times New Roman"/>
              </a:rPr>
              <a:t>plus </a:t>
            </a:r>
            <a:r>
              <a:rPr sz="2200" spc="-10" dirty="0">
                <a:latin typeface="Times New Roman"/>
                <a:cs typeface="Times New Roman"/>
              </a:rPr>
              <a:t>Android</a:t>
            </a:r>
            <a:r>
              <a:rPr sz="2200" spc="-254" dirty="0">
                <a:latin typeface="Times New Roman"/>
                <a:cs typeface="Times New Roman"/>
              </a:rPr>
              <a:t> </a:t>
            </a:r>
            <a:r>
              <a:rPr sz="2200" spc="-5" dirty="0">
                <a:latin typeface="Times New Roman"/>
                <a:cs typeface="Times New Roman"/>
              </a:rPr>
              <a:t>API</a:t>
            </a:r>
            <a:endParaRPr sz="2200" dirty="0">
              <a:latin typeface="Times New Roman"/>
              <a:cs typeface="Times New Roman"/>
            </a:endParaRPr>
          </a:p>
          <a:p>
            <a:pPr marL="1155700" marR="5080" lvl="2" indent="-228600">
              <a:lnSpc>
                <a:spcPct val="80000"/>
              </a:lnSpc>
              <a:spcBef>
                <a:spcPts val="795"/>
              </a:spcBef>
              <a:buClr>
                <a:srgbClr val="EC7C30"/>
              </a:buClr>
              <a:buFont typeface="Wingdings"/>
              <a:buChar char=""/>
              <a:tabLst>
                <a:tab pos="1156335" algn="l"/>
              </a:tabLst>
            </a:pPr>
            <a:r>
              <a:rPr sz="2200" spc="-5" dirty="0">
                <a:latin typeface="Times New Roman"/>
                <a:cs typeface="Times New Roman"/>
              </a:rPr>
              <a:t>Java class files compiled to </a:t>
            </a:r>
            <a:r>
              <a:rPr sz="2200" dirty="0">
                <a:latin typeface="Times New Roman"/>
                <a:cs typeface="Times New Roman"/>
              </a:rPr>
              <a:t>Java </a:t>
            </a:r>
            <a:r>
              <a:rPr sz="2200" spc="-5" dirty="0">
                <a:latin typeface="Times New Roman"/>
                <a:cs typeface="Times New Roman"/>
              </a:rPr>
              <a:t>bytecode then translated to executable than  runs in Dalvik</a:t>
            </a:r>
            <a:r>
              <a:rPr sz="2200" spc="-40" dirty="0">
                <a:latin typeface="Times New Roman"/>
                <a:cs typeface="Times New Roman"/>
              </a:rPr>
              <a:t> </a:t>
            </a:r>
            <a:r>
              <a:rPr sz="2200" spc="-5" dirty="0">
                <a:latin typeface="Times New Roman"/>
                <a:cs typeface="Times New Roman"/>
              </a:rPr>
              <a:t>VM</a:t>
            </a:r>
            <a:endParaRPr sz="2200" dirty="0">
              <a:latin typeface="Times New Roman"/>
              <a:cs typeface="Times New Roman"/>
            </a:endParaRPr>
          </a:p>
          <a:p>
            <a:pPr marL="241300" marR="962025" indent="-228600">
              <a:lnSpc>
                <a:spcPct val="80000"/>
              </a:lnSpc>
              <a:spcBef>
                <a:spcPts val="795"/>
              </a:spcBef>
              <a:buClr>
                <a:srgbClr val="EC7C30"/>
              </a:buClr>
              <a:buFont typeface="Wingdings"/>
              <a:buChar char=""/>
              <a:tabLst>
                <a:tab pos="241300" algn="l"/>
              </a:tabLst>
            </a:pPr>
            <a:r>
              <a:rPr sz="2200" spc="-5" dirty="0">
                <a:latin typeface="Times New Roman"/>
                <a:cs typeface="Times New Roman"/>
              </a:rPr>
              <a:t>Libraries include frameworks </a:t>
            </a:r>
            <a:r>
              <a:rPr sz="2200" dirty="0">
                <a:latin typeface="Times New Roman"/>
                <a:cs typeface="Times New Roman"/>
              </a:rPr>
              <a:t>for </a:t>
            </a:r>
            <a:r>
              <a:rPr sz="2200" spc="-5" dirty="0">
                <a:latin typeface="Times New Roman"/>
                <a:cs typeface="Times New Roman"/>
              </a:rPr>
              <a:t>web </a:t>
            </a:r>
            <a:r>
              <a:rPr sz="2200" spc="-10" dirty="0">
                <a:latin typeface="Times New Roman"/>
                <a:cs typeface="Times New Roman"/>
              </a:rPr>
              <a:t>browser </a:t>
            </a:r>
            <a:r>
              <a:rPr sz="2200" spc="-5" dirty="0">
                <a:latin typeface="Times New Roman"/>
                <a:cs typeface="Times New Roman"/>
              </a:rPr>
              <a:t>(webkit), </a:t>
            </a:r>
            <a:r>
              <a:rPr sz="2200" dirty="0">
                <a:latin typeface="Times New Roman"/>
                <a:cs typeface="Times New Roman"/>
              </a:rPr>
              <a:t>database </a:t>
            </a:r>
            <a:r>
              <a:rPr sz="2200" spc="-5" dirty="0">
                <a:latin typeface="Times New Roman"/>
                <a:cs typeface="Times New Roman"/>
              </a:rPr>
              <a:t>(SQLite),  multimedia, smaller libc</a:t>
            </a:r>
            <a:endParaRPr sz="2200" dirty="0">
              <a:latin typeface="Times New Roman"/>
              <a:cs typeface="Times New Roman"/>
            </a:endParaRPr>
          </a:p>
        </p:txBody>
      </p:sp>
      <p:sp>
        <p:nvSpPr>
          <p:cNvPr id="3" name="object 3"/>
          <p:cNvSpPr txBox="1">
            <a:spLocks noGrp="1"/>
          </p:cNvSpPr>
          <p:nvPr>
            <p:ph type="title"/>
          </p:nvPr>
        </p:nvSpPr>
        <p:spPr>
          <a:xfrm>
            <a:off x="916939" y="659968"/>
            <a:ext cx="2149534" cy="697230"/>
          </a:xfrm>
          <a:prstGeom prst="rect">
            <a:avLst/>
          </a:prstGeom>
        </p:spPr>
        <p:txBody>
          <a:bodyPr vert="horz" wrap="square" lIns="0" tIns="13335" rIns="0" bIns="0" rtlCol="0">
            <a:spAutoFit/>
          </a:bodyPr>
          <a:lstStyle/>
          <a:p>
            <a:pPr marL="12700">
              <a:lnSpc>
                <a:spcPct val="100000"/>
              </a:lnSpc>
              <a:spcBef>
                <a:spcPts val="105"/>
              </a:spcBef>
            </a:pPr>
            <a:r>
              <a:rPr dirty="0">
                <a:solidFill>
                  <a:srgbClr val="FF0000"/>
                </a:solidFill>
                <a:latin typeface="Times New Roman"/>
                <a:cs typeface="Times New Roman"/>
              </a:rPr>
              <a:t>And</a:t>
            </a:r>
            <a:r>
              <a:rPr spc="-85" dirty="0">
                <a:solidFill>
                  <a:srgbClr val="FF0000"/>
                </a:solidFill>
                <a:latin typeface="Times New Roman"/>
                <a:cs typeface="Times New Roman"/>
              </a:rPr>
              <a:t>r</a:t>
            </a:r>
            <a:r>
              <a:rPr dirty="0">
                <a:solidFill>
                  <a:srgbClr val="FF0000"/>
                </a:solidFill>
                <a:latin typeface="Times New Roman"/>
                <a:cs typeface="Times New Roman"/>
              </a:rPr>
              <a:t>oid</a:t>
            </a:r>
          </a:p>
        </p:txBody>
      </p:sp>
    </p:spTree>
    <p:extLst>
      <p:ext uri="{BB962C8B-B14F-4D97-AF65-F5344CB8AC3E}">
        <p14:creationId xmlns:p14="http://schemas.microsoft.com/office/powerpoint/2010/main" val="2228978630"/>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356629" y="2071493"/>
            <a:ext cx="5476875" cy="541020"/>
          </a:xfrm>
          <a:prstGeom prst="rect">
            <a:avLst/>
          </a:prstGeom>
          <a:solidFill>
            <a:srgbClr val="D3EFF3"/>
          </a:solidFill>
          <a:ln w="10846">
            <a:solidFill>
              <a:srgbClr val="080909"/>
            </a:solidFill>
          </a:ln>
        </p:spPr>
        <p:txBody>
          <a:bodyPr vert="horz" wrap="square" lIns="0" tIns="165735" rIns="0" bIns="0" rtlCol="0">
            <a:spAutoFit/>
          </a:bodyPr>
          <a:lstStyle/>
          <a:p>
            <a:pPr marR="109855" algn="ctr">
              <a:lnSpc>
                <a:spcPct val="100000"/>
              </a:lnSpc>
              <a:spcBef>
                <a:spcPts val="1305"/>
              </a:spcBef>
            </a:pPr>
            <a:r>
              <a:rPr sz="1400" dirty="0">
                <a:latin typeface="Arial"/>
                <a:cs typeface="Arial"/>
              </a:rPr>
              <a:t>Applications</a:t>
            </a:r>
            <a:endParaRPr sz="1400">
              <a:latin typeface="Arial"/>
              <a:cs typeface="Arial"/>
            </a:endParaRPr>
          </a:p>
        </p:txBody>
      </p:sp>
      <p:sp>
        <p:nvSpPr>
          <p:cNvPr id="3" name="object 3"/>
          <p:cNvSpPr txBox="1"/>
          <p:nvPr/>
        </p:nvSpPr>
        <p:spPr>
          <a:xfrm>
            <a:off x="3356629" y="2878198"/>
            <a:ext cx="5476875" cy="541655"/>
          </a:xfrm>
          <a:prstGeom prst="rect">
            <a:avLst/>
          </a:prstGeom>
          <a:solidFill>
            <a:srgbClr val="D2D2D2"/>
          </a:solidFill>
          <a:ln w="10846">
            <a:solidFill>
              <a:srgbClr val="080909"/>
            </a:solidFill>
          </a:ln>
        </p:spPr>
        <p:txBody>
          <a:bodyPr vert="horz" wrap="square" lIns="0" tIns="162560" rIns="0" bIns="0" rtlCol="0">
            <a:spAutoFit/>
          </a:bodyPr>
          <a:lstStyle/>
          <a:p>
            <a:pPr marR="55880" algn="ctr">
              <a:lnSpc>
                <a:spcPct val="100000"/>
              </a:lnSpc>
              <a:spcBef>
                <a:spcPts val="1280"/>
              </a:spcBef>
            </a:pPr>
            <a:r>
              <a:rPr sz="1400" dirty="0">
                <a:latin typeface="Arial"/>
                <a:cs typeface="Arial"/>
              </a:rPr>
              <a:t>Application</a:t>
            </a:r>
            <a:r>
              <a:rPr sz="1400" spc="-5" dirty="0">
                <a:latin typeface="Arial"/>
                <a:cs typeface="Arial"/>
              </a:rPr>
              <a:t> </a:t>
            </a:r>
            <a:r>
              <a:rPr sz="1400" spc="5" dirty="0">
                <a:latin typeface="Arial"/>
                <a:cs typeface="Arial"/>
              </a:rPr>
              <a:t>Framework</a:t>
            </a:r>
            <a:endParaRPr sz="1400">
              <a:latin typeface="Arial"/>
              <a:cs typeface="Arial"/>
            </a:endParaRPr>
          </a:p>
        </p:txBody>
      </p:sp>
      <p:sp>
        <p:nvSpPr>
          <p:cNvPr id="4" name="object 4"/>
          <p:cNvSpPr txBox="1"/>
          <p:nvPr/>
        </p:nvSpPr>
        <p:spPr>
          <a:xfrm>
            <a:off x="6834396" y="3730589"/>
            <a:ext cx="2004695" cy="1955800"/>
          </a:xfrm>
          <a:prstGeom prst="rect">
            <a:avLst/>
          </a:prstGeom>
          <a:solidFill>
            <a:srgbClr val="D3EFF3"/>
          </a:solidFill>
          <a:ln w="10845">
            <a:solidFill>
              <a:srgbClr val="080909"/>
            </a:solidFill>
          </a:ln>
        </p:spPr>
        <p:txBody>
          <a:bodyPr vert="horz" wrap="square" lIns="0" tIns="47625" rIns="0" bIns="0" rtlCol="0">
            <a:spAutoFit/>
          </a:bodyPr>
          <a:lstStyle/>
          <a:p>
            <a:pPr marL="422275">
              <a:lnSpc>
                <a:spcPct val="100000"/>
              </a:lnSpc>
              <a:spcBef>
                <a:spcPts val="375"/>
              </a:spcBef>
            </a:pPr>
            <a:r>
              <a:rPr sz="1400" spc="5" dirty="0">
                <a:latin typeface="Arial"/>
                <a:cs typeface="Arial"/>
              </a:rPr>
              <a:t>Android</a:t>
            </a:r>
            <a:r>
              <a:rPr sz="1400" spc="-20" dirty="0">
                <a:latin typeface="Arial"/>
                <a:cs typeface="Arial"/>
              </a:rPr>
              <a:t> </a:t>
            </a:r>
            <a:r>
              <a:rPr sz="1400" spc="5" dirty="0">
                <a:latin typeface="Arial"/>
                <a:cs typeface="Arial"/>
              </a:rPr>
              <a:t>runtime</a:t>
            </a:r>
            <a:endParaRPr sz="1400">
              <a:latin typeface="Arial"/>
              <a:cs typeface="Arial"/>
            </a:endParaRPr>
          </a:p>
        </p:txBody>
      </p:sp>
      <p:sp>
        <p:nvSpPr>
          <p:cNvPr id="5" name="object 5"/>
          <p:cNvSpPr txBox="1"/>
          <p:nvPr/>
        </p:nvSpPr>
        <p:spPr>
          <a:xfrm>
            <a:off x="7096162" y="4151514"/>
            <a:ext cx="1557020" cy="321945"/>
          </a:xfrm>
          <a:prstGeom prst="rect">
            <a:avLst/>
          </a:prstGeom>
          <a:solidFill>
            <a:srgbClr val="D2D2D2"/>
          </a:solidFill>
          <a:ln w="10846">
            <a:solidFill>
              <a:srgbClr val="080909"/>
            </a:solidFill>
          </a:ln>
        </p:spPr>
        <p:txBody>
          <a:bodyPr vert="horz" wrap="square" lIns="0" tIns="36830" rIns="0" bIns="0" rtlCol="0">
            <a:spAutoFit/>
          </a:bodyPr>
          <a:lstStyle/>
          <a:p>
            <a:pPr marL="209550">
              <a:lnSpc>
                <a:spcPct val="100000"/>
              </a:lnSpc>
              <a:spcBef>
                <a:spcPts val="290"/>
              </a:spcBef>
            </a:pPr>
            <a:r>
              <a:rPr sz="1400" spc="5" dirty="0">
                <a:latin typeface="Arial"/>
                <a:cs typeface="Arial"/>
              </a:rPr>
              <a:t>Core</a:t>
            </a:r>
            <a:r>
              <a:rPr sz="1400" spc="-10" dirty="0">
                <a:latin typeface="Arial"/>
                <a:cs typeface="Arial"/>
              </a:rPr>
              <a:t> </a:t>
            </a:r>
            <a:r>
              <a:rPr sz="1400" dirty="0">
                <a:latin typeface="Arial"/>
                <a:cs typeface="Arial"/>
              </a:rPr>
              <a:t>Libraries</a:t>
            </a:r>
            <a:endParaRPr sz="1400">
              <a:latin typeface="Arial"/>
              <a:cs typeface="Arial"/>
            </a:endParaRPr>
          </a:p>
        </p:txBody>
      </p:sp>
      <p:sp>
        <p:nvSpPr>
          <p:cNvPr id="6" name="object 6"/>
          <p:cNvSpPr txBox="1"/>
          <p:nvPr/>
        </p:nvSpPr>
        <p:spPr>
          <a:xfrm>
            <a:off x="7096162" y="4670912"/>
            <a:ext cx="1557020" cy="647065"/>
          </a:xfrm>
          <a:prstGeom prst="rect">
            <a:avLst/>
          </a:prstGeom>
          <a:solidFill>
            <a:srgbClr val="D2D2D2"/>
          </a:solidFill>
          <a:ln w="10846">
            <a:solidFill>
              <a:srgbClr val="080909"/>
            </a:solidFill>
          </a:ln>
        </p:spPr>
        <p:txBody>
          <a:bodyPr vert="horz" wrap="square" lIns="0" tIns="72390" rIns="0" bIns="0" rtlCol="0">
            <a:spAutoFit/>
          </a:bodyPr>
          <a:lstStyle/>
          <a:p>
            <a:pPr marL="167640" marR="174625" indent="358775">
              <a:lnSpc>
                <a:spcPct val="101000"/>
              </a:lnSpc>
              <a:spcBef>
                <a:spcPts val="570"/>
              </a:spcBef>
            </a:pPr>
            <a:r>
              <a:rPr sz="1400" spc="5" dirty="0">
                <a:latin typeface="Arial"/>
                <a:cs typeface="Arial"/>
              </a:rPr>
              <a:t>Dalvik  </a:t>
            </a:r>
            <a:r>
              <a:rPr sz="1400" dirty="0">
                <a:latin typeface="Arial"/>
                <a:cs typeface="Arial"/>
              </a:rPr>
              <a:t>virtual</a:t>
            </a:r>
            <a:r>
              <a:rPr sz="1400" spc="-55" dirty="0">
                <a:latin typeface="Arial"/>
                <a:cs typeface="Arial"/>
              </a:rPr>
              <a:t> </a:t>
            </a:r>
            <a:r>
              <a:rPr sz="1400" spc="5" dirty="0">
                <a:latin typeface="Arial"/>
                <a:cs typeface="Arial"/>
              </a:rPr>
              <a:t>machine</a:t>
            </a:r>
            <a:endParaRPr sz="1400">
              <a:latin typeface="Arial"/>
              <a:cs typeface="Arial"/>
            </a:endParaRPr>
          </a:p>
        </p:txBody>
      </p:sp>
      <p:sp>
        <p:nvSpPr>
          <p:cNvPr id="7" name="object 7"/>
          <p:cNvSpPr txBox="1"/>
          <p:nvPr/>
        </p:nvSpPr>
        <p:spPr>
          <a:xfrm>
            <a:off x="3356629" y="3730589"/>
            <a:ext cx="3084830" cy="1955800"/>
          </a:xfrm>
          <a:prstGeom prst="rect">
            <a:avLst/>
          </a:prstGeom>
          <a:solidFill>
            <a:srgbClr val="D3EFF3"/>
          </a:solidFill>
          <a:ln w="10845">
            <a:solidFill>
              <a:srgbClr val="080909"/>
            </a:solidFill>
          </a:ln>
        </p:spPr>
        <p:txBody>
          <a:bodyPr vert="horz" wrap="square" lIns="0" tIns="47625" rIns="0" bIns="0" rtlCol="0">
            <a:spAutoFit/>
          </a:bodyPr>
          <a:lstStyle/>
          <a:p>
            <a:pPr marR="62230" algn="ctr">
              <a:lnSpc>
                <a:spcPct val="100000"/>
              </a:lnSpc>
              <a:spcBef>
                <a:spcPts val="375"/>
              </a:spcBef>
            </a:pPr>
            <a:r>
              <a:rPr sz="1400" dirty="0">
                <a:latin typeface="Arial"/>
                <a:cs typeface="Arial"/>
              </a:rPr>
              <a:t>Libraries</a:t>
            </a:r>
            <a:endParaRPr sz="1400">
              <a:latin typeface="Arial"/>
              <a:cs typeface="Arial"/>
            </a:endParaRPr>
          </a:p>
        </p:txBody>
      </p:sp>
      <p:sp>
        <p:nvSpPr>
          <p:cNvPr id="8" name="object 8"/>
          <p:cNvSpPr txBox="1"/>
          <p:nvPr/>
        </p:nvSpPr>
        <p:spPr>
          <a:xfrm>
            <a:off x="3356629" y="5874621"/>
            <a:ext cx="5476875" cy="541020"/>
          </a:xfrm>
          <a:prstGeom prst="rect">
            <a:avLst/>
          </a:prstGeom>
          <a:solidFill>
            <a:srgbClr val="D2D2D2"/>
          </a:solidFill>
          <a:ln w="10846">
            <a:solidFill>
              <a:srgbClr val="080909"/>
            </a:solidFill>
          </a:ln>
        </p:spPr>
        <p:txBody>
          <a:bodyPr vert="horz" wrap="square" lIns="0" tIns="149860" rIns="0" bIns="0" rtlCol="0">
            <a:spAutoFit/>
          </a:bodyPr>
          <a:lstStyle/>
          <a:p>
            <a:pPr marL="51435" algn="ctr">
              <a:lnSpc>
                <a:spcPct val="100000"/>
              </a:lnSpc>
              <a:spcBef>
                <a:spcPts val="1180"/>
              </a:spcBef>
            </a:pPr>
            <a:r>
              <a:rPr sz="1400" spc="5" dirty="0">
                <a:latin typeface="Arial"/>
                <a:cs typeface="Arial"/>
              </a:rPr>
              <a:t>Linux</a:t>
            </a:r>
            <a:r>
              <a:rPr sz="1400" spc="-5" dirty="0">
                <a:latin typeface="Arial"/>
                <a:cs typeface="Arial"/>
              </a:rPr>
              <a:t> </a:t>
            </a:r>
            <a:r>
              <a:rPr sz="1400" spc="5" dirty="0">
                <a:latin typeface="Arial"/>
                <a:cs typeface="Arial"/>
              </a:rPr>
              <a:t>kernel</a:t>
            </a:r>
            <a:endParaRPr sz="1400">
              <a:latin typeface="Arial"/>
              <a:cs typeface="Arial"/>
            </a:endParaRPr>
          </a:p>
        </p:txBody>
      </p:sp>
      <p:sp>
        <p:nvSpPr>
          <p:cNvPr id="9" name="object 9"/>
          <p:cNvSpPr txBox="1"/>
          <p:nvPr/>
        </p:nvSpPr>
        <p:spPr>
          <a:xfrm>
            <a:off x="3672450" y="4151514"/>
            <a:ext cx="906780" cy="321945"/>
          </a:xfrm>
          <a:prstGeom prst="rect">
            <a:avLst/>
          </a:prstGeom>
          <a:solidFill>
            <a:srgbClr val="D2D2D2"/>
          </a:solidFill>
          <a:ln w="10846">
            <a:solidFill>
              <a:srgbClr val="080909"/>
            </a:solidFill>
          </a:ln>
        </p:spPr>
        <p:txBody>
          <a:bodyPr vert="horz" wrap="square" lIns="0" tIns="36830" rIns="0" bIns="0" rtlCol="0">
            <a:spAutoFit/>
          </a:bodyPr>
          <a:lstStyle/>
          <a:p>
            <a:pPr marL="144145">
              <a:lnSpc>
                <a:spcPct val="100000"/>
              </a:lnSpc>
              <a:spcBef>
                <a:spcPts val="290"/>
              </a:spcBef>
            </a:pPr>
            <a:r>
              <a:rPr sz="1400" spc="5" dirty="0">
                <a:latin typeface="Arial"/>
                <a:cs typeface="Arial"/>
              </a:rPr>
              <a:t>SQLite</a:t>
            </a:r>
            <a:endParaRPr sz="1400">
              <a:latin typeface="Arial"/>
              <a:cs typeface="Arial"/>
            </a:endParaRPr>
          </a:p>
        </p:txBody>
      </p:sp>
      <p:sp>
        <p:nvSpPr>
          <p:cNvPr id="10" name="object 10"/>
          <p:cNvSpPr txBox="1"/>
          <p:nvPr/>
        </p:nvSpPr>
        <p:spPr>
          <a:xfrm>
            <a:off x="4972163" y="4151514"/>
            <a:ext cx="958850" cy="321945"/>
          </a:xfrm>
          <a:prstGeom prst="rect">
            <a:avLst/>
          </a:prstGeom>
          <a:solidFill>
            <a:srgbClr val="D2D2D2"/>
          </a:solidFill>
          <a:ln w="10846">
            <a:solidFill>
              <a:srgbClr val="080909"/>
            </a:solidFill>
          </a:ln>
        </p:spPr>
        <p:txBody>
          <a:bodyPr vert="horz" wrap="square" lIns="0" tIns="36830" rIns="0" bIns="0" rtlCol="0">
            <a:spAutoFit/>
          </a:bodyPr>
          <a:lstStyle/>
          <a:p>
            <a:pPr marL="178435">
              <a:lnSpc>
                <a:spcPct val="100000"/>
              </a:lnSpc>
              <a:spcBef>
                <a:spcPts val="290"/>
              </a:spcBef>
            </a:pPr>
            <a:r>
              <a:rPr sz="1400" spc="5" dirty="0">
                <a:latin typeface="Arial"/>
                <a:cs typeface="Arial"/>
              </a:rPr>
              <a:t>openGL</a:t>
            </a:r>
            <a:endParaRPr sz="1400">
              <a:latin typeface="Arial"/>
              <a:cs typeface="Arial"/>
            </a:endParaRPr>
          </a:p>
        </p:txBody>
      </p:sp>
      <p:sp>
        <p:nvSpPr>
          <p:cNvPr id="11" name="object 11"/>
          <p:cNvSpPr txBox="1"/>
          <p:nvPr/>
        </p:nvSpPr>
        <p:spPr>
          <a:xfrm>
            <a:off x="3672450" y="4619137"/>
            <a:ext cx="906780" cy="483870"/>
          </a:xfrm>
          <a:prstGeom prst="rect">
            <a:avLst/>
          </a:prstGeom>
          <a:solidFill>
            <a:srgbClr val="D2D2D2"/>
          </a:solidFill>
          <a:ln w="10845">
            <a:solidFill>
              <a:srgbClr val="080909"/>
            </a:solidFill>
          </a:ln>
        </p:spPr>
        <p:txBody>
          <a:bodyPr vert="horz" wrap="square" lIns="0" tIns="20955" rIns="0" bIns="0" rtlCol="0">
            <a:spAutoFit/>
          </a:bodyPr>
          <a:lstStyle/>
          <a:p>
            <a:pPr marL="101600" marR="88265" indent="59690">
              <a:lnSpc>
                <a:spcPct val="100899"/>
              </a:lnSpc>
              <a:spcBef>
                <a:spcPts val="165"/>
              </a:spcBef>
            </a:pPr>
            <a:r>
              <a:rPr sz="1400" spc="5" dirty="0">
                <a:latin typeface="Arial"/>
                <a:cs typeface="Arial"/>
              </a:rPr>
              <a:t>surface  manager</a:t>
            </a:r>
            <a:endParaRPr sz="1400">
              <a:latin typeface="Arial"/>
              <a:cs typeface="Arial"/>
            </a:endParaRPr>
          </a:p>
        </p:txBody>
      </p:sp>
      <p:sp>
        <p:nvSpPr>
          <p:cNvPr id="12" name="object 12"/>
          <p:cNvSpPr txBox="1"/>
          <p:nvPr/>
        </p:nvSpPr>
        <p:spPr>
          <a:xfrm>
            <a:off x="3672450" y="5215406"/>
            <a:ext cx="906780" cy="321945"/>
          </a:xfrm>
          <a:prstGeom prst="rect">
            <a:avLst/>
          </a:prstGeom>
          <a:solidFill>
            <a:srgbClr val="D2D2D2"/>
          </a:solidFill>
          <a:ln w="10846">
            <a:solidFill>
              <a:srgbClr val="080909"/>
            </a:solidFill>
          </a:ln>
        </p:spPr>
        <p:txBody>
          <a:bodyPr vert="horz" wrap="square" lIns="0" tIns="36830" rIns="0" bIns="0" rtlCol="0">
            <a:spAutoFit/>
          </a:bodyPr>
          <a:lstStyle/>
          <a:p>
            <a:pPr marL="144145">
              <a:lnSpc>
                <a:spcPct val="100000"/>
              </a:lnSpc>
              <a:spcBef>
                <a:spcPts val="290"/>
              </a:spcBef>
            </a:pPr>
            <a:r>
              <a:rPr sz="1400" spc="5" dirty="0">
                <a:latin typeface="Arial"/>
                <a:cs typeface="Arial"/>
              </a:rPr>
              <a:t>webkit</a:t>
            </a:r>
            <a:endParaRPr sz="1400">
              <a:latin typeface="Arial"/>
              <a:cs typeface="Arial"/>
            </a:endParaRPr>
          </a:p>
        </p:txBody>
      </p:sp>
      <p:sp>
        <p:nvSpPr>
          <p:cNvPr id="13" name="object 13"/>
          <p:cNvSpPr txBox="1"/>
          <p:nvPr/>
        </p:nvSpPr>
        <p:spPr>
          <a:xfrm>
            <a:off x="4972163" y="5215406"/>
            <a:ext cx="958850" cy="321945"/>
          </a:xfrm>
          <a:prstGeom prst="rect">
            <a:avLst/>
          </a:prstGeom>
          <a:solidFill>
            <a:srgbClr val="D2D2D2"/>
          </a:solidFill>
          <a:ln w="10846">
            <a:solidFill>
              <a:srgbClr val="080909"/>
            </a:solidFill>
          </a:ln>
        </p:spPr>
        <p:txBody>
          <a:bodyPr vert="horz" wrap="square" lIns="0" tIns="36830" rIns="0" bIns="0" rtlCol="0">
            <a:spAutoFit/>
          </a:bodyPr>
          <a:lstStyle/>
          <a:p>
            <a:pPr marL="36830" algn="ctr">
              <a:lnSpc>
                <a:spcPct val="100000"/>
              </a:lnSpc>
              <a:spcBef>
                <a:spcPts val="290"/>
              </a:spcBef>
            </a:pPr>
            <a:r>
              <a:rPr sz="1400" dirty="0">
                <a:latin typeface="Arial"/>
                <a:cs typeface="Arial"/>
              </a:rPr>
              <a:t>libc</a:t>
            </a:r>
            <a:endParaRPr sz="1400">
              <a:latin typeface="Arial"/>
              <a:cs typeface="Arial"/>
            </a:endParaRPr>
          </a:p>
        </p:txBody>
      </p:sp>
      <p:sp>
        <p:nvSpPr>
          <p:cNvPr id="14" name="object 14"/>
          <p:cNvSpPr txBox="1"/>
          <p:nvPr/>
        </p:nvSpPr>
        <p:spPr>
          <a:xfrm>
            <a:off x="4972163" y="4619136"/>
            <a:ext cx="958850" cy="483870"/>
          </a:xfrm>
          <a:prstGeom prst="rect">
            <a:avLst/>
          </a:prstGeom>
          <a:solidFill>
            <a:srgbClr val="D2D2D2"/>
          </a:solidFill>
          <a:ln w="10845">
            <a:solidFill>
              <a:srgbClr val="080909"/>
            </a:solidFill>
          </a:ln>
        </p:spPr>
        <p:txBody>
          <a:bodyPr vert="horz" wrap="square" lIns="0" tIns="20955" rIns="0" bIns="0" rtlCol="0">
            <a:spAutoFit/>
          </a:bodyPr>
          <a:lstStyle/>
          <a:p>
            <a:pPr marL="60325" marR="53340" indent="173990">
              <a:lnSpc>
                <a:spcPct val="100899"/>
              </a:lnSpc>
              <a:spcBef>
                <a:spcPts val="165"/>
              </a:spcBef>
            </a:pPr>
            <a:r>
              <a:rPr sz="1400" spc="5" dirty="0">
                <a:latin typeface="Arial"/>
                <a:cs typeface="Arial"/>
              </a:rPr>
              <a:t>media  framewo</a:t>
            </a:r>
            <a:r>
              <a:rPr sz="1400" spc="-5" dirty="0">
                <a:latin typeface="Arial"/>
                <a:cs typeface="Arial"/>
              </a:rPr>
              <a:t>r</a:t>
            </a:r>
            <a:r>
              <a:rPr sz="1400" spc="5" dirty="0">
                <a:latin typeface="Arial"/>
                <a:cs typeface="Arial"/>
              </a:rPr>
              <a:t>k</a:t>
            </a:r>
            <a:endParaRPr sz="1400">
              <a:latin typeface="Arial"/>
              <a:cs typeface="Arial"/>
            </a:endParaRPr>
          </a:p>
        </p:txBody>
      </p:sp>
      <p:sp>
        <p:nvSpPr>
          <p:cNvPr id="15" name="object 15"/>
          <p:cNvSpPr txBox="1">
            <a:spLocks noGrp="1"/>
          </p:cNvSpPr>
          <p:nvPr>
            <p:ph type="title"/>
          </p:nvPr>
        </p:nvSpPr>
        <p:spPr>
          <a:xfrm>
            <a:off x="916939" y="659968"/>
            <a:ext cx="5169535" cy="697230"/>
          </a:xfrm>
          <a:prstGeom prst="rect">
            <a:avLst/>
          </a:prstGeom>
        </p:spPr>
        <p:txBody>
          <a:bodyPr vert="horz" wrap="square" lIns="0" tIns="13335" rIns="0" bIns="0" rtlCol="0">
            <a:spAutoFit/>
          </a:bodyPr>
          <a:lstStyle/>
          <a:p>
            <a:pPr marL="12700">
              <a:lnSpc>
                <a:spcPct val="100000"/>
              </a:lnSpc>
              <a:spcBef>
                <a:spcPts val="105"/>
              </a:spcBef>
            </a:pPr>
            <a:r>
              <a:rPr spc="-10" dirty="0">
                <a:solidFill>
                  <a:srgbClr val="FF0000"/>
                </a:solidFill>
                <a:latin typeface="Times New Roman"/>
                <a:cs typeface="Times New Roman"/>
              </a:rPr>
              <a:t>Android</a:t>
            </a:r>
            <a:r>
              <a:rPr spc="-295" dirty="0">
                <a:solidFill>
                  <a:srgbClr val="FF0000"/>
                </a:solidFill>
                <a:latin typeface="Times New Roman"/>
                <a:cs typeface="Times New Roman"/>
              </a:rPr>
              <a:t> </a:t>
            </a:r>
            <a:r>
              <a:rPr spc="-15" dirty="0">
                <a:solidFill>
                  <a:srgbClr val="FF0000"/>
                </a:solidFill>
                <a:latin typeface="Times New Roman"/>
                <a:cs typeface="Times New Roman"/>
              </a:rPr>
              <a:t>Architecture</a:t>
            </a:r>
          </a:p>
        </p:txBody>
      </p:sp>
    </p:spTree>
    <p:extLst>
      <p:ext uri="{BB962C8B-B14F-4D97-AF65-F5344CB8AC3E}">
        <p14:creationId xmlns:p14="http://schemas.microsoft.com/office/powerpoint/2010/main" val="2229279254"/>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16939" y="1811782"/>
            <a:ext cx="10074910" cy="2586355"/>
          </a:xfrm>
          <a:prstGeom prst="rect">
            <a:avLst/>
          </a:prstGeom>
        </p:spPr>
        <p:txBody>
          <a:bodyPr vert="horz" wrap="square" lIns="0" tIns="48895" rIns="0" bIns="0" rtlCol="0">
            <a:spAutoFit/>
          </a:bodyPr>
          <a:lstStyle/>
          <a:p>
            <a:pPr marL="241300" marR="420370" indent="-228600" algn="just">
              <a:lnSpc>
                <a:spcPct val="90100"/>
              </a:lnSpc>
              <a:spcBef>
                <a:spcPts val="385"/>
              </a:spcBef>
              <a:buClr>
                <a:srgbClr val="EC7C30"/>
              </a:buClr>
              <a:buFont typeface="Wingdings"/>
              <a:buChar char=""/>
              <a:tabLst>
                <a:tab pos="241300" algn="l"/>
              </a:tabLst>
            </a:pPr>
            <a:r>
              <a:rPr sz="2400" spc="-5" dirty="0">
                <a:latin typeface="Times New Roman"/>
                <a:cs typeface="Times New Roman"/>
              </a:rPr>
              <a:t>A </a:t>
            </a:r>
            <a:r>
              <a:rPr sz="2400" i="1" dirty="0">
                <a:latin typeface="Times New Roman"/>
                <a:cs typeface="Times New Roman"/>
              </a:rPr>
              <a:t>virtual machine </a:t>
            </a:r>
            <a:r>
              <a:rPr sz="2400" dirty="0">
                <a:latin typeface="Times New Roman"/>
                <a:cs typeface="Times New Roman"/>
              </a:rPr>
              <a:t>takes </a:t>
            </a:r>
            <a:r>
              <a:rPr sz="2400" spc="-5" dirty="0">
                <a:latin typeface="Times New Roman"/>
                <a:cs typeface="Times New Roman"/>
              </a:rPr>
              <a:t>the </a:t>
            </a:r>
            <a:r>
              <a:rPr sz="2400" spc="-10" dirty="0">
                <a:latin typeface="Times New Roman"/>
                <a:cs typeface="Times New Roman"/>
              </a:rPr>
              <a:t>layered approach </a:t>
            </a:r>
            <a:r>
              <a:rPr sz="2400" dirty="0">
                <a:latin typeface="Times New Roman"/>
                <a:cs typeface="Times New Roman"/>
              </a:rPr>
              <a:t>to its logical conclusion. </a:t>
            </a:r>
            <a:r>
              <a:rPr sz="2400" spc="-5" dirty="0">
                <a:latin typeface="Times New Roman"/>
                <a:cs typeface="Times New Roman"/>
              </a:rPr>
              <a:t>It  treats </a:t>
            </a:r>
            <a:r>
              <a:rPr sz="2400" spc="-10" dirty="0">
                <a:latin typeface="Times New Roman"/>
                <a:cs typeface="Times New Roman"/>
              </a:rPr>
              <a:t>hardware </a:t>
            </a:r>
            <a:r>
              <a:rPr sz="2400" dirty="0">
                <a:latin typeface="Times New Roman"/>
                <a:cs typeface="Times New Roman"/>
              </a:rPr>
              <a:t>and the operating system kernel as though they </a:t>
            </a:r>
            <a:r>
              <a:rPr sz="2400" spc="-15" dirty="0">
                <a:latin typeface="Times New Roman"/>
                <a:cs typeface="Times New Roman"/>
              </a:rPr>
              <a:t>were </a:t>
            </a:r>
            <a:r>
              <a:rPr sz="2400" dirty="0">
                <a:latin typeface="Times New Roman"/>
                <a:cs typeface="Times New Roman"/>
              </a:rPr>
              <a:t>all  </a:t>
            </a:r>
            <a:r>
              <a:rPr sz="2400" spc="-10" dirty="0">
                <a:latin typeface="Times New Roman"/>
                <a:cs typeface="Times New Roman"/>
              </a:rPr>
              <a:t>hardware</a:t>
            </a:r>
            <a:endParaRPr sz="2400" dirty="0">
              <a:latin typeface="Times New Roman"/>
              <a:cs typeface="Times New Roman"/>
            </a:endParaRPr>
          </a:p>
          <a:p>
            <a:pPr marL="241300" marR="546100" indent="-228600">
              <a:lnSpc>
                <a:spcPts val="2590"/>
              </a:lnSpc>
              <a:spcBef>
                <a:spcPts val="905"/>
              </a:spcBef>
              <a:buClr>
                <a:srgbClr val="EC7C30"/>
              </a:buClr>
              <a:buFont typeface="Wingdings"/>
              <a:buChar char=""/>
              <a:tabLst>
                <a:tab pos="241300" algn="l"/>
              </a:tabLst>
            </a:pPr>
            <a:r>
              <a:rPr sz="2400" spc="-5" dirty="0">
                <a:latin typeface="Times New Roman"/>
                <a:cs typeface="Times New Roman"/>
              </a:rPr>
              <a:t>A </a:t>
            </a:r>
            <a:r>
              <a:rPr sz="2400" dirty="0">
                <a:latin typeface="Times New Roman"/>
                <a:cs typeface="Times New Roman"/>
              </a:rPr>
              <a:t>virtual machine </a:t>
            </a:r>
            <a:r>
              <a:rPr sz="2400" spc="-10" dirty="0">
                <a:latin typeface="Times New Roman"/>
                <a:cs typeface="Times New Roman"/>
              </a:rPr>
              <a:t>provides </a:t>
            </a:r>
            <a:r>
              <a:rPr sz="2400" spc="-5" dirty="0">
                <a:latin typeface="Times New Roman"/>
                <a:cs typeface="Times New Roman"/>
              </a:rPr>
              <a:t>an </a:t>
            </a:r>
            <a:r>
              <a:rPr sz="2400" dirty="0">
                <a:latin typeface="Times New Roman"/>
                <a:cs typeface="Times New Roman"/>
              </a:rPr>
              <a:t>interface </a:t>
            </a:r>
            <a:r>
              <a:rPr sz="2400" i="1" dirty="0">
                <a:latin typeface="Times New Roman"/>
                <a:cs typeface="Times New Roman"/>
              </a:rPr>
              <a:t>identical </a:t>
            </a:r>
            <a:r>
              <a:rPr sz="2400" dirty="0">
                <a:latin typeface="Times New Roman"/>
                <a:cs typeface="Times New Roman"/>
              </a:rPr>
              <a:t>to the </a:t>
            </a:r>
            <a:r>
              <a:rPr sz="2400" spc="-5" dirty="0">
                <a:latin typeface="Times New Roman"/>
                <a:cs typeface="Times New Roman"/>
              </a:rPr>
              <a:t>underlying</a:t>
            </a:r>
            <a:r>
              <a:rPr sz="2400" spc="-210" dirty="0">
                <a:latin typeface="Times New Roman"/>
                <a:cs typeface="Times New Roman"/>
              </a:rPr>
              <a:t> </a:t>
            </a:r>
            <a:r>
              <a:rPr sz="2400" spc="-15" dirty="0">
                <a:latin typeface="Times New Roman"/>
                <a:cs typeface="Times New Roman"/>
              </a:rPr>
              <a:t>bare  </a:t>
            </a:r>
            <a:r>
              <a:rPr sz="2400" spc="-10" dirty="0">
                <a:latin typeface="Times New Roman"/>
                <a:cs typeface="Times New Roman"/>
              </a:rPr>
              <a:t>hardware</a:t>
            </a:r>
            <a:endParaRPr sz="2400" dirty="0">
              <a:latin typeface="Times New Roman"/>
              <a:cs typeface="Times New Roman"/>
            </a:endParaRPr>
          </a:p>
          <a:p>
            <a:pPr marL="241300" indent="-228600">
              <a:lnSpc>
                <a:spcPts val="2735"/>
              </a:lnSpc>
              <a:spcBef>
                <a:spcPts val="540"/>
              </a:spcBef>
              <a:buClr>
                <a:srgbClr val="EC7C30"/>
              </a:buClr>
              <a:buFont typeface="Wingdings"/>
              <a:buChar char=""/>
              <a:tabLst>
                <a:tab pos="241300" algn="l"/>
              </a:tabLst>
            </a:pPr>
            <a:r>
              <a:rPr sz="2400" dirty="0">
                <a:latin typeface="Times New Roman"/>
                <a:cs typeface="Times New Roman"/>
              </a:rPr>
              <a:t>The VM </a:t>
            </a:r>
            <a:r>
              <a:rPr sz="2400" spc="-5" dirty="0">
                <a:latin typeface="Times New Roman"/>
                <a:cs typeface="Times New Roman"/>
              </a:rPr>
              <a:t>creates </a:t>
            </a:r>
            <a:r>
              <a:rPr sz="2400" dirty="0">
                <a:latin typeface="Times New Roman"/>
                <a:cs typeface="Times New Roman"/>
              </a:rPr>
              <a:t>the illusion of multiple </a:t>
            </a:r>
            <a:r>
              <a:rPr sz="2400" spc="-5" dirty="0">
                <a:latin typeface="Times New Roman"/>
                <a:cs typeface="Times New Roman"/>
              </a:rPr>
              <a:t>processes, </a:t>
            </a:r>
            <a:r>
              <a:rPr sz="2400" dirty="0">
                <a:latin typeface="Times New Roman"/>
                <a:cs typeface="Times New Roman"/>
              </a:rPr>
              <a:t>each executing on its</a:t>
            </a:r>
            <a:r>
              <a:rPr sz="2400" spc="-130" dirty="0">
                <a:latin typeface="Times New Roman"/>
                <a:cs typeface="Times New Roman"/>
              </a:rPr>
              <a:t> </a:t>
            </a:r>
            <a:r>
              <a:rPr sz="2400" spc="-5" dirty="0">
                <a:latin typeface="Times New Roman"/>
                <a:cs typeface="Times New Roman"/>
              </a:rPr>
              <a:t>own</a:t>
            </a:r>
            <a:endParaRPr sz="2400" dirty="0">
              <a:latin typeface="Times New Roman"/>
              <a:cs typeface="Times New Roman"/>
            </a:endParaRPr>
          </a:p>
          <a:p>
            <a:pPr marL="241300">
              <a:lnSpc>
                <a:spcPts val="2735"/>
              </a:lnSpc>
            </a:pPr>
            <a:r>
              <a:rPr sz="2400" spc="-5" dirty="0">
                <a:latin typeface="Times New Roman"/>
                <a:cs typeface="Times New Roman"/>
              </a:rPr>
              <a:t>processor with </a:t>
            </a:r>
            <a:r>
              <a:rPr sz="2400" dirty="0">
                <a:latin typeface="Times New Roman"/>
                <a:cs typeface="Times New Roman"/>
              </a:rPr>
              <a:t>its </a:t>
            </a:r>
            <a:r>
              <a:rPr sz="2400" spc="-10" dirty="0">
                <a:latin typeface="Times New Roman"/>
                <a:cs typeface="Times New Roman"/>
              </a:rPr>
              <a:t>own </a:t>
            </a:r>
            <a:r>
              <a:rPr sz="2400" dirty="0">
                <a:latin typeface="Times New Roman"/>
                <a:cs typeface="Times New Roman"/>
              </a:rPr>
              <a:t>(virtual)</a:t>
            </a:r>
            <a:r>
              <a:rPr sz="2400" spc="-40" dirty="0">
                <a:latin typeface="Times New Roman"/>
                <a:cs typeface="Times New Roman"/>
              </a:rPr>
              <a:t> </a:t>
            </a:r>
            <a:r>
              <a:rPr sz="2400" dirty="0">
                <a:latin typeface="Times New Roman"/>
                <a:cs typeface="Times New Roman"/>
              </a:rPr>
              <a:t>memory</a:t>
            </a:r>
          </a:p>
        </p:txBody>
      </p:sp>
      <p:sp>
        <p:nvSpPr>
          <p:cNvPr id="3" name="object 3"/>
          <p:cNvSpPr txBox="1">
            <a:spLocks noGrp="1"/>
          </p:cNvSpPr>
          <p:nvPr>
            <p:ph type="title"/>
          </p:nvPr>
        </p:nvSpPr>
        <p:spPr>
          <a:xfrm>
            <a:off x="916939" y="659968"/>
            <a:ext cx="4185920" cy="697230"/>
          </a:xfrm>
          <a:prstGeom prst="rect">
            <a:avLst/>
          </a:prstGeom>
        </p:spPr>
        <p:txBody>
          <a:bodyPr vert="horz" wrap="square" lIns="0" tIns="13335" rIns="0" bIns="0" rtlCol="0">
            <a:spAutoFit/>
          </a:bodyPr>
          <a:lstStyle/>
          <a:p>
            <a:pPr marL="12700">
              <a:lnSpc>
                <a:spcPct val="100000"/>
              </a:lnSpc>
              <a:spcBef>
                <a:spcPts val="105"/>
              </a:spcBef>
            </a:pPr>
            <a:r>
              <a:rPr spc="-25" dirty="0">
                <a:solidFill>
                  <a:srgbClr val="FF0000"/>
                </a:solidFill>
                <a:latin typeface="Times New Roman"/>
                <a:cs typeface="Times New Roman"/>
              </a:rPr>
              <a:t>Virtual</a:t>
            </a:r>
            <a:r>
              <a:rPr spc="-50" dirty="0">
                <a:solidFill>
                  <a:srgbClr val="FF0000"/>
                </a:solidFill>
                <a:latin typeface="Times New Roman"/>
                <a:cs typeface="Times New Roman"/>
              </a:rPr>
              <a:t> </a:t>
            </a:r>
            <a:r>
              <a:rPr dirty="0">
                <a:solidFill>
                  <a:srgbClr val="FF0000"/>
                </a:solidFill>
                <a:latin typeface="Times New Roman"/>
                <a:cs typeface="Times New Roman"/>
              </a:rPr>
              <a:t>Machines</a:t>
            </a:r>
          </a:p>
        </p:txBody>
      </p:sp>
    </p:spTree>
    <p:extLst>
      <p:ext uri="{BB962C8B-B14F-4D97-AF65-F5344CB8AC3E}">
        <p14:creationId xmlns:p14="http://schemas.microsoft.com/office/powerpoint/2010/main" val="3684571294"/>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59968"/>
            <a:ext cx="3613150" cy="697230"/>
          </a:xfrm>
          <a:prstGeom prst="rect">
            <a:avLst/>
          </a:prstGeom>
        </p:spPr>
        <p:txBody>
          <a:bodyPr vert="horz" wrap="square" lIns="0" tIns="13335" rIns="0" bIns="0" rtlCol="0">
            <a:spAutoFit/>
          </a:bodyPr>
          <a:lstStyle/>
          <a:p>
            <a:pPr marL="12700">
              <a:lnSpc>
                <a:spcPct val="100000"/>
              </a:lnSpc>
              <a:spcBef>
                <a:spcPts val="105"/>
              </a:spcBef>
            </a:pPr>
            <a:r>
              <a:rPr dirty="0">
                <a:solidFill>
                  <a:srgbClr val="FF0000"/>
                </a:solidFill>
                <a:latin typeface="Times New Roman"/>
                <a:cs typeface="Times New Roman"/>
              </a:rPr>
              <a:t>System</a:t>
            </a:r>
            <a:r>
              <a:rPr spc="-85" dirty="0">
                <a:solidFill>
                  <a:srgbClr val="FF0000"/>
                </a:solidFill>
                <a:latin typeface="Times New Roman"/>
                <a:cs typeface="Times New Roman"/>
              </a:rPr>
              <a:t> </a:t>
            </a:r>
            <a:r>
              <a:rPr dirty="0">
                <a:solidFill>
                  <a:srgbClr val="FF0000"/>
                </a:solidFill>
                <a:latin typeface="Times New Roman"/>
                <a:cs typeface="Times New Roman"/>
              </a:rPr>
              <a:t>Models</a:t>
            </a:r>
          </a:p>
        </p:txBody>
      </p:sp>
      <p:sp>
        <p:nvSpPr>
          <p:cNvPr id="3" name="object 3"/>
          <p:cNvSpPr txBox="1"/>
          <p:nvPr/>
        </p:nvSpPr>
        <p:spPr>
          <a:xfrm>
            <a:off x="2463800" y="6264655"/>
            <a:ext cx="2209165"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Arial"/>
                <a:cs typeface="Arial"/>
              </a:rPr>
              <a:t>Non-virtual</a:t>
            </a:r>
            <a:r>
              <a:rPr sz="1800" b="1" spc="-25" dirty="0">
                <a:latin typeface="Arial"/>
                <a:cs typeface="Arial"/>
              </a:rPr>
              <a:t> </a:t>
            </a:r>
            <a:r>
              <a:rPr sz="1800" b="1" spc="-5" dirty="0">
                <a:latin typeface="Arial"/>
                <a:cs typeface="Arial"/>
              </a:rPr>
              <a:t>Machine</a:t>
            </a:r>
            <a:endParaRPr sz="1800">
              <a:latin typeface="Arial"/>
              <a:cs typeface="Arial"/>
            </a:endParaRPr>
          </a:p>
        </p:txBody>
      </p:sp>
      <p:sp>
        <p:nvSpPr>
          <p:cNvPr id="4" name="object 4"/>
          <p:cNvSpPr txBox="1"/>
          <p:nvPr/>
        </p:nvSpPr>
        <p:spPr>
          <a:xfrm>
            <a:off x="6676770" y="6264655"/>
            <a:ext cx="1711325" cy="299720"/>
          </a:xfrm>
          <a:prstGeom prst="rect">
            <a:avLst/>
          </a:prstGeom>
        </p:spPr>
        <p:txBody>
          <a:bodyPr vert="horz" wrap="square" lIns="0" tIns="12700" rIns="0" bIns="0" rtlCol="0">
            <a:spAutoFit/>
          </a:bodyPr>
          <a:lstStyle/>
          <a:p>
            <a:pPr marL="12700">
              <a:lnSpc>
                <a:spcPct val="100000"/>
              </a:lnSpc>
              <a:spcBef>
                <a:spcPts val="100"/>
              </a:spcBef>
            </a:pPr>
            <a:r>
              <a:rPr sz="1800" b="1" spc="-10" dirty="0">
                <a:latin typeface="Arial"/>
                <a:cs typeface="Arial"/>
              </a:rPr>
              <a:t>Virtual</a:t>
            </a:r>
            <a:r>
              <a:rPr sz="1800" b="1" spc="-30" dirty="0">
                <a:latin typeface="Arial"/>
                <a:cs typeface="Arial"/>
              </a:rPr>
              <a:t> </a:t>
            </a:r>
            <a:r>
              <a:rPr sz="1800" b="1" spc="-5" dirty="0">
                <a:latin typeface="Arial"/>
                <a:cs typeface="Arial"/>
              </a:rPr>
              <a:t>Machine</a:t>
            </a:r>
            <a:endParaRPr sz="1800">
              <a:latin typeface="Arial"/>
              <a:cs typeface="Arial"/>
            </a:endParaRPr>
          </a:p>
        </p:txBody>
      </p:sp>
      <p:grpSp>
        <p:nvGrpSpPr>
          <p:cNvPr id="5" name="object 5"/>
          <p:cNvGrpSpPr/>
          <p:nvPr/>
        </p:nvGrpSpPr>
        <p:grpSpPr>
          <a:xfrm>
            <a:off x="2493264" y="2014220"/>
            <a:ext cx="6248400" cy="4258310"/>
            <a:chOff x="2493264" y="2014220"/>
            <a:chExt cx="6248400" cy="4258310"/>
          </a:xfrm>
        </p:grpSpPr>
        <p:sp>
          <p:nvSpPr>
            <p:cNvPr id="6" name="object 6"/>
            <p:cNvSpPr/>
            <p:nvPr/>
          </p:nvSpPr>
          <p:spPr>
            <a:xfrm>
              <a:off x="2531364" y="2052827"/>
              <a:ext cx="6172199" cy="4181856"/>
            </a:xfrm>
            <a:prstGeom prst="rect">
              <a:avLst/>
            </a:prstGeom>
            <a:blipFill>
              <a:blip r:embed="rId2" cstate="print"/>
              <a:stretch>
                <a:fillRect/>
              </a:stretch>
            </a:blipFill>
          </p:spPr>
          <p:txBody>
            <a:bodyPr wrap="square" lIns="0" tIns="0" rIns="0" bIns="0" rtlCol="0"/>
            <a:lstStyle/>
            <a:p>
              <a:endParaRPr/>
            </a:p>
          </p:txBody>
        </p:sp>
        <p:sp>
          <p:nvSpPr>
            <p:cNvPr id="7" name="object 7"/>
            <p:cNvSpPr/>
            <p:nvPr/>
          </p:nvSpPr>
          <p:spPr>
            <a:xfrm>
              <a:off x="2493264" y="2014219"/>
              <a:ext cx="6248400" cy="4258310"/>
            </a:xfrm>
            <a:custGeom>
              <a:avLst/>
              <a:gdLst/>
              <a:ahLst/>
              <a:cxnLst/>
              <a:rect l="l" t="t" r="r" b="b"/>
              <a:pathLst>
                <a:path w="6248400" h="4258310">
                  <a:moveTo>
                    <a:pt x="6223000" y="25400"/>
                  </a:moveTo>
                  <a:lnTo>
                    <a:pt x="25400" y="25400"/>
                  </a:lnTo>
                  <a:lnTo>
                    <a:pt x="25400" y="38100"/>
                  </a:lnTo>
                  <a:lnTo>
                    <a:pt x="25400" y="4220210"/>
                  </a:lnTo>
                  <a:lnTo>
                    <a:pt x="25400" y="4232910"/>
                  </a:lnTo>
                  <a:lnTo>
                    <a:pt x="6223000" y="4232910"/>
                  </a:lnTo>
                  <a:lnTo>
                    <a:pt x="6223000" y="4220476"/>
                  </a:lnTo>
                  <a:lnTo>
                    <a:pt x="6223000" y="4220210"/>
                  </a:lnTo>
                  <a:lnTo>
                    <a:pt x="6223000" y="38608"/>
                  </a:lnTo>
                  <a:lnTo>
                    <a:pt x="6210300" y="38608"/>
                  </a:lnTo>
                  <a:lnTo>
                    <a:pt x="6210300" y="4220210"/>
                  </a:lnTo>
                  <a:lnTo>
                    <a:pt x="38100" y="4220210"/>
                  </a:lnTo>
                  <a:lnTo>
                    <a:pt x="38100" y="38100"/>
                  </a:lnTo>
                  <a:lnTo>
                    <a:pt x="6223000" y="38100"/>
                  </a:lnTo>
                  <a:lnTo>
                    <a:pt x="6223000" y="25400"/>
                  </a:lnTo>
                  <a:close/>
                </a:path>
                <a:path w="6248400" h="4258310">
                  <a:moveTo>
                    <a:pt x="6248400" y="0"/>
                  </a:moveTo>
                  <a:lnTo>
                    <a:pt x="0" y="0"/>
                  </a:lnTo>
                  <a:lnTo>
                    <a:pt x="0" y="12700"/>
                  </a:lnTo>
                  <a:lnTo>
                    <a:pt x="0" y="4245610"/>
                  </a:lnTo>
                  <a:lnTo>
                    <a:pt x="0" y="4258310"/>
                  </a:lnTo>
                  <a:lnTo>
                    <a:pt x="6248400" y="4258310"/>
                  </a:lnTo>
                  <a:lnTo>
                    <a:pt x="6248400" y="4245876"/>
                  </a:lnTo>
                  <a:lnTo>
                    <a:pt x="6248400" y="4245610"/>
                  </a:lnTo>
                  <a:lnTo>
                    <a:pt x="6248400" y="13208"/>
                  </a:lnTo>
                  <a:lnTo>
                    <a:pt x="6235700" y="13208"/>
                  </a:lnTo>
                  <a:lnTo>
                    <a:pt x="6235700" y="4245610"/>
                  </a:lnTo>
                  <a:lnTo>
                    <a:pt x="12700" y="4245610"/>
                  </a:lnTo>
                  <a:lnTo>
                    <a:pt x="12700" y="12700"/>
                  </a:lnTo>
                  <a:lnTo>
                    <a:pt x="6248400" y="12700"/>
                  </a:lnTo>
                  <a:lnTo>
                    <a:pt x="6248400" y="0"/>
                  </a:lnTo>
                  <a:close/>
                </a:path>
              </a:pathLst>
            </a:custGeom>
            <a:solidFill>
              <a:srgbClr val="CC6600"/>
            </a:solidFill>
          </p:spPr>
          <p:txBody>
            <a:bodyPr wrap="square" lIns="0" tIns="0" rIns="0" bIns="0" rtlCol="0"/>
            <a:lstStyle/>
            <a:p>
              <a:endParaRPr/>
            </a:p>
          </p:txBody>
        </p:sp>
      </p:grpSp>
    </p:spTree>
    <p:extLst>
      <p:ext uri="{BB962C8B-B14F-4D97-AF65-F5344CB8AC3E}">
        <p14:creationId xmlns:p14="http://schemas.microsoft.com/office/powerpoint/2010/main" val="1705507833"/>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16939" y="1748688"/>
            <a:ext cx="9416415" cy="3778599"/>
          </a:xfrm>
          <a:prstGeom prst="rect">
            <a:avLst/>
          </a:prstGeom>
        </p:spPr>
        <p:txBody>
          <a:bodyPr vert="horz" wrap="square" lIns="0" tIns="46355" rIns="0" bIns="0" rtlCol="0">
            <a:spAutoFit/>
          </a:bodyPr>
          <a:lstStyle/>
          <a:p>
            <a:pPr marL="241300" indent="-228600">
              <a:lnSpc>
                <a:spcPct val="100000"/>
              </a:lnSpc>
              <a:spcBef>
                <a:spcPts val="365"/>
              </a:spcBef>
              <a:buClr>
                <a:srgbClr val="EC7C30"/>
              </a:buClr>
              <a:buFont typeface="Wingdings"/>
              <a:buChar char=""/>
              <a:tabLst>
                <a:tab pos="241300" algn="l"/>
              </a:tabLst>
            </a:pPr>
            <a:r>
              <a:rPr sz="2200" spc="-5" dirty="0">
                <a:latin typeface="Times New Roman"/>
                <a:cs typeface="Times New Roman"/>
              </a:rPr>
              <a:t>How to </a:t>
            </a:r>
            <a:r>
              <a:rPr sz="2200" spc="-10" dirty="0">
                <a:latin typeface="Times New Roman"/>
                <a:cs typeface="Times New Roman"/>
              </a:rPr>
              <a:t>create </a:t>
            </a:r>
            <a:r>
              <a:rPr sz="2200" spc="-5" dirty="0">
                <a:latin typeface="Times New Roman"/>
                <a:cs typeface="Times New Roman"/>
              </a:rPr>
              <a:t>several VM when we </a:t>
            </a:r>
            <a:r>
              <a:rPr sz="2200" dirty="0">
                <a:latin typeface="Times New Roman"/>
                <a:cs typeface="Times New Roman"/>
              </a:rPr>
              <a:t>have </a:t>
            </a:r>
            <a:r>
              <a:rPr sz="2200" spc="-5" dirty="0">
                <a:latin typeface="Times New Roman"/>
                <a:cs typeface="Times New Roman"/>
              </a:rPr>
              <a:t>only one set </a:t>
            </a:r>
            <a:r>
              <a:rPr sz="2200" dirty="0">
                <a:latin typeface="Times New Roman"/>
                <a:cs typeface="Times New Roman"/>
              </a:rPr>
              <a:t>of </a:t>
            </a:r>
            <a:r>
              <a:rPr sz="2200" spc="-5" dirty="0">
                <a:latin typeface="Times New Roman"/>
                <a:cs typeface="Times New Roman"/>
              </a:rPr>
              <a:t>hardware</a:t>
            </a:r>
            <a:r>
              <a:rPr sz="2200" spc="90" dirty="0">
                <a:latin typeface="Times New Roman"/>
                <a:cs typeface="Times New Roman"/>
              </a:rPr>
              <a:t> </a:t>
            </a:r>
            <a:r>
              <a:rPr sz="2200" spc="-10" dirty="0">
                <a:latin typeface="Times New Roman"/>
                <a:cs typeface="Times New Roman"/>
              </a:rPr>
              <a:t>resources?</a:t>
            </a:r>
            <a:endParaRPr sz="2200" dirty="0">
              <a:latin typeface="Times New Roman"/>
              <a:cs typeface="Times New Roman"/>
            </a:endParaRPr>
          </a:p>
          <a:p>
            <a:pPr marL="698500" lvl="1" indent="-229235">
              <a:lnSpc>
                <a:spcPct val="100000"/>
              </a:lnSpc>
              <a:spcBef>
                <a:spcPts val="260"/>
              </a:spcBef>
              <a:buClr>
                <a:srgbClr val="EC7C30"/>
              </a:buClr>
              <a:buFont typeface="Wingdings"/>
              <a:buChar char=""/>
              <a:tabLst>
                <a:tab pos="699135" algn="l"/>
              </a:tabLst>
            </a:pPr>
            <a:r>
              <a:rPr sz="2200" spc="-5" dirty="0">
                <a:latin typeface="Times New Roman"/>
                <a:cs typeface="Times New Roman"/>
              </a:rPr>
              <a:t>Sharing </a:t>
            </a:r>
            <a:r>
              <a:rPr sz="2200" spc="-10" dirty="0">
                <a:latin typeface="Times New Roman"/>
                <a:cs typeface="Times New Roman"/>
              </a:rPr>
              <a:t>resources</a:t>
            </a:r>
            <a:endParaRPr sz="2200" dirty="0">
              <a:latin typeface="Times New Roman"/>
              <a:cs typeface="Times New Roman"/>
            </a:endParaRPr>
          </a:p>
          <a:p>
            <a:pPr marL="241300" indent="-228600">
              <a:lnSpc>
                <a:spcPct val="100000"/>
              </a:lnSpc>
              <a:spcBef>
                <a:spcPts val="270"/>
              </a:spcBef>
              <a:buClr>
                <a:srgbClr val="EC7C30"/>
              </a:buClr>
              <a:buFont typeface="Wingdings"/>
              <a:buChar char=""/>
              <a:tabLst>
                <a:tab pos="241300" algn="l"/>
              </a:tabLst>
            </a:pPr>
            <a:r>
              <a:rPr sz="2200" spc="-5" dirty="0">
                <a:latin typeface="Times New Roman"/>
                <a:cs typeface="Times New Roman"/>
              </a:rPr>
              <a:t>CPU</a:t>
            </a:r>
            <a:endParaRPr sz="2200" dirty="0">
              <a:latin typeface="Times New Roman"/>
              <a:cs typeface="Times New Roman"/>
            </a:endParaRPr>
          </a:p>
          <a:p>
            <a:pPr marL="698500" lvl="1" indent="-229235">
              <a:lnSpc>
                <a:spcPct val="100000"/>
              </a:lnSpc>
              <a:spcBef>
                <a:spcPts val="265"/>
              </a:spcBef>
              <a:buClr>
                <a:srgbClr val="EC7C30"/>
              </a:buClr>
              <a:buFont typeface="Wingdings"/>
              <a:buChar char=""/>
              <a:tabLst>
                <a:tab pos="699135" algn="l"/>
              </a:tabLst>
            </a:pPr>
            <a:r>
              <a:rPr sz="2200" spc="-15" dirty="0">
                <a:latin typeface="Times New Roman"/>
                <a:cs typeface="Times New Roman"/>
              </a:rPr>
              <a:t>Time-shared</a:t>
            </a:r>
            <a:r>
              <a:rPr sz="2200" spc="5" dirty="0">
                <a:latin typeface="Times New Roman"/>
                <a:cs typeface="Times New Roman"/>
              </a:rPr>
              <a:t> </a:t>
            </a:r>
            <a:r>
              <a:rPr sz="2200" spc="-5" dirty="0">
                <a:latin typeface="Times New Roman"/>
                <a:cs typeface="Times New Roman"/>
              </a:rPr>
              <a:t>scheduling</a:t>
            </a:r>
            <a:endParaRPr sz="2200" dirty="0">
              <a:latin typeface="Times New Roman"/>
              <a:cs typeface="Times New Roman"/>
            </a:endParaRPr>
          </a:p>
          <a:p>
            <a:pPr marL="241300" indent="-228600">
              <a:lnSpc>
                <a:spcPct val="100000"/>
              </a:lnSpc>
              <a:spcBef>
                <a:spcPts val="260"/>
              </a:spcBef>
              <a:buClr>
                <a:srgbClr val="EC7C30"/>
              </a:buClr>
              <a:buFont typeface="Wingdings"/>
              <a:buChar char=""/>
              <a:tabLst>
                <a:tab pos="241300" algn="l"/>
              </a:tabLst>
            </a:pPr>
            <a:r>
              <a:rPr sz="2200" spc="-5" dirty="0">
                <a:latin typeface="Times New Roman"/>
                <a:cs typeface="Times New Roman"/>
              </a:rPr>
              <a:t>Printers/card</a:t>
            </a:r>
            <a:r>
              <a:rPr sz="2200" spc="20" dirty="0">
                <a:latin typeface="Times New Roman"/>
                <a:cs typeface="Times New Roman"/>
              </a:rPr>
              <a:t> </a:t>
            </a:r>
            <a:r>
              <a:rPr sz="2200" spc="-10" dirty="0">
                <a:latin typeface="Times New Roman"/>
                <a:cs typeface="Times New Roman"/>
              </a:rPr>
              <a:t>readers</a:t>
            </a:r>
            <a:endParaRPr sz="2200" dirty="0">
              <a:latin typeface="Times New Roman"/>
              <a:cs typeface="Times New Roman"/>
            </a:endParaRPr>
          </a:p>
          <a:p>
            <a:pPr marL="698500" lvl="1" indent="-229235">
              <a:lnSpc>
                <a:spcPct val="100000"/>
              </a:lnSpc>
              <a:spcBef>
                <a:spcPts val="265"/>
              </a:spcBef>
              <a:buClr>
                <a:srgbClr val="EC7C30"/>
              </a:buClr>
              <a:buFont typeface="Wingdings"/>
              <a:buChar char=""/>
              <a:tabLst>
                <a:tab pos="699135" algn="l"/>
              </a:tabLst>
            </a:pPr>
            <a:r>
              <a:rPr sz="2200" dirty="0">
                <a:latin typeface="Times New Roman"/>
                <a:cs typeface="Times New Roman"/>
              </a:rPr>
              <a:t>Spooling</a:t>
            </a:r>
          </a:p>
          <a:p>
            <a:pPr marL="241300" indent="-228600">
              <a:lnSpc>
                <a:spcPct val="100000"/>
              </a:lnSpc>
              <a:spcBef>
                <a:spcPts val="265"/>
              </a:spcBef>
              <a:buClr>
                <a:srgbClr val="EC7C30"/>
              </a:buClr>
              <a:buFont typeface="Wingdings"/>
              <a:buChar char=""/>
              <a:tabLst>
                <a:tab pos="241300" algn="l"/>
              </a:tabLst>
            </a:pPr>
            <a:r>
              <a:rPr sz="2200" spc="-5" dirty="0">
                <a:latin typeface="Times New Roman"/>
                <a:cs typeface="Times New Roman"/>
              </a:rPr>
              <a:t>Memory</a:t>
            </a:r>
            <a:endParaRPr sz="2200" dirty="0">
              <a:latin typeface="Times New Roman"/>
              <a:cs typeface="Times New Roman"/>
            </a:endParaRPr>
          </a:p>
          <a:p>
            <a:pPr marL="698500" lvl="1" indent="-229235">
              <a:lnSpc>
                <a:spcPct val="100000"/>
              </a:lnSpc>
              <a:spcBef>
                <a:spcPts val="265"/>
              </a:spcBef>
              <a:buClr>
                <a:srgbClr val="EC7C30"/>
              </a:buClr>
              <a:buFont typeface="Wingdings"/>
              <a:buChar char=""/>
              <a:tabLst>
                <a:tab pos="699135" algn="l"/>
              </a:tabLst>
            </a:pPr>
            <a:r>
              <a:rPr sz="2200" spc="-15" dirty="0">
                <a:latin typeface="Times New Roman"/>
                <a:cs typeface="Times New Roman"/>
              </a:rPr>
              <a:t>Virtual</a:t>
            </a:r>
            <a:r>
              <a:rPr sz="2200" spc="5" dirty="0">
                <a:latin typeface="Times New Roman"/>
                <a:cs typeface="Times New Roman"/>
              </a:rPr>
              <a:t> </a:t>
            </a:r>
            <a:r>
              <a:rPr sz="2200" spc="-5" dirty="0">
                <a:latin typeface="Times New Roman"/>
                <a:cs typeface="Times New Roman"/>
              </a:rPr>
              <a:t>memory</a:t>
            </a:r>
            <a:endParaRPr sz="2200" dirty="0">
              <a:latin typeface="Times New Roman"/>
              <a:cs typeface="Times New Roman"/>
            </a:endParaRPr>
          </a:p>
          <a:p>
            <a:pPr marL="241300" indent="-228600">
              <a:lnSpc>
                <a:spcPct val="100000"/>
              </a:lnSpc>
              <a:spcBef>
                <a:spcPts val="265"/>
              </a:spcBef>
              <a:buClr>
                <a:srgbClr val="EC7C30"/>
              </a:buClr>
              <a:buFont typeface="Wingdings"/>
              <a:buChar char=""/>
              <a:tabLst>
                <a:tab pos="241300" algn="l"/>
              </a:tabLst>
            </a:pPr>
            <a:r>
              <a:rPr sz="2200" spc="-10" dirty="0">
                <a:latin typeface="Times New Roman"/>
                <a:cs typeface="Times New Roman"/>
              </a:rPr>
              <a:t>HD</a:t>
            </a:r>
            <a:endParaRPr sz="2200" dirty="0">
              <a:latin typeface="Times New Roman"/>
              <a:cs typeface="Times New Roman"/>
            </a:endParaRPr>
          </a:p>
          <a:p>
            <a:pPr marL="698500" lvl="1" indent="-229235">
              <a:lnSpc>
                <a:spcPct val="100000"/>
              </a:lnSpc>
              <a:spcBef>
                <a:spcPts val="265"/>
              </a:spcBef>
              <a:buClr>
                <a:srgbClr val="EC7C30"/>
              </a:buClr>
              <a:buFont typeface="Wingdings"/>
              <a:buChar char=""/>
              <a:tabLst>
                <a:tab pos="699135" algn="l"/>
              </a:tabLst>
            </a:pPr>
            <a:r>
              <a:rPr sz="2200" spc="-5" dirty="0" smtClean="0">
                <a:latin typeface="Times New Roman"/>
                <a:cs typeface="Times New Roman"/>
              </a:rPr>
              <a:t>Its </a:t>
            </a:r>
            <a:r>
              <a:rPr sz="2200" spc="-5" dirty="0">
                <a:latin typeface="Times New Roman"/>
                <a:cs typeface="Times New Roman"/>
              </a:rPr>
              <a:t>not possible to </a:t>
            </a:r>
            <a:r>
              <a:rPr sz="2200" dirty="0">
                <a:latin typeface="Times New Roman"/>
                <a:cs typeface="Times New Roman"/>
              </a:rPr>
              <a:t>have </a:t>
            </a:r>
            <a:r>
              <a:rPr sz="2200" spc="-5" dirty="0">
                <a:latin typeface="Times New Roman"/>
                <a:cs typeface="Times New Roman"/>
              </a:rPr>
              <a:t>full HD for each</a:t>
            </a:r>
            <a:r>
              <a:rPr sz="2200" spc="-55" dirty="0">
                <a:latin typeface="Times New Roman"/>
                <a:cs typeface="Times New Roman"/>
              </a:rPr>
              <a:t> </a:t>
            </a:r>
            <a:r>
              <a:rPr sz="2200" spc="-5" dirty="0">
                <a:latin typeface="Times New Roman"/>
                <a:cs typeface="Times New Roman"/>
              </a:rPr>
              <a:t>VM!</a:t>
            </a:r>
            <a:endParaRPr sz="2200" dirty="0">
              <a:latin typeface="Times New Roman"/>
              <a:cs typeface="Times New Roman"/>
            </a:endParaRPr>
          </a:p>
        </p:txBody>
      </p:sp>
      <p:sp>
        <p:nvSpPr>
          <p:cNvPr id="3" name="object 3"/>
          <p:cNvSpPr txBox="1">
            <a:spLocks noGrp="1"/>
          </p:cNvSpPr>
          <p:nvPr>
            <p:ph type="title"/>
          </p:nvPr>
        </p:nvSpPr>
        <p:spPr>
          <a:xfrm>
            <a:off x="916939" y="659968"/>
            <a:ext cx="8468995" cy="697230"/>
          </a:xfrm>
          <a:prstGeom prst="rect">
            <a:avLst/>
          </a:prstGeom>
        </p:spPr>
        <p:txBody>
          <a:bodyPr vert="horz" wrap="square" lIns="0" tIns="13335" rIns="0" bIns="0" rtlCol="0">
            <a:spAutoFit/>
          </a:bodyPr>
          <a:lstStyle/>
          <a:p>
            <a:pPr marL="12700">
              <a:lnSpc>
                <a:spcPct val="100000"/>
              </a:lnSpc>
              <a:spcBef>
                <a:spcPts val="105"/>
              </a:spcBef>
            </a:pPr>
            <a:r>
              <a:rPr spc="-25" dirty="0">
                <a:solidFill>
                  <a:srgbClr val="FF0000"/>
                </a:solidFill>
                <a:latin typeface="Times New Roman"/>
                <a:cs typeface="Times New Roman"/>
              </a:rPr>
              <a:t>Virtual </a:t>
            </a:r>
            <a:r>
              <a:rPr dirty="0">
                <a:solidFill>
                  <a:srgbClr val="FF0000"/>
                </a:solidFill>
                <a:latin typeface="Times New Roman"/>
                <a:cs typeface="Times New Roman"/>
              </a:rPr>
              <a:t>Machines -</a:t>
            </a:r>
            <a:r>
              <a:rPr spc="-45" dirty="0">
                <a:solidFill>
                  <a:srgbClr val="FF0000"/>
                </a:solidFill>
                <a:latin typeface="Times New Roman"/>
                <a:cs typeface="Times New Roman"/>
              </a:rPr>
              <a:t> </a:t>
            </a:r>
            <a:r>
              <a:rPr dirty="0">
                <a:solidFill>
                  <a:srgbClr val="FF0000"/>
                </a:solidFill>
                <a:latin typeface="Times New Roman"/>
                <a:cs typeface="Times New Roman"/>
              </a:rPr>
              <a:t>Implementation</a:t>
            </a:r>
          </a:p>
        </p:txBody>
      </p:sp>
    </p:spTree>
    <p:extLst>
      <p:ext uri="{BB962C8B-B14F-4D97-AF65-F5344CB8AC3E}">
        <p14:creationId xmlns:p14="http://schemas.microsoft.com/office/powerpoint/2010/main" val="1495297264"/>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16939" y="1759427"/>
            <a:ext cx="7607300" cy="3323346"/>
          </a:xfrm>
          <a:prstGeom prst="rect">
            <a:avLst/>
          </a:prstGeom>
        </p:spPr>
        <p:txBody>
          <a:bodyPr vert="horz" wrap="square" lIns="0" tIns="73025" rIns="0" bIns="0" rtlCol="0">
            <a:spAutoFit/>
          </a:bodyPr>
          <a:lstStyle/>
          <a:p>
            <a:pPr marL="12700">
              <a:lnSpc>
                <a:spcPct val="100000"/>
              </a:lnSpc>
              <a:spcBef>
                <a:spcPts val="575"/>
              </a:spcBef>
            </a:pPr>
            <a:r>
              <a:rPr sz="2000" b="1" dirty="0">
                <a:solidFill>
                  <a:srgbClr val="FF0000"/>
                </a:solidFill>
                <a:latin typeface="Times New Roman"/>
                <a:cs typeface="Times New Roman"/>
              </a:rPr>
              <a:t>Advantage:</a:t>
            </a:r>
            <a:endParaRPr sz="2000" dirty="0">
              <a:solidFill>
                <a:srgbClr val="FF0000"/>
              </a:solidFill>
              <a:latin typeface="Times New Roman"/>
              <a:cs typeface="Times New Roman"/>
            </a:endParaRPr>
          </a:p>
          <a:p>
            <a:pPr marL="698500" indent="-229235">
              <a:lnSpc>
                <a:spcPct val="100000"/>
              </a:lnSpc>
              <a:spcBef>
                <a:spcPts val="480"/>
              </a:spcBef>
              <a:buClr>
                <a:srgbClr val="EC7C30"/>
              </a:buClr>
              <a:buFont typeface="Wingdings"/>
              <a:buChar char=""/>
              <a:tabLst>
                <a:tab pos="699135" algn="l"/>
              </a:tabLst>
            </a:pPr>
            <a:r>
              <a:rPr sz="2000" dirty="0">
                <a:latin typeface="Times New Roman"/>
                <a:cs typeface="Times New Roman"/>
              </a:rPr>
              <a:t>Complete </a:t>
            </a:r>
            <a:r>
              <a:rPr sz="2000" spc="-5" dirty="0">
                <a:latin typeface="Times New Roman"/>
                <a:cs typeface="Times New Roman"/>
              </a:rPr>
              <a:t>protection/isolation </a:t>
            </a:r>
            <a:r>
              <a:rPr sz="2000" dirty="0">
                <a:latin typeface="Times New Roman"/>
                <a:cs typeface="Times New Roman"/>
              </a:rPr>
              <a:t>of system </a:t>
            </a:r>
            <a:r>
              <a:rPr sz="2000" spc="-10" dirty="0">
                <a:latin typeface="Times New Roman"/>
                <a:cs typeface="Times New Roman"/>
              </a:rPr>
              <a:t>resources </a:t>
            </a:r>
            <a:r>
              <a:rPr sz="2000" dirty="0">
                <a:latin typeface="Times New Roman"/>
                <a:cs typeface="Times New Roman"/>
              </a:rPr>
              <a:t>between</a:t>
            </a:r>
            <a:r>
              <a:rPr sz="2000" spc="-155" dirty="0">
                <a:latin typeface="Times New Roman"/>
                <a:cs typeface="Times New Roman"/>
              </a:rPr>
              <a:t> </a:t>
            </a:r>
            <a:r>
              <a:rPr sz="2000" dirty="0">
                <a:latin typeface="Times New Roman"/>
                <a:cs typeface="Times New Roman"/>
              </a:rPr>
              <a:t>VMs</a:t>
            </a:r>
          </a:p>
          <a:p>
            <a:pPr marL="698500" indent="-229235">
              <a:lnSpc>
                <a:spcPct val="100000"/>
              </a:lnSpc>
              <a:spcBef>
                <a:spcPts val="484"/>
              </a:spcBef>
              <a:buClr>
                <a:srgbClr val="EC7C30"/>
              </a:buClr>
              <a:buFont typeface="Wingdings"/>
              <a:buChar char=""/>
              <a:tabLst>
                <a:tab pos="699135" algn="l"/>
              </a:tabLst>
            </a:pPr>
            <a:r>
              <a:rPr sz="2000" dirty="0">
                <a:latin typeface="Times New Roman"/>
                <a:cs typeface="Times New Roman"/>
              </a:rPr>
              <a:t>Perfect vehicle for operating-systems </a:t>
            </a:r>
            <a:r>
              <a:rPr sz="2000" spc="-10" dirty="0">
                <a:latin typeface="Times New Roman"/>
                <a:cs typeface="Times New Roman"/>
              </a:rPr>
              <a:t>research </a:t>
            </a:r>
            <a:r>
              <a:rPr sz="2000" dirty="0">
                <a:latin typeface="Times New Roman"/>
                <a:cs typeface="Times New Roman"/>
              </a:rPr>
              <a:t>and</a:t>
            </a:r>
            <a:r>
              <a:rPr sz="2000" spc="-190" dirty="0">
                <a:latin typeface="Times New Roman"/>
                <a:cs typeface="Times New Roman"/>
              </a:rPr>
              <a:t> </a:t>
            </a:r>
            <a:r>
              <a:rPr sz="2000" dirty="0">
                <a:latin typeface="Times New Roman"/>
                <a:cs typeface="Times New Roman"/>
              </a:rPr>
              <a:t>development</a:t>
            </a:r>
          </a:p>
          <a:p>
            <a:pPr marL="1155700" lvl="1" indent="-229235">
              <a:lnSpc>
                <a:spcPct val="100000"/>
              </a:lnSpc>
              <a:spcBef>
                <a:spcPts val="439"/>
              </a:spcBef>
              <a:buClr>
                <a:srgbClr val="EC7C30"/>
              </a:buClr>
              <a:buFont typeface="Wingdings"/>
              <a:buChar char=""/>
              <a:tabLst>
                <a:tab pos="1156335" algn="l"/>
              </a:tabLst>
            </a:pPr>
            <a:r>
              <a:rPr sz="1800" spc="-5" dirty="0">
                <a:latin typeface="Times New Roman"/>
                <a:cs typeface="Times New Roman"/>
              </a:rPr>
              <a:t>If the OS </a:t>
            </a:r>
            <a:r>
              <a:rPr sz="1800" dirty="0">
                <a:latin typeface="Times New Roman"/>
                <a:cs typeface="Times New Roman"/>
              </a:rPr>
              <a:t>you </a:t>
            </a:r>
            <a:r>
              <a:rPr sz="1800" spc="-15" dirty="0">
                <a:latin typeface="Times New Roman"/>
                <a:cs typeface="Times New Roman"/>
              </a:rPr>
              <a:t>are </a:t>
            </a:r>
            <a:r>
              <a:rPr sz="1800" spc="-5" dirty="0">
                <a:latin typeface="Times New Roman"/>
                <a:cs typeface="Times New Roman"/>
              </a:rPr>
              <a:t>developing crashes, just restart the</a:t>
            </a:r>
            <a:r>
              <a:rPr sz="1800" spc="25" dirty="0">
                <a:latin typeface="Times New Roman"/>
                <a:cs typeface="Times New Roman"/>
              </a:rPr>
              <a:t> </a:t>
            </a:r>
            <a:r>
              <a:rPr sz="1800" spc="-5" dirty="0">
                <a:latin typeface="Times New Roman"/>
                <a:cs typeface="Times New Roman"/>
              </a:rPr>
              <a:t>VM</a:t>
            </a:r>
            <a:endParaRPr sz="1800" dirty="0">
              <a:latin typeface="Times New Roman"/>
              <a:cs typeface="Times New Roman"/>
            </a:endParaRPr>
          </a:p>
          <a:p>
            <a:pPr marL="698500" indent="-229235">
              <a:lnSpc>
                <a:spcPct val="100000"/>
              </a:lnSpc>
              <a:spcBef>
                <a:spcPts val="470"/>
              </a:spcBef>
              <a:buClr>
                <a:srgbClr val="EC7C30"/>
              </a:buClr>
              <a:buFont typeface="Wingdings"/>
              <a:buChar char=""/>
              <a:tabLst>
                <a:tab pos="699135" algn="l"/>
              </a:tabLst>
            </a:pPr>
            <a:r>
              <a:rPr sz="2000" dirty="0">
                <a:latin typeface="Times New Roman"/>
                <a:cs typeface="Times New Roman"/>
              </a:rPr>
              <a:t>Useful </a:t>
            </a:r>
            <a:r>
              <a:rPr sz="2000" spc="-5" dirty="0">
                <a:latin typeface="Times New Roman"/>
                <a:cs typeface="Times New Roman"/>
              </a:rPr>
              <a:t>when </a:t>
            </a:r>
            <a:r>
              <a:rPr sz="2000" dirty="0">
                <a:latin typeface="Times New Roman"/>
                <a:cs typeface="Times New Roman"/>
              </a:rPr>
              <a:t>you have applications for </a:t>
            </a:r>
            <a:r>
              <a:rPr sz="2000" spc="-5" dirty="0">
                <a:latin typeface="Times New Roman"/>
                <a:cs typeface="Times New Roman"/>
              </a:rPr>
              <a:t>different</a:t>
            </a:r>
            <a:r>
              <a:rPr sz="2000" spc="-195" dirty="0">
                <a:latin typeface="Times New Roman"/>
                <a:cs typeface="Times New Roman"/>
              </a:rPr>
              <a:t> </a:t>
            </a:r>
            <a:r>
              <a:rPr sz="2000" dirty="0">
                <a:latin typeface="Times New Roman"/>
                <a:cs typeface="Times New Roman"/>
              </a:rPr>
              <a:t>OSs</a:t>
            </a:r>
          </a:p>
          <a:p>
            <a:pPr>
              <a:lnSpc>
                <a:spcPct val="100000"/>
              </a:lnSpc>
              <a:spcBef>
                <a:spcPts val="25"/>
              </a:spcBef>
              <a:buClr>
                <a:srgbClr val="EC7C30"/>
              </a:buClr>
              <a:buFont typeface="Wingdings"/>
              <a:buChar char=""/>
            </a:pPr>
            <a:endParaRPr sz="2900" dirty="0">
              <a:latin typeface="Times New Roman"/>
              <a:cs typeface="Times New Roman"/>
            </a:endParaRPr>
          </a:p>
          <a:p>
            <a:pPr marL="12700">
              <a:lnSpc>
                <a:spcPct val="100000"/>
              </a:lnSpc>
            </a:pPr>
            <a:r>
              <a:rPr sz="2000" b="1" dirty="0">
                <a:solidFill>
                  <a:srgbClr val="FF0000"/>
                </a:solidFill>
                <a:latin typeface="Times New Roman"/>
                <a:cs typeface="Times New Roman"/>
              </a:rPr>
              <a:t>Disadvantage</a:t>
            </a:r>
            <a:endParaRPr sz="2000" dirty="0">
              <a:solidFill>
                <a:srgbClr val="FF0000"/>
              </a:solidFill>
              <a:latin typeface="Times New Roman"/>
              <a:cs typeface="Times New Roman"/>
            </a:endParaRPr>
          </a:p>
          <a:p>
            <a:pPr marL="698500" indent="-229235">
              <a:lnSpc>
                <a:spcPct val="100000"/>
              </a:lnSpc>
              <a:spcBef>
                <a:spcPts val="480"/>
              </a:spcBef>
              <a:buClr>
                <a:srgbClr val="EC7C30"/>
              </a:buClr>
              <a:buFont typeface="Wingdings"/>
              <a:buChar char=""/>
              <a:tabLst>
                <a:tab pos="699135" algn="l"/>
              </a:tabLst>
            </a:pPr>
            <a:r>
              <a:rPr sz="2000" dirty="0">
                <a:latin typeface="Times New Roman"/>
                <a:cs typeface="Times New Roman"/>
              </a:rPr>
              <a:t>No </a:t>
            </a:r>
            <a:r>
              <a:rPr sz="2000" spc="-10" dirty="0">
                <a:latin typeface="Times New Roman"/>
                <a:cs typeface="Times New Roman"/>
              </a:rPr>
              <a:t>direct </a:t>
            </a:r>
            <a:r>
              <a:rPr sz="2000" dirty="0">
                <a:latin typeface="Times New Roman"/>
                <a:cs typeface="Times New Roman"/>
              </a:rPr>
              <a:t>sharing of </a:t>
            </a:r>
            <a:r>
              <a:rPr sz="2000" spc="-10" dirty="0">
                <a:latin typeface="Times New Roman"/>
                <a:cs typeface="Times New Roman"/>
              </a:rPr>
              <a:t>resources </a:t>
            </a:r>
            <a:r>
              <a:rPr sz="2000" dirty="0">
                <a:latin typeface="Times New Roman"/>
                <a:cs typeface="Times New Roman"/>
              </a:rPr>
              <a:t>between </a:t>
            </a:r>
            <a:r>
              <a:rPr sz="2000" spc="-5" dirty="0">
                <a:latin typeface="Times New Roman"/>
                <a:cs typeface="Times New Roman"/>
              </a:rPr>
              <a:t>different</a:t>
            </a:r>
            <a:r>
              <a:rPr sz="2000" spc="-150" dirty="0">
                <a:latin typeface="Times New Roman"/>
                <a:cs typeface="Times New Roman"/>
              </a:rPr>
              <a:t> </a:t>
            </a:r>
            <a:r>
              <a:rPr sz="2000" dirty="0">
                <a:latin typeface="Times New Roman"/>
                <a:cs typeface="Times New Roman"/>
              </a:rPr>
              <a:t>VMs</a:t>
            </a:r>
          </a:p>
          <a:p>
            <a:pPr marL="698500" indent="-229235">
              <a:lnSpc>
                <a:spcPct val="100000"/>
              </a:lnSpc>
              <a:spcBef>
                <a:spcPts val="480"/>
              </a:spcBef>
              <a:buClr>
                <a:srgbClr val="EC7C30"/>
              </a:buClr>
              <a:buFont typeface="Wingdings"/>
              <a:buChar char=""/>
              <a:tabLst>
                <a:tab pos="699135" algn="l"/>
              </a:tabLst>
            </a:pPr>
            <a:r>
              <a:rPr sz="2000" dirty="0">
                <a:latin typeface="Times New Roman"/>
                <a:cs typeface="Times New Roman"/>
              </a:rPr>
              <a:t>Difficult to </a:t>
            </a:r>
            <a:r>
              <a:rPr sz="2000" spc="-5" dirty="0">
                <a:latin typeface="Times New Roman"/>
                <a:cs typeface="Times New Roman"/>
              </a:rPr>
              <a:t>implement</a:t>
            </a:r>
            <a:r>
              <a:rPr sz="2000" spc="-95" dirty="0">
                <a:latin typeface="Times New Roman"/>
                <a:cs typeface="Times New Roman"/>
              </a:rPr>
              <a:t> </a:t>
            </a:r>
            <a:r>
              <a:rPr sz="2000" dirty="0">
                <a:latin typeface="Times New Roman"/>
                <a:cs typeface="Times New Roman"/>
              </a:rPr>
              <a:t>completely</a:t>
            </a:r>
          </a:p>
        </p:txBody>
      </p:sp>
      <p:sp>
        <p:nvSpPr>
          <p:cNvPr id="3" name="object 3"/>
          <p:cNvSpPr txBox="1">
            <a:spLocks noGrp="1"/>
          </p:cNvSpPr>
          <p:nvPr>
            <p:ph type="title"/>
          </p:nvPr>
        </p:nvSpPr>
        <p:spPr>
          <a:xfrm>
            <a:off x="916939" y="693496"/>
            <a:ext cx="10290810" cy="635000"/>
          </a:xfrm>
          <a:prstGeom prst="rect">
            <a:avLst/>
          </a:prstGeom>
        </p:spPr>
        <p:txBody>
          <a:bodyPr vert="horz" wrap="square" lIns="0" tIns="12065" rIns="0" bIns="0" rtlCol="0">
            <a:spAutoFit/>
          </a:bodyPr>
          <a:lstStyle/>
          <a:p>
            <a:pPr marL="12700">
              <a:lnSpc>
                <a:spcPct val="100000"/>
              </a:lnSpc>
              <a:spcBef>
                <a:spcPts val="95"/>
              </a:spcBef>
            </a:pPr>
            <a:r>
              <a:rPr sz="4000" dirty="0">
                <a:solidFill>
                  <a:srgbClr val="FF0000"/>
                </a:solidFill>
                <a:latin typeface="Times New Roman"/>
                <a:cs typeface="Times New Roman"/>
              </a:rPr>
              <a:t>Advantages/Disadvantages </a:t>
            </a:r>
            <a:r>
              <a:rPr sz="4000" spc="-5" dirty="0">
                <a:solidFill>
                  <a:srgbClr val="FF0000"/>
                </a:solidFill>
                <a:latin typeface="Times New Roman"/>
                <a:cs typeface="Times New Roman"/>
              </a:rPr>
              <a:t>of </a:t>
            </a:r>
            <a:r>
              <a:rPr sz="4000" spc="-25" dirty="0">
                <a:solidFill>
                  <a:srgbClr val="FF0000"/>
                </a:solidFill>
                <a:latin typeface="Times New Roman"/>
                <a:cs typeface="Times New Roman"/>
              </a:rPr>
              <a:t>Virtual</a:t>
            </a:r>
            <a:r>
              <a:rPr sz="4000" spc="-75" dirty="0">
                <a:solidFill>
                  <a:srgbClr val="FF0000"/>
                </a:solidFill>
                <a:latin typeface="Times New Roman"/>
                <a:cs typeface="Times New Roman"/>
              </a:rPr>
              <a:t> </a:t>
            </a:r>
            <a:r>
              <a:rPr sz="4000" spc="-5" dirty="0">
                <a:solidFill>
                  <a:srgbClr val="FF0000"/>
                </a:solidFill>
                <a:latin typeface="Times New Roman"/>
                <a:cs typeface="Times New Roman"/>
              </a:rPr>
              <a:t>Machines</a:t>
            </a:r>
            <a:endParaRPr sz="4000" dirty="0">
              <a:solidFill>
                <a:srgbClr val="FF0000"/>
              </a:solidFill>
              <a:latin typeface="Times New Roman"/>
              <a:cs typeface="Times New Roman"/>
            </a:endParaRPr>
          </a:p>
        </p:txBody>
      </p:sp>
    </p:spTree>
    <p:extLst>
      <p:ext uri="{BB962C8B-B14F-4D97-AF65-F5344CB8AC3E}">
        <p14:creationId xmlns:p14="http://schemas.microsoft.com/office/powerpoint/2010/main" val="2495776747"/>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2191365" cy="6858000"/>
            <a:chOff x="0" y="0"/>
            <a:chExt cx="12191365" cy="6858000"/>
          </a:xfrm>
        </p:grpSpPr>
        <p:sp>
          <p:nvSpPr>
            <p:cNvPr id="3" name="object 3"/>
            <p:cNvSpPr/>
            <p:nvPr/>
          </p:nvSpPr>
          <p:spPr>
            <a:xfrm>
              <a:off x="758951" y="1638406"/>
              <a:ext cx="11432286" cy="180381"/>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3136392" y="1932432"/>
              <a:ext cx="6617208" cy="4632960"/>
            </a:xfrm>
            <a:prstGeom prst="rect">
              <a:avLst/>
            </a:prstGeom>
            <a:blipFill>
              <a:blip r:embed="rId3" cstate="print"/>
              <a:stretch>
                <a:fillRect/>
              </a:stretch>
            </a:blipFill>
          </p:spPr>
          <p:txBody>
            <a:bodyPr wrap="square" lIns="0" tIns="0" rIns="0" bIns="0" rtlCol="0"/>
            <a:lstStyle/>
            <a:p>
              <a:endParaRPr/>
            </a:p>
          </p:txBody>
        </p:sp>
        <p:sp>
          <p:nvSpPr>
            <p:cNvPr id="5" name="object 5"/>
            <p:cNvSpPr/>
            <p:nvPr/>
          </p:nvSpPr>
          <p:spPr>
            <a:xfrm>
              <a:off x="3098292" y="1894839"/>
              <a:ext cx="6693534" cy="4709160"/>
            </a:xfrm>
            <a:custGeom>
              <a:avLst/>
              <a:gdLst/>
              <a:ahLst/>
              <a:cxnLst/>
              <a:rect l="l" t="t" r="r" b="b"/>
              <a:pathLst>
                <a:path w="6693534" h="4709159">
                  <a:moveTo>
                    <a:pt x="6668008" y="25400"/>
                  </a:moveTo>
                  <a:lnTo>
                    <a:pt x="25400" y="25400"/>
                  </a:lnTo>
                  <a:lnTo>
                    <a:pt x="25400" y="38100"/>
                  </a:lnTo>
                  <a:lnTo>
                    <a:pt x="25400" y="4671060"/>
                  </a:lnTo>
                  <a:lnTo>
                    <a:pt x="25400" y="4683760"/>
                  </a:lnTo>
                  <a:lnTo>
                    <a:pt x="6668008" y="4683760"/>
                  </a:lnTo>
                  <a:lnTo>
                    <a:pt x="6668008" y="4671060"/>
                  </a:lnTo>
                  <a:lnTo>
                    <a:pt x="38100" y="4671060"/>
                  </a:lnTo>
                  <a:lnTo>
                    <a:pt x="38100" y="38100"/>
                  </a:lnTo>
                  <a:lnTo>
                    <a:pt x="6655308" y="38100"/>
                  </a:lnTo>
                  <a:lnTo>
                    <a:pt x="6655308" y="4670552"/>
                  </a:lnTo>
                  <a:lnTo>
                    <a:pt x="6668008" y="4670552"/>
                  </a:lnTo>
                  <a:lnTo>
                    <a:pt x="6668008" y="38100"/>
                  </a:lnTo>
                  <a:lnTo>
                    <a:pt x="6668008" y="37592"/>
                  </a:lnTo>
                  <a:lnTo>
                    <a:pt x="6668008" y="25400"/>
                  </a:lnTo>
                  <a:close/>
                </a:path>
                <a:path w="6693534" h="4709159">
                  <a:moveTo>
                    <a:pt x="6693408" y="0"/>
                  </a:moveTo>
                  <a:lnTo>
                    <a:pt x="0" y="0"/>
                  </a:lnTo>
                  <a:lnTo>
                    <a:pt x="0" y="12700"/>
                  </a:lnTo>
                  <a:lnTo>
                    <a:pt x="0" y="4696460"/>
                  </a:lnTo>
                  <a:lnTo>
                    <a:pt x="0" y="4709160"/>
                  </a:lnTo>
                  <a:lnTo>
                    <a:pt x="6693408" y="4709160"/>
                  </a:lnTo>
                  <a:lnTo>
                    <a:pt x="6693408" y="4696460"/>
                  </a:lnTo>
                  <a:lnTo>
                    <a:pt x="12700" y="4696460"/>
                  </a:lnTo>
                  <a:lnTo>
                    <a:pt x="12700" y="12700"/>
                  </a:lnTo>
                  <a:lnTo>
                    <a:pt x="6680708" y="12700"/>
                  </a:lnTo>
                  <a:lnTo>
                    <a:pt x="6680708" y="4695952"/>
                  </a:lnTo>
                  <a:lnTo>
                    <a:pt x="6693408" y="4695952"/>
                  </a:lnTo>
                  <a:lnTo>
                    <a:pt x="6693408" y="12700"/>
                  </a:lnTo>
                  <a:lnTo>
                    <a:pt x="6693408" y="12192"/>
                  </a:lnTo>
                  <a:lnTo>
                    <a:pt x="6693408" y="0"/>
                  </a:lnTo>
                  <a:close/>
                </a:path>
              </a:pathLst>
            </a:custGeom>
            <a:solidFill>
              <a:srgbClr val="CC6600"/>
            </a:solidFill>
          </p:spPr>
          <p:txBody>
            <a:bodyPr wrap="square" lIns="0" tIns="0" rIns="0" bIns="0" rtlCol="0"/>
            <a:lstStyle/>
            <a:p>
              <a:endParaRPr/>
            </a:p>
          </p:txBody>
        </p:sp>
      </p:grpSp>
      <p:sp>
        <p:nvSpPr>
          <p:cNvPr id="6" name="object 6"/>
          <p:cNvSpPr txBox="1">
            <a:spLocks noGrp="1"/>
          </p:cNvSpPr>
          <p:nvPr>
            <p:ph type="title"/>
          </p:nvPr>
        </p:nvSpPr>
        <p:spPr>
          <a:xfrm>
            <a:off x="916939" y="659968"/>
            <a:ext cx="7685405" cy="697230"/>
          </a:xfrm>
          <a:prstGeom prst="rect">
            <a:avLst/>
          </a:prstGeom>
        </p:spPr>
        <p:txBody>
          <a:bodyPr vert="horz" wrap="square" lIns="0" tIns="13335" rIns="0" bIns="0" rtlCol="0">
            <a:spAutoFit/>
          </a:bodyPr>
          <a:lstStyle/>
          <a:p>
            <a:pPr marL="12700">
              <a:lnSpc>
                <a:spcPct val="100000"/>
              </a:lnSpc>
              <a:spcBef>
                <a:spcPts val="105"/>
              </a:spcBef>
            </a:pPr>
            <a:r>
              <a:rPr dirty="0">
                <a:solidFill>
                  <a:srgbClr val="FF0000"/>
                </a:solidFill>
                <a:latin typeface="Times New Roman"/>
                <a:cs typeface="Times New Roman"/>
              </a:rPr>
              <a:t>Example: </a:t>
            </a:r>
            <a:r>
              <a:rPr spc="-10" dirty="0">
                <a:solidFill>
                  <a:srgbClr val="FF0000"/>
                </a:solidFill>
                <a:latin typeface="Times New Roman"/>
                <a:cs typeface="Times New Roman"/>
              </a:rPr>
              <a:t>VMware</a:t>
            </a:r>
            <a:r>
              <a:rPr spc="-409" dirty="0">
                <a:solidFill>
                  <a:srgbClr val="FF0000"/>
                </a:solidFill>
                <a:latin typeface="Times New Roman"/>
                <a:cs typeface="Times New Roman"/>
              </a:rPr>
              <a:t> </a:t>
            </a:r>
            <a:r>
              <a:rPr spc="-15" dirty="0">
                <a:solidFill>
                  <a:srgbClr val="FF0000"/>
                </a:solidFill>
                <a:latin typeface="Times New Roman"/>
                <a:cs typeface="Times New Roman"/>
              </a:rPr>
              <a:t>Architecture</a:t>
            </a:r>
          </a:p>
        </p:txBody>
      </p:sp>
    </p:spTree>
    <p:extLst>
      <p:ext uri="{BB962C8B-B14F-4D97-AF65-F5344CB8AC3E}">
        <p14:creationId xmlns:p14="http://schemas.microsoft.com/office/powerpoint/2010/main" val="1082454694"/>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38200" y="365126"/>
            <a:ext cx="10515600" cy="724765"/>
          </a:xfrm>
        </p:spPr>
        <p:txBody>
          <a:bodyPr/>
          <a:lstStyle/>
          <a:p>
            <a:r>
              <a:rPr lang="en-US" dirty="0">
                <a:solidFill>
                  <a:srgbClr val="FF0000"/>
                </a:solidFill>
              </a:rPr>
              <a:t>comparison between the two kernel </a:t>
            </a:r>
            <a:r>
              <a:rPr lang="en-US" dirty="0" smtClean="0">
                <a:solidFill>
                  <a:srgbClr val="FF0000"/>
                </a:solidFill>
              </a:rPr>
              <a:t>types</a:t>
            </a:r>
            <a:endParaRPr lang="en-US" dirty="0">
              <a:solidFill>
                <a:srgbClr val="FF0000"/>
              </a:solidFill>
            </a:endParaRPr>
          </a:p>
        </p:txBody>
      </p:sp>
      <p:sp>
        <p:nvSpPr>
          <p:cNvPr id="4" name="Content Placeholder 3"/>
          <p:cNvSpPr>
            <a:spLocks noGrp="1"/>
          </p:cNvSpPr>
          <p:nvPr>
            <p:ph idx="1"/>
          </p:nvPr>
        </p:nvSpPr>
        <p:spPr>
          <a:xfrm>
            <a:off x="674255" y="1089891"/>
            <a:ext cx="11129817" cy="5541818"/>
          </a:xfrm>
        </p:spPr>
        <p:txBody>
          <a:bodyPr>
            <a:normAutofit fontScale="92500" lnSpcReduction="10000"/>
          </a:bodyPr>
          <a:lstStyle/>
          <a:p>
            <a:pPr marL="0" indent="0">
              <a:buNone/>
            </a:pPr>
            <a:r>
              <a:rPr lang="en-US" dirty="0" smtClean="0">
                <a:solidFill>
                  <a:srgbClr val="FF0000"/>
                </a:solidFill>
              </a:rPr>
              <a:t>Monolithic </a:t>
            </a:r>
            <a:r>
              <a:rPr lang="en-US" dirty="0">
                <a:solidFill>
                  <a:srgbClr val="FF0000"/>
                </a:solidFill>
              </a:rPr>
              <a:t>Kernel </a:t>
            </a:r>
            <a:r>
              <a:rPr lang="en-US" dirty="0"/>
              <a:t>(e.g., Linux)</a:t>
            </a:r>
          </a:p>
          <a:p>
            <a:r>
              <a:rPr lang="en-US" dirty="0">
                <a:solidFill>
                  <a:srgbClr val="FF0000"/>
                </a:solidFill>
              </a:rPr>
              <a:t>All-in-one:</a:t>
            </a:r>
            <a:r>
              <a:rPr lang="en-US" dirty="0"/>
              <a:t> Every major service runs together inside one big kernel.</a:t>
            </a:r>
          </a:p>
          <a:p>
            <a:r>
              <a:rPr lang="en-US" dirty="0">
                <a:solidFill>
                  <a:srgbClr val="FF0000"/>
                </a:solidFill>
              </a:rPr>
              <a:t>Fast performance: </a:t>
            </a:r>
            <a:r>
              <a:rPr lang="en-US" dirty="0"/>
              <a:t>Services talk directly to each other without extra steps.</a:t>
            </a:r>
          </a:p>
          <a:p>
            <a:r>
              <a:rPr lang="en-US" dirty="0">
                <a:solidFill>
                  <a:srgbClr val="FF0000"/>
                </a:solidFill>
              </a:rPr>
              <a:t>Higher risk: </a:t>
            </a:r>
            <a:r>
              <a:rPr lang="en-US" dirty="0"/>
              <a:t>If one service crashes, the whole system goes down.</a:t>
            </a:r>
          </a:p>
          <a:p>
            <a:r>
              <a:rPr lang="en-US" dirty="0">
                <a:solidFill>
                  <a:srgbClr val="FF0000"/>
                </a:solidFill>
              </a:rPr>
              <a:t>Large size: </a:t>
            </a:r>
            <a:r>
              <a:rPr lang="en-US" dirty="0"/>
              <a:t>The kernel itself is big because it holds everything</a:t>
            </a:r>
            <a:r>
              <a:rPr lang="en-US" dirty="0" smtClean="0"/>
              <a:t>.</a:t>
            </a:r>
          </a:p>
          <a:p>
            <a:pPr marL="0" indent="0">
              <a:buNone/>
            </a:pPr>
            <a:endParaRPr lang="en-US" dirty="0"/>
          </a:p>
          <a:p>
            <a:pPr marL="0" indent="0">
              <a:buNone/>
            </a:pPr>
            <a:r>
              <a:rPr lang="en-US" dirty="0">
                <a:solidFill>
                  <a:srgbClr val="FF0000"/>
                </a:solidFill>
              </a:rPr>
              <a:t>Microkernel </a:t>
            </a:r>
            <a:r>
              <a:rPr lang="en-US" dirty="0"/>
              <a:t>(e.g., QNX, </a:t>
            </a:r>
            <a:r>
              <a:rPr lang="en-US" dirty="0" err="1"/>
              <a:t>Minix</a:t>
            </a:r>
            <a:r>
              <a:rPr lang="en-US" dirty="0"/>
              <a:t>)</a:t>
            </a:r>
          </a:p>
          <a:p>
            <a:r>
              <a:rPr lang="en-US" dirty="0">
                <a:solidFill>
                  <a:srgbClr val="FF0000"/>
                </a:solidFill>
              </a:rPr>
              <a:t>Bare minimum: </a:t>
            </a:r>
            <a:r>
              <a:rPr lang="en-US" dirty="0"/>
              <a:t>The kernel only handles the most essential tasks.</a:t>
            </a:r>
          </a:p>
          <a:p>
            <a:r>
              <a:rPr lang="en-US" dirty="0">
                <a:solidFill>
                  <a:srgbClr val="FF0000"/>
                </a:solidFill>
              </a:rPr>
              <a:t>Separate services: </a:t>
            </a:r>
            <a:r>
              <a:rPr lang="en-US" dirty="0"/>
              <a:t>Drivers and file systems run outside the kernel as separate apps.</a:t>
            </a:r>
          </a:p>
          <a:p>
            <a:r>
              <a:rPr lang="en-US" dirty="0">
                <a:solidFill>
                  <a:srgbClr val="FF0000"/>
                </a:solidFill>
              </a:rPr>
              <a:t>High safety: </a:t>
            </a:r>
            <a:r>
              <a:rPr lang="en-US" dirty="0"/>
              <a:t>If a driver crashes, the system stays up and restarts it.</a:t>
            </a:r>
          </a:p>
          <a:p>
            <a:r>
              <a:rPr lang="en-US" dirty="0">
                <a:solidFill>
                  <a:srgbClr val="FF0000"/>
                </a:solidFill>
              </a:rPr>
              <a:t>Slower speed: </a:t>
            </a:r>
            <a:r>
              <a:rPr lang="en-US" dirty="0"/>
              <a:t>Moving data between separate parts takes more time.</a:t>
            </a:r>
          </a:p>
        </p:txBody>
      </p:sp>
    </p:spTree>
    <p:extLst>
      <p:ext uri="{BB962C8B-B14F-4D97-AF65-F5344CB8AC3E}">
        <p14:creationId xmlns:p14="http://schemas.microsoft.com/office/powerpoint/2010/main" val="127709416"/>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 xmlns:a16="http://schemas.microsoft.com/office/drawing/2014/main" id="{D1A9836E-EBC0-4F99-AF8C-817A3D19FA01}"/>
              </a:ext>
            </a:extLst>
          </p:cNvPr>
          <p:cNvSpPr>
            <a:spLocks noGrp="1" noChangeArrowheads="1"/>
          </p:cNvSpPr>
          <p:nvPr>
            <p:ph type="title"/>
          </p:nvPr>
        </p:nvSpPr>
        <p:spPr/>
        <p:txBody>
          <a:bodyPr/>
          <a:lstStyle/>
          <a:p>
            <a:r>
              <a:rPr lang="en-US" altLang="en-US" sz="4000" dirty="0">
                <a:solidFill>
                  <a:srgbClr val="FF0000"/>
                </a:solidFill>
                <a:latin typeface="Arial" panose="020B0604020202020204" pitchFamily="34" charset="0"/>
              </a:rPr>
              <a:t>Types of </a:t>
            </a:r>
            <a:r>
              <a:rPr lang="en-US" altLang="en-US" sz="4000" dirty="0" smtClean="0">
                <a:solidFill>
                  <a:srgbClr val="FF0000"/>
                </a:solidFill>
                <a:latin typeface="Arial" panose="020B0604020202020204" pitchFamily="34" charset="0"/>
              </a:rPr>
              <a:t>OS</a:t>
            </a:r>
            <a:endParaRPr lang="en-US" altLang="en-US" sz="4000" dirty="0">
              <a:solidFill>
                <a:srgbClr val="FF0000"/>
              </a:solidFill>
              <a:latin typeface="Arial" panose="020B0604020202020204" pitchFamily="34" charset="0"/>
            </a:endParaRPr>
          </a:p>
        </p:txBody>
      </p:sp>
      <p:sp>
        <p:nvSpPr>
          <p:cNvPr id="14339" name="Rectangle 3">
            <a:extLst>
              <a:ext uri="{FF2B5EF4-FFF2-40B4-BE49-F238E27FC236}">
                <a16:creationId xmlns="" xmlns:a16="http://schemas.microsoft.com/office/drawing/2014/main" id="{799B97A6-B9B9-424E-971C-1770E5FD1406}"/>
              </a:ext>
            </a:extLst>
          </p:cNvPr>
          <p:cNvSpPr>
            <a:spLocks noGrp="1" noChangeArrowheads="1"/>
          </p:cNvSpPr>
          <p:nvPr>
            <p:ph type="body" idx="1"/>
          </p:nvPr>
        </p:nvSpPr>
        <p:spPr/>
        <p:txBody>
          <a:bodyPr/>
          <a:lstStyle/>
          <a:p>
            <a:pPr>
              <a:buFont typeface="Wingdings" panose="05000000000000000000" pitchFamily="2" charset="2"/>
              <a:buNone/>
            </a:pPr>
            <a:r>
              <a:rPr lang="en-US" altLang="en-US" sz="2400" dirty="0"/>
              <a:t>Operating System can also be classified as,-</a:t>
            </a:r>
          </a:p>
          <a:p>
            <a:pPr>
              <a:buFont typeface="Wingdings" panose="05000000000000000000" pitchFamily="2" charset="2"/>
              <a:buNone/>
            </a:pPr>
            <a:endParaRPr lang="en-US" altLang="en-US" sz="2400" dirty="0"/>
          </a:p>
          <a:p>
            <a:r>
              <a:rPr lang="en-GB" altLang="en-US" b="1" dirty="0">
                <a:solidFill>
                  <a:srgbClr val="FF0000"/>
                </a:solidFill>
              </a:rPr>
              <a:t>Single User Systems</a:t>
            </a:r>
            <a:r>
              <a:rPr lang="en-US" altLang="en-US" dirty="0">
                <a:solidFill>
                  <a:srgbClr val="FF0000"/>
                </a:solidFill>
              </a:rPr>
              <a:t> </a:t>
            </a:r>
          </a:p>
          <a:p>
            <a:pPr>
              <a:buFont typeface="Wingdings" panose="05000000000000000000" pitchFamily="2" charset="2"/>
              <a:buNone/>
            </a:pPr>
            <a:endParaRPr lang="en-US" altLang="en-US" dirty="0">
              <a:solidFill>
                <a:srgbClr val="FF0000"/>
              </a:solidFill>
            </a:endParaRPr>
          </a:p>
          <a:p>
            <a:r>
              <a:rPr lang="en-GB" altLang="en-US" b="1" dirty="0">
                <a:solidFill>
                  <a:srgbClr val="FF0000"/>
                </a:solidFill>
              </a:rPr>
              <a:t>Multi User Systems</a:t>
            </a:r>
            <a:endParaRPr lang="en-US" altLang="en-US" dirty="0">
              <a:solidFill>
                <a:srgbClr val="FF0000"/>
              </a:solidFill>
            </a:endParaRPr>
          </a:p>
        </p:txBody>
      </p:sp>
    </p:spTree>
    <p:extLst>
      <p:ext uri="{BB962C8B-B14F-4D97-AF65-F5344CB8AC3E}">
        <p14:creationId xmlns:p14="http://schemas.microsoft.com/office/powerpoint/2010/main" val="1630490008"/>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 xmlns:a16="http://schemas.microsoft.com/office/drawing/2014/main" id="{BEBA6BB6-3DFA-4A13-A2FB-F00118D3576D}"/>
              </a:ext>
            </a:extLst>
          </p:cNvPr>
          <p:cNvSpPr>
            <a:spLocks noGrp="1" noChangeArrowheads="1"/>
          </p:cNvSpPr>
          <p:nvPr>
            <p:ph type="title"/>
          </p:nvPr>
        </p:nvSpPr>
        <p:spPr/>
        <p:txBody>
          <a:bodyPr/>
          <a:lstStyle/>
          <a:p>
            <a:r>
              <a:rPr lang="en-GB" altLang="en-US" sz="4000" dirty="0">
                <a:solidFill>
                  <a:srgbClr val="FF0000"/>
                </a:solidFill>
                <a:latin typeface="+mn-lt"/>
              </a:rPr>
              <a:t>Single User Systems:</a:t>
            </a:r>
            <a:r>
              <a:rPr lang="en-US" altLang="en-US" sz="4000" dirty="0">
                <a:solidFill>
                  <a:srgbClr val="FF0000"/>
                </a:solidFill>
                <a:latin typeface="+mn-lt"/>
              </a:rPr>
              <a:t> </a:t>
            </a:r>
            <a:r>
              <a:rPr lang="en-US" altLang="en-US" sz="4000" b="1" u="sng" dirty="0">
                <a:latin typeface="Arial" panose="020B0604020202020204" pitchFamily="34" charset="0"/>
              </a:rPr>
              <a:t/>
            </a:r>
            <a:br>
              <a:rPr lang="en-US" altLang="en-US" sz="4000" b="1" u="sng" dirty="0">
                <a:latin typeface="Arial" panose="020B0604020202020204" pitchFamily="34" charset="0"/>
              </a:rPr>
            </a:br>
            <a:endParaRPr lang="en-US" altLang="en-US" sz="4000" b="1" u="sng" dirty="0">
              <a:latin typeface="Arial" panose="020B0604020202020204" pitchFamily="34" charset="0"/>
            </a:endParaRPr>
          </a:p>
        </p:txBody>
      </p:sp>
      <p:sp>
        <p:nvSpPr>
          <p:cNvPr id="17411" name="Rectangle 3">
            <a:extLst>
              <a:ext uri="{FF2B5EF4-FFF2-40B4-BE49-F238E27FC236}">
                <a16:creationId xmlns="" xmlns:a16="http://schemas.microsoft.com/office/drawing/2014/main" id="{E27FF00F-80B1-4CD1-8C71-3525E400AF70}"/>
              </a:ext>
            </a:extLst>
          </p:cNvPr>
          <p:cNvSpPr>
            <a:spLocks noGrp="1" noChangeArrowheads="1"/>
          </p:cNvSpPr>
          <p:nvPr>
            <p:ph type="body" idx="1"/>
          </p:nvPr>
        </p:nvSpPr>
        <p:spPr/>
        <p:txBody>
          <a:bodyPr/>
          <a:lstStyle/>
          <a:p>
            <a:r>
              <a:rPr lang="en-GB" altLang="en-US" dirty="0"/>
              <a:t>Provides a platform for only one user at a time. </a:t>
            </a:r>
          </a:p>
          <a:p>
            <a:pPr>
              <a:buFont typeface="Wingdings" panose="05000000000000000000" pitchFamily="2" charset="2"/>
              <a:buNone/>
            </a:pPr>
            <a:endParaRPr lang="en-GB" altLang="en-US" dirty="0"/>
          </a:p>
          <a:p>
            <a:r>
              <a:rPr lang="en-GB" altLang="en-US" dirty="0"/>
              <a:t>They are popularly associated with Desk Top operating system which run on standalone systems where no user accounts are required.</a:t>
            </a:r>
            <a:r>
              <a:rPr lang="en-US" altLang="en-US" dirty="0"/>
              <a:t> </a:t>
            </a:r>
          </a:p>
          <a:p>
            <a:r>
              <a:rPr lang="en-US" altLang="en-US" dirty="0"/>
              <a:t>Example: DOS</a:t>
            </a:r>
          </a:p>
        </p:txBody>
      </p:sp>
    </p:spTree>
    <p:extLst>
      <p:ext uri="{BB962C8B-B14F-4D97-AF65-F5344CB8AC3E}">
        <p14:creationId xmlns:p14="http://schemas.microsoft.com/office/powerpoint/2010/main" val="1102805006"/>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 xmlns:a16="http://schemas.microsoft.com/office/drawing/2014/main" id="{4BC834F2-729D-439C-B792-D47AC4C2E709}"/>
              </a:ext>
            </a:extLst>
          </p:cNvPr>
          <p:cNvSpPr>
            <a:spLocks noGrp="1" noChangeArrowheads="1"/>
          </p:cNvSpPr>
          <p:nvPr>
            <p:ph type="title"/>
          </p:nvPr>
        </p:nvSpPr>
        <p:spPr/>
        <p:txBody>
          <a:bodyPr/>
          <a:lstStyle/>
          <a:p>
            <a:r>
              <a:rPr lang="en-GB" altLang="en-US" sz="4000" dirty="0">
                <a:solidFill>
                  <a:srgbClr val="FF0000"/>
                </a:solidFill>
                <a:latin typeface="+mn-lt"/>
              </a:rPr>
              <a:t>Multi-User Systems</a:t>
            </a:r>
            <a:r>
              <a:rPr lang="en-US" altLang="en-US" sz="4000" dirty="0">
                <a:solidFill>
                  <a:srgbClr val="FF0000"/>
                </a:solidFill>
                <a:latin typeface="+mn-lt"/>
              </a:rPr>
              <a:t> </a:t>
            </a:r>
            <a:br>
              <a:rPr lang="en-US" altLang="en-US" sz="4000" dirty="0">
                <a:solidFill>
                  <a:srgbClr val="FF0000"/>
                </a:solidFill>
                <a:latin typeface="+mn-lt"/>
              </a:rPr>
            </a:br>
            <a:endParaRPr lang="en-US" altLang="en-US" sz="4000" dirty="0">
              <a:solidFill>
                <a:srgbClr val="FF0000"/>
              </a:solidFill>
              <a:latin typeface="+mn-lt"/>
            </a:endParaRPr>
          </a:p>
        </p:txBody>
      </p:sp>
      <p:sp>
        <p:nvSpPr>
          <p:cNvPr id="18435" name="Rectangle 3">
            <a:extLst>
              <a:ext uri="{FF2B5EF4-FFF2-40B4-BE49-F238E27FC236}">
                <a16:creationId xmlns="" xmlns:a16="http://schemas.microsoft.com/office/drawing/2014/main" id="{E7923924-8B92-4972-816C-2D4F4615EBC0}"/>
              </a:ext>
            </a:extLst>
          </p:cNvPr>
          <p:cNvSpPr>
            <a:spLocks noGrp="1" noChangeArrowheads="1"/>
          </p:cNvSpPr>
          <p:nvPr>
            <p:ph type="body" idx="1"/>
          </p:nvPr>
        </p:nvSpPr>
        <p:spPr/>
        <p:txBody>
          <a:bodyPr/>
          <a:lstStyle/>
          <a:p>
            <a:pPr>
              <a:lnSpc>
                <a:spcPct val="90000"/>
              </a:lnSpc>
            </a:pPr>
            <a:r>
              <a:rPr lang="en-GB" altLang="en-US" sz="2400" dirty="0"/>
              <a:t>Provides regulated access for a number of users by maintaining a database of known users.</a:t>
            </a:r>
          </a:p>
          <a:p>
            <a:pPr>
              <a:lnSpc>
                <a:spcPct val="90000"/>
              </a:lnSpc>
            </a:pPr>
            <a:endParaRPr lang="en-GB" altLang="en-US" sz="2400" dirty="0"/>
          </a:p>
          <a:p>
            <a:pPr>
              <a:lnSpc>
                <a:spcPct val="90000"/>
              </a:lnSpc>
            </a:pPr>
            <a:r>
              <a:rPr lang="en-US" altLang="en-US" sz="2400" dirty="0"/>
              <a:t>Refers to computer systems that support two or more simultaneous users</a:t>
            </a:r>
          </a:p>
          <a:p>
            <a:pPr>
              <a:lnSpc>
                <a:spcPct val="90000"/>
              </a:lnSpc>
              <a:buFont typeface="Wingdings" panose="05000000000000000000" pitchFamily="2" charset="2"/>
              <a:buNone/>
            </a:pPr>
            <a:endParaRPr lang="en-US" altLang="en-US" sz="2400" dirty="0"/>
          </a:p>
          <a:p>
            <a:pPr>
              <a:lnSpc>
                <a:spcPct val="90000"/>
              </a:lnSpc>
            </a:pPr>
            <a:r>
              <a:rPr lang="en-US" altLang="en-US" sz="2400" dirty="0"/>
              <a:t>Ex: All mainframes and  are multi-user systems.</a:t>
            </a:r>
          </a:p>
          <a:p>
            <a:pPr>
              <a:lnSpc>
                <a:spcPct val="90000"/>
              </a:lnSpc>
            </a:pPr>
            <a:r>
              <a:rPr lang="en-US" altLang="en-US" sz="2400" dirty="0"/>
              <a:t>Example: Unix</a:t>
            </a:r>
          </a:p>
          <a:p>
            <a:pPr>
              <a:lnSpc>
                <a:spcPct val="90000"/>
              </a:lnSpc>
            </a:pPr>
            <a:endParaRPr lang="en-US" altLang="en-US" sz="2400" dirty="0"/>
          </a:p>
        </p:txBody>
      </p:sp>
    </p:spTree>
    <p:extLst>
      <p:ext uri="{BB962C8B-B14F-4D97-AF65-F5344CB8AC3E}">
        <p14:creationId xmlns:p14="http://schemas.microsoft.com/office/powerpoint/2010/main" val="1330156169"/>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 xmlns:a16="http://schemas.microsoft.com/office/drawing/2014/main" id="{42C006BB-FD43-4716-80A5-511CCF30A532}"/>
              </a:ext>
            </a:extLst>
          </p:cNvPr>
          <p:cNvSpPr>
            <a:spLocks noGrp="1" noChangeArrowheads="1"/>
          </p:cNvSpPr>
          <p:nvPr>
            <p:ph type="title" idx="4294967295"/>
          </p:nvPr>
        </p:nvSpPr>
        <p:spPr>
          <a:xfrm>
            <a:off x="822037" y="161491"/>
            <a:ext cx="9845964" cy="983817"/>
          </a:xfrm>
        </p:spPr>
        <p:txBody>
          <a:bodyPr>
            <a:normAutofit/>
          </a:bodyPr>
          <a:lstStyle/>
          <a:p>
            <a:pPr eaLnBrk="1" hangingPunct="1"/>
            <a:r>
              <a:rPr lang="en-US" altLang="en-US" dirty="0">
                <a:solidFill>
                  <a:srgbClr val="FF0000"/>
                </a:solidFill>
              </a:rPr>
              <a:t>Operating-System Operations</a:t>
            </a:r>
          </a:p>
        </p:txBody>
      </p:sp>
      <p:sp>
        <p:nvSpPr>
          <p:cNvPr id="34819" name="Rectangle 3">
            <a:extLst>
              <a:ext uri="{FF2B5EF4-FFF2-40B4-BE49-F238E27FC236}">
                <a16:creationId xmlns="" xmlns:a16="http://schemas.microsoft.com/office/drawing/2014/main" id="{602D29AD-9B55-4897-91F7-3DBDE11D8570}"/>
              </a:ext>
            </a:extLst>
          </p:cNvPr>
          <p:cNvSpPr>
            <a:spLocks noGrp="1" noChangeArrowheads="1"/>
          </p:cNvSpPr>
          <p:nvPr>
            <p:ph type="body" idx="4294967295"/>
          </p:nvPr>
        </p:nvSpPr>
        <p:spPr>
          <a:xfrm>
            <a:off x="655783" y="1233488"/>
            <a:ext cx="11249890" cy="4938712"/>
          </a:xfrm>
        </p:spPr>
        <p:txBody>
          <a:bodyPr>
            <a:normAutofit/>
          </a:bodyPr>
          <a:lstStyle/>
          <a:p>
            <a:pPr>
              <a:lnSpc>
                <a:spcPct val="150000"/>
              </a:lnSpc>
            </a:pPr>
            <a:r>
              <a:rPr lang="en-US" altLang="en-US" sz="3200" b="1" dirty="0">
                <a:solidFill>
                  <a:srgbClr val="3366FF"/>
                </a:solidFill>
              </a:rPr>
              <a:t>Dual-mode </a:t>
            </a:r>
            <a:r>
              <a:rPr lang="en-US" altLang="en-US" sz="3200" dirty="0"/>
              <a:t>operation allows OS to protect itself and other system components</a:t>
            </a:r>
          </a:p>
          <a:p>
            <a:pPr lvl="1">
              <a:lnSpc>
                <a:spcPct val="150000"/>
              </a:lnSpc>
            </a:pPr>
            <a:r>
              <a:rPr lang="en-US" altLang="en-US" sz="2800" b="1" dirty="0">
                <a:solidFill>
                  <a:srgbClr val="3366FF"/>
                </a:solidFill>
              </a:rPr>
              <a:t>User mode </a:t>
            </a:r>
            <a:r>
              <a:rPr lang="en-US" altLang="en-US" sz="2800" dirty="0"/>
              <a:t>and </a:t>
            </a:r>
            <a:r>
              <a:rPr lang="en-US" altLang="en-US" sz="2800" b="1" dirty="0">
                <a:solidFill>
                  <a:srgbClr val="3366FF"/>
                </a:solidFill>
              </a:rPr>
              <a:t>kernel mode </a:t>
            </a:r>
          </a:p>
          <a:p>
            <a:pPr lvl="1">
              <a:lnSpc>
                <a:spcPct val="150000"/>
              </a:lnSpc>
            </a:pPr>
            <a:r>
              <a:rPr lang="en-US" altLang="en-US" sz="2800" b="1" dirty="0">
                <a:solidFill>
                  <a:srgbClr val="3366FF"/>
                </a:solidFill>
              </a:rPr>
              <a:t>Mode bit </a:t>
            </a:r>
            <a:r>
              <a:rPr lang="en-US" altLang="en-US" sz="2800" dirty="0"/>
              <a:t>provided by hardware</a:t>
            </a:r>
          </a:p>
          <a:p>
            <a:pPr lvl="2">
              <a:lnSpc>
                <a:spcPct val="150000"/>
              </a:lnSpc>
            </a:pPr>
            <a:r>
              <a:rPr lang="en-US" altLang="en-US" sz="2400" dirty="0"/>
              <a:t>Provides ability to distinguish when system is running user code or kernel code</a:t>
            </a:r>
          </a:p>
          <a:p>
            <a:pPr lvl="2">
              <a:lnSpc>
                <a:spcPct val="150000"/>
              </a:lnSpc>
            </a:pPr>
            <a:r>
              <a:rPr lang="en-US" altLang="en-US" sz="2400" dirty="0"/>
              <a:t>Some instructions designated as </a:t>
            </a:r>
            <a:r>
              <a:rPr lang="en-US" altLang="en-US" sz="2400" b="1" dirty="0">
                <a:solidFill>
                  <a:srgbClr val="3366FF"/>
                </a:solidFill>
              </a:rPr>
              <a:t>privileged</a:t>
            </a:r>
            <a:r>
              <a:rPr lang="en-US" altLang="en-US" sz="2400" dirty="0"/>
              <a:t>, only executable in kernel mode</a:t>
            </a:r>
          </a:p>
          <a:p>
            <a:pPr lvl="2">
              <a:lnSpc>
                <a:spcPct val="150000"/>
              </a:lnSpc>
            </a:pPr>
            <a:r>
              <a:rPr lang="en-US" altLang="en-US" sz="2400" dirty="0"/>
              <a:t>System call changes mode to kernel, return from call resets it to user</a:t>
            </a:r>
          </a:p>
          <a:p>
            <a:pPr lvl="1">
              <a:lnSpc>
                <a:spcPct val="90000"/>
              </a:lnSpc>
            </a:pPr>
            <a:endParaRPr lang="en-US" altLang="en-US" sz="1600" dirty="0"/>
          </a:p>
        </p:txBody>
      </p:sp>
    </p:spTree>
    <p:extLst>
      <p:ext uri="{BB962C8B-B14F-4D97-AF65-F5344CB8AC3E}">
        <p14:creationId xmlns:p14="http://schemas.microsoft.com/office/powerpoint/2010/main" val="3196516181"/>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 xmlns:a16="http://schemas.microsoft.com/office/drawing/2014/main" id="{257401D8-73EA-4C76-9CD0-F1A886FBD212}"/>
              </a:ext>
            </a:extLst>
          </p:cNvPr>
          <p:cNvSpPr>
            <a:spLocks noGrp="1" noChangeArrowheads="1"/>
          </p:cNvSpPr>
          <p:nvPr>
            <p:ph type="title" idx="4294967295"/>
          </p:nvPr>
        </p:nvSpPr>
        <p:spPr>
          <a:xfrm>
            <a:off x="2252664" y="136526"/>
            <a:ext cx="8415337" cy="576263"/>
          </a:xfrm>
        </p:spPr>
        <p:txBody>
          <a:bodyPr>
            <a:normAutofit fontScale="90000"/>
          </a:bodyPr>
          <a:lstStyle/>
          <a:p>
            <a:pPr eaLnBrk="1" hangingPunct="1"/>
            <a:r>
              <a:rPr lang="en-US" altLang="en-US"/>
              <a:t>Transition from User to Kernel Mode</a:t>
            </a:r>
          </a:p>
        </p:txBody>
      </p:sp>
      <p:pic>
        <p:nvPicPr>
          <p:cNvPr id="35844" name="Picture 5">
            <a:extLst>
              <a:ext uri="{FF2B5EF4-FFF2-40B4-BE49-F238E27FC236}">
                <a16:creationId xmlns="" xmlns:a16="http://schemas.microsoft.com/office/drawing/2014/main" id="{00802610-2667-4978-AC3A-025CCF8C43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52664" y="1733120"/>
            <a:ext cx="7602538" cy="33917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41616406"/>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CEF851C9-9C3E-48FF-B384-90B5BCCC58CE}"/>
              </a:ext>
            </a:extLst>
          </p:cNvPr>
          <p:cNvSpPr>
            <a:spLocks noGrp="1"/>
          </p:cNvSpPr>
          <p:nvPr>
            <p:ph idx="1"/>
          </p:nvPr>
        </p:nvSpPr>
        <p:spPr>
          <a:xfrm>
            <a:off x="543697" y="782595"/>
            <a:ext cx="10810103" cy="5394368"/>
          </a:xfrm>
        </p:spPr>
        <p:txBody>
          <a:bodyPr/>
          <a:lstStyle/>
          <a:p>
            <a:r>
              <a:rPr lang="en-IN" b="1" i="0" dirty="0">
                <a:solidFill>
                  <a:srgbClr val="FF0000"/>
                </a:solidFill>
                <a:effectLst/>
              </a:rPr>
              <a:t>User mode</a:t>
            </a:r>
            <a:r>
              <a:rPr lang="en-IN" dirty="0"/>
              <a:t/>
            </a:r>
            <a:br>
              <a:rPr lang="en-IN" dirty="0"/>
            </a:br>
            <a:r>
              <a:rPr lang="en-IN" b="0" i="0" dirty="0">
                <a:effectLst/>
              </a:rPr>
              <a:t>When the computer system run user applications like creating a text document or using any application program, then the system is in the user mode. When the user application requests for a service from the operating system or an interrupt occurs or </a:t>
            </a:r>
            <a:r>
              <a:rPr lang="en-IN" b="0" i="0" u="none" strike="noStrike" dirty="0">
                <a:effectLst/>
              </a:rPr>
              <a:t>system call</a:t>
            </a:r>
            <a:r>
              <a:rPr lang="en-IN" b="0" i="0" dirty="0">
                <a:effectLst/>
              </a:rPr>
              <a:t>, then there will be a transition from user to kernel mode to fulfil the requests.</a:t>
            </a:r>
          </a:p>
          <a:p>
            <a:r>
              <a:rPr lang="en-IN" b="1" i="0" dirty="0">
                <a:solidFill>
                  <a:srgbClr val="FF0000"/>
                </a:solidFill>
                <a:effectLst/>
              </a:rPr>
              <a:t>Kernel Mode </a:t>
            </a:r>
          </a:p>
          <a:p>
            <a:pPr marL="0" indent="0" algn="just">
              <a:buNone/>
            </a:pPr>
            <a:r>
              <a:rPr lang="en-IN" b="0" i="0" dirty="0">
                <a:effectLst/>
              </a:rPr>
              <a:t>When the system boots, hardware starts in kernel mode and when operating system is loaded, it start user application in user mode. To provide protection to the hardware, we have privileged instructions which execute only in kernel mode. If user attempt to run privileged instruction in user mode then it will treat instruction as illegal and traps to OS.</a:t>
            </a:r>
            <a:endParaRPr lang="en-US" dirty="0"/>
          </a:p>
        </p:txBody>
      </p:sp>
    </p:spTree>
    <p:extLst>
      <p:ext uri="{BB962C8B-B14F-4D97-AF65-F5344CB8AC3E}">
        <p14:creationId xmlns:p14="http://schemas.microsoft.com/office/powerpoint/2010/main" val="452597062"/>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060709" cy="968375"/>
          </a:xfrm>
        </p:spPr>
        <p:txBody>
          <a:bodyPr>
            <a:normAutofit/>
          </a:bodyPr>
          <a:lstStyle/>
          <a:p>
            <a:r>
              <a:rPr lang="en-US" sz="4000" dirty="0">
                <a:solidFill>
                  <a:srgbClr val="FF0000"/>
                </a:solidFill>
              </a:rPr>
              <a:t>Linux/Unix OS Design and architecture overview.</a:t>
            </a:r>
            <a:endParaRPr lang="en-IN" sz="4000" dirty="0">
              <a:solidFill>
                <a:srgbClr val="FF0000"/>
              </a:solidFill>
            </a:endParaRPr>
          </a:p>
        </p:txBody>
      </p:sp>
      <p:sp>
        <p:nvSpPr>
          <p:cNvPr id="3" name="Content Placeholder 2"/>
          <p:cNvSpPr>
            <a:spLocks noGrp="1"/>
          </p:cNvSpPr>
          <p:nvPr>
            <p:ph idx="1"/>
          </p:nvPr>
        </p:nvSpPr>
        <p:spPr>
          <a:xfrm>
            <a:off x="838199" y="1459344"/>
            <a:ext cx="11492345" cy="5407891"/>
          </a:xfrm>
        </p:spPr>
        <p:txBody>
          <a:bodyPr>
            <a:normAutofit/>
          </a:bodyPr>
          <a:lstStyle/>
          <a:p>
            <a:r>
              <a:rPr lang="en-IN" dirty="0" smtClean="0"/>
              <a:t>Unix and </a:t>
            </a:r>
            <a:r>
              <a:rPr lang="en-IN" dirty="0" err="1" smtClean="0"/>
              <a:t>linux</a:t>
            </a:r>
            <a:r>
              <a:rPr lang="en-IN" dirty="0" smtClean="0"/>
              <a:t> foundational </a:t>
            </a:r>
            <a:r>
              <a:rPr lang="en-IN" dirty="0"/>
              <a:t>layered </a:t>
            </a:r>
            <a:r>
              <a:rPr lang="en-IN" dirty="0" smtClean="0"/>
              <a:t>architecture</a:t>
            </a:r>
          </a:p>
          <a:p>
            <a:r>
              <a:rPr lang="en-US" dirty="0"/>
              <a:t>isolate privileged operations in </a:t>
            </a:r>
            <a:r>
              <a:rPr lang="en-US" dirty="0">
                <a:solidFill>
                  <a:srgbClr val="FF0000"/>
                </a:solidFill>
              </a:rPr>
              <a:t>kernel space </a:t>
            </a:r>
            <a:r>
              <a:rPr lang="en-US" dirty="0"/>
              <a:t>from user-facing applications in </a:t>
            </a:r>
            <a:r>
              <a:rPr lang="en-US" dirty="0">
                <a:solidFill>
                  <a:srgbClr val="FF0000"/>
                </a:solidFill>
              </a:rPr>
              <a:t>user space</a:t>
            </a:r>
            <a:r>
              <a:rPr lang="en-US" dirty="0" smtClean="0">
                <a:solidFill>
                  <a:srgbClr val="FF0000"/>
                </a:solidFill>
              </a:rPr>
              <a:t>.</a:t>
            </a:r>
          </a:p>
          <a:p>
            <a:r>
              <a:rPr lang="en-US" dirty="0"/>
              <a:t>The kernel acts as the core interface, bridging physical hardware and system software through system </a:t>
            </a:r>
            <a:r>
              <a:rPr lang="en-US" dirty="0" smtClean="0"/>
              <a:t>calls</a:t>
            </a:r>
          </a:p>
          <a:p>
            <a:pPr marL="0" indent="0">
              <a:buNone/>
            </a:pPr>
            <a:r>
              <a:rPr lang="en-US" dirty="0"/>
              <a:t>The 4 Core Layers</a:t>
            </a:r>
          </a:p>
          <a:p>
            <a:r>
              <a:rPr lang="en-US" dirty="0">
                <a:solidFill>
                  <a:srgbClr val="FF0000"/>
                </a:solidFill>
              </a:rPr>
              <a:t>Hardware: </a:t>
            </a:r>
            <a:r>
              <a:rPr lang="en-US" dirty="0"/>
              <a:t>The physical parts like CPU, memory, and disks.</a:t>
            </a:r>
          </a:p>
          <a:p>
            <a:r>
              <a:rPr lang="en-US" dirty="0">
                <a:solidFill>
                  <a:srgbClr val="FF0000"/>
                </a:solidFill>
              </a:rPr>
              <a:t>Kernel: </a:t>
            </a:r>
            <a:r>
              <a:rPr lang="en-US" dirty="0"/>
              <a:t>The brain that manages memory, schedules tasks, and controls hardware.</a:t>
            </a:r>
          </a:p>
          <a:p>
            <a:r>
              <a:rPr lang="en-US" dirty="0">
                <a:solidFill>
                  <a:srgbClr val="FF0000"/>
                </a:solidFill>
              </a:rPr>
              <a:t>Shell: </a:t>
            </a:r>
            <a:r>
              <a:rPr lang="en-US" dirty="0"/>
              <a:t>The text interface where you type commands for the system.</a:t>
            </a:r>
          </a:p>
          <a:p>
            <a:r>
              <a:rPr lang="en-US" dirty="0">
                <a:solidFill>
                  <a:srgbClr val="FF0000"/>
                </a:solidFill>
              </a:rPr>
              <a:t>Applications: </a:t>
            </a:r>
            <a:r>
              <a:rPr lang="en-US" dirty="0"/>
              <a:t>Your daily programs, tools, and apps.</a:t>
            </a:r>
          </a:p>
          <a:p>
            <a:endParaRPr lang="en-US" dirty="0" smtClean="0"/>
          </a:p>
          <a:p>
            <a:endParaRPr lang="en-US" dirty="0" smtClean="0"/>
          </a:p>
          <a:p>
            <a:endParaRPr lang="en-IN" dirty="0"/>
          </a:p>
        </p:txBody>
      </p:sp>
      <p:sp>
        <p:nvSpPr>
          <p:cNvPr id="4" name="Rectangle 1"/>
          <p:cNvSpPr>
            <a:spLocks noChangeArrowheads="1"/>
          </p:cNvSpPr>
          <p:nvPr/>
        </p:nvSpPr>
        <p:spPr bwMode="auto">
          <a:xfrm>
            <a:off x="0" y="-92333"/>
            <a:ext cx="94578"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smtClean="0">
                <a:ln>
                  <a:noFill/>
                </a:ln>
                <a:solidFill>
                  <a:schemeClr val="tx1"/>
                </a:solidFill>
                <a:effectLst/>
                <a:latin typeface="Google Sans"/>
              </a:rPr>
              <a:t>T</a:t>
            </a:r>
          </a:p>
        </p:txBody>
      </p:sp>
      <p:sp>
        <p:nvSpPr>
          <p:cNvPr id="5" name="AutoShape 2" descr="data:image/jpeg;base64,/9j/4AAQSkZJRgABAQAAAQABAAD/2wCEAAkGBwgHBgkIBwgKCgkLDRYPDQwMDRsUFRAWIB0iIiAdHx8kKDQsJCYxJx8fLT0tMTU3Ojo6Iys/RD84QzQ5OjcBCgoKDQwNGg8PGjclHyU3Nzc3Nzc3Nzc3Nzc3Nzc3Nzc3Nzc3Nzc3Nzc3Nzc3Nzc3Nzc3Nzc3Nzc3Nzc3Nzc3N//AABEIAFIAUgMBIgACEQEDEQH/xAAbAAACAgMBAAAAAAAAAAAAAAAABQYHAQMEAv/EADkQAAEDAgMEBwYGAQUAAAAAAAEAAgMEEQUSIQYxQWETIjJRcYGRByNSobHBFBUzQmLR4SRyosLw/8QAGgEAAgMBAQAAAAAAAAAAAAAAAgQAAwUBBv/EACIRAAICAQQDAAMAAAAAAAAAAAABAgMRBBIhMRNBURQyM//aAAwDAQACEQMRAD8AuZCFwY3i9LgtC6qq3cmRjtSO7go3g5KSiss7J5oqeJ008jI4mC7nvdYDzUXrNuaLpxTYVTyV0xuAb9Gz1OvDuUBx3Hq7HKjPVPtG0+7gYeoz+zzK0U2HTP6z3dED6peVz9GXbr3nEOiWSbYbRz3dBSUkLOFml5ve1u1r6LTHtdtOGGUso3sHxRix8w75pfFRSTnJ008puXG8ttdBf6L1Jh0gjL3fiGtB39K7ffhr3oPIxf8AJsfOWSGm28qIMv5xhZjabe8geDv/AIk8jxUpwrGKDF4ukw+pZLbtM3Ob4g6hVNUYfI5to53uHwPJKXxvqaCqbLE+SCeM3a9psR4FErn7La9fJPnlF8IUT2P2ubi+Wiry2OuA6rho2bw7jy9OUrTEZJrKNWuyNkd0TKwhC6GeZZGQxPllcGRsaXOcdwA3lUztLjUuOYm+pdcQt6sEZ/az+zvP+FPPaTiJpMDbSxus+sflP+wau+w81XWFQdLUZ3dmPXz4Je6XODK193PjR2YfRCJollF5DuB/b/lMYonzOyxtufoswxGWRrG8ePcnUMTYmBkY0+qXMvs5KbDZR1xI4Hd1B91sfh8jmZRLLl7nDRNqenlAuXlgOtlsdTyZSGzHXgQiwWqKwRaeklhGYjM3vC4qiBlRHkkHgeIUokjdG4teNUoxCmETukjFmE6juK5grawRKRktHUiziyRhDmPabHkQre2SxsY5hLJpCPxMXu5wNOt3+B3+vcq1xWASU/SAdaPXy4rt9nmIGi2hZATaKrb0Th/IatPrceasqlhjmju2WJemWuhCE2beUVp7UZy7GaSDhHTZx4ucR/1CS4O21KXfE4pt7T43Nx+CT9r6RoHiHvv9QleEG9HbucUnZ+zMDV/1kPcKYMsknG+Uf+9E4oWB0mYjs/VKcKPuXj+V05w5wDnN4mxQIoj2d2/csDXcuH8pgDnOEs4uN2fdoBf/AIhefyiENyiepDdLBrwALDhppfkj4GcR+nTWR54ibdZuqU1LBJA9vLTxTQxMpaSRjHOIJJ6xvqUukIbG4ncAULKLMZ4I+4BzS07iLJDQSmmxCmmBs6GZj/RwKfjRR2Fhmqo2N3vkAHmVyJyHZfR36fVYWTa5QtDB6Ug3tRoTJRUdcwfoyGN/g7d8x81C8GlyvfET2tR4q48UoYsSw+oop+xMwtv8J4HyNiqTq6aowyvlp5xkngfY/YjkR9UrdHnJka+rE9/0lGHzCKazjZrtCe5OGOLHBzTYhRelqGVMWZva/c3uTWkrsjQya5HB3FUGemSOKrjcOucrvkvTqmEC+cHw1SqORkguxwd4FZJAFyQBzRZD3M31E5mI0s0bgluIzZIujB6z9/gsz10UYIjOd3LclcshcXSSO5klcYDeTlr5ehpXm+ruqPNa9jKE1+0tEy12RP6Z/IN1HzsPNLq+q/Ey9X9NvZ/tWN7O8FdQYc6vqGZZ6sAtB3tj4eu/0R1xyxnSVb7EvRLkIQnMs3wUa2y2YbjkAqKbKyvibZpO6Rvwn7FSVC40msMCcI2R2yKIIqKGpdG9r4ZozlexwsRyITKnxOJ4Am927v4K0Md2ew/HGf6uLLM0WZPHo9vK/EcioDiewWLUhLqMx1sXDIcj/MH7EpadTXRj3aKcOVyjUyRrxdj2u8DdZJ7z6pazDpKQEYlh1a1wzD9FwG4WN+RB9V6ENJOA2Khr3P17EZPh3qvaLeJnRNXU8Q1kDj3M1SqsrZKnTsR/CPum1Nsji9fMfw1FJBAT1X1Xu7DmN/yUxwHYWhoHNnxBwrZxqGubaNp8OPn6Io1Nl1Wksm+iP7F7JPr5I8QxOMto2nNHE4azcyPh+vgrNWVhNQioo2KaY1RwgQhCIuBCEKEBCEKEPTV6JvvQhQI18VlCFATCEIUICEIUIf/Z"/>
          <p:cNvSpPr>
            <a:spLocks noChangeAspect="1" noChangeArrowheads="1"/>
          </p:cNvSpPr>
          <p:nvPr/>
        </p:nvSpPr>
        <p:spPr bwMode="auto">
          <a:xfrm>
            <a:off x="42863" y="73977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 name="AutoShape 3" descr="data:image/png;base64,iVBORw0KGgoAAAANSUhEUgAAABAAAAAQCAMAAAAoLQ9TAAAAKlBMVEVHcEwvikMujUUujUUujUUvjUYvjUYujUQvjUYvjUUvjUYvjUYui0QvjUZ5eHGAAAAADXRSTlMAD0qJOOZZLLqqwXcfouRU+wAAAFVJREFUGJWtjzkSwCAMA+ULB4j+/90YhiY920geHxoDd3CVJaK+y2RhwLN0dyagbMbc9jCD7VjlD4HzFcEYYZDq1kiEZ2c22qvsK63ORwW2Wuh3/vgAYGcCwcKY9NUAAAAASUVORK5CYII="/>
          <p:cNvSpPr>
            <a:spLocks noChangeAspect="1" noChangeArrowheads="1"/>
          </p:cNvSpPr>
          <p:nvPr/>
        </p:nvSpPr>
        <p:spPr bwMode="auto">
          <a:xfrm>
            <a:off x="42863" y="10287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AutoShape 4" descr="data:image/jpeg;base64,/9j/4AAQSkZJRgABAQAAAQABAAD/2wCEAAkGBwgHBgkIBwgKCgkLDRYPDQwMDRsUFRAWIB0iIiAdHx8kKDQsJCYxJx8fLT0tMTU3Ojo6Iys/RD84QzQ5OjcBCgoKDQwNGg8PGjclHyU3Nzc3Nzc3Nzc3Nzc3Nzc3Nzc3Nzc3Nzc3Nzc3Nzc3Nzc3Nzc3Nzc3Nzc3Nzc3Nzc3N//AABEIAFIAUgMBEQACEQEDEQH/xAAbAAACAwEBAQAAAAAAAAAAAAAEBQADBgIBB//EADUQAAIBAwEFBQYGAgMAAAAAAAECAwAEESEFEjFBURNhcZGxIjKBocHRBhRCYuHwM3IVUpL/xAAaAQACAwEBAAAAAAAAAAAAAAAABQIDBAEG/8QAMBEAAgIABAQEBQQDAQAAAAAAAQIAAwQREjEFIUFREzJh0SJxgaGxM0KR8BTB4VL/2gAMAwEAAhEDEQA/APuFEJKISqe4it13pXC9BzPhVdlqVLqc5CSVSxyEWzbWdtIIwo6vqfIfelF3GAOVS/U+00rhv/RgzXt0x/zsPAAfSsLcTxLbHL6e+ctGHrHSeC7uRwnf44PrURxLFD932HtO+BX2l8W1LhPfCSDvGD5/xWqrjFg/UUH5cpW2GHQxhbX8NwQuSjn9Lc/DrTfD4ym/ynn26zM9TJvCq1SuSiElEJKIQS/vRbLuphpWGgPAd5rHjMYuGXuTsJZXWXMSOzSOXdizHiTXl7rnubU5zMYKgUZCUXkcs1tJFBMYJHGBKBkr1I78VBCFYEjOdYEjlAVttrMz9pfxgEkruRcNeHpz+9Xa6Rsshk/eem02qZQ//JLuBcbohGpwNT8/PnRrpy8sNL94Raw3kc7NcXazRFdEEQUg545HKoM1ZX4VyPzkgGz5mF8arBIOYkjzjGw2gVIiuGyvBXJ4eP3p/gOI6yK7d+hmO6jL4ljanMyyUQlVzMtvA0jcuA6npVdtq1IXbYSSqWOQmed2kdpHOWY5Jrx91zXOXbcxkqBRkJXLKkS7znHQda5XU9raVEHcIMzFF1tnBIhGfD7/AGpnXga0/UOZ+0X2447LAJNo3DniMd+T6mtKpWvlUTK2JsPWci/nHAr5Y9K6Qh3UfxIi9x1hdvtmRSBKCR14/wA+tUvhKH2GkzRXjWHmji1u4rlQUIyeWaW34V6eZ5jvGNVy2bQis8tjfZN0ZEMMhy6D2T1X+PtXpuG4s3V6W8w+8wX16DmNowplKIo2zLvSxwjgo3j4nQfXzpHxi7ILUPmf9TXhl3aK55VhiLudBSaqprXCrNLuEXMzM3t3JduxG92YGTgcup6DUefWntda1rpTbrEl1zWnOC0TPKLy3FxGqmR491g2VOD4VJW0mSBynEFtuS9obmWTHAM2QBjFdLcssp3P0hNQkJbBJJC3aR5wCM9O761IbHMZiTR2U5iaTZ14t3Fn9Y4ik+Kw/hNmvlP9yjrD3i1fWMLeXsJ45eSnXw50YK7wr1bpsfrLLV1IRNFmvXRbEF+29ezHo2PICvK8TbViW9MvxGGHGVYma2/c70ot1OgGW/v94Vfgq9FevqfxMWOt56BF8QmiUXMQyo0Yj2gM6YYdD36GtyhlGoTAMxzEB2lfW8MhFsjZIB3GPunnr06c8UzwvDhd8bcllN1yptvFEu0Jd8Bp9wnUBTu6etOkw9FXIATIbbW5zlb+TIxdFuQBfe+RqRqqYZECcFlo6xhabRVmC3Psgn3l/v8AFLMTwtT8VX8S+rEAnJ47kDTxt+XQx2cWcGTTJ/cebnoPQUmZScwBkB/f5mw89tp5s64NvdIw90nBFZ3r8VCh6/mWYe012AzVaMOoNII9mjtG7S1hc8WjU/KvbVtrQN3iojI5RHejF5MP3+uteX4kMsU30/AjCj9MTF3rmS7mbq5pig0oo7ARNe2djGCXVw1vbyFWI3hgrk4bpkc9a24KnxrgnTrM7voUmLbVYbxBbSFIrkkmKdjhXJ/S59G5cDpw9O2dfMbdvaYVys+E79/eDjZj3R9qFCAcbz8PhVduIqXfnLasNcfLynr7GeLDrDGxUYBTiBUExVJO2Um+EvA3zhCRQWUKTXHZzzSLvRQA5VAf1SY5/t89NDfqNhyXkO/t7yjQKxm3M9vf2hGy7hnhMDMSEORrx5efLypNxajSRYNjNGHsLLkekNpNL5rrF+0s4XPNRSXEjTcw9Z6Cls6wZqLIbtlbqeUaj5V66ldNaj0EXMfiMV7Wj3LoPykXPxGh+lIuMVEWK/cZfxNmGbkRMFcru3MyniJG9a0Kc1B9B+IouGVjD1ivbBPZRj930pxwfLxW+Ux4jyfWA2kazXMcbe6Tr386d4hylZIlGGQPaAY3kvY4pDGyS5XhiMkHwpLHs4G0oP8ApODjP+I9M0QgW1kUSxyoMdquSMY16/OmWBclSvaK8egDBh1nOys/m+4qar4rl/j/AFEow3mMcV5mbJrNkxF7G0iHF0UedK2TxsXo7n8bx9WdFIPpNeBgADgK9XMEG2jb/mLchR7a+0veelZsZh/8iop16fOWVPobOfPttw9lfGQD2JhvDxGh+nnSjCMTXpO68pVjkyfWNjE20ITNbMFGWX2gOtNMDeKLgx22MXWJrUiJYpDHIsicVORXqnQOpU9ZgRzW4YdI+t7yGdRuuFbmjHUfek9lL1n4hHlV6WDNTLJZ4olzJIqjvNQVGc5KJN3VBmxyiO+ufzM28AQijCg02w9PhLz3MTYm/wAV+WwhWyIT7cxGnur39aUcXvDMKh05mW4ZMl1HrGsETXEyQrxc48Op+AyaSO4RSx6TZVWbHCz6Fsa1Ge23cIg3Yx8j9vOjhOHPO9+u3+zGmIf9gjenUyyUQiH8RbGF5A7wj2s73g3UfUUsxWFYP49Q59R3/wC/352Ah08N/pMI6NG7RyLuuvEVSrBhmNpgdGRtLRbe7O32MlvgMdWQ6A+FNsFxI1DRZzX8TLbSH5jeLJI3jOJUZf8AYU9rxNNgzRhMjVONxOVG8cICx6KM1Jra0GbMBIhGOwhtrs6SQhphuJ05n7UqxXFVA008z3mmvD9XjYBUUBQFUDQDlSEkk5ma5qfwzsaRiZ5lKltNf0jp4n5VUlBxbZfsH3+Xp6xjUvgLmfMftNkiLGgVBhQMADlTsAAZCQ3nVdhJRCSiET7Z/D9ttIFwexnHB1HqKy2YZWOpeR/PznWyYZNMbf7D2lYE9pbPLGOEkILDyGo+NZmpdekytSRtziwOpJAYZHEA1URlvK8spCyqNWAHea5ObwmzsLy/IFnbSSg/rAwv/o6VYtbnYSxa2aazY34UWB1n2g4kkGoRPdX41euE1fqbdvf2/M01qtfMb9/aaZEVFCooVRoABwraAAMhOzquwkohJRCSiElEJKISuS3gmA7aGOT/AHUGuQnEdlaREGO1gQjmsYFdhL6ISUQkohJRCSiE/9k="/>
          <p:cNvSpPr>
            <a:spLocks noChangeAspect="1" noChangeArrowheads="1"/>
          </p:cNvSpPr>
          <p:nvPr/>
        </p:nvSpPr>
        <p:spPr bwMode="auto">
          <a:xfrm>
            <a:off x="42863" y="174307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AutoShape 5" descr="data:image/png;base64,iVBORw0KGgoAAAANSUhEUgAAABAAAAAQCAMAAAAoLQ9TAAAAOVBMVEVHcEzExMScnJxcXFz///9VVVV8fHwAAAAAAAAAAACOjo4UFBQoKCjq6upra2utra07OztISEjZ2dlLXvmgAAAACXRSTlMA////////pvzFcixzAAAAfUlEQVQYlWWP6w7FIAiDUYtaL7u9/8MOdTnJzvhByJdSikjK/FVOIomvSpLfIIs11WPMTdX6ABEYoCM+YLtQTOewkcdUKDpZvIEeJjB1qNEjOLc8zMUVeijcUlQCC+x8wG53bOXCNC2NzdFgPIEZ7CQrGSxY89/on+f+378BTTEIEKwzncgAAAAASUVORK5CYII="/>
          <p:cNvSpPr>
            <a:spLocks noChangeAspect="1" noChangeArrowheads="1"/>
          </p:cNvSpPr>
          <p:nvPr/>
        </p:nvSpPr>
        <p:spPr bwMode="auto">
          <a:xfrm>
            <a:off x="42863" y="2032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9" name="AutoShape 6" descr="data:image/jpeg;base64,/9j/4AAQSkZJRgABAQAAAQABAAD/2wCEAAkGBwgHBgkIBwgKCgkLDRYPDQwMDRsUFRAWIB0iIiAdHx8kKDQsJCYxJx8fLT0tMTU3Ojo6Iys/RD84QzQ5OjcBCgoKDQwNGg8PGjclHyU3Nzc3Nzc3Nzc3Nzc3Nzc3Nzc3Nzc3Nzc3Nzc3Nzc3Nzc3Nzc3Nzc3Nzc3Nzc3Nzc3N//AABEIAFIAUgMBIgACEQEDEQH/xAAbAAEAAwEBAQEAAAAAAAAAAAAAAQIEAwUIBv/EADoQAAEDAgQDBQQGCwAAAAAAAAEAAgMEEQUSITETIkEGMlFhoRQjkdE0cXSBorIHJDZEUmKxwcLw8f/EABQBAQAAAAAAAAAAAAAAAAAAAAD/xAAUEQEAAAAAAAAAAAAAAAAAAAAA/9oADAMBAAIRAxEAPwD8BgOFvxnFYcPjk4bpWvdmyF9srHPPKNSbNsAF7tX2HnpnCE4nSuq3NkfHBkeC9kYaXm9rAgO7psdCFNH2H7cUNQKilwOpjlDXsDhLCdHNLXbv8HELXF2f/SFQYcKOPDJ4aVubrTF3MbuGe+axI1F9UH5vtRgcnZ/EZKCWbjPa0kv4TowdSNAdxpuvprs5+z2F/Y4vyBfPc3YTtniFRLUyYLM+Spe6R8hliALnG5Js7xPRfQeFCaiwujpZKeRz4KeONxblsSGgG2vkg9JFnFRIf3Wb8PzUid5IBp5Re2vLp6oO6KApQEREBERAXCsNou9l13z5fVd1kxK/AHLm5tdSOh8EGTinKDxj4fSW/JTxyQQJjf7Qz5LIG625NXC5Bff8yjUXDTC4abl4I+LkG1lRkdmMgd0LXVDbBb4X8SNr9NR0Nx8V5TGRh/E40TX5hdoa8gHwtmtv1W2B8ryMk8TmC2YCEjTy1QbBspUDZSgIiICIiAsWLZTS84jIzDv7bHyK2rJiIJgFjbm8N/UIPIBGUFph0II93sN98imJrZeW8by03sIc1tte4rsccoBm1zDbKAPx3UxOLHFxqH5LC4aWg+WudB1gdUt5C+VkbSABHAdB5DJstUXEkeLVFTYC9nxBoPxCz+0REn3lRvc3mbp6rTTPhOUtncS4CzHyBx9EGwbKVDdlKAiIgIiICyYmXCm5CQc3T/oWtY8Tv7NoCebp9R8igxRR1DybCYgOHUDXx72oXZsTw0fq9UT1963w+tZ4+VoJgLhY2D5D5/yrpAeI7Sky+JdK8f1GvVB14Tm29xVO06zN09VLI3tLfcVV/OVumv1qojIH0eG/h7S75K8dOHPs6CMMHVs7j6WQbmXLQSLeXgrKrAGtAGw0CsgIiICIiAsWK29m1aCMw3Nv7hbVlxFuaEAZdHXu426FB48bY9HBsIJNrcQH/LRREyJ8rbtgZ58UW9HXXZoIAHGprXvcSknqjc0LmvbLR3B6yf75oOgdTZe9hlr/AMIstdK8ue4QvpS0EZhENVzZK4gB9fAJOoaAbeW6u2oa14L66IsPSwF/vug3DZSqsILQQb3F1ZAREQEREBVeoRBQbD7lPWyIgnqqoiDqNlKIgIiICIiD/9k="/>
          <p:cNvSpPr>
            <a:spLocks noChangeAspect="1" noChangeArrowheads="1"/>
          </p:cNvSpPr>
          <p:nvPr/>
        </p:nvSpPr>
        <p:spPr bwMode="auto">
          <a:xfrm>
            <a:off x="42863" y="274637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AutoShape 7" descr="data:image/png;base64,iVBORw0KGgoAAAANSUhEUgAAABAAAAAQCAMAAAAoLQ9TAAAATlBMVEUJhkchkll5vZva7eQdkFYLh0kRik0YjVLG49Wj0rrd7uau18JOqHuEwqPw+PQolV6QyKzO59p1u5fl8+xConL2+/krlmFks4tWq4Cdz7WW7GsoAAAAdUlEQVQYlWXPYQ+EIAgGYECBzNTMs6v//0cvb2u55Avs2bsBAEOxReX/oGjbYCfjtIE6M9mr4+wX4ZRYFj9jA0OAa85BgcwNIVKoWwe+qByfDqjGErgD3l2p7gH+HiJnliexRqLSJSBda8/9hvdhw+nDc6/6AYYYBNHNaIYmAAAAAElFTkSuQmCC"/>
          <p:cNvSpPr>
            <a:spLocks noChangeAspect="1" noChangeArrowheads="1"/>
          </p:cNvSpPr>
          <p:nvPr/>
        </p:nvSpPr>
        <p:spPr bwMode="auto">
          <a:xfrm>
            <a:off x="42863" y="30353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1717969749"/>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Linux/Unix OS Design and architecture overview.</a:t>
            </a:r>
            <a:endParaRPr lang="en-IN" dirty="0"/>
          </a:p>
        </p:txBody>
      </p:sp>
      <p:sp>
        <p:nvSpPr>
          <p:cNvPr id="3" name="Content Placeholder 2"/>
          <p:cNvSpPr>
            <a:spLocks noGrp="1"/>
          </p:cNvSpPr>
          <p:nvPr>
            <p:ph idx="1"/>
          </p:nvPr>
        </p:nvSpPr>
        <p:spPr/>
        <p:txBody>
          <a:bodyPr>
            <a:normAutofit/>
          </a:bodyPr>
          <a:lstStyle/>
          <a:p>
            <a:pPr marL="0" indent="0">
              <a:buNone/>
            </a:pPr>
            <a:r>
              <a:rPr lang="en-US" dirty="0"/>
              <a:t>Key Design </a:t>
            </a:r>
            <a:r>
              <a:rPr lang="en-US" dirty="0" smtClean="0"/>
              <a:t>Rules</a:t>
            </a:r>
            <a:endParaRPr lang="en-US" dirty="0"/>
          </a:p>
          <a:p>
            <a:r>
              <a:rPr lang="en-US" dirty="0">
                <a:solidFill>
                  <a:srgbClr val="FF0000"/>
                </a:solidFill>
              </a:rPr>
              <a:t>Everything is a file: </a:t>
            </a:r>
            <a:r>
              <a:rPr lang="en-US" dirty="0"/>
              <a:t>The system treats hardware, folders, and documents exactly the same.</a:t>
            </a:r>
          </a:p>
          <a:p>
            <a:r>
              <a:rPr lang="en-US" dirty="0">
                <a:solidFill>
                  <a:srgbClr val="FF0000"/>
                </a:solidFill>
              </a:rPr>
              <a:t>Do one thing well: </a:t>
            </a:r>
            <a:r>
              <a:rPr lang="en-US" dirty="0"/>
              <a:t>Programs are small, simple, and connect together to do complex work.</a:t>
            </a:r>
          </a:p>
          <a:p>
            <a:r>
              <a:rPr lang="en-US" dirty="0">
                <a:solidFill>
                  <a:srgbClr val="FF0000"/>
                </a:solidFill>
              </a:rPr>
              <a:t>Strict separation: </a:t>
            </a:r>
            <a:r>
              <a:rPr lang="en-US" dirty="0"/>
              <a:t>Apps cannot touch hardware directly; they must ask the kernel for permission.</a:t>
            </a:r>
          </a:p>
          <a:p>
            <a:endParaRPr lang="en-IN" dirty="0"/>
          </a:p>
        </p:txBody>
      </p:sp>
    </p:spTree>
    <p:extLst>
      <p:ext uri="{BB962C8B-B14F-4D97-AF65-F5344CB8AC3E}">
        <p14:creationId xmlns:p14="http://schemas.microsoft.com/office/powerpoint/2010/main" val="26559530"/>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B0E53F2-D658-4E3F-BCFC-84C3C4389682}"/>
              </a:ext>
            </a:extLst>
          </p:cNvPr>
          <p:cNvSpPr>
            <a:spLocks noGrp="1"/>
          </p:cNvSpPr>
          <p:nvPr>
            <p:ph type="title"/>
          </p:nvPr>
        </p:nvSpPr>
        <p:spPr/>
        <p:txBody>
          <a:bodyPr/>
          <a:lstStyle/>
          <a:p>
            <a:r>
              <a:rPr lang="en-US" altLang="en-US" dirty="0">
                <a:solidFill>
                  <a:srgbClr val="FF0000"/>
                </a:solidFill>
              </a:rPr>
              <a:t>A View of Operating System Services</a:t>
            </a:r>
            <a:endParaRPr lang="en-US" dirty="0">
              <a:solidFill>
                <a:srgbClr val="FF0000"/>
              </a:solidFill>
            </a:endParaRPr>
          </a:p>
        </p:txBody>
      </p:sp>
      <p:pic>
        <p:nvPicPr>
          <p:cNvPr id="5" name="Content Placeholder 4" descr="2">
            <a:extLst>
              <a:ext uri="{FF2B5EF4-FFF2-40B4-BE49-F238E27FC236}">
                <a16:creationId xmlns="" xmlns:a16="http://schemas.microsoft.com/office/drawing/2014/main" id="{928E028C-4459-48BF-8947-E3BE55F2A26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80655" y="1690687"/>
            <a:ext cx="9688945" cy="45346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46715764"/>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2F5D15E-5ACA-45F8-91F9-87178982D520}"/>
              </a:ext>
            </a:extLst>
          </p:cNvPr>
          <p:cNvSpPr>
            <a:spLocks noGrp="1"/>
          </p:cNvSpPr>
          <p:nvPr>
            <p:ph type="title"/>
          </p:nvPr>
        </p:nvSpPr>
        <p:spPr/>
        <p:txBody>
          <a:bodyPr/>
          <a:lstStyle/>
          <a:p>
            <a:r>
              <a:rPr lang="en-US" altLang="en-US" dirty="0">
                <a:solidFill>
                  <a:srgbClr val="FF0000"/>
                </a:solidFill>
              </a:rPr>
              <a:t>Operating System Services</a:t>
            </a:r>
            <a:endParaRPr lang="en-US" dirty="0">
              <a:solidFill>
                <a:srgbClr val="FF0000"/>
              </a:solidFill>
            </a:endParaRPr>
          </a:p>
        </p:txBody>
      </p:sp>
      <p:sp>
        <p:nvSpPr>
          <p:cNvPr id="3" name="Content Placeholder 2">
            <a:extLst>
              <a:ext uri="{FF2B5EF4-FFF2-40B4-BE49-F238E27FC236}">
                <a16:creationId xmlns="" xmlns:a16="http://schemas.microsoft.com/office/drawing/2014/main" id="{66459DC1-0F5E-4F19-BFF7-07CE467C2910}"/>
              </a:ext>
            </a:extLst>
          </p:cNvPr>
          <p:cNvSpPr>
            <a:spLocks noGrp="1"/>
          </p:cNvSpPr>
          <p:nvPr>
            <p:ph idx="1"/>
          </p:nvPr>
        </p:nvSpPr>
        <p:spPr/>
        <p:txBody>
          <a:bodyPr/>
          <a:lstStyle/>
          <a:p>
            <a:r>
              <a:rPr lang="en-US" altLang="en-US" sz="2400" dirty="0"/>
              <a:t>Operating systems provide an environment for execution of programs and services to programs and users</a:t>
            </a:r>
          </a:p>
          <a:p>
            <a:r>
              <a:rPr lang="en-US" altLang="en-US" sz="2400" dirty="0"/>
              <a:t>One set of operating-system services provides functions that are helpful to the user:</a:t>
            </a:r>
          </a:p>
          <a:p>
            <a:pPr lvl="1"/>
            <a:r>
              <a:rPr lang="en-US" altLang="en-US" b="1" dirty="0">
                <a:solidFill>
                  <a:srgbClr val="FF0000"/>
                </a:solidFill>
              </a:rPr>
              <a:t>User interface </a:t>
            </a:r>
            <a:r>
              <a:rPr lang="en-US" altLang="en-US" dirty="0"/>
              <a:t>- Almost all operating systems have a user interface (</a:t>
            </a:r>
            <a:r>
              <a:rPr lang="en-US" altLang="en-US" b="1" dirty="0"/>
              <a:t>UI</a:t>
            </a:r>
            <a:r>
              <a:rPr lang="en-US" altLang="en-US" dirty="0"/>
              <a:t>).</a:t>
            </a:r>
          </a:p>
          <a:p>
            <a:pPr lvl="2"/>
            <a:r>
              <a:rPr lang="en-US" altLang="en-US" sz="2400" dirty="0"/>
              <a:t>Varies between </a:t>
            </a:r>
            <a:r>
              <a:rPr lang="en-US" altLang="en-US" sz="2400" b="1" dirty="0"/>
              <a:t>Command-Line (CLI)</a:t>
            </a:r>
            <a:r>
              <a:rPr lang="en-US" altLang="en-US" sz="2400" dirty="0"/>
              <a:t>, </a:t>
            </a:r>
            <a:r>
              <a:rPr lang="en-US" altLang="en-US" sz="2400" b="1" dirty="0"/>
              <a:t>Graphics User Interface (GUI)</a:t>
            </a:r>
            <a:r>
              <a:rPr lang="en-US" altLang="en-US" sz="2400" dirty="0"/>
              <a:t>,</a:t>
            </a:r>
            <a:r>
              <a:rPr lang="en-US" altLang="en-US" sz="2400" b="1" dirty="0"/>
              <a:t>  </a:t>
            </a:r>
          </a:p>
          <a:p>
            <a:pPr lvl="1"/>
            <a:r>
              <a:rPr lang="en-US" altLang="en-US" b="1" dirty="0">
                <a:solidFill>
                  <a:srgbClr val="FF0000"/>
                </a:solidFill>
              </a:rPr>
              <a:t>Program execution </a:t>
            </a:r>
            <a:r>
              <a:rPr lang="en-US" altLang="en-US" dirty="0"/>
              <a:t>- The system must be able to load a program into memory and to run that program, end execution, either normally or abnormally (indicating error)</a:t>
            </a:r>
          </a:p>
          <a:p>
            <a:pPr lvl="1"/>
            <a:r>
              <a:rPr lang="en-US" altLang="en-US" b="1" dirty="0">
                <a:solidFill>
                  <a:srgbClr val="FF0000"/>
                </a:solidFill>
              </a:rPr>
              <a:t>I/O operations </a:t>
            </a:r>
            <a:r>
              <a:rPr lang="en-US" altLang="en-US" dirty="0">
                <a:solidFill>
                  <a:srgbClr val="FF0000"/>
                </a:solidFill>
              </a:rPr>
              <a:t>-  </a:t>
            </a:r>
            <a:r>
              <a:rPr lang="en-US" altLang="en-US" dirty="0"/>
              <a:t>A running program may require I/O, which may involve a file or an I/O device</a:t>
            </a:r>
          </a:p>
          <a:p>
            <a:endParaRPr lang="en-US" dirty="0"/>
          </a:p>
        </p:txBody>
      </p:sp>
    </p:spTree>
    <p:extLst>
      <p:ext uri="{BB962C8B-B14F-4D97-AF65-F5344CB8AC3E}">
        <p14:creationId xmlns:p14="http://schemas.microsoft.com/office/powerpoint/2010/main" val="3524829317"/>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B453CE9-FCE3-4C6D-936B-D2FC1B8A6D48}"/>
              </a:ext>
            </a:extLst>
          </p:cNvPr>
          <p:cNvSpPr>
            <a:spLocks noGrp="1"/>
          </p:cNvSpPr>
          <p:nvPr>
            <p:ph type="title"/>
          </p:nvPr>
        </p:nvSpPr>
        <p:spPr/>
        <p:txBody>
          <a:bodyPr/>
          <a:lstStyle/>
          <a:p>
            <a:r>
              <a:rPr lang="en-US" altLang="en-US" dirty="0">
                <a:solidFill>
                  <a:srgbClr val="FF0000"/>
                </a:solidFill>
              </a:rPr>
              <a:t>Operating System Services (Cont.)</a:t>
            </a:r>
            <a:endParaRPr lang="en-US" dirty="0">
              <a:solidFill>
                <a:srgbClr val="FF0000"/>
              </a:solidFill>
            </a:endParaRPr>
          </a:p>
        </p:txBody>
      </p:sp>
      <p:sp>
        <p:nvSpPr>
          <p:cNvPr id="3" name="Content Placeholder 2">
            <a:extLst>
              <a:ext uri="{FF2B5EF4-FFF2-40B4-BE49-F238E27FC236}">
                <a16:creationId xmlns="" xmlns:a16="http://schemas.microsoft.com/office/drawing/2014/main" id="{E507F976-CCD1-4E63-8001-FF1830B0C795}"/>
              </a:ext>
            </a:extLst>
          </p:cNvPr>
          <p:cNvSpPr>
            <a:spLocks noGrp="1"/>
          </p:cNvSpPr>
          <p:nvPr>
            <p:ph idx="1"/>
          </p:nvPr>
        </p:nvSpPr>
        <p:spPr>
          <a:xfrm>
            <a:off x="748862" y="1395248"/>
            <a:ext cx="10604938" cy="4781715"/>
          </a:xfrm>
        </p:spPr>
        <p:txBody>
          <a:bodyPr>
            <a:normAutofit/>
          </a:bodyPr>
          <a:lstStyle/>
          <a:p>
            <a:r>
              <a:rPr lang="en-US" altLang="en-US" sz="2000" dirty="0"/>
              <a:t>One set of operating-system services provides functions that are helpful to the user (Cont.):</a:t>
            </a:r>
            <a:endParaRPr lang="en-US" altLang="en-US" sz="2000" b="1" dirty="0"/>
          </a:p>
          <a:p>
            <a:pPr lvl="1"/>
            <a:r>
              <a:rPr lang="en-US" altLang="en-US" sz="2000" b="1" dirty="0">
                <a:solidFill>
                  <a:srgbClr val="FF0000"/>
                </a:solidFill>
              </a:rPr>
              <a:t>File-system manipulation </a:t>
            </a:r>
            <a:r>
              <a:rPr lang="en-US" altLang="en-US" sz="2000" dirty="0"/>
              <a:t>-  The file system is of particular interest. Programs need to read and write files and directories, create and delete them, search them, list file Information, permission management.</a:t>
            </a:r>
            <a:endParaRPr lang="en-US" altLang="en-US" sz="2000" b="1" dirty="0"/>
          </a:p>
          <a:p>
            <a:pPr lvl="1"/>
            <a:r>
              <a:rPr lang="en-US" altLang="en-US" sz="2000" b="1" dirty="0">
                <a:solidFill>
                  <a:srgbClr val="FF0000"/>
                </a:solidFill>
              </a:rPr>
              <a:t>Communications</a:t>
            </a:r>
            <a:r>
              <a:rPr lang="en-US" altLang="en-US" sz="2000" dirty="0">
                <a:solidFill>
                  <a:srgbClr val="FF0000"/>
                </a:solidFill>
              </a:rPr>
              <a:t> </a:t>
            </a:r>
            <a:r>
              <a:rPr lang="en-US" altLang="en-US" sz="2000" dirty="0"/>
              <a:t>– Processes may exchange information, on the same computer or between computers over a network</a:t>
            </a:r>
          </a:p>
          <a:p>
            <a:pPr lvl="2"/>
            <a:r>
              <a:rPr lang="en-US" altLang="en-US" dirty="0"/>
              <a:t>Communications may be via shared memory or through message passing (packets moved by the OS)</a:t>
            </a:r>
          </a:p>
          <a:p>
            <a:pPr lvl="1"/>
            <a:r>
              <a:rPr lang="en-US" altLang="en-US" sz="2000" b="1" dirty="0">
                <a:solidFill>
                  <a:srgbClr val="FF0000"/>
                </a:solidFill>
              </a:rPr>
              <a:t>Error detection </a:t>
            </a:r>
            <a:r>
              <a:rPr lang="en-US" altLang="en-US" sz="2000" dirty="0">
                <a:solidFill>
                  <a:srgbClr val="FF0000"/>
                </a:solidFill>
              </a:rPr>
              <a:t>– </a:t>
            </a:r>
            <a:r>
              <a:rPr lang="en-US" altLang="en-US" sz="2000" dirty="0"/>
              <a:t>OS needs to be constantly aware of possible errors</a:t>
            </a:r>
          </a:p>
          <a:p>
            <a:pPr lvl="2"/>
            <a:r>
              <a:rPr lang="en-US" altLang="en-US" dirty="0"/>
              <a:t>May occur in the CPU and memory hardware, in I/O devices, in user program</a:t>
            </a:r>
          </a:p>
          <a:p>
            <a:pPr lvl="2"/>
            <a:r>
              <a:rPr lang="en-US" altLang="en-US" dirty="0"/>
              <a:t>For each type of error, OS should take the appropriate action to ensure correct and consistent computing</a:t>
            </a:r>
          </a:p>
          <a:p>
            <a:pPr lvl="2"/>
            <a:r>
              <a:rPr lang="en-US" altLang="en-US" dirty="0"/>
              <a:t>Debugging facilities can greatly enhance the user</a:t>
            </a:r>
            <a:r>
              <a:rPr lang="ja-JP" altLang="en-US" dirty="0"/>
              <a:t>’</a:t>
            </a:r>
            <a:r>
              <a:rPr lang="en-US" altLang="ja-JP" dirty="0"/>
              <a:t>s and programmer</a:t>
            </a:r>
            <a:r>
              <a:rPr lang="ja-JP" altLang="en-US" dirty="0"/>
              <a:t>’</a:t>
            </a:r>
            <a:r>
              <a:rPr lang="en-US" altLang="ja-JP" dirty="0"/>
              <a:t>s abilities to efficiently use the system</a:t>
            </a:r>
            <a:endParaRPr lang="en-US" altLang="en-US" dirty="0"/>
          </a:p>
          <a:p>
            <a:endParaRPr lang="en-US" sz="2000" dirty="0"/>
          </a:p>
        </p:txBody>
      </p:sp>
    </p:spTree>
    <p:extLst>
      <p:ext uri="{BB962C8B-B14F-4D97-AF65-F5344CB8AC3E}">
        <p14:creationId xmlns:p14="http://schemas.microsoft.com/office/powerpoint/2010/main" val="2477616062"/>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C1BA730-746C-460D-A08D-6E224D3F17F5}"/>
              </a:ext>
            </a:extLst>
          </p:cNvPr>
          <p:cNvSpPr>
            <a:spLocks noGrp="1"/>
          </p:cNvSpPr>
          <p:nvPr>
            <p:ph type="title"/>
          </p:nvPr>
        </p:nvSpPr>
        <p:spPr/>
        <p:txBody>
          <a:bodyPr/>
          <a:lstStyle/>
          <a:p>
            <a:r>
              <a:rPr lang="en-US" altLang="en-US" dirty="0">
                <a:solidFill>
                  <a:srgbClr val="FF0000"/>
                </a:solidFill>
              </a:rPr>
              <a:t>Operating System Services (Cont.)</a:t>
            </a:r>
            <a:endParaRPr lang="en-US" dirty="0">
              <a:solidFill>
                <a:srgbClr val="FF0000"/>
              </a:solidFill>
            </a:endParaRPr>
          </a:p>
        </p:txBody>
      </p:sp>
      <p:sp>
        <p:nvSpPr>
          <p:cNvPr id="3" name="Content Placeholder 2">
            <a:extLst>
              <a:ext uri="{FF2B5EF4-FFF2-40B4-BE49-F238E27FC236}">
                <a16:creationId xmlns="" xmlns:a16="http://schemas.microsoft.com/office/drawing/2014/main" id="{535E099F-B7C3-46A1-A550-453D875B0EA2}"/>
              </a:ext>
            </a:extLst>
          </p:cNvPr>
          <p:cNvSpPr>
            <a:spLocks noGrp="1"/>
          </p:cNvSpPr>
          <p:nvPr>
            <p:ph idx="1"/>
          </p:nvPr>
        </p:nvSpPr>
        <p:spPr/>
        <p:txBody>
          <a:bodyPr/>
          <a:lstStyle/>
          <a:p>
            <a:pPr>
              <a:lnSpc>
                <a:spcPct val="90000"/>
              </a:lnSpc>
            </a:pPr>
            <a:r>
              <a:rPr lang="en-US" altLang="en-US" sz="2000" dirty="0"/>
              <a:t>Another set of OS functions exists for ensuring the efficient operation of the system itself via resource sharing</a:t>
            </a:r>
          </a:p>
          <a:p>
            <a:pPr lvl="1">
              <a:lnSpc>
                <a:spcPct val="90000"/>
              </a:lnSpc>
            </a:pPr>
            <a:r>
              <a:rPr lang="en-US" altLang="en-US" sz="2000" b="1" dirty="0">
                <a:solidFill>
                  <a:srgbClr val="FF0000"/>
                </a:solidFill>
              </a:rPr>
              <a:t>Resource allocation </a:t>
            </a:r>
            <a:r>
              <a:rPr lang="en-US" altLang="en-US" sz="2000" b="1" dirty="0"/>
              <a:t>- </a:t>
            </a:r>
            <a:r>
              <a:rPr lang="en-US" altLang="en-US" sz="2000" dirty="0"/>
              <a:t>When  multiple users or multiple jobs running concurrently, resources must be allocated to each of them</a:t>
            </a:r>
          </a:p>
          <a:p>
            <a:pPr lvl="2">
              <a:lnSpc>
                <a:spcPct val="90000"/>
              </a:lnSpc>
            </a:pPr>
            <a:r>
              <a:rPr lang="en-US" altLang="en-US" dirty="0"/>
              <a:t>Many types of resources -   CPU cycles, main memory, file storage, I/O devices.</a:t>
            </a:r>
          </a:p>
          <a:p>
            <a:pPr lvl="1">
              <a:lnSpc>
                <a:spcPct val="90000"/>
              </a:lnSpc>
            </a:pPr>
            <a:r>
              <a:rPr lang="en-US" altLang="en-US" sz="2000" b="1" dirty="0">
                <a:solidFill>
                  <a:srgbClr val="FF0000"/>
                </a:solidFill>
              </a:rPr>
              <a:t>Accounting </a:t>
            </a:r>
            <a:r>
              <a:rPr lang="en-US" altLang="en-US" sz="2000" b="1" dirty="0"/>
              <a:t>-</a:t>
            </a:r>
            <a:r>
              <a:rPr lang="en-US" altLang="en-US" sz="2000" dirty="0"/>
              <a:t> To keep track of which users use how much and what kinds of computer resources</a:t>
            </a:r>
          </a:p>
          <a:p>
            <a:pPr lvl="1">
              <a:lnSpc>
                <a:spcPct val="90000"/>
              </a:lnSpc>
            </a:pPr>
            <a:r>
              <a:rPr lang="en-US" altLang="en-US" sz="2000" b="1" dirty="0">
                <a:solidFill>
                  <a:srgbClr val="FF0000"/>
                </a:solidFill>
              </a:rPr>
              <a:t>Protection and security </a:t>
            </a:r>
            <a:r>
              <a:rPr lang="en-US" altLang="en-US" sz="2000" b="1" dirty="0"/>
              <a:t>- </a:t>
            </a:r>
            <a:r>
              <a:rPr lang="en-US" altLang="en-US" sz="2000" dirty="0"/>
              <a:t>The owners of information stored in a multiuser or networked computer system may want to control use of that information, concurrent processes should not interfere with each other</a:t>
            </a:r>
          </a:p>
          <a:p>
            <a:pPr lvl="2">
              <a:lnSpc>
                <a:spcPct val="90000"/>
              </a:lnSpc>
            </a:pPr>
            <a:r>
              <a:rPr lang="en-US" altLang="en-US" b="1" dirty="0"/>
              <a:t>Protection</a:t>
            </a:r>
            <a:r>
              <a:rPr lang="en-US" altLang="en-US" dirty="0"/>
              <a:t> involves ensuring that all access to system resources is controlled</a:t>
            </a:r>
          </a:p>
          <a:p>
            <a:pPr lvl="2">
              <a:lnSpc>
                <a:spcPct val="90000"/>
              </a:lnSpc>
            </a:pPr>
            <a:r>
              <a:rPr lang="en-US" altLang="en-US" b="1" dirty="0"/>
              <a:t>Security</a:t>
            </a:r>
            <a:r>
              <a:rPr lang="en-US" altLang="en-US" dirty="0"/>
              <a:t> of the system from outsiders requires user authentication, extends to defending external I/O devices from invalid access attempts</a:t>
            </a:r>
          </a:p>
          <a:p>
            <a:endParaRPr lang="en-US" dirty="0"/>
          </a:p>
        </p:txBody>
      </p:sp>
    </p:spTree>
    <p:extLst>
      <p:ext uri="{BB962C8B-B14F-4D97-AF65-F5344CB8AC3E}">
        <p14:creationId xmlns:p14="http://schemas.microsoft.com/office/powerpoint/2010/main" val="2608799581"/>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 xmlns:a16="http://schemas.microsoft.com/office/drawing/2014/main" id="{295CFFBF-4F7A-4531-AB4D-02A5A8057143}"/>
              </a:ext>
            </a:extLst>
          </p:cNvPr>
          <p:cNvSpPr>
            <a:spLocks noGrp="1" noChangeArrowheads="1"/>
          </p:cNvSpPr>
          <p:nvPr>
            <p:ph type="title"/>
          </p:nvPr>
        </p:nvSpPr>
        <p:spPr>
          <a:xfrm>
            <a:off x="1272746" y="608657"/>
            <a:ext cx="8229600" cy="576263"/>
          </a:xfrm>
        </p:spPr>
        <p:txBody>
          <a:bodyPr>
            <a:normAutofit fontScale="90000"/>
          </a:bodyPr>
          <a:lstStyle/>
          <a:p>
            <a:r>
              <a:rPr lang="en-US" altLang="en-US" dirty="0">
                <a:solidFill>
                  <a:srgbClr val="FF0000"/>
                </a:solidFill>
              </a:rPr>
              <a:t>System Calls</a:t>
            </a:r>
          </a:p>
        </p:txBody>
      </p:sp>
      <p:sp>
        <p:nvSpPr>
          <p:cNvPr id="6147" name="Rectangle 3">
            <a:extLst>
              <a:ext uri="{FF2B5EF4-FFF2-40B4-BE49-F238E27FC236}">
                <a16:creationId xmlns="" xmlns:a16="http://schemas.microsoft.com/office/drawing/2014/main" id="{4762D29E-72E3-4018-B195-6C065C30A1BF}"/>
              </a:ext>
            </a:extLst>
          </p:cNvPr>
          <p:cNvSpPr>
            <a:spLocks noGrp="1" noChangeArrowheads="1"/>
          </p:cNvSpPr>
          <p:nvPr>
            <p:ph idx="1"/>
          </p:nvPr>
        </p:nvSpPr>
        <p:spPr bwMode="auto">
          <a:xfrm>
            <a:off x="554037" y="1764074"/>
            <a:ext cx="10788217" cy="4895344"/>
          </a:xfrm>
        </p:spPr>
        <p:txBody>
          <a:bodyPr wrap="square" numCol="1" anchor="t" anchorCtr="0" compatLnSpc="1">
            <a:prstTxWarp prst="textNoShape">
              <a:avLst/>
            </a:prstTxWarp>
            <a:normAutofit/>
          </a:bodyPr>
          <a:lstStyle/>
          <a:p>
            <a:pPr>
              <a:lnSpc>
                <a:spcPct val="150000"/>
              </a:lnSpc>
            </a:pPr>
            <a:r>
              <a:rPr lang="en-US" altLang="en-US" dirty="0"/>
              <a:t>Programming interface to the services provided by the OS</a:t>
            </a:r>
            <a:endParaRPr lang="en-US" altLang="en-US" sz="1050" dirty="0"/>
          </a:p>
          <a:p>
            <a:pPr>
              <a:lnSpc>
                <a:spcPct val="150000"/>
              </a:lnSpc>
            </a:pPr>
            <a:r>
              <a:rPr lang="en-US" altLang="en-US" dirty="0"/>
              <a:t>Typically written in a high-level language (C or C++)</a:t>
            </a:r>
            <a:endParaRPr lang="en-US" altLang="en-US" sz="1050" dirty="0"/>
          </a:p>
          <a:p>
            <a:pPr>
              <a:lnSpc>
                <a:spcPct val="150000"/>
              </a:lnSpc>
            </a:pPr>
            <a:r>
              <a:rPr lang="en-US" altLang="en-US" dirty="0"/>
              <a:t>Mostly accessed by programs via a high-level </a:t>
            </a:r>
            <a:r>
              <a:rPr lang="en-US" altLang="en-US" b="1" dirty="0">
                <a:solidFill>
                  <a:srgbClr val="3366FF"/>
                </a:solidFill>
              </a:rPr>
              <a:t>Application Programming Interface </a:t>
            </a:r>
            <a:r>
              <a:rPr lang="en-US" altLang="en-US" b="1" dirty="0">
                <a:solidFill>
                  <a:srgbClr val="000000"/>
                </a:solidFill>
              </a:rPr>
              <a:t>(</a:t>
            </a:r>
            <a:r>
              <a:rPr lang="en-US" altLang="en-US" b="1" dirty="0">
                <a:solidFill>
                  <a:srgbClr val="3366FF"/>
                </a:solidFill>
              </a:rPr>
              <a:t>API</a:t>
            </a:r>
            <a:r>
              <a:rPr lang="en-US" altLang="en-US" b="1" dirty="0">
                <a:solidFill>
                  <a:srgbClr val="000000"/>
                </a:solidFill>
              </a:rPr>
              <a:t>)</a:t>
            </a:r>
            <a:r>
              <a:rPr lang="en-US" altLang="en-US" dirty="0">
                <a:solidFill>
                  <a:srgbClr val="3366FF"/>
                </a:solidFill>
              </a:rPr>
              <a:t> </a:t>
            </a:r>
            <a:r>
              <a:rPr lang="en-US" altLang="en-US" dirty="0"/>
              <a:t>rather than direct system call use</a:t>
            </a:r>
            <a:endParaRPr lang="en-US" altLang="en-US" sz="1050" dirty="0"/>
          </a:p>
        </p:txBody>
      </p:sp>
      <p:sp>
        <p:nvSpPr>
          <p:cNvPr id="2" name="Rectangle 1"/>
          <p:cNvSpPr/>
          <p:nvPr/>
        </p:nvSpPr>
        <p:spPr>
          <a:xfrm>
            <a:off x="554038" y="1025436"/>
            <a:ext cx="6096000" cy="215444"/>
          </a:xfrm>
          <a:prstGeom prst="rect">
            <a:avLst/>
          </a:prstGeom>
        </p:spPr>
        <p:txBody>
          <a:bodyPr>
            <a:spAutoFit/>
          </a:bodyPr>
          <a:lstStyle/>
          <a:p>
            <a:pPr>
              <a:lnSpc>
                <a:spcPct val="100000"/>
              </a:lnSpc>
            </a:pPr>
            <a:endParaRPr lang="en-US" altLang="en-US" sz="800" dirty="0"/>
          </a:p>
        </p:txBody>
      </p:sp>
    </p:spTree>
    <p:extLst>
      <p:ext uri="{BB962C8B-B14F-4D97-AF65-F5344CB8AC3E}">
        <p14:creationId xmlns:p14="http://schemas.microsoft.com/office/powerpoint/2010/main" val="2239308575"/>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 xmlns:a16="http://schemas.microsoft.com/office/drawing/2014/main" id="{68EBD0E3-C31D-448C-90A9-F3CEEBD00195}"/>
              </a:ext>
            </a:extLst>
          </p:cNvPr>
          <p:cNvSpPr>
            <a:spLocks noGrp="1" noChangeArrowheads="1"/>
          </p:cNvSpPr>
          <p:nvPr>
            <p:ph type="title"/>
          </p:nvPr>
        </p:nvSpPr>
        <p:spPr>
          <a:xfrm>
            <a:off x="1981200" y="214313"/>
            <a:ext cx="8229600" cy="576262"/>
          </a:xfrm>
        </p:spPr>
        <p:txBody>
          <a:bodyPr>
            <a:normAutofit fontScale="90000"/>
          </a:bodyPr>
          <a:lstStyle/>
          <a:p>
            <a:r>
              <a:rPr lang="en-US" altLang="en-US" dirty="0">
                <a:solidFill>
                  <a:srgbClr val="FF0000"/>
                </a:solidFill>
              </a:rPr>
              <a:t>Example of System Calls</a:t>
            </a:r>
          </a:p>
        </p:txBody>
      </p:sp>
      <p:sp>
        <p:nvSpPr>
          <p:cNvPr id="8195" name="Rectangle 5">
            <a:extLst>
              <a:ext uri="{FF2B5EF4-FFF2-40B4-BE49-F238E27FC236}">
                <a16:creationId xmlns="" xmlns:a16="http://schemas.microsoft.com/office/drawing/2014/main" id="{24B996C0-9C12-4CB5-B686-CA357C41D9CF}"/>
              </a:ext>
            </a:extLst>
          </p:cNvPr>
          <p:cNvSpPr>
            <a:spLocks noGrp="1" noChangeArrowheads="1"/>
          </p:cNvSpPr>
          <p:nvPr>
            <p:ph idx="1"/>
          </p:nvPr>
        </p:nvSpPr>
        <p:spPr bwMode="auto"/>
        <p:txBody>
          <a:bodyPr wrap="square" numCol="1" anchor="t" anchorCtr="0" compatLnSpc="1">
            <a:prstTxWarp prst="textNoShape">
              <a:avLst/>
            </a:prstTxWarp>
          </a:bodyPr>
          <a:lstStyle/>
          <a:p>
            <a:r>
              <a:rPr lang="en-US" altLang="en-US"/>
              <a:t>System call sequence to copy the contents of one file to another file</a:t>
            </a:r>
          </a:p>
        </p:txBody>
      </p:sp>
      <p:pic>
        <p:nvPicPr>
          <p:cNvPr id="8196" name="Picture 5">
            <a:extLst>
              <a:ext uri="{FF2B5EF4-FFF2-40B4-BE49-F238E27FC236}">
                <a16:creationId xmlns="" xmlns:a16="http://schemas.microsoft.com/office/drawing/2014/main" id="{379D85B6-C873-4851-918B-55741B0D26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2692" y="2877127"/>
            <a:ext cx="7740072" cy="3595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7" name="Line 6">
            <a:extLst>
              <a:ext uri="{FF2B5EF4-FFF2-40B4-BE49-F238E27FC236}">
                <a16:creationId xmlns="" xmlns:a16="http://schemas.microsoft.com/office/drawing/2014/main" id="{004A64E5-05D9-4901-82CE-6151CB32BA3D}"/>
              </a:ext>
            </a:extLst>
          </p:cNvPr>
          <p:cNvSpPr>
            <a:spLocks noChangeShapeType="1"/>
          </p:cNvSpPr>
          <p:nvPr/>
        </p:nvSpPr>
        <p:spPr bwMode="auto">
          <a:xfrm>
            <a:off x="8882063" y="2022475"/>
            <a:ext cx="0" cy="4206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Tree>
    <p:extLst>
      <p:ext uri="{BB962C8B-B14F-4D97-AF65-F5344CB8AC3E}">
        <p14:creationId xmlns:p14="http://schemas.microsoft.com/office/powerpoint/2010/main" val="3555840273"/>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 xmlns:a16="http://schemas.microsoft.com/office/drawing/2014/main" id="{621CE922-F554-4AE4-8866-965971D6F3C1}"/>
              </a:ext>
            </a:extLst>
          </p:cNvPr>
          <p:cNvSpPr>
            <a:spLocks noGrp="1" noChangeArrowheads="1"/>
          </p:cNvSpPr>
          <p:nvPr>
            <p:ph type="title"/>
          </p:nvPr>
        </p:nvSpPr>
        <p:spPr>
          <a:xfrm>
            <a:off x="1981200" y="182563"/>
            <a:ext cx="8229600" cy="576262"/>
          </a:xfrm>
        </p:spPr>
        <p:txBody>
          <a:bodyPr>
            <a:normAutofit fontScale="90000"/>
          </a:bodyPr>
          <a:lstStyle/>
          <a:p>
            <a:r>
              <a:rPr lang="en-US" altLang="en-US" dirty="0">
                <a:solidFill>
                  <a:srgbClr val="FF0000"/>
                </a:solidFill>
              </a:rPr>
              <a:t>Example of Standard API</a:t>
            </a:r>
          </a:p>
        </p:txBody>
      </p:sp>
      <p:pic>
        <p:nvPicPr>
          <p:cNvPr id="10243" name="Picture 1" descr="Screen Shot 2012-12-01 at 12.25.00 PM.png">
            <a:extLst>
              <a:ext uri="{FF2B5EF4-FFF2-40B4-BE49-F238E27FC236}">
                <a16:creationId xmlns="" xmlns:a16="http://schemas.microsoft.com/office/drawing/2014/main" id="{CA21E54E-F65A-4263-A748-2BB3A95B93C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736437" y="1066801"/>
            <a:ext cx="9310254" cy="5192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70649903"/>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 xmlns:a16="http://schemas.microsoft.com/office/drawing/2014/main" id="{600F08B6-D6C3-4546-8F17-75379762C3EA}"/>
              </a:ext>
            </a:extLst>
          </p:cNvPr>
          <p:cNvSpPr>
            <a:spLocks noGrp="1" noChangeArrowheads="1"/>
          </p:cNvSpPr>
          <p:nvPr>
            <p:ph type="title"/>
          </p:nvPr>
        </p:nvSpPr>
        <p:spPr>
          <a:xfrm>
            <a:off x="1997075" y="198438"/>
            <a:ext cx="8229600" cy="576262"/>
          </a:xfrm>
        </p:spPr>
        <p:txBody>
          <a:bodyPr>
            <a:normAutofit fontScale="90000"/>
          </a:bodyPr>
          <a:lstStyle/>
          <a:p>
            <a:r>
              <a:rPr lang="en-US" altLang="en-US" dirty="0">
                <a:solidFill>
                  <a:srgbClr val="FF0000"/>
                </a:solidFill>
              </a:rPr>
              <a:t>System Call Implementation</a:t>
            </a:r>
          </a:p>
        </p:txBody>
      </p:sp>
      <p:sp>
        <p:nvSpPr>
          <p:cNvPr id="12291" name="Rectangle 3">
            <a:extLst>
              <a:ext uri="{FF2B5EF4-FFF2-40B4-BE49-F238E27FC236}">
                <a16:creationId xmlns="" xmlns:a16="http://schemas.microsoft.com/office/drawing/2014/main" id="{908D8265-FF67-412F-9C52-C2EBA1DEC94D}"/>
              </a:ext>
            </a:extLst>
          </p:cNvPr>
          <p:cNvSpPr>
            <a:spLocks noGrp="1" noChangeArrowheads="1"/>
          </p:cNvSpPr>
          <p:nvPr>
            <p:ph idx="1"/>
          </p:nvPr>
        </p:nvSpPr>
        <p:spPr bwMode="auto">
          <a:xfrm>
            <a:off x="461819" y="1436689"/>
            <a:ext cx="10695708" cy="4825566"/>
          </a:xfrm>
        </p:spPr>
        <p:txBody>
          <a:bodyPr wrap="square" numCol="1" anchor="t" anchorCtr="0" compatLnSpc="1">
            <a:prstTxWarp prst="textNoShape">
              <a:avLst/>
            </a:prstTxWarp>
            <a:normAutofit fontScale="92500"/>
          </a:bodyPr>
          <a:lstStyle/>
          <a:p>
            <a:pPr>
              <a:lnSpc>
                <a:spcPct val="150000"/>
              </a:lnSpc>
            </a:pPr>
            <a:r>
              <a:rPr lang="en-US" altLang="en-US" dirty="0"/>
              <a:t>Typically, a number associated with each system call</a:t>
            </a:r>
          </a:p>
          <a:p>
            <a:pPr lvl="1">
              <a:lnSpc>
                <a:spcPct val="150000"/>
              </a:lnSpc>
            </a:pPr>
            <a:r>
              <a:rPr lang="en-US" altLang="en-US" b="1" dirty="0">
                <a:solidFill>
                  <a:srgbClr val="3366FF"/>
                </a:solidFill>
              </a:rPr>
              <a:t>System-call interface </a:t>
            </a:r>
            <a:r>
              <a:rPr lang="en-US" altLang="en-US" dirty="0"/>
              <a:t>maintains a table indexed according to these numbers</a:t>
            </a:r>
            <a:endParaRPr lang="en-US" altLang="en-US" sz="800" dirty="0"/>
          </a:p>
          <a:p>
            <a:pPr>
              <a:lnSpc>
                <a:spcPct val="150000"/>
              </a:lnSpc>
            </a:pPr>
            <a:r>
              <a:rPr lang="en-US" altLang="en-US" dirty="0"/>
              <a:t>The system call interface invokes  the intended system call in OS kernel and returns status of the system call and any return values</a:t>
            </a:r>
            <a:endParaRPr lang="en-US" altLang="en-US" sz="800" dirty="0"/>
          </a:p>
          <a:p>
            <a:pPr>
              <a:lnSpc>
                <a:spcPct val="150000"/>
              </a:lnSpc>
            </a:pPr>
            <a:r>
              <a:rPr lang="en-US" altLang="en-US" dirty="0"/>
              <a:t>The caller need know nothing about how the system call is implemented</a:t>
            </a:r>
          </a:p>
          <a:p>
            <a:pPr lvl="1">
              <a:lnSpc>
                <a:spcPct val="150000"/>
              </a:lnSpc>
            </a:pPr>
            <a:r>
              <a:rPr lang="en-US" altLang="en-US" dirty="0"/>
              <a:t>Just needs to obey API and understand what OS will do as a result call</a:t>
            </a:r>
          </a:p>
          <a:p>
            <a:pPr lvl="1">
              <a:lnSpc>
                <a:spcPct val="150000"/>
              </a:lnSpc>
            </a:pPr>
            <a:r>
              <a:rPr lang="en-US" altLang="en-US" dirty="0"/>
              <a:t>Most details of  OS interface hidden from programmer by API  </a:t>
            </a:r>
          </a:p>
        </p:txBody>
      </p:sp>
    </p:spTree>
    <p:extLst>
      <p:ext uri="{BB962C8B-B14F-4D97-AF65-F5344CB8AC3E}">
        <p14:creationId xmlns:p14="http://schemas.microsoft.com/office/powerpoint/2010/main" val="286064238"/>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 xmlns:a16="http://schemas.microsoft.com/office/drawing/2014/main" id="{B2B10A18-67E3-44A8-AAA5-EC7244BE0D0F}"/>
              </a:ext>
            </a:extLst>
          </p:cNvPr>
          <p:cNvSpPr>
            <a:spLocks noGrp="1" noChangeArrowheads="1"/>
          </p:cNvSpPr>
          <p:nvPr>
            <p:ph type="title"/>
          </p:nvPr>
        </p:nvSpPr>
        <p:spPr>
          <a:xfrm>
            <a:off x="2444750" y="182563"/>
            <a:ext cx="8229600" cy="576262"/>
          </a:xfrm>
        </p:spPr>
        <p:txBody>
          <a:bodyPr>
            <a:normAutofit fontScale="90000"/>
          </a:bodyPr>
          <a:lstStyle/>
          <a:p>
            <a:r>
              <a:rPr lang="en-US" altLang="en-US" dirty="0">
                <a:solidFill>
                  <a:srgbClr val="FF0000"/>
                </a:solidFill>
              </a:rPr>
              <a:t>API – System Call – OS Relationship</a:t>
            </a:r>
          </a:p>
        </p:txBody>
      </p:sp>
      <p:pic>
        <p:nvPicPr>
          <p:cNvPr id="14339" name="Picture 5" descr="2">
            <a:extLst>
              <a:ext uri="{FF2B5EF4-FFF2-40B4-BE49-F238E27FC236}">
                <a16:creationId xmlns="" xmlns:a16="http://schemas.microsoft.com/office/drawing/2014/main" id="{D915D833-1C72-499E-949B-B45989D8C3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92376" y="1425575"/>
            <a:ext cx="7153275" cy="438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22052372"/>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 xmlns:a16="http://schemas.microsoft.com/office/drawing/2014/main" id="{78148FF4-C0E6-4E32-9619-547D254376E1}"/>
              </a:ext>
            </a:extLst>
          </p:cNvPr>
          <p:cNvSpPr>
            <a:spLocks noGrp="1" noChangeArrowheads="1"/>
          </p:cNvSpPr>
          <p:nvPr>
            <p:ph type="title"/>
          </p:nvPr>
        </p:nvSpPr>
        <p:spPr>
          <a:xfrm>
            <a:off x="2506664" y="198438"/>
            <a:ext cx="7704137" cy="576262"/>
          </a:xfrm>
        </p:spPr>
        <p:txBody>
          <a:bodyPr>
            <a:normAutofit fontScale="90000"/>
          </a:bodyPr>
          <a:lstStyle/>
          <a:p>
            <a:r>
              <a:rPr lang="en-US" altLang="en-US" dirty="0">
                <a:solidFill>
                  <a:srgbClr val="FF0000"/>
                </a:solidFill>
              </a:rPr>
              <a:t>System Call Parameter Passing</a:t>
            </a:r>
          </a:p>
        </p:txBody>
      </p:sp>
      <p:sp>
        <p:nvSpPr>
          <p:cNvPr id="16387" name="Rectangle 3">
            <a:extLst>
              <a:ext uri="{FF2B5EF4-FFF2-40B4-BE49-F238E27FC236}">
                <a16:creationId xmlns="" xmlns:a16="http://schemas.microsoft.com/office/drawing/2014/main" id="{B6609563-89A8-4FDB-975B-DBBD79C17E76}"/>
              </a:ext>
            </a:extLst>
          </p:cNvPr>
          <p:cNvSpPr>
            <a:spLocks noGrp="1" noChangeArrowheads="1"/>
          </p:cNvSpPr>
          <p:nvPr>
            <p:ph idx="1"/>
          </p:nvPr>
        </p:nvSpPr>
        <p:spPr bwMode="auto">
          <a:xfrm>
            <a:off x="683491" y="1233490"/>
            <a:ext cx="10760364" cy="5333566"/>
          </a:xfrm>
        </p:spPr>
        <p:txBody>
          <a:bodyPr wrap="square" numCol="1" anchor="t" anchorCtr="0" compatLnSpc="1">
            <a:prstTxWarp prst="textNoShape">
              <a:avLst/>
            </a:prstTxWarp>
            <a:normAutofit/>
          </a:bodyPr>
          <a:lstStyle/>
          <a:p>
            <a:r>
              <a:rPr lang="en-US" altLang="en-US" dirty="0"/>
              <a:t>Often, more information is required than simply identity of desired system call</a:t>
            </a:r>
          </a:p>
          <a:p>
            <a:pPr>
              <a:lnSpc>
                <a:spcPct val="100000"/>
              </a:lnSpc>
            </a:pPr>
            <a:r>
              <a:rPr lang="en-US" altLang="en-US" dirty="0"/>
              <a:t>Three general methods used to pass parameters to the OS</a:t>
            </a:r>
          </a:p>
          <a:p>
            <a:pPr lvl="1">
              <a:lnSpc>
                <a:spcPct val="100000"/>
              </a:lnSpc>
            </a:pPr>
            <a:r>
              <a:rPr lang="en-US" altLang="en-US" dirty="0"/>
              <a:t>Simplest:  pass the parameters in registers</a:t>
            </a:r>
          </a:p>
          <a:p>
            <a:pPr lvl="2">
              <a:lnSpc>
                <a:spcPct val="100000"/>
              </a:lnSpc>
            </a:pPr>
            <a:r>
              <a:rPr lang="en-US" altLang="en-US" dirty="0"/>
              <a:t> In some cases, may be more parameters than registers</a:t>
            </a:r>
          </a:p>
          <a:p>
            <a:pPr lvl="1">
              <a:lnSpc>
                <a:spcPct val="100000"/>
              </a:lnSpc>
            </a:pPr>
            <a:r>
              <a:rPr lang="en-US" altLang="en-US" dirty="0"/>
              <a:t>Parameters stored in a block</a:t>
            </a:r>
            <a:r>
              <a:rPr lang="en-US" altLang="en-US" i="1" dirty="0"/>
              <a:t>, </a:t>
            </a:r>
            <a:r>
              <a:rPr lang="en-US" altLang="en-US" dirty="0"/>
              <a:t>or table, in memory, and address of block passed as a parameter in a register </a:t>
            </a:r>
          </a:p>
          <a:p>
            <a:pPr lvl="2">
              <a:lnSpc>
                <a:spcPct val="100000"/>
              </a:lnSpc>
            </a:pPr>
            <a:r>
              <a:rPr lang="en-US" altLang="en-US" dirty="0"/>
              <a:t>This approach taken by Linux and Solaris</a:t>
            </a:r>
          </a:p>
          <a:p>
            <a:pPr lvl="1">
              <a:lnSpc>
                <a:spcPct val="100000"/>
              </a:lnSpc>
            </a:pPr>
            <a:r>
              <a:rPr lang="en-US" altLang="en-US" dirty="0"/>
              <a:t>Parameters placed, or </a:t>
            </a:r>
            <a:r>
              <a:rPr lang="en-US" altLang="en-US" b="1" dirty="0">
                <a:solidFill>
                  <a:srgbClr val="3366FF"/>
                </a:solidFill>
              </a:rPr>
              <a:t>pushed</a:t>
            </a:r>
            <a:r>
              <a:rPr lang="en-US" altLang="en-US" i="1" dirty="0"/>
              <a:t>, </a:t>
            </a:r>
            <a:r>
              <a:rPr lang="en-US" altLang="en-US" dirty="0"/>
              <a:t>onto the </a:t>
            </a:r>
            <a:r>
              <a:rPr lang="en-US" altLang="en-US" b="1" dirty="0">
                <a:solidFill>
                  <a:srgbClr val="3366FF"/>
                </a:solidFill>
              </a:rPr>
              <a:t>stack</a:t>
            </a:r>
            <a:r>
              <a:rPr lang="en-US" altLang="en-US" i="1" dirty="0"/>
              <a:t> </a:t>
            </a:r>
            <a:r>
              <a:rPr lang="en-US" altLang="en-US" dirty="0"/>
              <a:t>by the program and </a:t>
            </a:r>
            <a:r>
              <a:rPr lang="en-US" altLang="en-US" b="1" dirty="0">
                <a:solidFill>
                  <a:srgbClr val="3366FF"/>
                </a:solidFill>
              </a:rPr>
              <a:t>popped</a:t>
            </a:r>
            <a:r>
              <a:rPr lang="en-US" altLang="en-US" i="1" dirty="0"/>
              <a:t> </a:t>
            </a:r>
            <a:r>
              <a:rPr lang="en-US" altLang="en-US" dirty="0"/>
              <a:t>off the stack by the operating system</a:t>
            </a:r>
          </a:p>
          <a:p>
            <a:pPr lvl="1">
              <a:lnSpc>
                <a:spcPct val="100000"/>
              </a:lnSpc>
            </a:pPr>
            <a:r>
              <a:rPr lang="en-US" altLang="en-US" dirty="0"/>
              <a:t>Block and stack methods do not limit the number or length of parameters being passed</a:t>
            </a:r>
          </a:p>
          <a:p>
            <a:pPr lvl="1"/>
            <a:endParaRPr lang="en-US" altLang="en-US" dirty="0"/>
          </a:p>
        </p:txBody>
      </p:sp>
    </p:spTree>
    <p:extLst>
      <p:ext uri="{BB962C8B-B14F-4D97-AF65-F5344CB8AC3E}">
        <p14:creationId xmlns:p14="http://schemas.microsoft.com/office/powerpoint/2010/main" val="2297116842"/>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 xmlns:a16="http://schemas.microsoft.com/office/drawing/2014/main" id="{B9AB17DB-D9AC-436B-9F21-C0999418BB4E}"/>
              </a:ext>
            </a:extLst>
          </p:cNvPr>
          <p:cNvSpPr>
            <a:spLocks noGrp="1" noChangeArrowheads="1"/>
          </p:cNvSpPr>
          <p:nvPr>
            <p:ph type="title"/>
          </p:nvPr>
        </p:nvSpPr>
        <p:spPr>
          <a:xfrm>
            <a:off x="1981200" y="198438"/>
            <a:ext cx="8229600" cy="576262"/>
          </a:xfrm>
        </p:spPr>
        <p:txBody>
          <a:bodyPr>
            <a:normAutofit fontScale="90000"/>
          </a:bodyPr>
          <a:lstStyle/>
          <a:p>
            <a:r>
              <a:rPr lang="en-US" altLang="en-US" dirty="0">
                <a:solidFill>
                  <a:srgbClr val="FF0000"/>
                </a:solidFill>
              </a:rPr>
              <a:t>Parameter Passing via Table</a:t>
            </a:r>
          </a:p>
        </p:txBody>
      </p:sp>
      <p:pic>
        <p:nvPicPr>
          <p:cNvPr id="18435" name="Picture 7" descr="2">
            <a:extLst>
              <a:ext uri="{FF2B5EF4-FFF2-40B4-BE49-F238E27FC236}">
                <a16:creationId xmlns="" xmlns:a16="http://schemas.microsoft.com/office/drawing/2014/main" id="{DD4E2ECE-8A41-4921-9F6C-8DED09F9E9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8339" y="1865314"/>
            <a:ext cx="6573837" cy="3451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26848920"/>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 xmlns:a16="http://schemas.microsoft.com/office/drawing/2014/main" id="{46F842ED-95B4-4E1E-82F8-3728077E91B0}"/>
              </a:ext>
            </a:extLst>
          </p:cNvPr>
          <p:cNvSpPr>
            <a:spLocks noGrp="1" noChangeArrowheads="1"/>
          </p:cNvSpPr>
          <p:nvPr>
            <p:ph type="title"/>
          </p:nvPr>
        </p:nvSpPr>
        <p:spPr>
          <a:xfrm>
            <a:off x="1997075" y="214313"/>
            <a:ext cx="8229600" cy="576262"/>
          </a:xfrm>
        </p:spPr>
        <p:txBody>
          <a:bodyPr>
            <a:normAutofit fontScale="90000"/>
          </a:bodyPr>
          <a:lstStyle/>
          <a:p>
            <a:r>
              <a:rPr lang="en-US" altLang="en-US" dirty="0">
                <a:solidFill>
                  <a:srgbClr val="FF0000"/>
                </a:solidFill>
              </a:rPr>
              <a:t>Types of System Calls</a:t>
            </a:r>
          </a:p>
        </p:txBody>
      </p:sp>
      <p:sp>
        <p:nvSpPr>
          <p:cNvPr id="20483" name="Rectangle 4">
            <a:extLst>
              <a:ext uri="{FF2B5EF4-FFF2-40B4-BE49-F238E27FC236}">
                <a16:creationId xmlns="" xmlns:a16="http://schemas.microsoft.com/office/drawing/2014/main" id="{B9969788-34A4-41FB-8A60-912E8D2FEB1C}"/>
              </a:ext>
            </a:extLst>
          </p:cNvPr>
          <p:cNvSpPr>
            <a:spLocks noGrp="1" noChangeArrowheads="1"/>
          </p:cNvSpPr>
          <p:nvPr>
            <p:ph idx="1"/>
          </p:nvPr>
        </p:nvSpPr>
        <p:spPr bwMode="auto">
          <a:xfrm>
            <a:off x="655782" y="1129002"/>
            <a:ext cx="9951893" cy="5844453"/>
          </a:xfrm>
        </p:spPr>
        <p:txBody>
          <a:bodyPr wrap="square" numCol="1" anchor="t" anchorCtr="0" compatLnSpc="1">
            <a:prstTxWarp prst="textNoShape">
              <a:avLst/>
            </a:prstTxWarp>
          </a:bodyPr>
          <a:lstStyle/>
          <a:p>
            <a:r>
              <a:rPr lang="en-US" altLang="en-US" dirty="0">
                <a:solidFill>
                  <a:srgbClr val="FF0000"/>
                </a:solidFill>
              </a:rPr>
              <a:t>Process control</a:t>
            </a:r>
          </a:p>
          <a:p>
            <a:pPr lvl="1"/>
            <a:r>
              <a:rPr lang="en-US" altLang="en-US" dirty="0"/>
              <a:t>create process, terminate process</a:t>
            </a:r>
          </a:p>
          <a:p>
            <a:pPr lvl="1"/>
            <a:r>
              <a:rPr lang="en-US" altLang="en-US" dirty="0"/>
              <a:t>end, abort</a:t>
            </a:r>
          </a:p>
          <a:p>
            <a:pPr lvl="1"/>
            <a:r>
              <a:rPr lang="en-US" altLang="en-US" dirty="0"/>
              <a:t>load, execute</a:t>
            </a:r>
          </a:p>
          <a:p>
            <a:pPr lvl="1"/>
            <a:r>
              <a:rPr lang="en-US" altLang="en-US" dirty="0"/>
              <a:t>get process attributes, set process attributes</a:t>
            </a:r>
          </a:p>
          <a:p>
            <a:pPr lvl="1"/>
            <a:r>
              <a:rPr lang="en-US" altLang="en-US" dirty="0"/>
              <a:t>wait for time</a:t>
            </a:r>
          </a:p>
          <a:p>
            <a:pPr lvl="1"/>
            <a:r>
              <a:rPr lang="en-US" altLang="en-US" dirty="0"/>
              <a:t>wait event, signal event</a:t>
            </a:r>
          </a:p>
          <a:p>
            <a:pPr lvl="1"/>
            <a:r>
              <a:rPr lang="en-US" altLang="en-US" dirty="0"/>
              <a:t>allocate and free memory</a:t>
            </a:r>
          </a:p>
        </p:txBody>
      </p:sp>
    </p:spTree>
    <p:extLst>
      <p:ext uri="{BB962C8B-B14F-4D97-AF65-F5344CB8AC3E}">
        <p14:creationId xmlns:p14="http://schemas.microsoft.com/office/powerpoint/2010/main" val="3211614217"/>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 xmlns:a16="http://schemas.microsoft.com/office/drawing/2014/main" id="{E49AA89D-E2AB-43CD-B424-799329ACBE35}"/>
              </a:ext>
            </a:extLst>
          </p:cNvPr>
          <p:cNvSpPr>
            <a:spLocks noGrp="1" noChangeArrowheads="1"/>
          </p:cNvSpPr>
          <p:nvPr>
            <p:ph type="title"/>
          </p:nvPr>
        </p:nvSpPr>
        <p:spPr>
          <a:xfrm>
            <a:off x="1981200" y="198438"/>
            <a:ext cx="8229600" cy="576262"/>
          </a:xfrm>
        </p:spPr>
        <p:txBody>
          <a:bodyPr>
            <a:normAutofit fontScale="90000"/>
          </a:bodyPr>
          <a:lstStyle/>
          <a:p>
            <a:r>
              <a:rPr lang="en-US" altLang="en-US" dirty="0">
                <a:solidFill>
                  <a:srgbClr val="FF0000"/>
                </a:solidFill>
              </a:rPr>
              <a:t>Types of System Calls</a:t>
            </a:r>
          </a:p>
        </p:txBody>
      </p:sp>
      <p:sp>
        <p:nvSpPr>
          <p:cNvPr id="22531" name="Rectangle 4">
            <a:extLst>
              <a:ext uri="{FF2B5EF4-FFF2-40B4-BE49-F238E27FC236}">
                <a16:creationId xmlns="" xmlns:a16="http://schemas.microsoft.com/office/drawing/2014/main" id="{03412148-0DAC-4167-BBD0-9CE70DFD55B1}"/>
              </a:ext>
            </a:extLst>
          </p:cNvPr>
          <p:cNvSpPr>
            <a:spLocks noGrp="1" noChangeArrowheads="1"/>
          </p:cNvSpPr>
          <p:nvPr>
            <p:ph idx="1"/>
          </p:nvPr>
        </p:nvSpPr>
        <p:spPr bwMode="auto">
          <a:xfrm>
            <a:off x="598054" y="1271443"/>
            <a:ext cx="10515600" cy="4351338"/>
          </a:xfrm>
        </p:spPr>
        <p:txBody>
          <a:bodyPr wrap="square" numCol="1" anchor="t" anchorCtr="0" compatLnSpc="1">
            <a:prstTxWarp prst="textNoShape">
              <a:avLst/>
            </a:prstTxWarp>
          </a:bodyPr>
          <a:lstStyle/>
          <a:p>
            <a:r>
              <a:rPr lang="en-US" altLang="en-US" dirty="0">
                <a:solidFill>
                  <a:srgbClr val="FF0000"/>
                </a:solidFill>
              </a:rPr>
              <a:t>File management</a:t>
            </a:r>
          </a:p>
          <a:p>
            <a:pPr lvl="1"/>
            <a:r>
              <a:rPr lang="en-US" altLang="en-US" dirty="0"/>
              <a:t>create file, delete file</a:t>
            </a:r>
          </a:p>
          <a:p>
            <a:pPr lvl="1"/>
            <a:r>
              <a:rPr lang="en-US" altLang="en-US" dirty="0"/>
              <a:t>open, close file</a:t>
            </a:r>
          </a:p>
          <a:p>
            <a:pPr lvl="1"/>
            <a:r>
              <a:rPr lang="en-US" altLang="en-US" dirty="0"/>
              <a:t>read, write, reposition</a:t>
            </a:r>
          </a:p>
          <a:p>
            <a:pPr lvl="1"/>
            <a:r>
              <a:rPr lang="en-US" altLang="en-US" dirty="0"/>
              <a:t>get and set file attributes</a:t>
            </a:r>
          </a:p>
          <a:p>
            <a:r>
              <a:rPr lang="en-US" altLang="en-US" dirty="0">
                <a:solidFill>
                  <a:srgbClr val="FF0000"/>
                </a:solidFill>
              </a:rPr>
              <a:t>Device management</a:t>
            </a:r>
          </a:p>
          <a:p>
            <a:pPr lvl="1"/>
            <a:r>
              <a:rPr lang="en-US" altLang="en-US" dirty="0"/>
              <a:t>request device, release device</a:t>
            </a:r>
          </a:p>
          <a:p>
            <a:pPr lvl="1"/>
            <a:r>
              <a:rPr lang="en-US" altLang="en-US" dirty="0"/>
              <a:t>read, write, reposition</a:t>
            </a:r>
          </a:p>
          <a:p>
            <a:pPr lvl="1"/>
            <a:r>
              <a:rPr lang="en-US" altLang="en-US" dirty="0"/>
              <a:t>get device attributes, set device attributes</a:t>
            </a:r>
          </a:p>
          <a:p>
            <a:pPr lvl="1"/>
            <a:r>
              <a:rPr lang="en-US" altLang="en-US" dirty="0"/>
              <a:t>logically attach or detach devices</a:t>
            </a:r>
          </a:p>
          <a:p>
            <a:pPr lvl="1"/>
            <a:endParaRPr lang="en-US" altLang="en-US" dirty="0"/>
          </a:p>
        </p:txBody>
      </p:sp>
    </p:spTree>
    <p:extLst>
      <p:ext uri="{BB962C8B-B14F-4D97-AF65-F5344CB8AC3E}">
        <p14:creationId xmlns:p14="http://schemas.microsoft.com/office/powerpoint/2010/main" val="318365262"/>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 xmlns:a16="http://schemas.microsoft.com/office/drawing/2014/main" id="{7DF1FCDD-6B1D-4762-9908-5C9B4728E606}"/>
              </a:ext>
            </a:extLst>
          </p:cNvPr>
          <p:cNvSpPr>
            <a:spLocks noGrp="1" noChangeArrowheads="1"/>
          </p:cNvSpPr>
          <p:nvPr>
            <p:ph type="title"/>
          </p:nvPr>
        </p:nvSpPr>
        <p:spPr>
          <a:xfrm>
            <a:off x="416502" y="281565"/>
            <a:ext cx="8229600" cy="576262"/>
          </a:xfrm>
        </p:spPr>
        <p:txBody>
          <a:bodyPr>
            <a:normAutofit fontScale="90000"/>
          </a:bodyPr>
          <a:lstStyle/>
          <a:p>
            <a:r>
              <a:rPr lang="en-US" altLang="en-US" dirty="0">
                <a:solidFill>
                  <a:srgbClr val="FF0000"/>
                </a:solidFill>
              </a:rPr>
              <a:t>Types of System Calls (Cont.)</a:t>
            </a:r>
          </a:p>
        </p:txBody>
      </p:sp>
      <p:sp>
        <p:nvSpPr>
          <p:cNvPr id="24579" name="Rectangle 4">
            <a:extLst>
              <a:ext uri="{FF2B5EF4-FFF2-40B4-BE49-F238E27FC236}">
                <a16:creationId xmlns="" xmlns:a16="http://schemas.microsoft.com/office/drawing/2014/main" id="{1E19107A-0F55-4A89-BCE7-B7939C53612D}"/>
              </a:ext>
            </a:extLst>
          </p:cNvPr>
          <p:cNvSpPr>
            <a:spLocks noGrp="1" noChangeArrowheads="1"/>
          </p:cNvSpPr>
          <p:nvPr>
            <p:ph idx="1"/>
          </p:nvPr>
        </p:nvSpPr>
        <p:spPr bwMode="auto">
          <a:xfrm>
            <a:off x="489527" y="1233489"/>
            <a:ext cx="9075161" cy="4530725"/>
          </a:xfrm>
        </p:spPr>
        <p:txBody>
          <a:bodyPr wrap="square" numCol="1" anchor="t" anchorCtr="0" compatLnSpc="1">
            <a:prstTxWarp prst="textNoShape">
              <a:avLst/>
            </a:prstTxWarp>
            <a:normAutofit lnSpcReduction="10000"/>
          </a:bodyPr>
          <a:lstStyle/>
          <a:p>
            <a:r>
              <a:rPr lang="en-US" altLang="en-US" dirty="0">
                <a:solidFill>
                  <a:srgbClr val="FF0000"/>
                </a:solidFill>
              </a:rPr>
              <a:t>Information maintenance</a:t>
            </a:r>
          </a:p>
          <a:p>
            <a:pPr lvl="1"/>
            <a:r>
              <a:rPr lang="en-US" altLang="en-US" dirty="0"/>
              <a:t>get time or date, set time or date</a:t>
            </a:r>
          </a:p>
          <a:p>
            <a:pPr lvl="1"/>
            <a:r>
              <a:rPr lang="en-US" altLang="en-US" dirty="0"/>
              <a:t>get system data, set system data</a:t>
            </a:r>
          </a:p>
          <a:p>
            <a:pPr lvl="1"/>
            <a:r>
              <a:rPr lang="en-US" altLang="en-US" dirty="0"/>
              <a:t>get and set process, file, or device attributes</a:t>
            </a:r>
          </a:p>
          <a:p>
            <a:r>
              <a:rPr lang="en-US" altLang="en-US" dirty="0">
                <a:solidFill>
                  <a:srgbClr val="FF0000"/>
                </a:solidFill>
              </a:rPr>
              <a:t>Communications</a:t>
            </a:r>
          </a:p>
          <a:p>
            <a:pPr lvl="1"/>
            <a:r>
              <a:rPr lang="en-US" altLang="en-US" dirty="0"/>
              <a:t>create, delete communication connection</a:t>
            </a:r>
          </a:p>
          <a:p>
            <a:pPr lvl="1"/>
            <a:r>
              <a:rPr lang="en-US" altLang="en-US" dirty="0"/>
              <a:t>send, receive messages if </a:t>
            </a:r>
            <a:r>
              <a:rPr lang="en-US" altLang="en-US" b="1" dirty="0">
                <a:solidFill>
                  <a:srgbClr val="3366FF"/>
                </a:solidFill>
              </a:rPr>
              <a:t>message passing model </a:t>
            </a:r>
            <a:r>
              <a:rPr lang="en-US" altLang="en-US" dirty="0"/>
              <a:t>to </a:t>
            </a:r>
            <a:r>
              <a:rPr lang="en-US" altLang="en-US" b="1" dirty="0">
                <a:solidFill>
                  <a:srgbClr val="3366FF"/>
                </a:solidFill>
              </a:rPr>
              <a:t>host name</a:t>
            </a:r>
            <a:r>
              <a:rPr lang="en-US" altLang="en-US" dirty="0"/>
              <a:t> or </a:t>
            </a:r>
            <a:r>
              <a:rPr lang="en-US" altLang="en-US" b="1" dirty="0">
                <a:solidFill>
                  <a:srgbClr val="3366FF"/>
                </a:solidFill>
              </a:rPr>
              <a:t>process name</a:t>
            </a:r>
          </a:p>
          <a:p>
            <a:pPr lvl="2"/>
            <a:r>
              <a:rPr lang="en-US" altLang="en-US" dirty="0"/>
              <a:t>From</a:t>
            </a:r>
            <a:r>
              <a:rPr lang="en-US" altLang="en-US" b="1" dirty="0">
                <a:solidFill>
                  <a:srgbClr val="3366FF"/>
                </a:solidFill>
              </a:rPr>
              <a:t> client </a:t>
            </a:r>
            <a:r>
              <a:rPr lang="en-US" altLang="en-US" dirty="0"/>
              <a:t>to</a:t>
            </a:r>
            <a:r>
              <a:rPr lang="en-US" altLang="en-US" b="1" dirty="0">
                <a:solidFill>
                  <a:srgbClr val="3366FF"/>
                </a:solidFill>
              </a:rPr>
              <a:t> server</a:t>
            </a:r>
          </a:p>
          <a:p>
            <a:pPr lvl="1"/>
            <a:r>
              <a:rPr lang="en-US" altLang="en-US" b="1" dirty="0">
                <a:solidFill>
                  <a:srgbClr val="3366FF"/>
                </a:solidFill>
              </a:rPr>
              <a:t>Shared-memory model </a:t>
            </a:r>
            <a:r>
              <a:rPr lang="en-US" altLang="en-US" dirty="0"/>
              <a:t>create and gain access to memory regions</a:t>
            </a:r>
          </a:p>
          <a:p>
            <a:pPr lvl="1"/>
            <a:r>
              <a:rPr lang="en-US" altLang="en-US" dirty="0"/>
              <a:t>transfer status information</a:t>
            </a:r>
          </a:p>
          <a:p>
            <a:pPr lvl="1"/>
            <a:r>
              <a:rPr lang="en-US" altLang="en-US" dirty="0"/>
              <a:t>attach and detach remote devices</a:t>
            </a:r>
          </a:p>
        </p:txBody>
      </p:sp>
    </p:spTree>
    <p:extLst>
      <p:ext uri="{BB962C8B-B14F-4D97-AF65-F5344CB8AC3E}">
        <p14:creationId xmlns:p14="http://schemas.microsoft.com/office/powerpoint/2010/main" val="2295158194"/>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 xmlns:a16="http://schemas.microsoft.com/office/drawing/2014/main" id="{262BA67D-4567-4902-8553-18C7D56A95D3}"/>
              </a:ext>
            </a:extLst>
          </p:cNvPr>
          <p:cNvSpPr>
            <a:spLocks noGrp="1" noChangeArrowheads="1"/>
          </p:cNvSpPr>
          <p:nvPr>
            <p:ph type="title"/>
          </p:nvPr>
        </p:nvSpPr>
        <p:spPr>
          <a:xfrm>
            <a:off x="2028825" y="198438"/>
            <a:ext cx="8229600" cy="576262"/>
          </a:xfrm>
        </p:spPr>
        <p:txBody>
          <a:bodyPr>
            <a:normAutofit fontScale="90000"/>
          </a:bodyPr>
          <a:lstStyle/>
          <a:p>
            <a:r>
              <a:rPr lang="en-US" altLang="en-US" dirty="0">
                <a:solidFill>
                  <a:srgbClr val="FF0000"/>
                </a:solidFill>
              </a:rPr>
              <a:t>Types of System Calls (Cont.)</a:t>
            </a:r>
          </a:p>
        </p:txBody>
      </p:sp>
      <p:sp>
        <p:nvSpPr>
          <p:cNvPr id="26627" name="Rectangle 4">
            <a:extLst>
              <a:ext uri="{FF2B5EF4-FFF2-40B4-BE49-F238E27FC236}">
                <a16:creationId xmlns="" xmlns:a16="http://schemas.microsoft.com/office/drawing/2014/main" id="{0AC1FD90-C6BE-4CC5-A303-783D07350480}"/>
              </a:ext>
            </a:extLst>
          </p:cNvPr>
          <p:cNvSpPr>
            <a:spLocks noGrp="1" noChangeArrowheads="1"/>
          </p:cNvSpPr>
          <p:nvPr>
            <p:ph idx="1"/>
          </p:nvPr>
        </p:nvSpPr>
        <p:spPr bwMode="auto"/>
        <p:txBody>
          <a:bodyPr wrap="square" numCol="1" anchor="t" anchorCtr="0" compatLnSpc="1">
            <a:prstTxWarp prst="textNoShape">
              <a:avLst/>
            </a:prstTxWarp>
          </a:bodyPr>
          <a:lstStyle/>
          <a:p>
            <a:r>
              <a:rPr lang="en-US" altLang="en-US" dirty="0">
                <a:solidFill>
                  <a:srgbClr val="FF0000"/>
                </a:solidFill>
              </a:rPr>
              <a:t>Protection</a:t>
            </a:r>
          </a:p>
          <a:p>
            <a:pPr lvl="1"/>
            <a:r>
              <a:rPr lang="en-US" altLang="en-US" dirty="0"/>
              <a:t>Control access to resources</a:t>
            </a:r>
          </a:p>
          <a:p>
            <a:pPr lvl="1"/>
            <a:r>
              <a:rPr lang="en-US" altLang="en-US" dirty="0"/>
              <a:t>Get and set permissions</a:t>
            </a:r>
          </a:p>
          <a:p>
            <a:pPr lvl="1"/>
            <a:r>
              <a:rPr lang="en-US" altLang="en-US" dirty="0"/>
              <a:t>Allow and deny user access</a:t>
            </a:r>
          </a:p>
          <a:p>
            <a:pPr lvl="1"/>
            <a:endParaRPr lang="en-US" altLang="en-US" dirty="0"/>
          </a:p>
        </p:txBody>
      </p:sp>
    </p:spTree>
    <p:extLst>
      <p:ext uri="{BB962C8B-B14F-4D97-AF65-F5344CB8AC3E}">
        <p14:creationId xmlns:p14="http://schemas.microsoft.com/office/powerpoint/2010/main" val="1461549213"/>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a:extLst>
              <a:ext uri="{FF2B5EF4-FFF2-40B4-BE49-F238E27FC236}">
                <a16:creationId xmlns="" xmlns:a16="http://schemas.microsoft.com/office/drawing/2014/main" id="{37126BF8-3A49-4947-8D67-2EA416C74EDB}"/>
              </a:ext>
            </a:extLst>
          </p:cNvPr>
          <p:cNvSpPr>
            <a:spLocks noGrp="1" noChangeArrowheads="1"/>
          </p:cNvSpPr>
          <p:nvPr>
            <p:ph type="title"/>
          </p:nvPr>
        </p:nvSpPr>
        <p:spPr>
          <a:xfrm>
            <a:off x="2703514" y="106363"/>
            <a:ext cx="7648575" cy="576262"/>
          </a:xfrm>
        </p:spPr>
        <p:txBody>
          <a:bodyPr/>
          <a:lstStyle/>
          <a:p>
            <a:r>
              <a:rPr lang="en-US" altLang="en-US" sz="2400" dirty="0">
                <a:solidFill>
                  <a:srgbClr val="FF0000"/>
                </a:solidFill>
              </a:rPr>
              <a:t>Examples of Windows and  Unix System Calls</a:t>
            </a:r>
          </a:p>
        </p:txBody>
      </p:sp>
      <p:pic>
        <p:nvPicPr>
          <p:cNvPr id="28675" name="Picture 6" descr="OS8-p61">
            <a:extLst>
              <a:ext uri="{FF2B5EF4-FFF2-40B4-BE49-F238E27FC236}">
                <a16:creationId xmlns="" xmlns:a16="http://schemas.microsoft.com/office/drawing/2014/main" id="{FEF3FDCA-0F5A-403F-83F9-55364A95DB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25600" y="1203326"/>
            <a:ext cx="8543636" cy="4811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22570625"/>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 xmlns:a16="http://schemas.microsoft.com/office/drawing/2014/main" id="{111A5778-471E-487E-A300-187334A00016}"/>
              </a:ext>
            </a:extLst>
          </p:cNvPr>
          <p:cNvSpPr>
            <a:spLocks noGrp="1" noChangeArrowheads="1"/>
          </p:cNvSpPr>
          <p:nvPr>
            <p:ph type="title"/>
          </p:nvPr>
        </p:nvSpPr>
        <p:spPr>
          <a:xfrm>
            <a:off x="1981200" y="184151"/>
            <a:ext cx="8229600" cy="576263"/>
          </a:xfrm>
        </p:spPr>
        <p:txBody>
          <a:bodyPr>
            <a:normAutofit fontScale="90000"/>
          </a:bodyPr>
          <a:lstStyle/>
          <a:p>
            <a:r>
              <a:rPr lang="en-US" altLang="en-US" dirty="0">
                <a:solidFill>
                  <a:srgbClr val="FF0000"/>
                </a:solidFill>
              </a:rPr>
              <a:t>Standard C Library Example</a:t>
            </a:r>
          </a:p>
        </p:txBody>
      </p:sp>
      <p:sp>
        <p:nvSpPr>
          <p:cNvPr id="30723" name="Rectangle 3">
            <a:extLst>
              <a:ext uri="{FF2B5EF4-FFF2-40B4-BE49-F238E27FC236}">
                <a16:creationId xmlns="" xmlns:a16="http://schemas.microsoft.com/office/drawing/2014/main" id="{7A8367FB-C0B1-4F0B-A1BD-6E6845722981}"/>
              </a:ext>
            </a:extLst>
          </p:cNvPr>
          <p:cNvSpPr>
            <a:spLocks noGrp="1" noChangeArrowheads="1"/>
          </p:cNvSpPr>
          <p:nvPr>
            <p:ph idx="1"/>
          </p:nvPr>
        </p:nvSpPr>
        <p:spPr bwMode="auto">
          <a:xfrm>
            <a:off x="812801" y="1173163"/>
            <a:ext cx="9121776" cy="5078412"/>
          </a:xfrm>
        </p:spPr>
        <p:txBody>
          <a:bodyPr wrap="square" numCol="1" anchor="t" anchorCtr="0" compatLnSpc="1">
            <a:prstTxWarp prst="textNoShape">
              <a:avLst/>
            </a:prstTxWarp>
          </a:bodyPr>
          <a:lstStyle/>
          <a:p>
            <a:r>
              <a:rPr lang="en-US" altLang="en-US" dirty="0"/>
              <a:t>C program invoking </a:t>
            </a:r>
            <a:r>
              <a:rPr lang="en-US" altLang="en-US" dirty="0" err="1"/>
              <a:t>printf</a:t>
            </a:r>
            <a:r>
              <a:rPr lang="en-US" altLang="en-US" dirty="0"/>
              <a:t>() library call, which calls write() system call</a:t>
            </a:r>
          </a:p>
        </p:txBody>
      </p:sp>
      <p:pic>
        <p:nvPicPr>
          <p:cNvPr id="30724" name="Picture 1" descr="Screen Shot 2012-12-01 at 1.12.03 PM.png">
            <a:extLst>
              <a:ext uri="{FF2B5EF4-FFF2-40B4-BE49-F238E27FC236}">
                <a16:creationId xmlns="" xmlns:a16="http://schemas.microsoft.com/office/drawing/2014/main" id="{94C7715F-783F-4999-B2E0-25C72EE6127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782619" y="2101995"/>
            <a:ext cx="6175810" cy="421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2518886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AE6F2518-B084-4896-AF52-66CC2144AA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1597</TotalTime>
  <Words>3766</Words>
  <Application>Microsoft Office PowerPoint</Application>
  <PresentationFormat>Widescreen</PresentationFormat>
  <Paragraphs>503</Paragraphs>
  <Slides>76</Slides>
  <Notes>15</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76</vt:i4>
      </vt:variant>
    </vt:vector>
  </HeadingPairs>
  <TitlesOfParts>
    <vt:vector size="90" baseType="lpstr">
      <vt:lpstr>MS PGothic</vt:lpstr>
      <vt:lpstr>MS PGothic</vt:lpstr>
      <vt:lpstr>Arial</vt:lpstr>
      <vt:lpstr>BentonSans</vt:lpstr>
      <vt:lpstr>Calibri</vt:lpstr>
      <vt:lpstr>Calibri Light</vt:lpstr>
      <vt:lpstr>Google Sans</vt:lpstr>
      <vt:lpstr>Gothic Uralic</vt:lpstr>
      <vt:lpstr>Roboto</vt:lpstr>
      <vt:lpstr>Segoe UI</vt:lpstr>
      <vt:lpstr>Times New Roman</vt:lpstr>
      <vt:lpstr>Verdana</vt:lpstr>
      <vt:lpstr>Wingdings</vt:lpstr>
      <vt:lpstr>Office Theme</vt:lpstr>
      <vt:lpstr>Operating Systems (22CSC15N) BE(CSE) V-Semester</vt:lpstr>
      <vt:lpstr>Course Objectives:</vt:lpstr>
      <vt:lpstr>Course Outcomes: </vt:lpstr>
      <vt:lpstr>UNIT-1</vt:lpstr>
      <vt:lpstr>Operating System</vt:lpstr>
      <vt:lpstr>Computer Structure</vt:lpstr>
      <vt:lpstr>Four Components of a Computer System</vt:lpstr>
      <vt:lpstr>Operating System Definition</vt:lpstr>
      <vt:lpstr>               Computer Startup</vt:lpstr>
      <vt:lpstr>Operating System Components </vt:lpstr>
      <vt:lpstr>Process Management</vt:lpstr>
      <vt:lpstr>Main Memory Management</vt:lpstr>
      <vt:lpstr>Secondary Storage Management</vt:lpstr>
      <vt:lpstr>Input /Output Management</vt:lpstr>
      <vt:lpstr>File Management</vt:lpstr>
      <vt:lpstr>Protection and Security</vt:lpstr>
      <vt:lpstr>Networking</vt:lpstr>
      <vt:lpstr> Types of Operating System </vt:lpstr>
      <vt:lpstr> Types of Operating System </vt:lpstr>
      <vt:lpstr>Multiprogramming Operating System </vt:lpstr>
      <vt:lpstr>Multiprogramming</vt:lpstr>
      <vt:lpstr>Multitasking/Time Sharing Systems</vt:lpstr>
      <vt:lpstr>PowerPoint Presentation</vt:lpstr>
      <vt:lpstr>Multiprocessor Operating System </vt:lpstr>
      <vt:lpstr>Real Time Operating System </vt:lpstr>
      <vt:lpstr>Network operating system</vt:lpstr>
      <vt:lpstr>Mobile operating system</vt:lpstr>
      <vt:lpstr>Mobile operating system</vt:lpstr>
      <vt:lpstr>Functions of OS</vt:lpstr>
      <vt:lpstr>Operating System Structure</vt:lpstr>
      <vt:lpstr>Simple Structure -- MS-DOS</vt:lpstr>
      <vt:lpstr>Non Simple Structure -- UNIX</vt:lpstr>
      <vt:lpstr>PowerPoint Presentation</vt:lpstr>
      <vt:lpstr>Layered Approach</vt:lpstr>
      <vt:lpstr>Microkernel System Structure</vt:lpstr>
      <vt:lpstr>Microkernel System Structure</vt:lpstr>
      <vt:lpstr>Microkernel System Structure</vt:lpstr>
      <vt:lpstr>Modules</vt:lpstr>
      <vt:lpstr>Solaris Modular Approach</vt:lpstr>
      <vt:lpstr>Hybrid Systems</vt:lpstr>
      <vt:lpstr>Hybrid Systems</vt:lpstr>
      <vt:lpstr>Mac OS X Structure</vt:lpstr>
      <vt:lpstr>iOS</vt:lpstr>
      <vt:lpstr>Android</vt:lpstr>
      <vt:lpstr>Android Architecture</vt:lpstr>
      <vt:lpstr>Virtual Machines</vt:lpstr>
      <vt:lpstr>System Models</vt:lpstr>
      <vt:lpstr>Virtual Machines - Implementation</vt:lpstr>
      <vt:lpstr>Advantages/Disadvantages of Virtual Machines</vt:lpstr>
      <vt:lpstr>Example: VMware Architecture</vt:lpstr>
      <vt:lpstr>comparison between the two kernel types</vt:lpstr>
      <vt:lpstr>Types of OS</vt:lpstr>
      <vt:lpstr>Single User Systems:  </vt:lpstr>
      <vt:lpstr>Multi-User Systems  </vt:lpstr>
      <vt:lpstr>Operating-System Operations</vt:lpstr>
      <vt:lpstr>Transition from User to Kernel Mode</vt:lpstr>
      <vt:lpstr>PowerPoint Presentation</vt:lpstr>
      <vt:lpstr>Linux/Unix OS Design and architecture overview.</vt:lpstr>
      <vt:lpstr>Linux/Unix OS Design and architecture overview.</vt:lpstr>
      <vt:lpstr>A View of Operating System Services</vt:lpstr>
      <vt:lpstr>Operating System Services</vt:lpstr>
      <vt:lpstr>Operating System Services (Cont.)</vt:lpstr>
      <vt:lpstr>Operating System Services (Cont.)</vt:lpstr>
      <vt:lpstr>System Calls</vt:lpstr>
      <vt:lpstr>Example of System Calls</vt:lpstr>
      <vt:lpstr>Example of Standard API</vt:lpstr>
      <vt:lpstr>System Call Implementation</vt:lpstr>
      <vt:lpstr>API – System Call – OS Relationship</vt:lpstr>
      <vt:lpstr>System Call Parameter Passing</vt:lpstr>
      <vt:lpstr>Parameter Passing via Table</vt:lpstr>
      <vt:lpstr>Types of System Calls</vt:lpstr>
      <vt:lpstr>Types of System Calls</vt:lpstr>
      <vt:lpstr>Types of System Calls (Cont.)</vt:lpstr>
      <vt:lpstr>Types of System Calls (Cont.)</vt:lpstr>
      <vt:lpstr>Examples of Windows and  Unix System Calls</vt:lpstr>
      <vt:lpstr>Standard C Library Example</vt:lpstr>
    </vt:vector>
  </TitlesOfParts>
  <Company>HP</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Operating Systems (22CSC15N) BE(CSE) V-Semester</dc:title>
  <dc:creator>cse33</dc:creator>
  <cp:lastModifiedBy>cse33</cp:lastModifiedBy>
  <cp:revision>36</cp:revision>
  <dcterms:created xsi:type="dcterms:W3CDTF">2025-07-15T08:27:55Z</dcterms:created>
  <dcterms:modified xsi:type="dcterms:W3CDTF">2026-07-30T08:27:35Z</dcterms:modified>
</cp:coreProperties>
</file>