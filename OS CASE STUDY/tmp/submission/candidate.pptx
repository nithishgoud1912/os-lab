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69f413350b4bc2" /><Relationship Type="http://schemas.openxmlformats.org/officeDocument/2006/relationships/extended-properties" Target="/docProps/app.xml" Id="R1c635be907ae4bb2" /><Relationship Type="http://schemas.openxmlformats.org/officeDocument/2006/relationships/officeDocument" Target="/ppt/presentation.xml" Id="R4b66b28bcc88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e881d1fc7f4597"/>
  </p:sldMasterIdLst>
  <p:notesMasterIdLst>
    <p:notesMasterId xmlns:r="http://schemas.openxmlformats.org/officeDocument/2006/relationships" r:id="Ra2b12c5e505d46b2"/>
  </p:notesMasterIdLst>
  <p:sldIdLst>
    <p:sldId xmlns:r="http://schemas.openxmlformats.org/officeDocument/2006/relationships" id="256" r:id="R49eb9338ab67484d"/>
    <p:sldId xmlns:r="http://schemas.openxmlformats.org/officeDocument/2006/relationships" id="257" r:id="R8bbf9ea7c5754286"/>
    <p:sldId xmlns:r="http://schemas.openxmlformats.org/officeDocument/2006/relationships" id="258" r:id="Rba40a57ef12e4430"/>
    <p:sldId xmlns:r="http://schemas.openxmlformats.org/officeDocument/2006/relationships" id="259" r:id="R9ce791bd371a483e"/>
    <p:sldId xmlns:r="http://schemas.openxmlformats.org/officeDocument/2006/relationships" id="260" r:id="R46b2ad18944c47ee"/>
    <p:sldId xmlns:r="http://schemas.openxmlformats.org/officeDocument/2006/relationships" id="261" r:id="Ra198ec2a20f548ec"/>
    <p:sldId xmlns:r="http://schemas.openxmlformats.org/officeDocument/2006/relationships" id="262" r:id="Ra6583114547b43b3"/>
    <p:sldId xmlns:r="http://schemas.openxmlformats.org/officeDocument/2006/relationships" id="263" r:id="R3c471de2af3942e6"/>
    <p:sldId xmlns:r="http://schemas.openxmlformats.org/officeDocument/2006/relationships" id="264" r:id="R532dfb22569b4aaf"/>
    <p:sldId xmlns:r="http://schemas.openxmlformats.org/officeDocument/2006/relationships" id="265" r:id="Rbd9e0df8984140a7"/>
    <p:sldId xmlns:r="http://schemas.openxmlformats.org/officeDocument/2006/relationships" id="266" r:id="R799e02e3770b4948"/>
    <p:sldId xmlns:r="http://schemas.openxmlformats.org/officeDocument/2006/relationships" id="267" r:id="Rf45ba653f841456c"/>
    <p:sldId xmlns:r="http://schemas.openxmlformats.org/officeDocument/2006/relationships" id="268" r:id="Ra92e31ea33cb45e0"/>
    <p:sldId xmlns:r="http://schemas.openxmlformats.org/officeDocument/2006/relationships" id="269" r:id="Re0e7da744bba42f7"/>
    <p:sldId xmlns:r="http://schemas.openxmlformats.org/officeDocument/2006/relationships" id="270" r:id="Re281c730b69b4fdb"/>
    <p:sldId xmlns:r="http://schemas.openxmlformats.org/officeDocument/2006/relationships" id="271" r:id="Rb8a972f032884d3f"/>
    <p:sldId xmlns:r="http://schemas.openxmlformats.org/officeDocument/2006/relationships" id="272" r:id="R04776b7fe7be402d"/>
    <p:sldId xmlns:r="http://schemas.openxmlformats.org/officeDocument/2006/relationships" id="273" r:id="Rfa4793e7a07e4a47"/>
    <p:sldId xmlns:r="http://schemas.openxmlformats.org/officeDocument/2006/relationships" id="274" r:id="R1cd8ae442e394132"/>
    <p:sldId xmlns:r="http://schemas.openxmlformats.org/officeDocument/2006/relationships" id="275" r:id="Rd2eaa262426140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1a3fd676bc463b" /><Relationship Type="http://schemas.openxmlformats.org/officeDocument/2006/relationships/slideMaster" Target="/ppt/slideMasters/slideMaster1.xml" Id="R73e881d1fc7f4597" /><Relationship Type="http://schemas.openxmlformats.org/officeDocument/2006/relationships/notesMaster" Target="/ppt/notesMasters/notesMaster1.xml" Id="Ra2b12c5e505d46b2" /><Relationship Type="http://schemas.openxmlformats.org/officeDocument/2006/relationships/presProps" Target="/ppt/presProps.xml" Id="R304c454b298a44f5" /><Relationship Type="http://schemas.openxmlformats.org/officeDocument/2006/relationships/tableStyles" Target="/ppt/tableStyles.xml" Id="R166b0537509d41bf" /><Relationship Type="http://schemas.openxmlformats.org/officeDocument/2006/relationships/slide" Target="/ppt/slides/slide1.xml" Id="R49eb9338ab67484d" /><Relationship Type="http://schemas.openxmlformats.org/officeDocument/2006/relationships/slide" Target="/ppt/slides/slide2.xml" Id="R8bbf9ea7c5754286" /><Relationship Type="http://schemas.openxmlformats.org/officeDocument/2006/relationships/slide" Target="/ppt/slides/slide3.xml" Id="Rba40a57ef12e4430" /><Relationship Type="http://schemas.openxmlformats.org/officeDocument/2006/relationships/slide" Target="/ppt/slides/slide4.xml" Id="R9ce791bd371a483e" /><Relationship Type="http://schemas.openxmlformats.org/officeDocument/2006/relationships/slide" Target="/ppt/slides/slide5.xml" Id="R46b2ad18944c47ee" /><Relationship Type="http://schemas.openxmlformats.org/officeDocument/2006/relationships/slide" Target="/ppt/slides/slide6.xml" Id="Ra198ec2a20f548ec" /><Relationship Type="http://schemas.openxmlformats.org/officeDocument/2006/relationships/slide" Target="/ppt/slides/slide7.xml" Id="Ra6583114547b43b3" /><Relationship Type="http://schemas.openxmlformats.org/officeDocument/2006/relationships/slide" Target="/ppt/slides/slide8.xml" Id="R3c471de2af3942e6" /><Relationship Type="http://schemas.openxmlformats.org/officeDocument/2006/relationships/slide" Target="/ppt/slides/slide9.xml" Id="R532dfb22569b4aaf" /><Relationship Type="http://schemas.openxmlformats.org/officeDocument/2006/relationships/slide" Target="/ppt/slides/slide10.xml" Id="Rbd9e0df8984140a7" /><Relationship Type="http://schemas.openxmlformats.org/officeDocument/2006/relationships/slide" Target="/ppt/slides/slide11.xml" Id="R799e02e3770b4948" /><Relationship Type="http://schemas.openxmlformats.org/officeDocument/2006/relationships/slide" Target="/ppt/slides/slide12.xml" Id="Rf45ba653f841456c" /><Relationship Type="http://schemas.openxmlformats.org/officeDocument/2006/relationships/slide" Target="/ppt/slides/slide13.xml" Id="Ra92e31ea33cb45e0" /><Relationship Type="http://schemas.openxmlformats.org/officeDocument/2006/relationships/slide" Target="/ppt/slides/slide14.xml" Id="Re0e7da744bba42f7" /><Relationship Type="http://schemas.openxmlformats.org/officeDocument/2006/relationships/slide" Target="/ppt/slides/slide15.xml" Id="Re281c730b69b4fdb" /><Relationship Type="http://schemas.openxmlformats.org/officeDocument/2006/relationships/slide" Target="/ppt/slides/slide16.xml" Id="Rb8a972f032884d3f" /><Relationship Type="http://schemas.openxmlformats.org/officeDocument/2006/relationships/slide" Target="/ppt/slides/slide17.xml" Id="R04776b7fe7be402d" /><Relationship Type="http://schemas.openxmlformats.org/officeDocument/2006/relationships/slide" Target="/ppt/slides/slide18.xml" Id="Rfa4793e7a07e4a47" /><Relationship Type="http://schemas.openxmlformats.org/officeDocument/2006/relationships/slide" Target="/ppt/slides/slide19.xml" Id="R1cd8ae442e394132" /><Relationship Type="http://schemas.openxmlformats.org/officeDocument/2006/relationships/slide" Target="/ppt/slides/slide20.xml" Id="Rd2eaa262426140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e31d1c1ccb45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022702f4c44fd1" /><Relationship Type="http://schemas.openxmlformats.org/officeDocument/2006/relationships/notesMaster" Target="/ppt/notesMasters/notesMaster1.xml" Id="Ra279550a514c4d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2e80d34e6842f0" /><Relationship Type="http://schemas.openxmlformats.org/officeDocument/2006/relationships/notesMaster" Target="/ppt/notesMasters/notesMaster1.xml" Id="R7acf6553a58140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23ddf471494433" /><Relationship Type="http://schemas.openxmlformats.org/officeDocument/2006/relationships/notesMaster" Target="/ppt/notesMasters/notesMaster1.xml" Id="Rf33d4496f4d442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f88ea0352f4c92" /><Relationship Type="http://schemas.openxmlformats.org/officeDocument/2006/relationships/notesMaster" Target="/ppt/notesMasters/notesMaster1.xml" Id="R0d810c6ba22f44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a4f039059a4ec6" /><Relationship Type="http://schemas.openxmlformats.org/officeDocument/2006/relationships/notesMaster" Target="/ppt/notesMasters/notesMaster1.xml" Id="R8c60cf4c2e2d44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4af3fd44684164" /><Relationship Type="http://schemas.openxmlformats.org/officeDocument/2006/relationships/notesMaster" Target="/ppt/notesMasters/notesMaster1.xml" Id="Rfd5e397ba8cc4f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3dd12c7f2b4cbf" /><Relationship Type="http://schemas.openxmlformats.org/officeDocument/2006/relationships/notesMaster" Target="/ppt/notesMasters/notesMaster1.xml" Id="Rd9da76c674d5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0c25ef26d04ad1" /><Relationship Type="http://schemas.openxmlformats.org/officeDocument/2006/relationships/notesMaster" Target="/ppt/notesMasters/notesMaster1.xml" Id="Rd3a20dc0a0224f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45028bb8964ac7" /><Relationship Type="http://schemas.openxmlformats.org/officeDocument/2006/relationships/notesMaster" Target="/ppt/notesMasters/notesMaster1.xml" Id="Rbc1e23dcc77745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6737a4d52649a1" /><Relationship Type="http://schemas.openxmlformats.org/officeDocument/2006/relationships/notesMaster" Target="/ppt/notesMasters/notesMaster1.xml" Id="Ra9047b107ab64c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cf7d3ec8f8485e" /><Relationship Type="http://schemas.openxmlformats.org/officeDocument/2006/relationships/notesMaster" Target="/ppt/notesMasters/notesMaster1.xml" Id="R904a0e1eebd649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43057a2ec145b2" /><Relationship Type="http://schemas.openxmlformats.org/officeDocument/2006/relationships/notesMaster" Target="/ppt/notesMasters/notesMaster1.xml" Id="Rc1e76bd7179b45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0ac31cdb8a4aea" /><Relationship Type="http://schemas.openxmlformats.org/officeDocument/2006/relationships/notesMaster" Target="/ppt/notesMasters/notesMaster1.xml" Id="R4230afd857b544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177ce8a4f2471e" /><Relationship Type="http://schemas.openxmlformats.org/officeDocument/2006/relationships/notesMaster" Target="/ppt/notesMasters/notesMaster1.xml" Id="R2fe9d72e816540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95996cac4947fc" /><Relationship Type="http://schemas.openxmlformats.org/officeDocument/2006/relationships/notesMaster" Target="/ppt/notesMasters/notesMaster1.xml" Id="R0787af1bcd4841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82039f7d824528" /><Relationship Type="http://schemas.openxmlformats.org/officeDocument/2006/relationships/notesMaster" Target="/ppt/notesMasters/notesMaster1.xml" Id="R7dc04f620ba04a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1d4ab2c9c34c49" /><Relationship Type="http://schemas.openxmlformats.org/officeDocument/2006/relationships/notesMaster" Target="/ppt/notesMasters/notesMaster1.xml" Id="R41bf9a81717346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7139e1caaf4f03" /><Relationship Type="http://schemas.openxmlformats.org/officeDocument/2006/relationships/notesMaster" Target="/ppt/notesMasters/notesMaster1.xml" Id="Rf94ace5481e041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7b8e27fe8c453a" /><Relationship Type="http://schemas.openxmlformats.org/officeDocument/2006/relationships/notesMaster" Target="/ppt/notesMasters/notesMaster1.xml" Id="R73e94e37a9294c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1cb23239404fc2" /><Relationship Type="http://schemas.openxmlformats.org/officeDocument/2006/relationships/notesMaster" Target="/ppt/notesMasters/notesMaster1.xml" Id="Rfc1ef8b14e9d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Operating Systems Case Study</a:t>
            </a:r>
          </a:p>
          <a:p xmlns:a="http://schemas.openxmlformats.org/drawingml/2006/main">
            <a:r>
              <a:t> Race Conditions and</a:t>
            </a:r>
          </a:p>
          <a:p xmlns:a="http://schemas.openxmlformats.org/drawingml/2006/main">
            <a:r>
              <a:t>Synchronization in xv6</a:t>
            </a:r>
          </a:p>
          <a:p xmlns:a="http://schemas.openxmlformats.org/drawingml/2006/main">
            <a:r>
              <a:t> A practical study of the physical-page allocator</a:t>
            </a:r>
          </a:p>
          <a:p xmlns:a="http://schemas.openxmlformats.org/drawingml/2006/main">
            <a:r>
              <a:t>Submitted by</a:t>
            </a:r>
          </a:p>
          <a:p xmlns:a="http://schemas.openxmlformats.org/drawingml/2006/main">
            <a:r>
              <a:t>Name</a:t>
            </a:r>
          </a:p>
          <a:p xmlns:a="http://schemas.openxmlformats.org/drawingml/2006/main">
            <a:r>
              <a:t>Roll number</a:t>
            </a:r>
          </a:p>
          <a:p xmlns:a="http://schemas.openxmlformats.org/drawingml/2006/main">
            <a:r>
              <a:t>L Nithish Kumar Goud</a:t>
            </a:r>
          </a:p>
          <a:p xmlns:a="http://schemas.openxmlformats.org/drawingml/2006/main">
            <a:r>
              <a:t>160124733327</a:t>
            </a:r>
          </a:p>
          <a:p xmlns:a="http://schemas.openxmlformats.org/drawingml/2006/main">
            <a:r>
              <a:t>G Ishan</a:t>
            </a:r>
          </a:p>
          <a:p xmlns:a="http://schemas.openxmlformats.org/drawingml/2006/main">
            <a:r>
              <a:t>160124733322</a:t>
            </a:r>
          </a:p>
          <a:p xmlns:a="http://schemas.openxmlformats.org/drawingml/2006/main">
            <a:r>
              <a:t>Santhosh</a:t>
            </a:r>
          </a:p>
          <a:p xmlns:a="http://schemas.openxmlformats.org/drawingml/2006/main">
            <a:r>
              <a:t>160124733332</a:t>
            </a:r>
          </a:p>
          <a:p xmlns:a="http://schemas.openxmlformats.org/drawingml/2006/main">
            <a:r>
              <a:t>Venkat</a:t>
            </a:r>
          </a:p>
          <a:p xmlns:a="http://schemas.openxmlformats.org/drawingml/2006/main">
            <a:r>
              <a:t>160124733340</a:t>
            </a:r>
          </a:p>
          <a:p xmlns:a="http://schemas.openxmlformats.org/drawingml/2006/main">
            <a:r>
              <a:t> Department of Computer Science and Engineering</a:t>
            </a:r>
          </a:p>
          <a:p xmlns:a="http://schemas.openxmlformats.org/drawingml/2006/main">
            <a:r>
              <a:t> Institution: ______________________________</a:t>
            </a:r>
          </a:p>
          <a:p xmlns:a="http://schemas.openxmlformats.org/drawingml/2006/main">
            <a:r>
              <a:t> Faculty: _________________________________</a:t>
            </a:r>
          </a:p>
          <a:p xmlns:a="http://schemas.openxmlformats.org/drawingml/2006/main">
            <a:r>
              <a:t> Semester / Section: _______________________</a:t>
            </a:r>
          </a:p>
          <a:p xmlns:a="http://schemas.openxmlformats.org/drawingml/2006/main">
            <a:r>
              <a:t> Academic year: ___________________________</a:t>
            </a:r>
          </a:p>
          <a:p xmlns:a="http://schemas.openxmlformats.org/drawingml/2006/main">
            <a:r>
              <a:t> Experiment evidence: 24 October 2026</a:t>
            </a:r>
          </a:p>
          <a:p xmlns:a="http://schemas.openxmlformats.org/drawingml/2006/main">
            <a:r>
              <a:t> Report prepared: 25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1. Problem statement</a:t>
            </a:r>
          </a:p>
          <a:p xmlns:a="http://schemas.openxmlformats.org/drawingml/2006/main">
            <a:r>
              <a:t>An operating system allows several activities to progress concurrently. On a multicore machine,</a:t>
            </a:r>
          </a:p>
          <a:p xmlns:a="http://schemas.openxmlformats.org/drawingml/2006/main">
            <a:r>
              <a:t>two CPUs can execute kernel code at the same time. A shared data structure can become</a:t>
            </a:r>
          </a:p>
          <a:p xmlns:a="http://schemas.openxmlformats.org/drawingml/2006/main">
            <a:r>
              <a:t>inconsistent when one CPU reads or changes it while another CPU is partway through an</a:t>
            </a:r>
          </a:p>
          <a:p xmlns:a="http://schemas.openxmlformats.org/drawingml/2006/main">
            <a:r>
              <a:t>update. The resulting behavior can depend on timing rather than on the intended program logic.</a:t>
            </a:r>
          </a:p>
          <a:p xmlns:a="http://schemas.openxmlformats.org/drawingml/2006/main">
            <a:r>
              <a:t>This study asks how synchronization protects the xv6 physical-page allocator when concurrent</a:t>
            </a:r>
          </a:p>
          <a:p xmlns:a="http://schemas.openxmlformats.org/drawingml/2006/main">
            <a:r>
              <a:t>processes repeatedly request and release memory. The shared structure is kmem.freelist, a linked</a:t>
            </a:r>
          </a:p>
          <a:p xmlns:a="http://schemas.openxmlformats.org/drawingml/2006/main">
            <a:r>
              <a:t>list of available physical pages. The investigation compares the normal allocator, a deliberately</a:t>
            </a:r>
          </a:p>
          <a:p xmlns:a="http://schemas.openxmlformats.org/drawingml/2006/main">
            <a:r>
              <a:t>unlocked experimental variant, and the allocator after its original locking is restored.</a:t>
            </a:r>
          </a:p>
          <a:p xmlns:a="http://schemas.openxmlformats.org/drawingml/2006/main">
            <a:r>
              <a:t>Practical question</a:t>
            </a:r>
          </a:p>
          <a:p xmlns:a="http://schemas.openxmlformats.org/drawingml/2006/main">
            <a:r>
              <a:t>Under the same four-CPU workload, do the recorded outcomes change when the existing</a:t>
            </a:r>
          </a:p>
          <a:p xmlns:a="http://schemas.openxmlformats.org/drawingml/2006/main">
            <a:r>
              <a:t>allocator lock calls are removed and then restored? The study uses a healthy original-lock</a:t>
            </a:r>
          </a:p>
          <a:p xmlns:a="http://schemas.openxmlformats.org/drawingml/2006/main">
            <a:r>
              <a:t>baseline as a control, changes only the intended allocator calls for the unlocked phase, and</a:t>
            </a:r>
          </a:p>
          <a:p xmlns:a="http://schemas.openxmlformats.org/drawingml/2006/main">
            <a:r>
              <a:t>checks restoration before the final phase.</a:t>
            </a:r>
          </a:p>
          <a:p xmlns:a="http://schemas.openxmlformats.org/drawingml/2006/main">
            <a:r>
              <a:t>What is being tested</a:t>
            </a:r>
          </a:p>
          <a:p xmlns:a="http://schemas.openxmlformats.org/drawingml/2006/main">
            <a:r>
              <a:t>The workload runs as four xv6 user processes, but the deliberately unprotected shared data is in</a:t>
            </a:r>
          </a:p>
          <a:p xmlns:a="http://schemas.openxmlformats.org/drawingml/2006/main">
            <a:r>
              <a:t>the kernel. The children have separate virtual address spaces. Their memory-management</a:t>
            </a:r>
          </a:p>
          <a:p xmlns:a="http://schemas.openxmlformats.org/drawingml/2006/main">
            <a:r>
              <a:t>system calls converge on the same physical allocator, making kernel-level coordination</a:t>
            </a:r>
          </a:p>
          <a:p xmlns:a="http://schemas.openxmlformats.org/drawingml/2006/main">
            <a:r>
              <a:t>necessary even though each child expects a private buffer.</a:t>
            </a:r>
          </a:p>
          <a:p xmlns:a="http://schemas.openxmlformats.org/drawingml/2006/main">
            <a:r>
              <a:t>Scope and success criteria</a:t>
            </a:r>
          </a:p>
          <a:p xmlns:a="http://schemas.openxmlformats.org/drawingml/2006/main">
            <a:r>
              <a:t>Success means explaining the shared-data invariant, identifying the protected operations,</a:t>
            </a:r>
          </a:p>
          <a:p xmlns:a="http://schemas.openxmlformats.org/drawingml/2006/main">
            <a:r>
              <a:t>documenting the controlled change, preserving every attempt, and connecting observations to</a:t>
            </a:r>
          </a:p>
          <a:p xmlns:a="http://schemas.openxmlformats.org/drawingml/2006/main">
            <a:r>
              <a:t>the source without inventing an internal execution trace. Other synchronization methods are</a:t>
            </a:r>
          </a:p>
          <a:p xmlns:a="http://schemas.openxmlformats.org/drawingml/2006/main">
            <a:r>
              <a:t>explained for comparison; only the existing xv6 allocator spinlock is evaluated experimentally.</a:t>
            </a:r>
          </a:p>
          <a:p xmlns:a="http://schemas.openxmlformats.org/drawingml/2006/main">
            <a:r>
              <a:t>The measurements describe a specific revision, workload, and emulator configuration. They</a:t>
            </a:r>
          </a:p>
          <a:p xmlns:a="http://schemas.openxmlformats.org/drawingml/2006/main">
            <a:r>
              <a:t>provide evidence for these tested conditions rather than proof that every locked program is</a:t>
            </a:r>
          </a:p>
          <a:p xmlns:a="http://schemas.openxmlformats.org/drawingml/2006/main">
            <a:r>
              <a:t>correct or that every unlocked execution must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2. Introduction, objectives and motivation</a:t>
            </a:r>
          </a:p>
          <a:p xmlns:a="http://schemas.openxmlformats.org/drawingml/2006/main">
            <a:r>
              <a:t>A race condition occurs when correctness depends on the relative timing of concurrent activities.</a:t>
            </a:r>
          </a:p>
          <a:p xmlns:a="http://schemas.openxmlformats.org/drawingml/2006/main">
            <a:r>
              <a:t>A data race is a more specific case involving conflicting memory accesses that lack the required</a:t>
            </a:r>
          </a:p>
          <a:p xmlns:a="http://schemas.openxmlformats.org/drawingml/2006/main">
            <a:r>
              <a:t>synchronization. At least one conflicting access is a write. A race condition can also involve a</a:t>
            </a:r>
          </a:p>
          <a:p xmlns:a="http://schemas.openxmlformats.org/drawingml/2006/main">
            <a:r>
              <a:t>longer sequence of individually protected operations when that sequence is not coordinated as a</a:t>
            </a:r>
          </a:p>
          <a:p xmlns:a="http://schemas.openxmlformats.org/drawingml/2006/main">
            <a:r>
              <a:t>whole.</a:t>
            </a:r>
          </a:p>
          <a:p xmlns:a="http://schemas.openxmlformats.org/drawingml/2006/main">
            <a:r>
              <a:t>A shared resource is data or a device that multiple activities can access. A critical section is the</a:t>
            </a:r>
          </a:p>
          <a:p xmlns:a="http://schemas.openxmlformats.org/drawingml/2006/main">
            <a:r>
              <a:t>part of a program that accesses shared state whose invariant must be preserved. Mutual</a:t>
            </a:r>
          </a:p>
          <a:p xmlns:a="http://schemas.openxmlformats.org/drawingml/2006/main">
            <a:r>
              <a:t>exclusion permits only one participant at a time in the sections guarded by the same lock.</a:t>
            </a:r>
          </a:p>
          <a:p xmlns:a="http://schemas.openxmlformats.org/drawingml/2006/main">
            <a:r>
              <a:t>Atomicity means an operation is indivisible with respect to the other participating operations; a</a:t>
            </a:r>
          </a:p>
          <a:p xmlns:a="http://schemas.openxmlformats.org/drawingml/2006/main">
            <a:r>
              <a:t>source statement is not automatically atomic.</a:t>
            </a:r>
          </a:p>
          <a:p xmlns:a="http://schemas.openxmlformats.org/drawingml/2006/main">
            <a:r>
              <a:t>Table 2. Illustrative lost update: counter starts at 0</a:t>
            </a:r>
          </a:p>
          <a:p xmlns:a="http://schemas.openxmlformats.org/drawingml/2006/main">
            <a:r>
              <a:t>Step</a:t>
            </a:r>
          </a:p>
          <a:p xmlns:a="http://schemas.openxmlformats.org/drawingml/2006/main">
            <a:r>
              <a:t>Activity A</a:t>
            </a:r>
          </a:p>
          <a:p xmlns:a="http://schemas.openxmlformats.org/drawingml/2006/main">
            <a:r>
              <a:t>Activity B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Read counter as 0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Read counter as 0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Compute 0 + 1</a:t>
            </a:r>
          </a:p>
          <a:p xmlns:a="http://schemas.openxmlformats.org/drawingml/2006/main">
            <a:r>
              <a:t>Compute 0 + 1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Store 1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Store 1</a:t>
            </a:r>
          </a:p>
          <a:p xmlns:a="http://schemas.openxmlformats.org/drawingml/2006/main">
            <a:r>
              <a:t>Two increments should produce 2, but this possible schedule leaves 1. The expression</a:t>
            </a:r>
          </a:p>
          <a:p xmlns:a="http://schemas.openxmlformats.org/drawingml/2006/main">
            <a:r>
              <a:t>counter++ usually involves a read, a calculation, and a write. This table illustrates the idea; it is</a:t>
            </a:r>
          </a:p>
          <a:p xmlns:a="http://schemas.openxmlformats.org/drawingml/2006/main">
            <a:r>
              <a:t>not a safe executable C experiment with an ordinary unsynchronized shared variable, because C</a:t>
            </a:r>
          </a:p>
          <a:p xmlns:a="http://schemas.openxmlformats.org/drawingml/2006/main">
            <a:r>
              <a:t>data races have undefined behavior.</a:t>
            </a:r>
          </a:p>
          <a:p xmlns:a="http://schemas.openxmlformats.org/drawingml/2006/main">
            <a:r>
              <a:t>Objectives and motivation</a:t>
            </a:r>
          </a:p>
          <a:p xmlns:a="http://schemas.openxmlformats.org/drawingml/2006/main">
            <a:r>
              <a:t>The objectives are to recognize shared kernel state, explain harmful interleavings, understand</a:t>
            </a:r>
          </a:p>
          <a:p xmlns:a="http://schemas.openxmlformats.org/drawingml/2006/main">
            <a:r>
              <a:t>the locking mechanism, and compare recorded outcomes before removal, after removal, and</a:t>
            </a:r>
          </a:p>
          <a:p xmlns:a="http://schemas.openxmlformats.org/drawingml/2006/main">
            <a:r>
              <a:t>after restoration. The motivation is to connect synchronization theory to a small, inspectable</a:t>
            </a:r>
          </a:p>
          <a:p xmlns:a="http://schemas.openxmlformats.org/drawingml/2006/main">
            <a:r>
              <a:t>operating system and a repeatable C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7</a:t>
            </a:r>
          </a:p>
          <a:p xmlns:a="http://schemas.openxmlformats.org/drawingml/2006/main">
            <a:r>
              <a:t>3. Problems caused by race conditions</a:t>
            </a:r>
          </a:p>
          <a:p xmlns:a="http://schemas.openxmlformats.org/drawingml/2006/main">
            <a:r>
              <a:t>A race may produce the right output in many executions and fail only under a particular</a:t>
            </a:r>
          </a:p>
          <a:p xmlns:a="http://schemas.openxmlformats.org/drawingml/2006/main">
            <a:r>
              <a:t>schedule. This makes debugging difficult: additional logging, a different compiler, or a different</a:t>
            </a:r>
          </a:p>
          <a:p xmlns:a="http://schemas.openxmlformats.org/drawingml/2006/main">
            <a:r>
              <a:t>CPU count can change timing. A successful run therefore cannot establish that an</a:t>
            </a:r>
          </a:p>
          <a:p xmlns:a="http://schemas.openxmlformats.org/drawingml/2006/main">
            <a:r>
              <a:t>unsynchronized algorithm is safe.</a:t>
            </a:r>
          </a:p>
          <a:p xmlns:a="http://schemas.openxmlformats.org/drawingml/2006/main">
            <a:r>
              <a:t>Table 3. Consequences of unsafe concurrent access</a:t>
            </a:r>
          </a:p>
          <a:p xmlns:a="http://schemas.openxmlformats.org/drawingml/2006/main">
            <a:r>
              <a:t>Problem</a:t>
            </a:r>
          </a:p>
          <a:p xmlns:a="http://schemas.openxmlformats.org/drawingml/2006/main">
            <a:r>
              <a:t>Explanation and example</a:t>
            </a:r>
          </a:p>
          <a:p xmlns:a="http://schemas.openxmlformats.org/drawingml/2006/main">
            <a:r>
              <a:t>Lost update</a:t>
            </a:r>
          </a:p>
          <a:p xmlns:a="http://schemas.openxmlformats.org/drawingml/2006/main">
            <a:r>
              <a:t>One write overwrites another completed update, such as a missing counter</a:t>
            </a:r>
          </a:p>
          <a:p xmlns:a="http://schemas.openxmlformats.org/drawingml/2006/main">
            <a:r>
              <a:t>increment or a lost free-list insertion.</a:t>
            </a:r>
          </a:p>
          <a:p xmlns:a="http://schemas.openxmlformats.org/drawingml/2006/main">
            <a:r>
              <a:t>Inconsistent state</a:t>
            </a:r>
          </a:p>
          <a:p xmlns:a="http://schemas.openxmlformats.org/drawingml/2006/main">
            <a:r>
              <a:t>A reader observes only part of a multi-step update and uses a structure whose</a:t>
            </a:r>
          </a:p>
          <a:p xmlns:a="http://schemas.openxmlformats.org/drawingml/2006/main">
            <a:r>
              <a:t>invariant is temporarily broken.</a:t>
            </a:r>
          </a:p>
          <a:p xmlns:a="http://schemas.openxmlformats.org/drawingml/2006/main">
            <a:r>
              <a:t>Corruption</a:t>
            </a:r>
          </a:p>
          <a:p xmlns:a="http://schemas.openxmlformats.org/drawingml/2006/main">
            <a:r>
              <a:t>An unintended writer changes data that another process expects to own; the</a:t>
            </a:r>
          </a:p>
          <a:p xmlns:a="http://schemas.openxmlformats.org/drawingml/2006/main">
            <a:r>
              <a:t>workload checks for changed byte tags.</a:t>
            </a:r>
          </a:p>
          <a:p xmlns:a="http://schemas.openxmlformats.org/drawingml/2006/main">
            <a:r>
              <a:t>Resource errors</a:t>
            </a:r>
          </a:p>
          <a:p xmlns:a="http://schemas.openxmlformats.org/drawingml/2006/main">
            <a:r>
              <a:t>A possible allocator race can lose a free page or return a page incorrectly. The</a:t>
            </a:r>
          </a:p>
          <a:p xmlns:a="http://schemas.openxmlformats.org/drawingml/2006/main">
            <a:r>
              <a:t>workload does not identify every such error.</a:t>
            </a:r>
          </a:p>
          <a:p xmlns:a="http://schemas.openxmlformats.org/drawingml/2006/main">
            <a:r>
              <a:t>Crash or trap</a:t>
            </a:r>
          </a:p>
          <a:p xmlns:a="http://schemas.openxmlformats.org/drawingml/2006/main">
            <a:r>
              <a:t>A damaged structure may lead to invalid memory access. A panic alone does not</a:t>
            </a:r>
          </a:p>
          <a:p xmlns:a="http://schemas.openxmlformats.org/drawingml/2006/main">
            <a:r>
              <a:t>identify the precise race.</a:t>
            </a:r>
          </a:p>
          <a:p xmlns:a="http://schemas.openxmlformats.org/drawingml/2006/main">
            <a:r>
              <a:t>Unpredictable behavior</a:t>
            </a:r>
          </a:p>
          <a:p xmlns:a="http://schemas.openxmlformats.org/drawingml/2006/main">
            <a:r>
              <a:t>The timing of conflicting accesses changes the observed outcome between</a:t>
            </a:r>
          </a:p>
          <a:p xmlns:a="http://schemas.openxmlformats.org/drawingml/2006/main">
            <a:r>
              <a:t>executions.</a:t>
            </a:r>
          </a:p>
          <a:p xmlns:a="http://schemas.openxmlformats.org/drawingml/2006/main">
            <a:r>
              <a:t>Race condition versus deadlock</a:t>
            </a:r>
          </a:p>
          <a:p xmlns:a="http://schemas.openxmlformats.org/drawingml/2006/main">
            <a:r>
              <a:t>A race concerns incorrect interaction between concurrent operations. A deadlock concerns</a:t>
            </a:r>
          </a:p>
          <a:p xmlns:a="http://schemas.openxmlformats.org/drawingml/2006/main">
            <a:r>
              <a:t>participants waiting indefinitely for conditions that cannot be satisfied, such as two activities</a:t>
            </a:r>
          </a:p>
          <a:p xmlns:a="http://schemas.openxmlformats.org/drawingml/2006/main">
            <a:r>
              <a:t>holding different locks while each waits for the other. Locks can prevent a race but can</a:t>
            </a:r>
          </a:p>
          <a:p xmlns:a="http://schemas.openxmlformats.org/drawingml/2006/main">
            <a:r>
              <a:t>introduce deadlock if used incorrectly. A host timeout is an observation of missing completion</a:t>
            </a:r>
          </a:p>
          <a:p xmlns:a="http://schemas.openxmlformats.org/drawingml/2006/main">
            <a:r>
              <a:t>within a limit; it is not proof of deadlock.</a:t>
            </a:r>
          </a:p>
          <a:p xmlns:a="http://schemas.openxmlformats.org/drawingml/2006/main">
            <a:r>
              <a:t>Misleading fixes</a:t>
            </a:r>
          </a:p>
          <a:p xmlns:a="http://schemas.openxmlformats.org/drawingml/2006/main">
            <a:r>
              <a:t>Adding a delay or printing more output may change timing without fixing the shared-data rule.</a:t>
            </a:r>
          </a:p>
          <a:p xmlns:a="http://schemas.openxmlformats.org/drawingml/2006/main">
            <a:r>
              <a:t>volatile does not provide mutual exclusion or the required inter-thread ordering. Disabling</a:t>
            </a:r>
          </a:p>
          <a:p xmlns:a="http://schemas.openxmlformats.org/drawingml/2006/main">
            <a:r>
              <a:t>interrupts on one CPU does not stop another CPU from changing the same data. A correct</a:t>
            </a:r>
          </a:p>
          <a:p xmlns:a="http://schemas.openxmlformats.org/drawingml/2006/main">
            <a:r>
              <a:t>solution must coordinate every relevant access to the invariant.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>4. Existing xv6 system and background</a:t>
            </a:r>
          </a:p>
          <a:p xmlns:a="http://schemas.openxmlformats.org/drawingml/2006/main">
            <a:r>
              <a:t>xv6 is a small Unix-like teaching operating system. The fixed RISC-V source revision used here</a:t>
            </a:r>
          </a:p>
          <a:p xmlns:a="http://schemas.openxmlformats.org/drawingml/2006/main">
            <a:r>
              <a:t>already contains synchronization. Its physical allocator manages 4096-byte pages through a</a:t>
            </a:r>
          </a:p>
          <a:p xmlns:a="http://schemas.openxmlformats.org/drawingml/2006/main">
            <a:r>
              <a:t>global linked list. Each free page begins with a struct run containing the next pointer, and</a:t>
            </a:r>
          </a:p>
          <a:p xmlns:a="http://schemas.openxmlformats.org/drawingml/2006/main">
            <a:r>
              <a:t>kmem.freelist identifies the first free page.</a:t>
            </a:r>
          </a:p>
          <a:p xmlns:a="http://schemas.openxmlformats.org/drawingml/2006/main">
            <a:r>
              <a:t>kalloc() removes the head page. kfree() inserts a page at the head after validating and filling it</a:t>
            </a:r>
          </a:p>
          <a:p xmlns:a="http://schemas.openxmlformats.org/drawingml/2006/main">
            <a:r>
              <a:t>with a diagnostic pattern. Both operations acquire kmem.lock while changing the shared list.</a:t>
            </a:r>
          </a:p>
          <a:p xmlns:a="http://schemas.openxmlformats.org/drawingml/2006/main">
            <a:r>
              <a:t>The practical problem is deliberately introduced by removing those calls; standard xv6 is not</a:t>
            </a:r>
          </a:p>
          <a:p xmlns:a="http://schemas.openxmlformats.org/drawingml/2006/main">
            <a:r>
              <a:t>being described as an allocator without locks.</a:t>
            </a:r>
          </a:p>
          <a:p xmlns:a="http://schemas.openxmlformats.org/drawingml/2006/main">
            <a:r>
              <a:t>Table 4. Existing mechanisms and their responsibilities</a:t>
            </a:r>
          </a:p>
          <a:p xmlns:a="http://schemas.openxmlformats.org/drawingml/2006/main">
            <a:r>
              <a:t>Mechanism</a:t>
            </a:r>
          </a:p>
          <a:p xmlns:a="http://schemas.openxmlformats.org/drawingml/2006/main">
            <a:r>
              <a:t>Purpose in the examined source</a:t>
            </a:r>
          </a:p>
          <a:p xmlns:a="http://schemas.openxmlformats.org/drawingml/2006/main">
            <a:r>
              <a:t>kmem.lock</a:t>
            </a:r>
          </a:p>
          <a:p xmlns:a="http://schemas.openxmlformats.org/drawingml/2006/main">
            <a:r>
              <a:t>Serializes allocator free-list updates in kalloc() and kfree().</a:t>
            </a:r>
          </a:p>
          <a:p xmlns:a="http://schemas.openxmlformats.org/drawingml/2006/main">
            <a:r>
              <a:t>Atomic exchange</a:t>
            </a:r>
          </a:p>
          <a:p xmlns:a="http://schemas.openxmlformats.org/drawingml/2006/main">
            <a:r>
              <a:t>Makes ownership acquisition an indivisible read-modify-write operation.</a:t>
            </a:r>
          </a:p>
          <a:p xmlns:a="http://schemas.openxmlformats.org/drawingml/2006/main">
            <a:r>
              <a:t>Acquire/release ordering</a:t>
            </a:r>
          </a:p>
          <a:p xmlns:a="http://schemas.openxmlformats.org/drawingml/2006/main">
            <a:r>
              <a:t>Constrains memory ordering around the protected operations.</a:t>
            </a:r>
          </a:p>
          <a:p xmlns:a="http://schemas.openxmlformats.org/drawingml/2006/main">
            <a:r>
              <a:t>push_off() / pop_off()</a:t>
            </a:r>
          </a:p>
          <a:p xmlns:a="http://schemas.openxmlformats.org/drawingml/2006/main">
            <a:r>
              <a:t>Manage nested local interrupt disabling while spinlocks are held.</a:t>
            </a:r>
          </a:p>
          <a:p xmlns:a="http://schemas.openxmlformats.org/drawingml/2006/main">
            <a:r>
              <a:t>Sleep-lock</a:t>
            </a:r>
          </a:p>
          <a:p xmlns:a="http://schemas.openxmlformats.org/drawingml/2006/main">
            <a:r>
              <a:t>Allows a waiting process to sleep for suitable longer operations; distinct</a:t>
            </a:r>
          </a:p>
          <a:p xmlns:a="http://schemas.openxmlformats.org/drawingml/2006/main">
            <a:r>
              <a:t>from the allocator spinlock.</a:t>
            </a:r>
          </a:p>
          <a:p xmlns:a="http://schemas.openxmlformats.org/drawingml/2006/main">
            <a:r>
              <a:t>Background search and existing-system drawbacks</a:t>
            </a:r>
          </a:p>
          <a:p xmlns:a="http://schemas.openxmlformats.org/drawingml/2006/main">
            <a:r>
              <a:t>The local source is the authority for exact implementation details. The MIT xv6 locking chapter</a:t>
            </a:r>
          </a:p>
          <a:p xmlns:a="http://schemas.openxmlformats.org/drawingml/2006/main">
            <a:r>
              <a:t>provides background on locks, invariants, and contention. POSIX synchronization</a:t>
            </a:r>
          </a:p>
          <a:p xmlns:a="http://schemas.openxmlformats.org/drawingml/2006/main">
            <a:r>
              <a:t>documentation supplies comparison terminology for user-space primitives. The general methods</a:t>
            </a:r>
          </a:p>
          <a:p xmlns:a="http://schemas.openxmlformats.org/drawingml/2006/main">
            <a:r>
              <a:t>are not all implemented by this case study.</a:t>
            </a:r>
          </a:p>
          <a:p xmlns:a="http://schemas.openxmlformats.org/drawingml/2006/main">
            <a:r>
              <a:t>A single allocator lock is easy to reason about, but simultaneous requests contend for it and enter</a:t>
            </a:r>
          </a:p>
          <a:p xmlns:a="http://schemas.openxmlformats.org/drawingml/2006/main">
            <a:r>
              <a:t>the protected list updates one at a time. Busy waiting can consume CPU cycles. These are design</a:t>
            </a:r>
          </a:p>
          <a:p xmlns:a="http://schemas.openxmlformats.org/drawingml/2006/main">
            <a:r>
              <a:t>tradeoffs rather than measured performance findings here. Removing the lock sacrifices</a:t>
            </a:r>
          </a:p>
          <a:p xmlns:a="http://schemas.openxmlformats.org/drawingml/2006/main">
            <a:r>
              <a:t>correctness instead of solving contention. Designs such as per-CPU free lists require a separate</a:t>
            </a:r>
          </a:p>
          <a:p xmlns:a="http://schemas.openxmlformats.org/drawingml/2006/main">
            <a:r>
              <a:t>correctness argument and are future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9</a:t>
            </a:r>
          </a:p>
          <a:p xmlns:a="http://schemas.openxmlformats.org/drawingml/2006/main">
            <a:r>
              <a:t>5. Synchronization types: mutual exclusion</a:t>
            </a:r>
          </a:p>
          <a:p xmlns:a="http://schemas.openxmlformats.org/drawingml/2006/main">
            <a:r>
              <a:t>Synchronization coordinates access to shared state or the order of events. Mutual exclusion and</a:t>
            </a:r>
          </a:p>
          <a:p xmlns:a="http://schemas.openxmlformats.org/drawingml/2006/main">
            <a:r>
              <a:t>condition synchronization solve related but different problems. The correct primitive depends on</a:t>
            </a:r>
          </a:p>
          <a:p xmlns:a="http://schemas.openxmlformats.org/drawingml/2006/main">
            <a:r>
              <a:t>the resource, expected waiting time, execution context, and whether the protected operation may</a:t>
            </a:r>
          </a:p>
          <a:p xmlns:a="http://schemas.openxmlformats.org/drawingml/2006/main">
            <a:r>
              <a:t>sleep.</a:t>
            </a:r>
          </a:p>
          <a:p xmlns:a="http://schemas.openxmlformats.org/drawingml/2006/main">
            <a:r>
              <a:t>Table 5. Methods for controlling access</a:t>
            </a:r>
          </a:p>
          <a:p xmlns:a="http://schemas.openxmlformats.org/drawingml/2006/main">
            <a:r>
              <a:t>Method</a:t>
            </a:r>
          </a:p>
          <a:p xmlns:a="http://schemas.openxmlformats.org/drawingml/2006/main">
            <a:r>
              <a:t>Typical use</a:t>
            </a:r>
          </a:p>
          <a:p xmlns:a="http://schemas.openxmlformats.org/drawingml/2006/main">
            <a:r>
              <a:t>Important limitation</a:t>
            </a:r>
          </a:p>
          <a:p xmlns:a="http://schemas.openxmlformats.org/drawingml/2006/main">
            <a:r>
              <a:t>Mutex</a:t>
            </a:r>
          </a:p>
          <a:p xmlns:a="http://schemas.openxmlformats.org/drawingml/2006/main">
            <a:r>
              <a:t>One owner protects a shared object;</a:t>
            </a:r>
          </a:p>
          <a:p xmlns:a="http://schemas.openxmlformats.org/drawingml/2006/main">
            <a:r>
              <a:t>contended blocking mutexes can put</a:t>
            </a:r>
          </a:p>
          <a:p xmlns:a="http://schemas.openxmlformats.org/drawingml/2006/main">
            <a:r>
              <a:t>threads to sleep.</a:t>
            </a:r>
          </a:p>
          <a:p xmlns:a="http://schemas.openxmlformats.org/drawingml/2006/main">
            <a:r>
              <a:t>All participants must use the same</a:t>
            </a:r>
          </a:p>
          <a:p xmlns:a="http://schemas.openxmlformats.org/drawingml/2006/main">
            <a:r>
              <a:t>discipline; ownership and lock order</a:t>
            </a:r>
          </a:p>
          <a:p xmlns:a="http://schemas.openxmlformats.org/drawingml/2006/main">
            <a:r>
              <a:t>matter.</a:t>
            </a:r>
          </a:p>
          <a:p xmlns:a="http://schemas.openxmlformats.org/drawingml/2006/main">
            <a:r>
              <a:t>Spinlock</a:t>
            </a:r>
          </a:p>
          <a:p xmlns:a="http://schemas.openxmlformats.org/drawingml/2006/main">
            <a:r>
              <a:t>A CPU repeatedly tries an atomic</a:t>
            </a:r>
          </a:p>
          <a:p xmlns:a="http://schemas.openxmlformats.org/drawingml/2006/main">
            <a:r>
              <a:t>operation; useful for short kernel sections</a:t>
            </a:r>
          </a:p>
          <a:p xmlns:a="http://schemas.openxmlformats.org/drawingml/2006/main">
            <a:r>
              <a:t>where sleeping is unsuitable.</a:t>
            </a:r>
          </a:p>
          <a:p xmlns:a="http://schemas.openxmlformats.org/drawingml/2006/main">
            <a:r>
              <a:t>Waiting consumes CPU time; do not sleep</a:t>
            </a:r>
          </a:p>
          <a:p xmlns:a="http://schemas.openxmlformats.org/drawingml/2006/main">
            <a:r>
              <a:t>while holding an ordinary xv6 spinlock.</a:t>
            </a:r>
          </a:p>
          <a:p xmlns:a="http://schemas.openxmlformats.org/drawingml/2006/main">
            <a:r>
              <a:t>Reader-writer lock</a:t>
            </a:r>
          </a:p>
          <a:p xmlns:a="http://schemas.openxmlformats.org/drawingml/2006/main">
            <a:r>
              <a:t>Several readers may enter together; a</a:t>
            </a:r>
          </a:p>
          <a:p xmlns:a="http://schemas.openxmlformats.org/drawingml/2006/main">
            <a:r>
              <a:t>writer needs exclusive access.</a:t>
            </a:r>
          </a:p>
          <a:p xmlns:a="http://schemas.openxmlformats.org/drawingml/2006/main">
            <a:r>
              <a:t>Not a free speed improvement; fairness</a:t>
            </a:r>
          </a:p>
          <a:p xmlns:a="http://schemas.openxmlformats.org/drawingml/2006/main">
            <a:r>
              <a:t>and starvation depend on policy.</a:t>
            </a:r>
          </a:p>
          <a:p xmlns:a="http://schemas.openxmlformats.org/drawingml/2006/main">
            <a:r>
              <a:t>Atomic operation</a:t>
            </a:r>
          </a:p>
          <a:p xmlns:a="http://schemas.openxmlformats.org/drawingml/2006/main">
            <a:r>
              <a:t>An indivisible load, store, exchange, or</a:t>
            </a:r>
          </a:p>
          <a:p xmlns:a="http://schemas.openxmlformats.org/drawingml/2006/main">
            <a:r>
              <a:t>read-modify-write on a supported object.</a:t>
            </a:r>
          </a:p>
          <a:p xmlns:a="http://schemas.openxmlformats.org/drawingml/2006/main">
            <a:r>
              <a:t>An atomic field alone does not preserve a</a:t>
            </a:r>
          </a:p>
          <a:p xmlns:a="http://schemas.openxmlformats.org/drawingml/2006/main">
            <a:r>
              <a:t>multi-field invariant.</a:t>
            </a:r>
          </a:p>
          <a:p xmlns:a="http://schemas.openxmlformats.org/drawingml/2006/main">
            <a:r>
              <a:t>Binary semaphore</a:t>
            </a:r>
          </a:p>
          <a:p xmlns:a="http://schemas.openxmlformats.org/drawingml/2006/main">
            <a:r>
              <a:t>A permit count of zero or one can gate</a:t>
            </a:r>
          </a:p>
          <a:p xmlns:a="http://schemas.openxmlformats.org/drawingml/2006/main">
            <a:r>
              <a:t>access.</a:t>
            </a:r>
          </a:p>
          <a:p xmlns:a="http://schemas.openxmlformats.org/drawingml/2006/main">
            <a:r>
              <a:t>Ownership semantics differ from a mutex;</a:t>
            </a:r>
          </a:p>
          <a:p xmlns:a="http://schemas.openxmlformats.org/drawingml/2006/main">
            <a:r>
              <a:t>signaling must match the protocol.</a:t>
            </a:r>
          </a:p>
          <a:p xmlns:a="http://schemas.openxmlformats.org/drawingml/2006/main">
            <a:r>
              <a:t>Why the allocator uses a spinlock</a:t>
            </a:r>
          </a:p>
          <a:p xmlns:a="http://schemas.openxmlformats.org/drawingml/2006/main">
            <a:r>
              <a:t>The free-list push and pop are short operations in a kernel that can run on multiple CPUs. The</a:t>
            </a:r>
          </a:p>
          <a:p xmlns:a="http://schemas.openxmlformats.org/drawingml/2006/main">
            <a:r>
              <a:t>lock protects the relationship between the head and the next pointer while an update is in</a:t>
            </a:r>
          </a:p>
          <a:p xmlns:a="http://schemas.openxmlformats.org/drawingml/2006/main">
            <a:r>
              <a:t>progress. The spinlock is an existing upstream mechanism retained or restored by this study, not</a:t>
            </a:r>
          </a:p>
          <a:p xmlns:a="http://schemas.openxmlformats.org/drawingml/2006/main">
            <a:r>
              <a:t>a new implementation of all synchronization types.</a:t>
            </a:r>
          </a:p>
          <a:p xmlns:a="http://schemas.openxmlformats.org/drawingml/2006/main">
            <a:r>
              <a:t>Atomicity is a building block</a:t>
            </a:r>
          </a:p>
          <a:p xmlns:a="http://schemas.openxmlformats.org/drawingml/2006/main">
            <a:r>
              <a:t>A plain check followed by a plain assignment is insufficient to claim lock ownership: two CPUs</a:t>
            </a:r>
          </a:p>
          <a:p xmlns:a="http://schemas.openxmlformats.org/drawingml/2006/main">
            <a:r>
              <a:t>could both observe the lock as free. Atomic exchange combines the check and change. The</a:t>
            </a:r>
          </a:p>
          <a:p xmlns:a="http://schemas.openxmlformats.org/drawingml/2006/main">
            <a:r>
              <a:t>critical section still needs the correct data-structure algorithm and the correct memory-ordering</a:t>
            </a:r>
          </a:p>
          <a:p xmlns:a="http://schemas.openxmlformats.org/drawingml/2006/main">
            <a:r>
              <a:t>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6. Synchronization types: event coordination</a:t>
            </a:r>
          </a:p>
          <a:p xmlns:a="http://schemas.openxmlformats.org/drawingml/2006/main">
            <a:r>
              <a:t>Table 6. Methods for coordinating progress</a:t>
            </a:r>
          </a:p>
          <a:p xmlns:a="http://schemas.openxmlformats.org/drawingml/2006/main">
            <a:r>
              <a:t>Method</a:t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Correct-use rule</a:t>
            </a:r>
          </a:p>
          <a:p xmlns:a="http://schemas.openxmlformats.org/drawingml/2006/main">
            <a:r>
              <a:t>Counting semaphore</a:t>
            </a:r>
          </a:p>
          <a:p xmlns:a="http://schemas.openxmlformats.org/drawingml/2006/main">
            <a:r>
              <a:t>Tracks available permits, such as a</a:t>
            </a:r>
          </a:p>
          <a:p xmlns:a="http://schemas.openxmlformats.org/drawingml/2006/main">
            <a:r>
              <a:t>bounded resource pool; waiting consumes</a:t>
            </a:r>
          </a:p>
          <a:p xmlns:a="http://schemas.openxmlformats.org/drawingml/2006/main">
            <a:r>
              <a:t>a permit and posting returns one.</a:t>
            </a:r>
          </a:p>
          <a:p xmlns:a="http://schemas.openxmlformats.org/drawingml/2006/main">
            <a:r>
              <a:t>Choose the initial count and balance</a:t>
            </a:r>
          </a:p>
          <a:p xmlns:a="http://schemas.openxmlformats.org/drawingml/2006/main">
            <a:r>
              <a:t>operations; it does not automatically</a:t>
            </a:r>
          </a:p>
          <a:p xmlns:a="http://schemas.openxmlformats.org/drawingml/2006/main">
            <a:r>
              <a:t>protect every field.</a:t>
            </a:r>
          </a:p>
          <a:p xmlns:a="http://schemas.openxmlformats.org/drawingml/2006/main">
            <a:r>
              <a:t>Condition variable</a:t>
            </a:r>
          </a:p>
          <a:p xmlns:a="http://schemas.openxmlformats.org/drawingml/2006/main">
            <a:r>
              <a:t>Waits for a predicate, such as a nonempty</a:t>
            </a:r>
          </a:p>
          <a:p xmlns:a="http://schemas.openxmlformats.org/drawingml/2006/main">
            <a:r>
              <a:t>queue, together with a mutex.</a:t>
            </a:r>
          </a:p>
          <a:p xmlns:a="http://schemas.openxmlformats.org/drawingml/2006/main">
            <a:r>
              <a:t>Check the predicate in a while loop;</a:t>
            </a:r>
          </a:p>
          <a:p xmlns:a="http://schemas.openxmlformats.org/drawingml/2006/main">
            <a:r>
              <a:t>waiting releases and later reacquires the</a:t>
            </a:r>
          </a:p>
          <a:p xmlns:a="http://schemas.openxmlformats.org/drawingml/2006/main">
            <a:r>
              <a:t>mutex.</a:t>
            </a:r>
          </a:p>
          <a:p xmlns:a="http://schemas.openxmlformats.org/drawingml/2006/main">
            <a:r>
              <a:t>Monitor</a:t>
            </a:r>
          </a:p>
          <a:p xmlns:a="http://schemas.openxmlformats.org/drawingml/2006/main">
            <a:r>
              <a:t>Groups shared state with operations under</a:t>
            </a:r>
          </a:p>
          <a:p xmlns:a="http://schemas.openxmlformats.org/drawingml/2006/main">
            <a:r>
              <a:t>an exclusion rule, often using condition</a:t>
            </a:r>
          </a:p>
          <a:p xmlns:a="http://schemas.openxmlformats.org/drawingml/2006/main">
            <a:r>
              <a:t>variables.</a:t>
            </a:r>
          </a:p>
          <a:p xmlns:a="http://schemas.openxmlformats.org/drawingml/2006/main">
            <a:r>
              <a:t>Maintain its invariant and use the</a:t>
            </a:r>
          </a:p>
          <a:p xmlns:a="http://schemas.openxmlformats.org/drawingml/2006/main">
            <a:r>
              <a:t>language or library wait protocol</a:t>
            </a:r>
          </a:p>
          <a:p xmlns:a="http://schemas.openxmlformats.org/drawingml/2006/main">
            <a:r>
              <a:t>correctly.</a:t>
            </a:r>
          </a:p>
          <a:p xmlns:a="http://schemas.openxmlformats.org/drawingml/2006/main">
            <a:r>
              <a:t>Barrier</a:t>
            </a:r>
          </a:p>
          <a:p xmlns:a="http://schemas.openxmlformats.org/drawingml/2006/main">
            <a:r>
              <a:t>Stops participants at a phase boundary</a:t>
            </a:r>
          </a:p>
          <a:p xmlns:a="http://schemas.openxmlformats.org/drawingml/2006/main">
            <a:r>
              <a:t>until the required participants arrive.</a:t>
            </a:r>
          </a:p>
          <a:p xmlns:a="http://schemas.openxmlformats.org/drawingml/2006/main">
            <a:r>
              <a:t>It does not provide mutual exclusion for</a:t>
            </a:r>
          </a:p>
          <a:p xmlns:a="http://schemas.openxmlformats.org/drawingml/2006/main">
            <a:r>
              <a:t>updates performed inside a phase.</a:t>
            </a:r>
          </a:p>
          <a:p xmlns:a="http://schemas.openxmlformats.org/drawingml/2006/main">
            <a:r>
              <a:t>Sleep-lock</a:t>
            </a:r>
          </a:p>
          <a:p xmlns:a="http://schemas.openxmlformats.org/drawingml/2006/main">
            <a:r>
              <a:t>Lets a waiting xv6 process sleep while</a:t>
            </a:r>
          </a:p>
          <a:p xmlns:a="http://schemas.openxmlformats.org/drawingml/2006/main">
            <a:r>
              <a:t>another process owns the resource.</a:t>
            </a:r>
          </a:p>
          <a:p xmlns:a="http://schemas.openxmlformats.org/drawingml/2006/main">
            <a:r>
              <a:t>Suitable contexts may sleep; use the xv6</a:t>
            </a:r>
          </a:p>
          <a:p xmlns:a="http://schemas.openxmlformats.org/drawingml/2006/main">
            <a:r>
              <a:t>sleep/wakeup rules and avoid</a:t>
            </a:r>
          </a:p>
          <a:p xmlns:a="http://schemas.openxmlformats.org/drawingml/2006/main">
            <a:r>
              <a:t>incompatible lock nesting.</a:t>
            </a:r>
          </a:p>
          <a:p xmlns:a="http://schemas.openxmlformats.org/drawingml/2006/main">
            <a:r>
              <a:t>Mutual exclusion and ordering are complementary</a:t>
            </a:r>
          </a:p>
          <a:p xmlns:a="http://schemas.openxmlformats.org/drawingml/2006/main">
            <a:r>
              <a:t>A mutex answers who may modify an object now. A condition variable answers when a</a:t>
            </a:r>
          </a:p>
          <a:p xmlns:a="http://schemas.openxmlformats.org/drawingml/2006/main">
            <a:r>
              <a:t>participant may proceed after a state change. A barrier answers whether all participants have</a:t>
            </a:r>
          </a:p>
          <a:p xmlns:a="http://schemas.openxmlformats.org/drawingml/2006/main">
            <a:r>
              <a:t>reached a phase boundary. These primitives are not interchangeable. For example, a barrier</a:t>
            </a:r>
          </a:p>
          <a:p xmlns:a="http://schemas.openxmlformats.org/drawingml/2006/main">
            <a:r>
              <a:t>before two increments can make their overlap more likely without making the increments safe.</a:t>
            </a:r>
          </a:p>
          <a:p xmlns:a="http://schemas.openxmlformats.org/drawingml/2006/main">
            <a:r>
              <a:t>A producer-consumer queue commonly uses a mutex for the queue invariant and conditions for</a:t>
            </a:r>
          </a:p>
          <a:p xmlns:a="http://schemas.openxmlformats.org/drawingml/2006/main">
            <a:r>
              <a:t>empty or full states. The condition wait must atomically release the mutex and begin waiting,</a:t>
            </a:r>
          </a:p>
          <a:p xmlns:a="http://schemas.openxmlformats.org/drawingml/2006/main">
            <a:r>
              <a:t>then reacquire the mutex before returning. The predicate is checked again because a wakeup</a:t>
            </a:r>
          </a:p>
          <a:p xmlns:a="http://schemas.openxmlformats.org/drawingml/2006/main">
            <a:r>
              <a:t>does not guarantee it is still true.</a:t>
            </a:r>
          </a:p>
          <a:p xmlns:a="http://schemas.openxmlformats.org/drawingml/2006/main">
            <a:r>
              <a:t>These examples explain selection principles. This experiment does not compare their speed or</a:t>
            </a:r>
          </a:p>
          <a:p xmlns:a="http://schemas.openxmlformats.org/drawingml/2006/main">
            <a:r>
              <a:t>execute separate mutex, semaphore, barrier, or reader-writer implementations. The practical</a:t>
            </a:r>
          </a:p>
          <a:p xmlns:a="http://schemas.openxmlformats.org/drawingml/2006/main">
            <a:r>
              <a:t>results concern the existing xv6 allocator spinlock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>POSIX sources: https://man7.org/linux/man-pages/man3/pthread_cond_wait.3p.html ; https://man7.org/linux/man-pages/man3/sem_wait.3.html ; https://man7.org/linux/man-pages/man3/pthread_rwlock_rdlock.3p.html ; https://man7.org/linux/man-pages/man3/pthread_barrier_wait.3p.html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>7. Proposed solution and working flow</a:t>
            </a:r>
          </a:p>
          <a:p xmlns:a="http://schemas.openxmlformats.org/drawingml/2006/main">
            <a:r>
              <a:t>The solution is to retain or restore kmem.lock around every relevant free-list update. With</a:t>
            </a:r>
          </a:p>
          <a:p xmlns:a="http://schemas.openxmlformats.org/drawingml/2006/main">
            <a:r>
              <a:t>consistent use, one CPU completes a push or pop before another CPU begins a conflicting</a:t>
            </a:r>
          </a:p>
          <a:p xmlns:a="http://schemas.openxmlformats.org/drawingml/2006/main">
            <a:r>
              <a:t>update. The lock protects the list invariant, not merely the variable name. Correctness also</a:t>
            </a:r>
          </a:p>
          <a:p xmlns:a="http://schemas.openxmlformats.org/drawingml/2006/main">
            <a:r>
              <a:t>assumes the code inside the critical section is correct and that callers respect allocation</a:t>
            </a:r>
          </a:p>
          <a:p xmlns:a="http://schemas.openxmlformats.org/drawingml/2006/main">
            <a:r>
              <a:t>ownership.</a:t>
            </a:r>
          </a:p>
          <a:p xmlns:a="http://schemas.openxmlformats.org/drawingml/2006/main">
            <a:r>
              <a:t>acquire(&amp;kmem.lock)</a:t>
            </a:r>
          </a:p>
          <a:p xmlns:a="http://schemas.openxmlformats.org/drawingml/2006/main">
            <a:r>
              <a:t>    read or modify kmem.freelist and list links</a:t>
            </a:r>
          </a:p>
          <a:p xmlns:a="http://schemas.openxmlformats.org/drawingml/2006/main">
            <a:r>
              <a:t>release(&amp;kmem.lock)</a:t>
            </a:r>
          </a:p>
          <a:p xmlns:a="http://schemas.openxmlformats.org/drawingml/2006/main">
            <a:r>
              <a:t>Figure 1. The allocator critical section, expressed as a source-level flow.</a:t>
            </a:r>
          </a:p>
          <a:p xmlns:a="http://schemas.openxmlformats.org/drawingml/2006/main">
            <a:r>
              <a:t>How acquisition and release work</a:t>
            </a:r>
          </a:p>
          <a:p xmlns:a="http://schemas.openxmlformats.org/drawingml/2006/main">
            <a:r>
              <a:t>In the examined source, acquire() first invokes push_off() and checks whether the current CPU</a:t>
            </a:r>
          </a:p>
          <a:p xmlns:a="http://schemas.openxmlformats.org/drawingml/2006/main">
            <a:r>
              <a:t>already holds the lock. It repeatedly calls __atomic_exchange_n with __ATOMIC_ACQUIRE</a:t>
            </a:r>
          </a:p>
          <a:p xmlns:a="http://schemas.openxmlformats.org/drawingml/2006/main">
            <a:r>
              <a:t>until the old lock value is zero. It then records the owner CPU. Atomic exchange prevents two</a:t>
            </a:r>
          </a:p>
          <a:p xmlns:a="http://schemas.openxmlformats.org/drawingml/2006/main">
            <a:r>
              <a:t>CPUs from winning the same ownership transition.</a:t>
            </a:r>
          </a:p>
          <a:p xmlns:a="http://schemas.openxmlformats.org/drawingml/2006/main">
            <a:r>
              <a:t>release() checks ownership, clears the owner record, stores zero with __ATOMIC_RELEASE,</a:t>
            </a:r>
          </a:p>
          <a:p xmlns:a="http://schemas.openxmlformats.org/drawingml/2006/main">
            <a:r>
              <a:t>and invokes pop_off(). Acquire and release ordering keep the protected memory accesses on the</a:t>
            </a:r>
          </a:p>
          <a:p xmlns:a="http://schemas.openxmlformats.org/drawingml/2006/main">
            <a:r>
              <a:t>appropriate side of the ownership transition. The hardware and compiler must respect these</a:t>
            </a:r>
          </a:p>
          <a:p xmlns:a="http://schemas.openxmlformats.org/drawingml/2006/main">
            <a:r>
              <a:t>constraints; mutual exclusion cannot be built by treating ordinary loads and stores as an atomic</a:t>
            </a:r>
          </a:p>
          <a:p xmlns:a="http://schemas.openxmlformats.org/drawingml/2006/main">
            <a:r>
              <a:t>pair.</a:t>
            </a:r>
          </a:p>
          <a:p xmlns:a="http://schemas.openxmlformats.org/drawingml/2006/main">
            <a:r>
              <a:t>Interrupt handling and correct lock use</a:t>
            </a:r>
          </a:p>
          <a:p xmlns:a="http://schemas.openxmlformats.org/drawingml/2006/main">
            <a:r>
              <a:t>Nested interrupt handling records the prior interrupt state and disables local interrupts while</a:t>
            </a:r>
          </a:p>
          <a:p xmlns:a="http://schemas.openxmlformats.org/drawingml/2006/main">
            <a:r>
              <a:t>needed. This helps avoid same-CPU interruption and re-entry problems while holding a</a:t>
            </a:r>
          </a:p>
          <a:p xmlns:a="http://schemas.openxmlformats.org/drawingml/2006/main">
            <a:r>
              <a:t>spinlock. It does not replace cross-CPU locking. Removing allocator acquire/release calls also</a:t>
            </a:r>
          </a:p>
          <a:p xmlns:a="http://schemas.openxmlformats.org/drawingml/2006/main">
            <a:r>
              <a:t>removes their interrupt-handling effects where no outer lock is active, so the experiment does</a:t>
            </a:r>
          </a:p>
          <a:p xmlns:a="http://schemas.openxmlformats.org/drawingml/2006/main">
            <a:r>
              <a:t>not isolate those effects independently.</a:t>
            </a:r>
          </a:p>
          <a:p xmlns:a="http://schemas.openxmlformats.org/drawingml/2006/main">
            <a:r>
              <a:t>Use a consistent lock order, keep the section short, and match each acquisition with release on</a:t>
            </a:r>
          </a:p>
          <a:p xmlns:a="http://schemas.openxmlformats.org/drawingml/2006/main">
            <a:r>
              <a:t>every applicable path. Avoid sleeping while holding an ordinary xv6 spinlock. The working</a:t>
            </a:r>
          </a:p>
          <a:p xmlns:a="http://schemas.openxmlformats.org/drawingml/2006/main">
            <a:r>
              <a:t>experimental flow is original locking, controlled removal, identical workload, exact restoration,</a:t>
            </a:r>
          </a:p>
          <a:p xmlns:a="http://schemas.openxmlformats.org/drawingml/2006/main">
            <a:r>
              <a:t>and repeated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>7. Proposed solution and working flow</a:t>
            </a:r>
          </a:p>
          <a:p xmlns:a="http://schemas.openxmlformats.org/drawingml/2006/main">
            <a:r>
              <a:t>The solution is to retain or restore kmem.lock around every relevant free-list update. With</a:t>
            </a:r>
          </a:p>
          <a:p xmlns:a="http://schemas.openxmlformats.org/drawingml/2006/main">
            <a:r>
              <a:t>consistent use, one CPU completes a push or pop before another CPU begins a conflicting</a:t>
            </a:r>
          </a:p>
          <a:p xmlns:a="http://schemas.openxmlformats.org/drawingml/2006/main">
            <a:r>
              <a:t>update. The lock protects the list invariant, not merely the variable name. Correctness also</a:t>
            </a:r>
          </a:p>
          <a:p xmlns:a="http://schemas.openxmlformats.org/drawingml/2006/main">
            <a:r>
              <a:t>assumes the code inside the critical section is correct and that callers respect allocation</a:t>
            </a:r>
          </a:p>
          <a:p xmlns:a="http://schemas.openxmlformats.org/drawingml/2006/main">
            <a:r>
              <a:t>ownership.</a:t>
            </a:r>
          </a:p>
          <a:p xmlns:a="http://schemas.openxmlformats.org/drawingml/2006/main">
            <a:r>
              <a:t>acquire(&amp;kmem.lock)</a:t>
            </a:r>
          </a:p>
          <a:p xmlns:a="http://schemas.openxmlformats.org/drawingml/2006/main">
            <a:r>
              <a:t>    read or modify kmem.freelist and list links</a:t>
            </a:r>
          </a:p>
          <a:p xmlns:a="http://schemas.openxmlformats.org/drawingml/2006/main">
            <a:r>
              <a:t>release(&amp;kmem.lock)</a:t>
            </a:r>
          </a:p>
          <a:p xmlns:a="http://schemas.openxmlformats.org/drawingml/2006/main">
            <a:r>
              <a:t>Figure 1. The allocator critical section, expressed as a source-level flow.</a:t>
            </a:r>
          </a:p>
          <a:p xmlns:a="http://schemas.openxmlformats.org/drawingml/2006/main">
            <a:r>
              <a:t>How acquisition and release work</a:t>
            </a:r>
          </a:p>
          <a:p xmlns:a="http://schemas.openxmlformats.org/drawingml/2006/main">
            <a:r>
              <a:t>In the examined source, acquire() first invokes push_off() and checks whether the current CPU</a:t>
            </a:r>
          </a:p>
          <a:p xmlns:a="http://schemas.openxmlformats.org/drawingml/2006/main">
            <a:r>
              <a:t>already holds the lock. It repeatedly calls __atomic_exchange_n with __ATOMIC_ACQUIRE</a:t>
            </a:r>
          </a:p>
          <a:p xmlns:a="http://schemas.openxmlformats.org/drawingml/2006/main">
            <a:r>
              <a:t>until the old lock value is zero. It then records the owner CPU. Atomic exchange prevents two</a:t>
            </a:r>
          </a:p>
          <a:p xmlns:a="http://schemas.openxmlformats.org/drawingml/2006/main">
            <a:r>
              <a:t>CPUs from winning the same ownership transition.</a:t>
            </a:r>
          </a:p>
          <a:p xmlns:a="http://schemas.openxmlformats.org/drawingml/2006/main">
            <a:r>
              <a:t>release() checks ownership, clears the owner record, stores zero with __ATOMIC_RELEASE,</a:t>
            </a:r>
          </a:p>
          <a:p xmlns:a="http://schemas.openxmlformats.org/drawingml/2006/main">
            <a:r>
              <a:t>and invokes pop_off(). Acquire and release ordering keep the protected memory accesses on the</a:t>
            </a:r>
          </a:p>
          <a:p xmlns:a="http://schemas.openxmlformats.org/drawingml/2006/main">
            <a:r>
              <a:t>appropriate side of the ownership transition. The hardware and compiler must respect these</a:t>
            </a:r>
          </a:p>
          <a:p xmlns:a="http://schemas.openxmlformats.org/drawingml/2006/main">
            <a:r>
              <a:t>constraints; mutual exclusion cannot be built by treating ordinary loads and stores as an atomic</a:t>
            </a:r>
          </a:p>
          <a:p xmlns:a="http://schemas.openxmlformats.org/drawingml/2006/main">
            <a:r>
              <a:t>pair.</a:t>
            </a:r>
          </a:p>
          <a:p xmlns:a="http://schemas.openxmlformats.org/drawingml/2006/main">
            <a:r>
              <a:t>Interrupt handling and correct lock use</a:t>
            </a:r>
          </a:p>
          <a:p xmlns:a="http://schemas.openxmlformats.org/drawingml/2006/main">
            <a:r>
              <a:t>Nested interrupt handling records the prior interrupt state and disables local interrupts while</a:t>
            </a:r>
          </a:p>
          <a:p xmlns:a="http://schemas.openxmlformats.org/drawingml/2006/main">
            <a:r>
              <a:t>needed. This helps avoid same-CPU interruption and re-entry problems while holding a</a:t>
            </a:r>
          </a:p>
          <a:p xmlns:a="http://schemas.openxmlformats.org/drawingml/2006/main">
            <a:r>
              <a:t>spinlock. It does not replace cross-CPU locking. Removing allocator acquire/release calls also</a:t>
            </a:r>
          </a:p>
          <a:p xmlns:a="http://schemas.openxmlformats.org/drawingml/2006/main">
            <a:r>
              <a:t>removes their interrupt-handling effects where no outer lock is active, so the experiment does</a:t>
            </a:r>
          </a:p>
          <a:p xmlns:a="http://schemas.openxmlformats.org/drawingml/2006/main">
            <a:r>
              <a:t>not isolate those effects independently.</a:t>
            </a:r>
          </a:p>
          <a:p xmlns:a="http://schemas.openxmlformats.org/drawingml/2006/main">
            <a:r>
              <a:t>Use a consistent lock order, keep the section short, and match each acquisition with release on</a:t>
            </a:r>
          </a:p>
          <a:p xmlns:a="http://schemas.openxmlformats.org/drawingml/2006/main">
            <a:r>
              <a:t>every applicable path. Avoid sleeping while holding an ordinary xv6 spinlock. The working</a:t>
            </a:r>
          </a:p>
          <a:p xmlns:a="http://schemas.openxmlformats.org/drawingml/2006/main">
            <a:r>
              <a:t>experimental flow is original locking, controlled removal, identical workload, exact restoration,</a:t>
            </a:r>
          </a:p>
          <a:p xmlns:a="http://schemas.openxmlformats.org/drawingml/2006/main">
            <a:r>
              <a:t>and repeated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>8. Practical environment and protocol</a:t>
            </a:r>
          </a:p>
          <a:p xmlns:a="http://schemas.openxmlformats.org/drawingml/2006/main">
            <a:r>
              <a:t>Table 7. Fixed experimental settings</a:t>
            </a:r>
          </a:p>
          <a:p xmlns:a="http://schemas.openxmlformats.org/drawingml/2006/main">
            <a:r>
              <a:t>Setting</a:t>
            </a:r>
          </a:p>
          <a:p xmlns:a="http://schemas.openxmlformats.org/drawingml/2006/main">
            <a:r>
              <a:t>Recorded value</a:t>
            </a:r>
          </a:p>
          <a:p xmlns:a="http://schemas.openxmlformats.org/drawingml/2006/main">
            <a:r>
              <a:t>Host environment</a:t>
            </a:r>
          </a:p>
          <a:p xmlns:a="http://schemas.openxmlformats.org/drawingml/2006/main">
            <a:r>
              <a:t>Ubuntu 24.04 under WSL2 on Windows</a:t>
            </a:r>
          </a:p>
          <a:p xmlns:a="http://schemas.openxmlformats.org/drawingml/2006/main">
            <a:r>
              <a:t>Source revision</a:t>
            </a:r>
          </a:p>
          <a:p xmlns:a="http://schemas.openxmlformats.org/drawingml/2006/main">
            <a:r>
              <a:t>f780d7850765d74cbdcd1fff4b822d8829f7c9bd</a:t>
            </a:r>
          </a:p>
          <a:p xmlns:a="http://schemas.openxmlformats.org/drawingml/2006/main">
            <a:r>
              <a:t>Guest / emulator</a:t>
            </a:r>
          </a:p>
          <a:p xmlns:a="http://schemas.openxmlformats.org/drawingml/2006/main">
            <a:r>
              <a:t>RISC-V xv6; QEMU 8.2.2</a:t>
            </a:r>
          </a:p>
          <a:p xmlns:a="http://schemas.openxmlformats.org/drawingml/2006/main">
            <a:r>
              <a:t>Toolchain</a:t>
            </a:r>
          </a:p>
          <a:p xmlns:a="http://schemas.openxmlformats.org/drawingml/2006/main">
            <a:r>
              <a:t>RISC-V GCC 13.3.0</a:t>
            </a:r>
          </a:p>
          <a:p xmlns:a="http://schemas.openxmlformats.org/drawingml/2006/main">
            <a:r>
              <a:t>Guest resources</a:t>
            </a:r>
          </a:p>
          <a:p xmlns:a="http://schemas.openxmlformats.org/drawingml/2006/main">
            <a:r>
              <a:t>4 virtual CPUs; 128 MiB RAM</a:t>
            </a:r>
          </a:p>
          <a:p xmlns:a="http://schemas.openxmlformats.org/drawingml/2006/main">
            <a:r>
              <a:t>Workload</a:t>
            </a:r>
          </a:p>
          <a:p xmlns:a="http://schemas.openxmlformats.org/drawingml/2006/main">
            <a:r>
              <a:t>4 children; 8 pages per child; 200 rounds</a:t>
            </a:r>
          </a:p>
          <a:p xmlns:a="http://schemas.openxmlformats.org/drawingml/2006/main">
            <a:r>
              <a:t>Page / allocation size</a:t>
            </a:r>
          </a:p>
          <a:p xmlns:a="http://schemas.openxmlformats.org/drawingml/2006/main">
            <a:r>
              <a:t>4096 bytes; 32768 bytes per child per round</a:t>
            </a:r>
          </a:p>
          <a:p xmlns:a="http://schemas.openxmlformats.org/drawingml/2006/main">
            <a:r>
              <a:t>Attempt protocol</a:t>
            </a:r>
          </a:p>
          <a:p xmlns:a="http://schemas.openxmlformats.org/drawingml/2006/main">
            <a:r>
              <a:t>Fresh QEMU guest; one stress invocation per attempt</a:t>
            </a:r>
          </a:p>
          <a:p xmlns:a="http://schemas.openxmlformats.org/drawingml/2006/main">
            <a:r>
              <a:t>Limits</a:t>
            </a:r>
          </a:p>
          <a:p xmlns:a="http://schemas.openxmlformats.org/drawingml/2006/main">
            <a:r>
              <a:t>30 seconds to shell; 60 seconds after stress command</a:t>
            </a:r>
          </a:p>
          <a:p xmlns:a="http://schemas.openxmlformats.org/drawingml/2006/main">
            <a:r>
              <a:t>Measured run set</a:t>
            </a:r>
          </a:p>
          <a:p xmlns:a="http://schemas.openxmlformats.org/drawingml/2006/main">
            <a:r>
              <a:t>member1_completed/c_validation; 10 attempts per phase</a:t>
            </a:r>
          </a:p>
          <a:p xmlns:a="http://schemas.openxmlformats.org/drawingml/2006/main">
            <a:r>
              <a:t>The workload and kernel modifications are C. The host helper, member1_tools.c, builds and</a:t>
            </a:r>
          </a:p>
          <a:p xmlns:a="http://schemas.openxmlformats.org/drawingml/2006/main">
            <a:r>
              <a:t>runs the guest, collects console output, enforces time limits, and packages evidence. It runs</a:t>
            </a:r>
          </a:p>
          <a:p xmlns:a="http://schemas.openxmlformats.org/drawingml/2006/main">
            <a:r>
              <a:t>outside xv6. The helper is not the locking solution; the allocator spinlock is the mechanism</a:t>
            </a:r>
          </a:p>
          <a:p xmlns:a="http://schemas.openxmlformats.org/drawingml/2006/main">
            <a:r>
              <a:t>under study.</a:t>
            </a:r>
          </a:p>
          <a:p xmlns:a="http://schemas.openxmlformats.org/drawingml/2006/main">
            <a:r>
              <a:t>The three phases use the same workload and guest configuration. A01-A10 use original locks,</a:t>
            </a:r>
          </a:p>
          <a:p xmlns:a="http://schemas.openxmlformats.org/drawingml/2006/main">
            <a:r>
              <a:t>B01-B10 use the deliberately unlocked allocator, and C01-C10 follow restoration. Sanity and</a:t>
            </a:r>
          </a:p>
          <a:p xmlns:a="http://schemas.openxmlformats.org/drawingml/2006/main">
            <a:r>
              <a:t>smoke checks are separate from these 30 measured attempts. There was no kernel timing</a:t>
            </a:r>
          </a:p>
          <a:p xmlns:a="http://schemas.openxmlformats.org/drawingml/2006/main">
            <a:r>
              <a:t>instrumentation.</a:t>
            </a:r>
          </a:p>
          <a:p xmlns:a="http://schemas.openxmlformats.org/drawingml/2006/main">
            <a:r>
              <a:t>The saved console logs and CSV are the primary evidence. The run set is historical evidence</a:t>
            </a:r>
          </a:p>
          <a:p xmlns:a="http://schemas.openxmlformats.org/drawingml/2006/main">
            <a:r>
              <a:t>from 24 October 2026; report preparation does not constitute a new execution. Earlier</a:t>
            </a:r>
          </a:p>
          <a:p xmlns:a="http://schemas.openxmlformats.org/drawingml/2006/main">
            <a:r>
              <a:t>experiments exist in a different folder and are not merged into these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>9. Practical shared data and protected code</a:t>
            </a:r>
          </a:p>
          <a:p xmlns:a="http://schemas.openxmlformats.org/drawingml/2006/main">
            <a:r>
              <a:t>struct run {</a:t>
            </a:r>
          </a:p>
          <a:p xmlns:a="http://schemas.openxmlformats.org/drawingml/2006/main">
            <a:r>
              <a:t>  struct run *next;</a:t>
            </a:r>
          </a:p>
          <a:p xmlns:a="http://schemas.openxmlformats.org/drawingml/2006/main">
            <a:r>
              <a:t>};</a:t>
            </a:r>
          </a:p>
          <a:p xmlns:a="http://schemas.openxmlformats.org/drawingml/2006/main">
            <a:r>
              <a:t>struct {</a:t>
            </a:r>
          </a:p>
          <a:p xmlns:a="http://schemas.openxmlformats.org/drawingml/2006/main">
            <a:r>
              <a:t>  struct spinlock lock;</a:t>
            </a:r>
          </a:p>
          <a:p xmlns:a="http://schemas.openxmlformats.org/drawingml/2006/main">
            <a:r>
              <a:t>  struct run *freelist;</a:t>
            </a:r>
          </a:p>
          <a:p xmlns:a="http://schemas.openxmlformats.org/drawingml/2006/main">
            <a:r>
              <a:t>} kmem;</a:t>
            </a:r>
          </a:p>
          <a:p xmlns:a="http://schemas.openxmlformats.org/drawingml/2006/main">
            <a:r>
              <a:t>Figure 2. Shared allocator representation from the examined kalloc.c.</a:t>
            </a:r>
          </a:p>
          <a:p xmlns:a="http://schemas.openxmlformats.org/drawingml/2006/main">
            <a:r>
              <a:t>kmem.freelist points to the first available physical page. For each free page, next identifies the</a:t>
            </a:r>
          </a:p>
          <a:p xmlns:a="http://schemas.openxmlformats.org/drawingml/2006/main">
            <a:r>
              <a:t>next free page. The invariant requires a coherent chain of available pages: allocation removes</a:t>
            </a:r>
          </a:p>
          <a:p xmlns:a="http://schemas.openxmlformats.org/drawingml/2006/main">
            <a:r>
              <a:t>one page, and freeing adds one valid page. The normal list updates are protected by the same</a:t>
            </a:r>
          </a:p>
          <a:p xmlns:a="http://schemas.openxmlformats.org/drawingml/2006/main">
            <a:r>
              <a:t>lock in both functions.</a:t>
            </a:r>
          </a:p>
          <a:p xmlns:a="http://schemas.openxmlformats.org/drawingml/2006/main">
            <a:r>
              <a:t>/* kalloc(): protected pop */</a:t>
            </a:r>
          </a:p>
          <a:p xmlns:a="http://schemas.openxmlformats.org/drawingml/2006/main">
            <a:r>
              <a:t>acquire(&amp;kmem.lock);</a:t>
            </a:r>
          </a:p>
          <a:p xmlns:a="http://schemas.openxmlformats.org/drawingml/2006/main">
            <a:r>
              <a:t>r = kmem.freelist;</a:t>
            </a:r>
          </a:p>
          <a:p xmlns:a="http://schemas.openxmlformats.org/drawingml/2006/main">
            <a:r>
              <a:t>if (r)</a:t>
            </a:r>
          </a:p>
          <a:p xmlns:a="http://schemas.openxmlformats.org/drawingml/2006/main">
            <a:r>
              <a:t>  kmem.freelist = r-&gt;next;</a:t>
            </a:r>
          </a:p>
          <a:p xmlns:a="http://schemas.openxmlformats.org/drawingml/2006/main">
            <a:r>
              <a:t>release(&amp;kmem.lock);</a:t>
            </a:r>
          </a:p>
          <a:p xmlns:a="http://schemas.openxmlformats.org/drawingml/2006/main">
            <a:r>
              <a:t>/* kfree(): protected push */</a:t>
            </a:r>
          </a:p>
          <a:p xmlns:a="http://schemas.openxmlformats.org/drawingml/2006/main">
            <a:r>
              <a:t>acquire(&amp;kmem.lock);</a:t>
            </a:r>
          </a:p>
          <a:p xmlns:a="http://schemas.openxmlformats.org/drawingml/2006/main">
            <a:r>
              <a:t>r-&gt;next = kmem.freelist;</a:t>
            </a:r>
          </a:p>
          <a:p xmlns:a="http://schemas.openxmlformats.org/drawingml/2006/main">
            <a:r>
              <a:t>kmem.freelist = r;</a:t>
            </a:r>
          </a:p>
          <a:p xmlns:a="http://schemas.openxmlformats.org/drawingml/2006/main">
            <a:r>
              <a:t>release(&amp;kmem.lock);</a:t>
            </a:r>
          </a:p>
          <a:p xmlns:a="http://schemas.openxmlformats.org/drawingml/2006/main">
            <a:r>
              <a:t>Figure 3. Exact critical-section excerpts; surrounding validation and fills are omitted.</a:t>
            </a:r>
          </a:p>
          <a:p xmlns:a="http://schemas.openxmlformats.org/drawingml/2006/main">
            <a:r>
              <a:t>kfree() checks alignment and address range and fills the page before linking it. kalloc() fills the</a:t>
            </a:r>
          </a:p>
          <a:p xmlns:a="http://schemas.openxmlformats.org/drawingml/2006/main">
            <a:r>
              <a:t>removed page after releasing the list lock. These details explain why the protected section is</a:t>
            </a:r>
          </a:p>
          <a:p xmlns:a="http://schemas.openxmlformats.org/drawingml/2006/main">
            <a:r>
              <a:t>narrow. Locking does not make an invalid free correct; callers must still obey page ownership</a:t>
            </a:r>
          </a:p>
          <a:p xmlns:a="http://schemas.openxmlformats.org/drawingml/2006/main">
            <a:r>
              <a:t>and lifetime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>10. Practical C workload and checking logic</a:t>
            </a:r>
          </a:p>
          <a:p xmlns:a="http://schemas.openxmlformats.org/drawingml/2006/main">
            <a:r>
              <a:t>The parent creates a pipe and forks four children. Each child waits for one byte from the pipe.</a:t>
            </a:r>
          </a:p>
          <a:p xmlns:a="http://schemas.openxmlformats.org/drawingml/2006/main">
            <a:r>
              <a:t>After creation, the parent writes four tokens so workers can overlap. This start gate encourages</a:t>
            </a:r>
          </a:p>
          <a:p xmlns:a="http://schemas.openxmlformats.org/drawingml/2006/main">
            <a:r>
              <a:t>concurrent requests; it does not guarantee simultaneous execution of any specific kernel</a:t>
            </a:r>
          </a:p>
          <a:p xmlns:a="http://schemas.openxmlformats.org/drawingml/2006/main">
            <a:r>
              <a:t>instruction.</a:t>
            </a:r>
          </a:p>
          <a:p xmlns:a="http://schemas.openxmlformats.org/drawingml/2006/main">
            <a:r>
              <a:t>for (int round = 0; round &lt; ROUNDS; round++) {</a:t>
            </a:r>
          </a:p>
          <a:p xmlns:a="http://schemas.openxmlformats.org/drawingml/2006/main">
            <a:r>
              <a:t>  char *allocation = sbrk(bytes);</a:t>
            </a:r>
          </a:p>
          <a:p xmlns:a="http://schemas.openxmlformats.org/drawingml/2006/main">
            <a:r>
              <a:t>  /* Check allocation failure. */</a:t>
            </a:r>
          </a:p>
          <a:p xmlns:a="http://schemas.openxmlformats.org/drawingml/2006/main">
            <a:r>
              <a:t>  volatile uchar *memory = (volatile uchar *)allocation;</a:t>
            </a:r>
          </a:p>
          <a:p xmlns:a="http://schemas.openxmlformats.org/drawingml/2006/main">
            <a:r>
              <a:t>  for (int offset = 0; offset &lt; bytes; offset++)</a:t>
            </a:r>
          </a:p>
          <a:p xmlns:a="http://schemas.openxmlformats.org/drawingml/2006/main">
            <a:r>
              <a:t>    memory[offset] = tag;</a:t>
            </a:r>
          </a:p>
          <a:p xmlns:a="http://schemas.openxmlformats.org/drawingml/2006/main">
            <a:r>
              <a:t>  /* Brief user-space delay. */</a:t>
            </a:r>
          </a:p>
          <a:p xmlns:a="http://schemas.openxmlformats.org/drawingml/2006/main">
            <a:r>
              <a:t>  for (int offset = 0; offset &lt; bytes; offset++)</a:t>
            </a:r>
          </a:p>
          <a:p xmlns:a="http://schemas.openxmlformats.org/drawingml/2006/main">
            <a:r>
              <a:t>    if (memory[offset] != tag)</a:t>
            </a:r>
          </a:p>
          <a:p xmlns:a="http://schemas.openxmlformats.org/drawingml/2006/main">
            <a:r>
              <a:t>      /* Report corruption and fail this child. */;</a:t>
            </a:r>
          </a:p>
          <a:p xmlns:a="http://schemas.openxmlformats.org/drawingml/2006/main">
            <a:r>
              <a:t>  /* Shrink by bytes; check failure. */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Figure 4. Explanatory workload excerpt; Appendix A contains the complete executable file.</a:t>
            </a:r>
          </a:p>
          <a:p xmlns:a="http://schemas.openxmlformats.org/drawingml/2006/main">
            <a:r>
              <a:t>Each child allocates eight pages, writes its own tag value from 1 to 4 into every byte, waits</a:t>
            </a:r>
          </a:p>
          <a:p xmlns:a="http://schemas.openxmlformats.org/drawingml/2006/main">
            <a:r>
              <a:t>briefly in user space, verifies every byte, and releases the allocation. A changed byte generates a</a:t>
            </a:r>
          </a:p>
          <a:p xmlns:a="http://schemas.openxmlformats.org/drawingml/2006/main">
            <a:r>
              <a:t>CORRUPTION message containing the round, offset, expected value, and actual value. The</a:t>
            </a:r>
          </a:p>
          <a:p xmlns:a="http://schemas.openxmlformats.org/drawingml/2006/main">
            <a:r>
              <a:t>delay is not a kernel race-window modification.</a:t>
            </a:r>
          </a:p>
          <a:p xmlns:a="http://schemas.openxmlformats.org/drawingml/2006/main">
            <a:r>
              <a:t>The parent waits for child exit statuses. A successful result requires all four children to complete</a:t>
            </a:r>
          </a:p>
          <a:p xmlns:a="http://schemas.openxmlformats.org/drawingml/2006/main">
            <a:r>
              <a:t>and no setup failure. Allocation, shrink, pipe, fork, and wait errors are handled. volatile forces</a:t>
            </a:r>
          </a:p>
          <a:p xmlns:a="http://schemas.openxmlformats.org/drawingml/2006/main">
            <a:r>
              <a:t>the verification to reread memory in this program; it does not synchronize the allocator or repair</a:t>
            </a:r>
          </a:p>
          <a:p xmlns:a="http://schemas.openxmlformats.org/drawingml/2006/main">
            <a:r>
              <a:t>its race.</a:t>
            </a:r>
          </a:p>
          <a:p xmlns:a="http://schemas.openxmlformats.org/drawingml/2006/main">
            <a:r>
              <a:t>A private user buffer is the observation point, while the shared kernel allocator is the modified</a:t>
            </a:r>
          </a:p>
          <a:p xmlns:a="http://schemas.openxmlformats.org/drawingml/2006/main">
            <a:r>
              <a:t>component. Equal virtual addresses across processes are expected and do not prove that the</a:t>
            </a:r>
          </a:p>
          <a:p xmlns:a="http://schemas.openxmlformats.org/drawingml/2006/main">
            <a:r>
              <a:t>same physical page was allocated twice.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>11. Execution paths and reproduction</a:t>
            </a:r>
          </a:p>
          <a:p xmlns:a="http://schemas.openxmlformats.org/drawingml/2006/main">
            <a:r>
              <a:t>Positive sbrk()</a:t>
            </a:r>
          </a:p>
          <a:p xmlns:a="http://schemas.openxmlformats.org/drawingml/2006/main">
            <a:r>
              <a:t>  sys_sbrk -&gt; growproc -&gt; uvmalloc -&gt; kalloc</a:t>
            </a:r>
          </a:p>
          <a:p xmlns:a="http://schemas.openxmlformats.org/drawingml/2006/main">
            <a:r>
              <a:t>Negative sbrk()</a:t>
            </a:r>
          </a:p>
          <a:p xmlns:a="http://schemas.openxmlformats.org/drawingml/2006/main">
            <a:r>
              <a:t>  growproc -&gt; uvmdealloc / uvmunmap -&gt; kfree</a:t>
            </a:r>
          </a:p>
          <a:p xmlns:a="http://schemas.openxmlformats.org/drawingml/2006/main">
            <a:r>
              <a:t>Figure 5. Allocation and release paths verified against the fixed source revision.</a:t>
            </a:r>
          </a:p>
          <a:p xmlns:a="http://schemas.openxmlformats.org/drawingml/2006/main">
            <a:r>
              <a:t>The public sbrk() wrapper uses eager allocation in this revision. Fork, page-table construction,</a:t>
            </a:r>
          </a:p>
          <a:p xmlns:a="http://schemas.openxmlformats.org/drawingml/2006/main">
            <a:r>
              <a:t>and process exit also exercise the allocator. Therefore an unlocked failure may occur outside the</a:t>
            </a:r>
          </a:p>
          <a:p xmlns:a="http://schemas.openxmlformats.org/drawingml/2006/main">
            <a:r>
              <a:t>worker verification loop. The syscall itself is not the lock; its kernel path reaches the protected</a:t>
            </a:r>
          </a:p>
          <a:p xmlns:a="http://schemas.openxmlformats.org/drawingml/2006/main">
            <a:r>
              <a:t>resource.</a:t>
            </a:r>
          </a:p>
          <a:p xmlns:a="http://schemas.openxmlformats.org/drawingml/2006/main">
            <a:r>
              <a:t>Open the existing restored implementation</a:t>
            </a:r>
          </a:p>
          <a:p xmlns:a="http://schemas.openxmlformats.org/drawingml/2006/main">
            <a:r>
              <a:t>Windows PowerShell:</a:t>
            </a:r>
          </a:p>
          <a:p xmlns:a="http://schemas.openxmlformats.org/drawingml/2006/main">
            <a:r>
              <a:t>  wsl -d Ubuntu-24.04</a:t>
            </a:r>
          </a:p>
          <a:p xmlns:a="http://schemas.openxmlformats.org/drawingml/2006/main">
            <a:r>
              <a:t>Ubuntu shell:</a:t>
            </a:r>
          </a:p>
          <a:p xmlns:a="http://schemas.openxmlformats.org/drawingml/2006/main">
            <a:r>
              <a:t>  cd ~/xv6-member1</a:t>
            </a:r>
          </a:p>
          <a:p xmlns:a="http://schemas.openxmlformats.org/drawingml/2006/main">
            <a:r>
              <a:t>  make qemu CPUS=4</a:t>
            </a:r>
          </a:p>
          <a:p xmlns:a="http://schemas.openxmlformats.org/drawingml/2006/main">
            <a:r>
              <a:t>xv6 shell:</a:t>
            </a:r>
          </a:p>
          <a:p xmlns:a="http://schemas.openxmlformats.org/drawingml/2006/main">
            <a:r>
              <a:t>  race_test</a:t>
            </a:r>
          </a:p>
          <a:p xmlns:a="http://schemas.openxmlformats.org/drawingml/2006/main">
            <a:r>
              <a:t>Exit QEMU: Ctrl+A, then X</a:t>
            </a:r>
          </a:p>
          <a:p xmlns:a="http://schemas.openxmlformats.org/drawingml/2006/main">
            <a:r>
              <a:t>Reproduce a new measured run set</a:t>
            </a:r>
          </a:p>
          <a:p xmlns:a="http://schemas.openxmlformats.org/drawingml/2006/main">
            <a:r>
              <a:t>cc -std=c11 -Wall -Wextra -Werror -O2 \</a:t>
            </a:r>
          </a:p>
          <a:p xmlns:a="http://schemas.openxmlformats.org/drawingml/2006/main">
            <a:r>
              <a:t>  member1_tools.c -o /tmp/member1_tools</a:t>
            </a:r>
          </a:p>
          <a:p xmlns:a="http://schemas.openxmlformats.org/drawingml/2006/main">
            <a:r>
              <a:t>/tmp/member1_tools run /home/nithish/xv6-member1 \</a:t>
            </a:r>
          </a:p>
          <a:p xmlns:a="http://schemas.openxmlformats.org/drawingml/2006/main">
            <a:r>
              <a:t>  /home/nithish/member1-new-evidence full</a:t>
            </a:r>
          </a:p>
          <a:p xmlns:a="http://schemas.openxmlformats.org/drawingml/2006/main">
            <a:r>
              <a:t>The runner requires the installed race_test.c and its UPROGS entry, checks the original</a:t>
            </a:r>
          </a:p>
          <a:p xmlns:a="http://schemas.openxmlformats.org/drawingml/2006/main">
            <a:r>
              <a:t>allocator, and refuses an existing evidence directory. Use a new output directory for a new run.</a:t>
            </a:r>
          </a:p>
          <a:p xmlns:a="http://schemas.openxmlformats.org/drawingml/2006/main">
            <a:r>
              <a:t>These commands describe reproduction; they were not rerun during document preparation.</a:t>
            </a:r>
          </a:p>
          <a:p xmlns:a="http://schemas.openxmlformats.org/drawingml/2006/main">
            <a:r>
              <a:t>Further runs must remain separate from the frozen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>12. Possible allocator interleavings</a:t>
            </a:r>
          </a:p>
          <a:p xmlns:a="http://schemas.openxmlformats.org/drawingml/2006/main">
            <a:r>
              <a:t>The following schedules explain possible failures at source level. They are theoretical</a:t>
            </a:r>
          </a:p>
          <a:p xmlns:a="http://schemas.openxmlformats.org/drawingml/2006/main">
            <a:r>
              <a:t>interleavings, not instruction traces recovered from the recorded experiments. The raw logs</a:t>
            </a:r>
          </a:p>
          <a:p xmlns:a="http://schemas.openxmlformats.org/drawingml/2006/main">
            <a:r>
              <a:t>show symptoms but do not identify the exact internal schedule.</a:t>
            </a:r>
          </a:p>
          <a:p xmlns:a="http://schemas.openxmlformats.org/drawingml/2006/main">
            <a:r>
              <a:t>Table 8. Possible double allocation without locking</a:t>
            </a:r>
          </a:p>
          <a:p xmlns:a="http://schemas.openxmlformats.org/drawingml/2006/main">
            <a:r>
              <a:t>Step</a:t>
            </a:r>
          </a:p>
          <a:p xmlns:a="http://schemas.openxmlformats.org/drawingml/2006/main">
            <a:r>
              <a:t>CPU 0</a:t>
            </a:r>
          </a:p>
          <a:p xmlns:a="http://schemas.openxmlformats.org/drawingml/2006/main">
            <a:r>
              <a:t>CPU 1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Read head page P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Read the same head P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Advance head to P.next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Advance head to P.next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Return P</a:t>
            </a:r>
          </a:p>
          <a:p xmlns:a="http://schemas.openxmlformats.org/drawingml/2006/main">
            <a:r>
              <a:t>Return P</a:t>
            </a:r>
          </a:p>
          <a:p xmlns:a="http://schemas.openxmlformats.org/drawingml/2006/main">
            <a:r>
              <a:t>Both CPUs can observe the same head before either update excludes the other. In this simplified</a:t>
            </a:r>
          </a:p>
          <a:p xmlns:a="http://schemas.openxmlformats.org/drawingml/2006/main">
            <a:r>
              <a:t>schedule, both return P. Correct locking makes each pop occur as a complete protected</a:t>
            </a:r>
          </a:p>
          <a:p xmlns:a="http://schemas.openxmlformats.org/drawingml/2006/main">
            <a:r>
              <a:t>operation, so the second CPU observes the updated list instead.</a:t>
            </a:r>
          </a:p>
          <a:p xmlns:a="http://schemas.openxmlformats.org/drawingml/2006/main">
            <a:r>
              <a:t>Table 9. Possible lost free page without locking</a:t>
            </a:r>
          </a:p>
          <a:p xmlns:a="http://schemas.openxmlformats.org/drawingml/2006/main">
            <a:r>
              <a:t>Step</a:t>
            </a:r>
          </a:p>
          <a:p xmlns:a="http://schemas.openxmlformats.org/drawingml/2006/main">
            <a:r>
              <a:t>CPU 0 frees X</a:t>
            </a:r>
          </a:p>
          <a:p xmlns:a="http://schemas.openxmlformats.org/drawingml/2006/main">
            <a:r>
              <a:t>CPU 1 frees Y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Set X.next to old head H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Set Y.next to old head H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Set head to X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Set head to Y</a:t>
            </a:r>
          </a:p>
          <a:p xmlns:a="http://schemas.openxmlformats.org/drawingml/2006/main">
            <a:r>
              <a:t>The final chain is Y followed by H, and the new link to X has been overwritten. X is no longer</a:t>
            </a:r>
          </a:p>
          <a:p xmlns:a="http://schemas.openxmlformats.org/drawingml/2006/main">
            <a:r>
              <a:t>reachable through the free-list head in this example. One lock around the complete push</a:t>
            </a:r>
          </a:p>
          <a:p xmlns:a="http://schemas.openxmlformats.org/drawingml/2006/main">
            <a:r>
              <a:t>prevents the two insertions from overlapping in that way.</a:t>
            </a:r>
          </a:p>
          <a:p xmlns:a="http://schemas.openxmlformats.org/drawingml/2006/main">
            <a:r>
              <a:t>These examples describe why list invariants need coordination. They do not establish that a</a:t>
            </a:r>
          </a:p>
          <a:p xmlns:a="http://schemas.openxmlformats.org/drawingml/2006/main">
            <a:r>
              <a:t>particular recorded corruption, allocation failure, or trap was caused by exactly one of these</a:t>
            </a:r>
          </a:p>
          <a:p xmlns:a="http://schemas.openxmlformats.org/drawingml/2006/main">
            <a:r>
              <a:t>schedules. The test can miss lost pages or damage outside the buffers it verifies.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>13. Original-lock baseline</a:t>
            </a:r>
          </a:p>
          <a:p xmlns:a="http://schemas.openxmlformats.org/drawingml/2006/main">
            <a:r>
              <a:t>The baseline establishes that the intended workload completes with the existing allocator</a:t>
            </a:r>
          </a:p>
          <a:p xmlns:a="http://schemas.openxmlformats.org/drawingml/2006/main">
            <a:r>
              <a:t>protection under the chosen conditions. A separate sanity run reported ALL TESTS PASSED</a:t>
            </a:r>
          </a:p>
          <a:p xmlns:a="http://schemas.openxmlformats.org/drawingml/2006/main">
            <a:r>
              <a:t>and a locked smoke check passed before measurement. The measured baseline then uses a fresh</a:t>
            </a:r>
          </a:p>
          <a:p xmlns:a="http://schemas.openxmlformats.org/drawingml/2006/main">
            <a:r>
              <a:t>guest for each of A01-A10.</a:t>
            </a:r>
          </a:p>
          <a:p xmlns:a="http://schemas.openxmlformats.org/drawingml/2006/main">
            <a:r>
              <a:t>xv6 kernel is booting</a:t>
            </a:r>
          </a:p>
          <a:p xmlns:a="http://schemas.openxmlformats.org/drawingml/2006/main">
            <a:r>
              <a:t>hart 1 starting</a:t>
            </a:r>
          </a:p>
          <a:p xmlns:a="http://schemas.openxmlformats.org/drawingml/2006/main">
            <a:r>
              <a:t>hart 3 starting</a:t>
            </a:r>
          </a:p>
          <a:p xmlns:a="http://schemas.openxmlformats.org/drawingml/2006/main">
            <a:r>
              <a:t>hart 2 starting</a:t>
            </a:r>
          </a:p>
          <a:p xmlns:a="http://schemas.openxmlformats.org/drawingml/2006/main">
            <a:r>
              <a:t>init: starting sh</a:t>
            </a:r>
          </a:p>
          <a:p xmlns:a="http://schemas.openxmlformats.org/drawingml/2006/main">
            <a:r>
              <a:t>$ race_test</a:t>
            </a:r>
          </a:p>
          <a:p xmlns:a="http://schemas.openxmlformats.org/drawingml/2006/main">
            <a:r>
              <a:t>race_test: children=4 pages=8 rounds=200</a:t>
            </a:r>
          </a:p>
          <a:p xmlns:a="http://schemas.openxmlformats.org/drawingml/2006/main">
            <a:r>
              <a:t>race_test: PASS (all 4 children completed)</a:t>
            </a:r>
          </a:p>
          <a:p xmlns:a="http://schemas.openxmlformats.org/drawingml/2006/main">
            <a:r>
              <a:t>$ QEMU: Terminated</a:t>
            </a:r>
          </a:p>
          <a:p xmlns:a="http://schemas.openxmlformats.org/drawingml/2006/main">
            <a:r>
              <a:t>Figure 6. Rendered console excerpt from C-validation A01; this is saved text, not a desktop screenshot.</a:t>
            </a:r>
          </a:p>
          <a:p xmlns:a="http://schemas.openxmlformats.org/drawingml/2006/main">
            <a:r>
              <a:t>Table 10. Baseline checks</a:t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Evidence / observation</a:t>
            </a:r>
          </a:p>
          <a:p xmlns:a="http://schemas.openxmlformats.org/drawingml/2006/main">
            <a:r>
              <a:t>Workload settings</a:t>
            </a:r>
          </a:p>
          <a:p xmlns:a="http://schemas.openxmlformats.org/drawingml/2006/main">
            <a:r>
              <a:t>children=4 pages=8 rounds=200</a:t>
            </a:r>
          </a:p>
          <a:p xmlns:a="http://schemas.openxmlformats.org/drawingml/2006/main">
            <a:r>
              <a:t>A01 result</a:t>
            </a:r>
          </a:p>
          <a:p xmlns:a="http://schemas.openxmlformats.org/drawingml/2006/main">
            <a:r>
              <a:t>PASS; all four children completed</a:t>
            </a:r>
          </a:p>
          <a:p xmlns:a="http://schemas.openxmlformats.org/drawingml/2006/main">
            <a:r>
              <a:t>A01-A10 phase total</a:t>
            </a:r>
          </a:p>
          <a:p xmlns:a="http://schemas.openxmlformats.org/drawingml/2006/main">
            <a:r>
              <a:t>10 PASS in 10 measured attempts</a:t>
            </a:r>
          </a:p>
          <a:p xmlns:a="http://schemas.openxmlformats.org/drawingml/2006/main">
            <a:r>
              <a:t>Control function</a:t>
            </a:r>
          </a:p>
          <a:p xmlns:a="http://schemas.openxmlformats.org/drawingml/2006/main">
            <a:r>
              <a:t>Confirms observed completion with original allocator locks</a:t>
            </a:r>
          </a:p>
          <a:p xmlns:a="http://schemas.openxmlformats.org/drawingml/2006/main">
            <a:r>
              <a:t>A baseline PASS means the program reported no detected error during that invocation. It does</a:t>
            </a:r>
          </a:p>
          <a:p xmlns:a="http://schemas.openxmlformats.org/drawingml/2006/main">
            <a:r>
              <a:t>not establish absence of every possible defect. Its value is comparative: the next phase changes</a:t>
            </a:r>
          </a:p>
          <a:p xmlns:a="http://schemas.openxmlformats.org/drawingml/2006/main">
            <a:r>
              <a:t>the allocator lock calls while holding the test and guest settings fixed.</a:t>
            </a:r>
          </a:p>
          <a:p xmlns:a="http://schemas.openxmlformats.org/drawingml/2006/main">
            <a:r>
              <a:t>The console displays hart startup messages because the guest uses four virtual CPUs. The order</a:t>
            </a:r>
          </a:p>
          <a:p xmlns:a="http://schemas.openxmlformats.org/drawingml/2006/main">
            <a:r>
              <a:t>of those messages can vary. The recorded elapsed times include output collection and are not an</a:t>
            </a:r>
          </a:p>
          <a:p xmlns:a="http://schemas.openxmlformats.org/drawingml/2006/main">
            <a:r>
              <a:t>allocator performance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>14. Deliberate lock removal</a:t>
            </a:r>
          </a:p>
          <a:p xmlns:a="http://schemas.openxmlformats.org/drawingml/2006/main">
            <a:r>
              <a:t>The unlocked variant comments out exactly four allocator calls: acquire and release in kfree(),</a:t>
            </a:r>
          </a:p>
          <a:p xmlns:a="http://schemas.openxmlformats.org/drawingml/2006/main">
            <a:r>
              <a:t>and acquire and release in kalloc(). The free-list update statements and the guest workload</a:t>
            </a:r>
          </a:p>
          <a:p xmlns:a="http://schemas.openxmlformats.org/drawingml/2006/main">
            <a:r>
              <a:t>remain unchanged. The saved B-lock-removal.diff records the intended intervention.</a:t>
            </a:r>
          </a:p>
          <a:p xmlns:a="http://schemas.openxmlformats.org/drawingml/2006/main">
            <a:r>
              <a:t>kfree():</a:t>
            </a:r>
          </a:p>
          <a:p xmlns:a="http://schemas.openxmlformats.org/drawingml/2006/main">
            <a:r>
              <a:t>- acquire(&amp;kmem.lock);</a:t>
            </a:r>
          </a:p>
          <a:p xmlns:a="http://schemas.openxmlformats.org/drawingml/2006/main">
            <a:r>
              <a:t>+ // acquire(&amp;kmem.lock);</a:t>
            </a:r>
          </a:p>
          <a:p xmlns:a="http://schemas.openxmlformats.org/drawingml/2006/main">
            <a:r>
              <a:t>  r-&gt;next = kmem.freelist;</a:t>
            </a:r>
          </a:p>
          <a:p xmlns:a="http://schemas.openxmlformats.org/drawingml/2006/main">
            <a:r>
              <a:t>  kmem.freelist = r;</a:t>
            </a:r>
          </a:p>
          <a:p xmlns:a="http://schemas.openxmlformats.org/drawingml/2006/main">
            <a:r>
              <a:t>- release(&amp;kmem.lock);</a:t>
            </a:r>
          </a:p>
          <a:p xmlns:a="http://schemas.openxmlformats.org/drawingml/2006/main">
            <a:r>
              <a:t>+ // release(&amp;kmem.lock);</a:t>
            </a:r>
          </a:p>
          <a:p xmlns:a="http://schemas.openxmlformats.org/drawingml/2006/main">
            <a:r>
              <a:t>kalloc():</a:t>
            </a:r>
          </a:p>
          <a:p xmlns:a="http://schemas.openxmlformats.org/drawingml/2006/main">
            <a:r>
              <a:t>- acquire(&amp;kmem.lock);</a:t>
            </a:r>
          </a:p>
          <a:p xmlns:a="http://schemas.openxmlformats.org/drawingml/2006/main">
            <a:r>
              <a:t>+ // acquire(&amp;kmem.lock);</a:t>
            </a:r>
          </a:p>
          <a:p xmlns:a="http://schemas.openxmlformats.org/drawingml/2006/main">
            <a:r>
              <a:t>  r = kmem.freelist;</a:t>
            </a:r>
          </a:p>
          <a:p xmlns:a="http://schemas.openxmlformats.org/drawingml/2006/main">
            <a:r>
              <a:t>  if (r)</a:t>
            </a:r>
          </a:p>
          <a:p xmlns:a="http://schemas.openxmlformats.org/drawingml/2006/main">
            <a:r>
              <a:t>    kmem.freelist = r-&gt;next;</a:t>
            </a:r>
          </a:p>
          <a:p xmlns:a="http://schemas.openxmlformats.org/drawingml/2006/main">
            <a:r>
              <a:t>- release(&amp;kmem.lock);</a:t>
            </a:r>
          </a:p>
          <a:p xmlns:a="http://schemas.openxmlformats.org/drawingml/2006/main">
            <a:r>
              <a:t>+ // release(&amp;kmem.lock);</a:t>
            </a:r>
          </a:p>
          <a:p xmlns:a="http://schemas.openxmlformats.org/drawingml/2006/main">
            <a:r>
              <a:t>Figure 7. Focused excerpt of the saved allocator-lock removal diff.</a:t>
            </a:r>
          </a:p>
          <a:p xmlns:a="http://schemas.openxmlformats.org/drawingml/2006/main">
            <a:r>
              <a:t>After rebuilding, the runner performs B01-B10 with the same four-CPU stress program. The</a:t>
            </a:r>
          </a:p>
          <a:p xmlns:a="http://schemas.openxmlformats.org/drawingml/2006/main">
            <a:r>
              <a:t>variant intentionally violates the normal locking discipline. This is a controlled teaching</a:t>
            </a:r>
          </a:p>
          <a:p xmlns:a="http://schemas.openxmlformats.org/drawingml/2006/main">
            <a:r>
              <a:t>experiment rather than a proposed production optimization.</a:t>
            </a:r>
          </a:p>
          <a:p xmlns:a="http://schemas.openxmlformats.org/drawingml/2006/main">
            <a:r>
              <a:t>acquire() and release() also manage nested local interrupt state. Their removal changes that</a:t>
            </a:r>
          </a:p>
          <a:p xmlns:a="http://schemas.openxmlformats.org/drawingml/2006/main">
            <a:r>
              <a:t>behavior wherever an outer lock is not already active. Consequently the comparison concerns</a:t>
            </a:r>
          </a:p>
          <a:p xmlns:a="http://schemas.openxmlformats.org/drawingml/2006/main">
            <a:r>
              <a:t>the complete existing allocator locking discipline; it does not independently measure mutual</a:t>
            </a:r>
          </a:p>
          <a:p xmlns:a="http://schemas.openxmlformats.org/drawingml/2006/main">
            <a:r>
              <a:t>exclusion, ordering, and interrupt handling as separate interventions.</a:t>
            </a:r>
          </a:p>
          <a:p xmlns:a="http://schemas.openxmlformats.org/drawingml/2006/main">
            <a:r>
              <a:t>Keep the removal diff and original allocator copy with the results so the experiment is auditable.</a:t>
            </a:r>
          </a:p>
          <a:p xmlns:a="http://schemas.openxmlformats.org/drawingml/2006/main">
            <a:r>
              <a:t>Restoration follows this phase; the final project must retain its original protection.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>15. Unlocked-run evidence</a:t>
            </a:r>
          </a:p>
          <a:p xmlns:a="http://schemas.openxmlformats.org/drawingml/2006/main">
            <a:r>
              <a:t>xv6 kernel is booting</a:t>
            </a:r>
          </a:p>
          <a:p xmlns:a="http://schemas.openxmlformats.org/drawingml/2006/main">
            <a:r>
              <a:t>hart 1 starting</a:t>
            </a:r>
          </a:p>
          <a:p xmlns:a="http://schemas.openxmlformats.org/drawingml/2006/main">
            <a:r>
              <a:t>hart 3 starting</a:t>
            </a:r>
          </a:p>
          <a:p xmlns:a="http://schemas.openxmlformats.org/drawingml/2006/main">
            <a:r>
              <a:t>hart 2 starting</a:t>
            </a:r>
          </a:p>
          <a:p xmlns:a="http://schemas.openxmlformats.org/drawingml/2006/main">
            <a:r>
              <a:t>init: starting sh</a:t>
            </a:r>
          </a:p>
          <a:p xmlns:a="http://schemas.openxmlformats.org/drawingml/2006/main">
            <a:r>
              <a:t>$ race_test</a:t>
            </a:r>
          </a:p>
          <a:p xmlns:a="http://schemas.openxmlformats.org/drawingml/2006/main">
            <a:r>
              <a:t>race_test: children=4 pages=8 rounds=200</a:t>
            </a:r>
          </a:p>
          <a:p xmlns:a="http://schemas.openxmlformats.org/drawingml/2006/main">
            <a:r>
              <a:t>child scause=0xd sepc=0x80000aca stval=0x505050505050505</a:t>
            </a:r>
          </a:p>
          <a:p xmlns:a="http://schemas.openxmlformats.org/drawingml/2006/main">
            <a:r>
              <a:t>panic: 2scause=0xd sepc=0x80000aca stval=0x505050505050505</a:t>
            </a:r>
          </a:p>
          <a:p xmlns:a="http://schemas.openxmlformats.org/drawingml/2006/main">
            <a:r>
              <a:t>panic: kerneltrapkerneltrap</a:t>
            </a:r>
          </a:p>
          <a:p xmlns:a="http://schemas.openxmlformats.org/drawingml/2006/main">
            <a:r>
              <a:t>: CORRUPTION round=1 offset=16384 expected=3 got=4</a:t>
            </a:r>
          </a:p>
          <a:p xmlns:a="http://schemas.openxmlformats.org/drawingml/2006/main">
            <a:r>
              <a:t>race_test: pid=6 failed status=1</a:t>
            </a:r>
          </a:p>
          <a:p xmlns:a="http://schemas.openxmlformats.org/drawingml/2006/main">
            <a:r>
              <a:t>QEMU: Terminated</a:t>
            </a:r>
          </a:p>
          <a:p xmlns:a="http://schemas.openxmlformats.org/drawingml/2006/main">
            <a:r>
              <a:t>Figure 8. Rendered C-validation B06 console excerpt; concurrent output is preserved as recorded.</a:t>
            </a:r>
          </a:p>
          <a:p xmlns:a="http://schemas.openxmlformats.org/drawingml/2006/main">
            <a:r>
              <a:t>B06 contains a visible CORRUPTION message: round=1, offset=16384, expected=3, got=4.</a:t>
            </a:r>
          </a:p>
          <a:p xmlns:a="http://schemas.openxmlformats.org/drawingml/2006/main">
            <a:r>
              <a:t>The same log also contains interleaved trap and panic text. The supplied CSV assigns B06 the</a:t>
            </a:r>
          </a:p>
          <a:p xmlns:a="http://schemas.openxmlformats.org/drawingml/2006/main">
            <a:r>
              <a:t>primary category CORRUPTION. The report retains this existing classification rather than</a:t>
            </a:r>
          </a:p>
          <a:p xmlns:a="http://schemas.openxmlformats.org/drawingml/2006/main">
            <a:r>
              <a:t>counting that attempt again under panic/trap.</a:t>
            </a:r>
          </a:p>
          <a:p xmlns:a="http://schemas.openxmlformats.org/drawingml/2006/main">
            <a:r>
              <a:t>Table 11. Other recorded unlocked symptoms</a:t>
            </a:r>
          </a:p>
          <a:p xmlns:a="http://schemas.openxmlformats.org/drawingml/2006/main">
            <a:r>
              <a:t>Attempt</a:t>
            </a:r>
          </a:p>
          <a:p xmlns:a="http://schemas.openxmlformats.org/drawingml/2006/main">
            <a:r>
              <a:t>Recorded observation</a:t>
            </a:r>
          </a:p>
          <a:p xmlns:a="http://schemas.openxmlformats.org/drawingml/2006/main">
            <a:r>
              <a:t>Primary outcome</a:t>
            </a:r>
          </a:p>
          <a:p xmlns:a="http://schemas.openxmlformats.org/drawingml/2006/main">
            <a:r>
              <a:t>B01</a:t>
            </a:r>
          </a:p>
          <a:p xmlns:a="http://schemas.openxmlformats.org/drawingml/2006/main">
            <a:r>
              <a:t>panic: kerneltrap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B07</a:t>
            </a:r>
          </a:p>
          <a:p xmlns:a="http://schemas.openxmlformats.org/drawingml/2006/main">
            <a:r>
              <a:t>race_test: FAIL (2 child failures; setup_failed=0)</a:t>
            </a:r>
          </a:p>
          <a:p xmlns:a="http://schemas.openxmlformats.org/drawingml/2006/main">
            <a:r>
              <a:t>TEST_FAILURE</a:t>
            </a:r>
          </a:p>
          <a:p xmlns:a="http://schemas.openxmlformats.org/drawingml/2006/main">
            <a:r>
              <a:t>B08</a:t>
            </a:r>
          </a:p>
          <a:p xmlns:a="http://schemas.openxmlformats.org/drawingml/2006/main">
            <a:r>
              <a:t>Host limit reached: 60 seconds</a:t>
            </a:r>
          </a:p>
          <a:p xmlns:a="http://schemas.openxmlformats.org/drawingml/2006/main">
            <a:r>
              <a:t>TIMEOUT</a:t>
            </a:r>
          </a:p>
          <a:p xmlns:a="http://schemas.openxmlformats.org/drawingml/2006/main">
            <a:r>
              <a:t>B10</a:t>
            </a:r>
          </a:p>
          <a:p xmlns:a="http://schemas.openxmlformats.org/drawingml/2006/main">
            <a:r>
              <a:t>race_test: FAIL (4 child failures; setup_failed=0)</a:t>
            </a:r>
          </a:p>
          <a:p xmlns:a="http://schemas.openxmlformats.org/drawingml/2006/main">
            <a:r>
              <a:t>TEST_FAILURE</a:t>
            </a:r>
          </a:p>
          <a:p xmlns:a="http://schemas.openxmlformats.org/drawingml/2006/main">
            <a:r>
              <a:t>Every attempt is counted once using its recorded primary outcome. Split or interleaved output</a:t>
            </a:r>
          </a:p>
          <a:p xmlns:a="http://schemas.openxmlformats.org/drawingml/2006/main">
            <a:r>
              <a:t>should not be silently repaired into an invented complete message. A tag mismatch is direct</a:t>
            </a:r>
          </a:p>
          <a:p xmlns:a="http://schemas.openxmlformats.org/drawingml/2006/main">
            <a:r>
              <a:t>evidence that the checked memory did not contain its expected value; it does not reveal the</a:t>
            </a:r>
          </a:p>
          <a:p xmlns:a="http://schemas.openxmlformats.org/drawingml/2006/main">
            <a:r>
              <a:t>complete chain of internal kernel events.</a:t>
            </a:r>
          </a:p>
          <a:p xmlns:a="http://schemas.openxmlformats.org/drawingml/2006/main">
            <a:r>
              <a:t>The timeout records lack of completion before the host limit. It must not be relabeled as a</a:t>
            </a:r>
          </a:p>
          <a:p xmlns:a="http://schemas.openxmlformats.org/drawingml/2006/main">
            <a:r>
              <a:t>proven deadlock. Similarly, panic/trap outcomes show severe failure but are not proof of one</a:t>
            </a:r>
          </a:p>
          <a:p xmlns:a="http://schemas.openxmlformats.org/drawingml/2006/main">
            <a:r>
              <a:t>specific allocator interleaving.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16. Restoration and verification</a:t>
            </a:r>
          </a:p>
          <a:p xmlns:a="http://schemas.openxmlformats.org/drawingml/2006/main">
            <a:r>
              <a:t>After the unlocked phase, the exact saved original allocator is restored. The restoration check</a:t>
            </a:r>
          </a:p>
          <a:p xmlns:a="http://schemas.openxmlformats.org/drawingml/2006/main">
            <a:r>
              <a:t>validates its checksum, the final allocator diff is empty, and the restored kernel is rebuilt.</a:t>
            </a:r>
          </a:p>
          <a:p xmlns:a="http://schemas.openxmlformats.org/drawingml/2006/main">
            <a:r>
              <a:t>C01-C10 then repeat the same workload in fresh guests. This closes the experiment with the</a:t>
            </a:r>
          </a:p>
          <a:p xmlns:a="http://schemas.openxmlformats.org/drawingml/2006/main">
            <a:r>
              <a:t>original synchronization in place.</a:t>
            </a:r>
          </a:p>
          <a:p xmlns:a="http://schemas.openxmlformats.org/drawingml/2006/main">
            <a:r>
              <a:t>restoration-check.txt:</a:t>
            </a:r>
          </a:p>
          <a:p xmlns:a="http://schemas.openxmlformats.org/drawingml/2006/main">
            <a:r>
              <a:t>kernel/kalloc.c: OK</a:t>
            </a:r>
          </a:p>
          <a:p xmlns:a="http://schemas.openxmlformats.org/drawingml/2006/main">
            <a:r>
              <a:t>final-restoration.diff:</a:t>
            </a:r>
          </a:p>
          <a:p xmlns:a="http://schemas.openxmlformats.org/drawingml/2006/main">
            <a:r>
              <a:t>(empty file)</a:t>
            </a:r>
          </a:p>
          <a:p xmlns:a="http://schemas.openxmlformats.org/drawingml/2006/main">
            <a:r>
              <a:t>test-verification.txt:</a:t>
            </a:r>
          </a:p>
          <a:p xmlns:a="http://schemas.openxmlformats.org/drawingml/2006/main">
            <a:r>
              <a:t>user/race_test.c: OK</a:t>
            </a:r>
          </a:p>
          <a:p xmlns:a="http://schemas.openxmlformats.org/drawingml/2006/main">
            <a:r>
              <a:t>Figure 9. Rendered verification excerpts from the C-validation evidence folder.</a:t>
            </a:r>
          </a:p>
          <a:p xmlns:a="http://schemas.openxmlformats.org/drawingml/2006/main">
            <a:r>
              <a:t>xv6 kernel is booting</a:t>
            </a:r>
          </a:p>
          <a:p xmlns:a="http://schemas.openxmlformats.org/drawingml/2006/main">
            <a:r>
              <a:t>hart 3 starting</a:t>
            </a:r>
          </a:p>
          <a:p xmlns:a="http://schemas.openxmlformats.org/drawingml/2006/main">
            <a:r>
              <a:t>hart 1 starting</a:t>
            </a:r>
          </a:p>
          <a:p xmlns:a="http://schemas.openxmlformats.org/drawingml/2006/main">
            <a:r>
              <a:t>hart 2 starting</a:t>
            </a:r>
          </a:p>
          <a:p xmlns:a="http://schemas.openxmlformats.org/drawingml/2006/main">
            <a:r>
              <a:t>init: starting sh</a:t>
            </a:r>
          </a:p>
          <a:p xmlns:a="http://schemas.openxmlformats.org/drawingml/2006/main">
            <a:r>
              <a:t>$ race_test</a:t>
            </a:r>
          </a:p>
          <a:p xmlns:a="http://schemas.openxmlformats.org/drawingml/2006/main">
            <a:r>
              <a:t>race_test: children=4 pages=8 rounds=200</a:t>
            </a:r>
          </a:p>
          <a:p xmlns:a="http://schemas.openxmlformats.org/drawingml/2006/main">
            <a:r>
              <a:t>race_test: PASS (all 4 children completed)</a:t>
            </a:r>
          </a:p>
          <a:p xmlns:a="http://schemas.openxmlformats.org/drawingml/2006/main">
            <a:r>
              <a:t>$ QEMU: Terminated</a:t>
            </a:r>
          </a:p>
          <a:p xmlns:a="http://schemas.openxmlformats.org/drawingml/2006/main">
            <a:r>
              <a:t>Figure 10. Rendered C-validation C01 console excerpt after allocator restoration.</a:t>
            </a:r>
          </a:p>
          <a:p xmlns:a="http://schemas.openxmlformats.org/drawingml/2006/main">
            <a:r>
              <a:t>All ten restored attempts reported PASS. The baseline and restored phases therefore show the</a:t>
            </a:r>
          </a:p>
          <a:p xmlns:a="http://schemas.openxmlformats.org/drawingml/2006/main">
            <a:r>
              <a:t>same observed completion count, while the unlocked phase shows no PASS outcomes under this</a:t>
            </a:r>
          </a:p>
          <a:p xmlns:a="http://schemas.openxmlformats.org/drawingml/2006/main">
            <a:r>
              <a:t>workload. The return to passing results supports the importance of the original locking</a:t>
            </a:r>
          </a:p>
          <a:p xmlns:a="http://schemas.openxmlformats.org/drawingml/2006/main">
            <a:r>
              <a:t>discipline in this controlled comparison.</a:t>
            </a:r>
          </a:p>
          <a:p xmlns:a="http://schemas.openxmlformats.org/drawingml/2006/main">
            <a:r>
              <a:t>The checksum and empty diff are evidence of restoration at the time the run set was collected.</a:t>
            </a:r>
          </a:p>
          <a:p xmlns:a="http://schemas.openxmlformats.org/drawingml/2006/main">
            <a:r>
              <a:t>They are not a claim that this report preparation performed a new kernel build. The preserved</a:t>
            </a:r>
          </a:p>
          <a:p xmlns:a="http://schemas.openxmlformats.org/drawingml/2006/main">
            <a:r>
              <a:t>final-restored-build.txt contains the recorded final build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>17. Results and interpretation</a:t>
            </a:r>
          </a:p>
          <a:p xmlns:a="http://schemas.openxmlformats.org/drawingml/2006/main">
            <a:r>
              <a:t>Table 12. C-validation outcomes; each attempt counted once</a:t>
            </a:r>
          </a:p>
          <a:p xmlns:a="http://schemas.openxmlformats.org/drawingml/2006/main">
            <a:r>
              <a:t>Phase</a:t>
            </a:r>
          </a:p>
          <a:p xmlns:a="http://schemas.openxmlformats.org/drawingml/2006/main">
            <a:r>
              <a:t>Runs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Corruption</a:t>
            </a:r>
          </a:p>
          <a:p xmlns:a="http://schemas.openxmlformats.org/drawingml/2006/main">
            <a:r>
              <a:t>Panic / trap</a:t>
            </a:r>
          </a:p>
          <a:p xmlns:a="http://schemas.openxmlformats.org/drawingml/2006/main">
            <a:r>
              <a:t>Test failure</a:t>
            </a:r>
          </a:p>
          <a:p xmlns:a="http://schemas.openxmlformats.org/drawingml/2006/main">
            <a:r>
              <a:t>Timeout</a:t>
            </a:r>
          </a:p>
          <a:p xmlns:a="http://schemas.openxmlformats.org/drawingml/2006/main">
            <a:r>
              <a:t>Original locks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Locks removed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Locks restored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The normal and restored allocator phases each produced ten PASS outcomes. All ten unlocked</a:t>
            </a:r>
          </a:p>
          <a:p xmlns:a="http://schemas.openxmlformats.org/drawingml/2006/main">
            <a:r>
              <a:t>attempts produced a non-PASS primary outcome. The comparison supports retaining the</a:t>
            </a:r>
          </a:p>
          <a:p xmlns:a="http://schemas.openxmlformats.org/drawingml/2006/main">
            <a:r>
              <a:t>original locking discipline under the tested configuration. It does not establish a universal</a:t>
            </a:r>
          </a:p>
          <a:p xmlns:a="http://schemas.openxmlformats.org/drawingml/2006/main">
            <a:r>
              <a:t>numerical failure probability for other workloads or computers.</a:t>
            </a:r>
          </a:p>
          <a:p xmlns:a="http://schemas.openxmlformats.org/drawingml/2006/main">
            <a:r>
              <a:t>How the evidence supports the explanation</a:t>
            </a:r>
          </a:p>
          <a:p xmlns:a="http://schemas.openxmlformats.org/drawingml/2006/main">
            <a:r>
              <a:t>Source analysis identifies free-list updates that require a coherent relationship between the head</a:t>
            </a:r>
          </a:p>
          <a:p xmlns:a="http://schemas.openxmlformats.org/drawingml/2006/main">
            <a:r>
              <a:t>and links. The controlled diff removes their common protection. The observed failures appear in</a:t>
            </a:r>
          </a:p>
          <a:p xmlns:a="http://schemas.openxmlformats.org/drawingml/2006/main">
            <a:r>
              <a:t>that phase, and observed completion returns after restoration. This provides a useful practical</a:t>
            </a:r>
          </a:p>
          <a:p xmlns:a="http://schemas.openxmlformats.org/drawingml/2006/main">
            <a:r>
              <a:t>connection between the invariant, its synchronization mechanism, and the recorded behavior.</a:t>
            </a:r>
          </a:p>
          <a:p xmlns:a="http://schemas.openxmlformats.org/drawingml/2006/main">
            <a:r>
              <a:t>Limitations</a:t>
            </a:r>
          </a:p>
          <a:p xmlns:a="http://schemas.openxmlformats.org/drawingml/2006/main">
            <a:r>
              <a:t>The test verifies its own byte buffers and process completion; it can miss lost pages, overwritten</a:t>
            </a:r>
          </a:p>
          <a:p xmlns:a="http://schemas.openxmlformats.org/drawingml/2006/main">
            <a:r>
              <a:t>corruption, or damage elsewhere. The logs are not an instruction-level trace. Failure messages</a:t>
            </a:r>
          </a:p>
          <a:p xmlns:a="http://schemas.openxmlformats.org/drawingml/2006/main">
            <a:r>
              <a:t>can interleave, and primary categories summarize attempts with more than one symptom.</a:t>
            </a:r>
          </a:p>
          <a:p xmlns:a="http://schemas.openxmlformats.org/drawingml/2006/main">
            <a:r>
              <a:t>Removing the lock calls also removes their local interrupt-management effects in some contexts.</a:t>
            </a:r>
          </a:p>
          <a:p xmlns:a="http://schemas.openxmlformats.org/drawingml/2006/main">
            <a:r>
              <a:t>The data covers one revision, one workload, four virtual CPUs, and ten attempts per phase.</a:t>
            </a:r>
          </a:p>
          <a:p xmlns:a="http://schemas.openxmlformats.org/drawingml/2006/main">
            <a:r>
              <a:t>Elapsed time includes host-side output collection, so it should not be used as a speed</a:t>
            </a:r>
          </a:p>
          <a:p xmlns:a="http://schemas.openxmlformats.org/drawingml/2006/main">
            <a:r>
              <a:t>comparison. An unlocked pass would not prove safety, and the absence of locked failures is</a:t>
            </a:r>
          </a:p>
          <a:p xmlns:a="http://schemas.openxmlformats.org/drawingml/2006/main">
            <a:r>
              <a:t>evidence limited to the tested attempts.</a:t>
            </a:r>
          </a:p>
          <a:p xmlns:a="http://schemas.openxmlformats.org/drawingml/2006/main">
            <a:r>
              <a:t>Demonstration material</a:t>
            </a:r>
          </a:p>
          <a:p xmlns:a="http://schemas.openxmlformats.org/drawingml/2006/main">
            <a:r>
              <a:t>The accompanying PPT links to demo-walkthrough.mp4. That file is an earlier-run walkthrough</a:t>
            </a:r>
          </a:p>
          <a:p xmlns:a="http://schemas.openxmlformats.org/drawingml/2006/main">
            <a:r>
              <a:t>rendered from saved source and logs, not a live screen recording and not a recording of this</a:t>
            </a:r>
          </a:p>
          <a:p xmlns:a="http://schemas.openxmlformats.org/drawingml/2006/main">
            <a:r>
              <a:t>C-validation set. Use it to explain the procedure; use Tables 12-14 and the C-validation logs for</a:t>
            </a:r>
          </a:p>
          <a:p xmlns:a="http://schemas.openxmlformats.org/drawingml/2006/main">
            <a:r>
              <a:t>the report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>Video is adjacent: demo-walkthrough.mp4. It replays the earlier evidence run set. Keep the video alongside this 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>17. Results and interpretation</a:t>
            </a:r>
          </a:p>
          <a:p xmlns:a="http://schemas.openxmlformats.org/drawingml/2006/main">
            <a:r>
              <a:t>Table 12. C-validation outcomes; each attempt counted once</a:t>
            </a:r>
          </a:p>
          <a:p xmlns:a="http://schemas.openxmlformats.org/drawingml/2006/main">
            <a:r>
              <a:t>Phase</a:t>
            </a:r>
          </a:p>
          <a:p xmlns:a="http://schemas.openxmlformats.org/drawingml/2006/main">
            <a:r>
              <a:t>Runs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Corruption</a:t>
            </a:r>
          </a:p>
          <a:p xmlns:a="http://schemas.openxmlformats.org/drawingml/2006/main">
            <a:r>
              <a:t>Panic / trap</a:t>
            </a:r>
          </a:p>
          <a:p xmlns:a="http://schemas.openxmlformats.org/drawingml/2006/main">
            <a:r>
              <a:t>Test failure</a:t>
            </a:r>
          </a:p>
          <a:p xmlns:a="http://schemas.openxmlformats.org/drawingml/2006/main">
            <a:r>
              <a:t>Timeout</a:t>
            </a:r>
          </a:p>
          <a:p xmlns:a="http://schemas.openxmlformats.org/drawingml/2006/main">
            <a:r>
              <a:t>Original locks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Locks removed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Locks restored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The normal and restored allocator phases each produced ten PASS outcomes. All ten unlocked</a:t>
            </a:r>
          </a:p>
          <a:p xmlns:a="http://schemas.openxmlformats.org/drawingml/2006/main">
            <a:r>
              <a:t>attempts produced a non-PASS primary outcome. The comparison supports retaining the</a:t>
            </a:r>
          </a:p>
          <a:p xmlns:a="http://schemas.openxmlformats.org/drawingml/2006/main">
            <a:r>
              <a:t>original locking discipline under the tested configuration. It does not establish a universal</a:t>
            </a:r>
          </a:p>
          <a:p xmlns:a="http://schemas.openxmlformats.org/drawingml/2006/main">
            <a:r>
              <a:t>numerical failure probability for other workloads or computers.</a:t>
            </a:r>
          </a:p>
          <a:p xmlns:a="http://schemas.openxmlformats.org/drawingml/2006/main">
            <a:r>
              <a:t>How the evidence supports the explanation</a:t>
            </a:r>
          </a:p>
          <a:p xmlns:a="http://schemas.openxmlformats.org/drawingml/2006/main">
            <a:r>
              <a:t>Source analysis identifies free-list updates that require a coherent relationship between the head</a:t>
            </a:r>
          </a:p>
          <a:p xmlns:a="http://schemas.openxmlformats.org/drawingml/2006/main">
            <a:r>
              <a:t>and links. The controlled diff removes their common protection. The observed failures appear in</a:t>
            </a:r>
          </a:p>
          <a:p xmlns:a="http://schemas.openxmlformats.org/drawingml/2006/main">
            <a:r>
              <a:t>that phase, and observed completion returns after restoration. This provides a useful practical</a:t>
            </a:r>
          </a:p>
          <a:p xmlns:a="http://schemas.openxmlformats.org/drawingml/2006/main">
            <a:r>
              <a:t>connection between the invariant, its synchronization mechanism, and the recorded behavior.</a:t>
            </a:r>
          </a:p>
          <a:p xmlns:a="http://schemas.openxmlformats.org/drawingml/2006/main">
            <a:r>
              <a:t>Limitations</a:t>
            </a:r>
          </a:p>
          <a:p xmlns:a="http://schemas.openxmlformats.org/drawingml/2006/main">
            <a:r>
              <a:t>The test verifies its own byte buffers and process completion; it can miss lost pages, overwritten</a:t>
            </a:r>
          </a:p>
          <a:p xmlns:a="http://schemas.openxmlformats.org/drawingml/2006/main">
            <a:r>
              <a:t>corruption, or damage elsewhere. The logs are not an instruction-level trace. Failure messages</a:t>
            </a:r>
          </a:p>
          <a:p xmlns:a="http://schemas.openxmlformats.org/drawingml/2006/main">
            <a:r>
              <a:t>can interleave, and primary categories summarize attempts with more than one symptom.</a:t>
            </a:r>
          </a:p>
          <a:p xmlns:a="http://schemas.openxmlformats.org/drawingml/2006/main">
            <a:r>
              <a:t>Removing the lock calls also removes their local interrupt-management effects in some contexts.</a:t>
            </a:r>
          </a:p>
          <a:p xmlns:a="http://schemas.openxmlformats.org/drawingml/2006/main">
            <a:r>
              <a:t>The data covers one revision, one workload, four virtual CPUs, and ten attempts per phase.</a:t>
            </a:r>
          </a:p>
          <a:p xmlns:a="http://schemas.openxmlformats.org/drawingml/2006/main">
            <a:r>
              <a:t>Elapsed time includes host-side output collection, so it should not be used as a speed</a:t>
            </a:r>
          </a:p>
          <a:p xmlns:a="http://schemas.openxmlformats.org/drawingml/2006/main">
            <a:r>
              <a:t>comparison. An unlocked pass would not prove safety, and the absence of locked failures is</a:t>
            </a:r>
          </a:p>
          <a:p xmlns:a="http://schemas.openxmlformats.org/drawingml/2006/main">
            <a:r>
              <a:t>evidence limited to the tested attempts.</a:t>
            </a:r>
          </a:p>
          <a:p xmlns:a="http://schemas.openxmlformats.org/drawingml/2006/main">
            <a:r>
              <a:t>Demonstration material</a:t>
            </a:r>
          </a:p>
          <a:p xmlns:a="http://schemas.openxmlformats.org/drawingml/2006/main">
            <a:r>
              <a:t>The accompanying PPT links to demo-walkthrough.mp4. That file is an earlier-run walkthrough</a:t>
            </a:r>
          </a:p>
          <a:p xmlns:a="http://schemas.openxmlformats.org/drawingml/2006/main">
            <a:r>
              <a:t>rendered from saved source and logs, not a live screen recording and not a recording of this</a:t>
            </a:r>
          </a:p>
          <a:p xmlns:a="http://schemas.openxmlformats.org/drawingml/2006/main">
            <a:r>
              <a:t>C-validation set. Use it to explain the procedure; use Tables 12-14 and the C-validation logs for</a:t>
            </a:r>
          </a:p>
          <a:p xmlns:a="http://schemas.openxmlformats.org/drawingml/2006/main">
            <a:r>
              <a:t>the report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>18. Complete attempt record: A01-B05</a:t>
            </a:r>
          </a:p>
          <a:p xmlns:a="http://schemas.openxmlformats.org/drawingml/2006/main">
            <a:r>
              <a:t>The following entries are transcribed from the C-runner results.csv. Each attempt used four</a:t>
            </a:r>
          </a:p>
          <a:p xmlns:a="http://schemas.openxmlformats.org/drawingml/2006/main">
            <a:r>
              <a:t>CPUs, four children, eight pages per child, and 200 rounds. All attempts reached the shell and</a:t>
            </a:r>
          </a:p>
          <a:p xmlns:a="http://schemas.openxmlformats.org/drawingml/2006/main">
            <a:r>
              <a:t>started the workload. Seconds are recorded host elapsed values, not benchmark results.</a:t>
            </a:r>
          </a:p>
          <a:p xmlns:a="http://schemas.openxmlformats.org/drawingml/2006/main">
            <a:r>
              <a:t>Table 13. First 15 measured attempts</a:t>
            </a:r>
          </a:p>
          <a:p xmlns:a="http://schemas.openxmlformats.org/drawingml/2006/main">
            <a:r>
              <a:t>Attempt</a:t>
            </a:r>
          </a:p>
          <a:p xmlns:a="http://schemas.openxmlformats.org/drawingml/2006/main">
            <a:r>
              <a:t>Phase</a:t>
            </a:r>
          </a:p>
          <a:p xmlns:a="http://schemas.openxmlformats.org/drawingml/2006/main">
            <a:r>
              <a:t>Primary outcome</a:t>
            </a:r>
          </a:p>
          <a:p xmlns:a="http://schemas.openxmlformats.org/drawingml/2006/main">
            <a:r>
              <a:t>Seconds</a:t>
            </a:r>
          </a:p>
          <a:p xmlns:a="http://schemas.openxmlformats.org/drawingml/2006/main">
            <a:r>
              <a:t>A01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0.857</a:t>
            </a:r>
          </a:p>
          <a:p xmlns:a="http://schemas.openxmlformats.org/drawingml/2006/main">
            <a:r>
              <a:t>A02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0.848</a:t>
            </a:r>
          </a:p>
          <a:p xmlns:a="http://schemas.openxmlformats.org/drawingml/2006/main">
            <a:r>
              <a:t>A03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0.847</a:t>
            </a:r>
          </a:p>
          <a:p xmlns:a="http://schemas.openxmlformats.org/drawingml/2006/main">
            <a:r>
              <a:t>A04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0.864</a:t>
            </a:r>
          </a:p>
          <a:p xmlns:a="http://schemas.openxmlformats.org/drawingml/2006/main">
            <a:r>
              <a:t>A05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0.843</a:t>
            </a:r>
          </a:p>
          <a:p xmlns:a="http://schemas.openxmlformats.org/drawingml/2006/main">
            <a:r>
              <a:t>A06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0.862</a:t>
            </a:r>
          </a:p>
          <a:p xmlns:a="http://schemas.openxmlformats.org/drawingml/2006/main">
            <a:r>
              <a:t>A07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0.841</a:t>
            </a:r>
          </a:p>
          <a:p xmlns:a="http://schemas.openxmlformats.org/drawingml/2006/main">
            <a:r>
              <a:t>A08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0.846</a:t>
            </a:r>
          </a:p>
          <a:p xmlns:a="http://schemas.openxmlformats.org/drawingml/2006/main">
            <a:r>
              <a:t>A09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0.855</a:t>
            </a:r>
          </a:p>
          <a:p xmlns:a="http://schemas.openxmlformats.org/drawingml/2006/main">
            <a:r>
              <a:t>A10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0.852</a:t>
            </a:r>
          </a:p>
          <a:p xmlns:a="http://schemas.openxmlformats.org/drawingml/2006/main">
            <a:r>
              <a:t>B01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0.780</a:t>
            </a:r>
          </a:p>
          <a:p xmlns:a="http://schemas.openxmlformats.org/drawingml/2006/main">
            <a:r>
              <a:t>B02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0.779</a:t>
            </a:r>
          </a:p>
          <a:p xmlns:a="http://schemas.openxmlformats.org/drawingml/2006/main">
            <a:r>
              <a:t>B03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0.780</a:t>
            </a:r>
          </a:p>
          <a:p xmlns:a="http://schemas.openxmlformats.org/drawingml/2006/main">
            <a:r>
              <a:t>B04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0.778</a:t>
            </a:r>
          </a:p>
          <a:p xmlns:a="http://schemas.openxmlformats.org/drawingml/2006/main">
            <a:r>
              <a:t>B05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0.777</a:t>
            </a:r>
          </a:p>
          <a:p xmlns:a="http://schemas.openxmlformats.org/drawingml/2006/main">
            <a:r>
              <a:t>The raw console log for an attempt is named with its ID and phase, for example A01-locked.txt</a:t>
            </a:r>
          </a:p>
          <a:p xmlns:a="http://schemas.openxmlformats.org/drawingml/2006/main">
            <a:r>
              <a:t>or B01-unlocked.txt, inside member1_completed/c_validation. The companion .cast files</a:t>
            </a:r>
          </a:p>
          <a:p xmlns:a="http://schemas.openxmlformats.org/drawingml/2006/main">
            <a:r>
              <a:t>preserve timed terminal output. The CSV stores the exact selected message and evidence</a:t>
            </a:r>
          </a:p>
          <a:p xmlns:a="http://schemas.openxmlformats.org/drawingml/2006/main">
            <a:r>
              <a:t>filenames for every entry.</a:t>
            </a:r>
          </a:p>
          <a:p xmlns:a="http://schemas.openxmlformats.org/drawingml/2006/main">
            <a:r>
              <a:t>B03-B05 contain split or interleaved diagnostics. Their existing primary categories remain</a:t>
            </a:r>
          </a:p>
          <a:p xmlns:a="http://schemas.openxmlformats.org/drawingml/2006/main">
            <a:r>
              <a:t>PANIC_OR_TRAP. The original earlier-run CSV is not included in this table, even though it</a:t>
            </a:r>
          </a:p>
          <a:p xmlns:a="http://schemas.openxmlformats.org/drawingml/2006/main">
            <a:r>
              <a:t>uses the same attempt-ID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>19. Complete attempt record: B06-C10</a:t>
            </a:r>
          </a:p>
          <a:p xmlns:a="http://schemas.openxmlformats.org/drawingml/2006/main">
            <a:r>
              <a:t>Table 14. Remaining 15 measured attempts</a:t>
            </a:r>
          </a:p>
          <a:p xmlns:a="http://schemas.openxmlformats.org/drawingml/2006/main">
            <a:r>
              <a:t>Attempt</a:t>
            </a:r>
          </a:p>
          <a:p xmlns:a="http://schemas.openxmlformats.org/drawingml/2006/main">
            <a:r>
              <a:t>Phase</a:t>
            </a:r>
          </a:p>
          <a:p xmlns:a="http://schemas.openxmlformats.org/drawingml/2006/main">
            <a:r>
              <a:t>Primary outcome</a:t>
            </a:r>
          </a:p>
          <a:p xmlns:a="http://schemas.openxmlformats.org/drawingml/2006/main">
            <a:r>
              <a:t>Seconds</a:t>
            </a:r>
          </a:p>
          <a:p xmlns:a="http://schemas.openxmlformats.org/drawingml/2006/main">
            <a:r>
              <a:t>B06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CORRUPTION</a:t>
            </a:r>
          </a:p>
          <a:p xmlns:a="http://schemas.openxmlformats.org/drawingml/2006/main">
            <a:r>
              <a:t>0.792</a:t>
            </a:r>
          </a:p>
          <a:p xmlns:a="http://schemas.openxmlformats.org/drawingml/2006/main">
            <a:r>
              <a:t>B07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TEST_FAILURE</a:t>
            </a:r>
          </a:p>
          <a:p xmlns:a="http://schemas.openxmlformats.org/drawingml/2006/main">
            <a:r>
              <a:t>0.852</a:t>
            </a:r>
          </a:p>
          <a:p xmlns:a="http://schemas.openxmlformats.org/drawingml/2006/main">
            <a:r>
              <a:t>B08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TIMEOUT</a:t>
            </a:r>
          </a:p>
          <a:p xmlns:a="http://schemas.openxmlformats.org/drawingml/2006/main">
            <a:r>
              <a:t>60.028</a:t>
            </a:r>
          </a:p>
          <a:p xmlns:a="http://schemas.openxmlformats.org/drawingml/2006/main">
            <a:r>
              <a:t>B09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0.762</a:t>
            </a:r>
          </a:p>
          <a:p xmlns:a="http://schemas.openxmlformats.org/drawingml/2006/main">
            <a:r>
              <a:t>B10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TEST_FAILURE</a:t>
            </a:r>
          </a:p>
          <a:p xmlns:a="http://schemas.openxmlformats.org/drawingml/2006/main">
            <a:r>
              <a:t>0.865</a:t>
            </a:r>
          </a:p>
          <a:p xmlns:a="http://schemas.openxmlformats.org/drawingml/2006/main">
            <a:r>
              <a:t>C01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0.876</a:t>
            </a:r>
          </a:p>
          <a:p xmlns:a="http://schemas.openxmlformats.org/drawingml/2006/main">
            <a:r>
              <a:t>C02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0.852</a:t>
            </a:r>
          </a:p>
          <a:p xmlns:a="http://schemas.openxmlformats.org/drawingml/2006/main">
            <a:r>
              <a:t>C03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0.864</a:t>
            </a:r>
          </a:p>
          <a:p xmlns:a="http://schemas.openxmlformats.org/drawingml/2006/main">
            <a:r>
              <a:t>C04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0.886</a:t>
            </a:r>
          </a:p>
          <a:p xmlns:a="http://schemas.openxmlformats.org/drawingml/2006/main">
            <a:r>
              <a:t>C05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0.872</a:t>
            </a:r>
          </a:p>
          <a:p xmlns:a="http://schemas.openxmlformats.org/drawingml/2006/main">
            <a:r>
              <a:t>C06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0.868</a:t>
            </a:r>
          </a:p>
          <a:p xmlns:a="http://schemas.openxmlformats.org/drawingml/2006/main">
            <a:r>
              <a:t>C07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0.876</a:t>
            </a:r>
          </a:p>
          <a:p xmlns:a="http://schemas.openxmlformats.org/drawingml/2006/main">
            <a:r>
              <a:t>C08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0.889</a:t>
            </a:r>
          </a:p>
          <a:p xmlns:a="http://schemas.openxmlformats.org/drawingml/2006/main">
            <a:r>
              <a:t>C09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0.867</a:t>
            </a:r>
          </a:p>
          <a:p xmlns:a="http://schemas.openxmlformats.org/drawingml/2006/main">
            <a:r>
              <a:t>C10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0.859</a:t>
            </a:r>
          </a:p>
          <a:p xmlns:a="http://schemas.openxmlformats.org/drawingml/2006/main">
            <a:r>
              <a:t>B06 is counted as CORRUPTION according to the supplied CSV despite additional panic/trap</a:t>
            </a:r>
          </a:p>
          <a:p xmlns:a="http://schemas.openxmlformats.org/drawingml/2006/main">
            <a:r>
              <a:t>text in its raw log. B08 is counted as TIMEOUT because the host limit was reached. Each row is</a:t>
            </a:r>
          </a:p>
          <a:p xmlns:a="http://schemas.openxmlformats.org/drawingml/2006/main">
            <a:r>
              <a:t>one attempt, not one symptom. C01-C10 are measured after restoration of the original allocator.</a:t>
            </a:r>
          </a:p>
          <a:p xmlns:a="http://schemas.openxmlformats.org/drawingml/2006/main">
            <a:r>
              <a:t>Reading and preserving the evidence</a:t>
            </a:r>
          </a:p>
          <a:p xmlns:a="http://schemas.openxmlformats.org/drawingml/2006/main">
            <a:r>
              <a:t>Preserve results.csv together with its matching raw logs, recordings, source copies, protocol, and</a:t>
            </a:r>
          </a:p>
          <a:p xmlns:a="http://schemas.openxmlformats.org/drawingml/2006/main">
            <a:r>
              <a:t>restoration checks. The local SHA-256 manifests support integrity checking. If further</a:t>
            </a:r>
          </a:p>
          <a:p xmlns:a="http://schemas.openxmlformats.org/drawingml/2006/main">
            <a:r>
              <a:t>experiments are run, save them to a new folder and report their settings and results separately.</a:t>
            </a:r>
          </a:p>
          <a:p xmlns:a="http://schemas.openxmlformats.org/drawingml/2006/main">
            <a:r>
              <a:t>A presentation can use the phase summary for readability, while these tables keep every attempt</a:t>
            </a:r>
          </a:p>
          <a:p xmlns:a="http://schemas.openxmlformats.org/drawingml/2006/main">
            <a:r>
              <a:t>available for review. The accompanying chart and table use these same counts. No successful or</a:t>
            </a:r>
          </a:p>
          <a:p xmlns:a="http://schemas.openxmlformats.org/drawingml/2006/main">
            <a:r>
              <a:t>unsuccessful measured attempt has been omitted from the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24</a:t>
            </a:r>
          </a:p>
          <a:p xmlns:a="http://schemas.openxmlformats.org/drawingml/2006/main">
            <a:r>
              <a:t>20. Conclusion, applications and future scope</a:t>
            </a:r>
          </a:p>
          <a:p xmlns:a="http://schemas.openxmlformats.org/drawingml/2006/main">
            <a:r>
              <a:t>This case study connects race-condition theory with a concrete kernel data structure. Four</a:t>
            </a:r>
          </a:p>
          <a:p xmlns:a="http://schemas.openxmlformats.org/drawingml/2006/main">
            <a:r>
              <a:t>concurrent C workers repeatedly allocate and release memory through xv6. Standard xv6</a:t>
            </a:r>
          </a:p>
          <a:p xmlns:a="http://schemas.openxmlformats.org/drawingml/2006/main">
            <a:r>
              <a:t>protects the shared physical-page free list with kmem.lock. Temporarily removing its existing</a:t>
            </a:r>
          </a:p>
          <a:p xmlns:a="http://schemas.openxmlformats.org/drawingml/2006/main">
            <a:r>
              <a:t>calls exposes unsafe concurrent interaction; restoring them returns the tested workload to</a:t>
            </a:r>
          </a:p>
          <a:p xmlns:a="http://schemas.openxmlformats.org/drawingml/2006/main">
            <a:r>
              <a:t>observed completion.</a:t>
            </a:r>
          </a:p>
          <a:p xmlns:a="http://schemas.openxmlformats.org/drawingml/2006/main">
            <a:r>
              <a:t>In the C-validation set, original locks passed in 10 of 10 attempts, the unlocked variant passed in</a:t>
            </a:r>
          </a:p>
          <a:p xmlns:a="http://schemas.openxmlformats.org/drawingml/2006/main">
            <a:r>
              <a:t>0 of 10, and restored locks passed in 10 of 10. These results support the original locking</a:t>
            </a:r>
          </a:p>
          <a:p xmlns:a="http://schemas.openxmlformats.org/drawingml/2006/main">
            <a:r>
              <a:t>discipline for the tested conditions. They do not identify an exact failing instruction schedule or</a:t>
            </a:r>
          </a:p>
          <a:p xmlns:a="http://schemas.openxmlformats.org/drawingml/2006/main">
            <a:r>
              <a:t>prove the absence of all races.</a:t>
            </a:r>
          </a:p>
          <a:p xmlns:a="http://schemas.openxmlformats.org/drawingml/2006/main">
            <a:r>
              <a:t>What was learned</a:t>
            </a:r>
          </a:p>
          <a:p xmlns:a="http://schemas.openxmlformats.org/drawingml/2006/main">
            <a:r>
              <a:t>A short source operation may contain several machine-level actions. Synchronization must</a:t>
            </a:r>
          </a:p>
          <a:p xmlns:a="http://schemas.openxmlformats.org/drawingml/2006/main">
            <a:r>
              <a:t>protect the invariant across the whole critical section. Atomic ownership operations and memory</a:t>
            </a:r>
          </a:p>
          <a:p xmlns:a="http://schemas.openxmlformats.org/drawingml/2006/main">
            <a:r>
              <a:t>ordering support the lock, while nested interrupt handling addresses local execution constraints.</a:t>
            </a:r>
          </a:p>
          <a:p xmlns:a="http://schemas.openxmlformats.org/drawingml/2006/main">
            <a:r>
              <a:t>All relevant accesses must obey the same rule; a lock around only one caller is insufficient.</a:t>
            </a:r>
          </a:p>
          <a:p xmlns:a="http://schemas.openxmlformats.org/drawingml/2006/main">
            <a:r>
              <a:t>Different synchronization types serve different purposes. Mutexes and spinlocks control</a:t>
            </a:r>
          </a:p>
          <a:p xmlns:a="http://schemas.openxmlformats.org/drawingml/2006/main">
            <a:r>
              <a:t>ownership, condition variables coordinate predicates, semaphores manage permits, and barriers</a:t>
            </a:r>
          </a:p>
          <a:p xmlns:a="http://schemas.openxmlformats.org/drawingml/2006/main">
            <a:r>
              <a:t>align phases. Using a primitive with the wrong protocol can leave a race or introduce deadlock.</a:t>
            </a:r>
          </a:p>
          <a:p xmlns:a="http://schemas.openxmlformats.org/drawingml/2006/main">
            <a:r>
              <a:t>The comparison methods were explained conceptually; the experimental mechanism was the</a:t>
            </a:r>
          </a:p>
          <a:p xmlns:a="http://schemas.openxmlformats.org/drawingml/2006/main">
            <a:r>
              <a:t>allocator spinlock.</a:t>
            </a:r>
          </a:p>
          <a:p xmlns:a="http://schemas.openxmlformats.org/drawingml/2006/main">
            <a:r>
              <a:t>Applications</a:t>
            </a:r>
          </a:p>
          <a:p xmlns:a="http://schemas.openxmlformats.org/drawingml/2006/main">
            <a:r>
              <a:t>The same reasoning applies to operating-system memory lists, shared queues, caches, file</a:t>
            </a:r>
          </a:p>
          <a:p xmlns:a="http://schemas.openxmlformats.org/drawingml/2006/main">
            <a:r>
              <a:t>metadata, and application state such as inventory or account updates. In each case, identify the</a:t>
            </a:r>
          </a:p>
          <a:p xmlns:a="http://schemas.openxmlformats.org/drawingml/2006/main">
            <a:r>
              <a:t>invariant, choose a coordination rule suitable for the context, and check that all participants</a:t>
            </a:r>
          </a:p>
          <a:p xmlns:a="http://schemas.openxmlformats.org/drawingml/2006/main">
            <a:r>
              <a:t>follow it. Particular applications need their own implementation and validation.</a:t>
            </a:r>
          </a:p>
          <a:p xmlns:a="http://schemas.openxmlformats.org/drawingml/2006/main">
            <a:r>
              <a:t>Future scope</a:t>
            </a:r>
          </a:p>
          <a:p xmlns:a="http://schemas.openxmlformats.org/drawingml/2006/main">
            <a:r>
              <a:t>Further work could vary CPU count and workload size, add checks for lost pages, investigate</a:t>
            </a:r>
          </a:p>
          <a:p xmlns:a="http://schemas.openxmlformats.org/drawingml/2006/main">
            <a:r>
              <a:t>another shared kernel structure, or measure lock contention with an appropriate benchmark.</a:t>
            </a:r>
          </a:p>
          <a:p xmlns:a="http://schemas.openxmlformats.org/drawingml/2006/main">
            <a:r>
              <a:t>Per-CPU allocator designs could reduce contention but require careful transfer rules. These</a:t>
            </a:r>
          </a:p>
          <a:p xmlns:a="http://schemas.openxmlformats.org/drawingml/2006/main">
            <a:r>
              <a:t>extensions have not been performed in this case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[1] Local experimental evidence, member1_completed/c_validation: results.csv, A01-C10</a:t>
            </a:r>
          </a:p>
          <a:p xmlns:a="http://schemas.openxmlformats.org/drawingml/2006/main">
            <a:r>
              <a:t>console logs and recordings, protocol.txt, B-lock-removal.diff, source copies,</a:t>
            </a:r>
          </a:p>
          <a:p xmlns:a="http://schemas.openxmlformats.org/drawingml/2006/main">
            <a:r>
              <a:t>test-verification.txt, restoration-check.txt, and final-restoration.diff. Collected 24 October 2026.</a:t>
            </a:r>
          </a:p>
          <a:p xmlns:a="http://schemas.openxmlformats.org/drawingml/2006/main">
            <a:r>
              <a:t>[2] MIT PDOS, xv6-riscv, fixed revision f780d7850765d74cbdcd1fff4b822d8829f7c9bd.</a:t>
            </a:r>
          </a:p>
          <a:p xmlns:a="http://schemas.openxmlformats.org/drawingml/2006/main">
            <a:r>
              <a:t>Examined files: kernel/kalloc.c, kernel/spinlock.c, kernel/sleeplock.c, kernel/proc.c,</a:t>
            </a:r>
          </a:p>
          <a:p xmlns:a="http://schemas.openxmlformats.org/drawingml/2006/main">
            <a:r>
              <a:t>kernel/sysproc.c, kernel/vm.c, and user/ulib.c.</a:t>
            </a:r>
          </a:p>
          <a:p xmlns:a="http://schemas.openxmlformats.org/drawingml/2006/main">
            <a:r>
              <a:t>https://github.com/mit-pdos/xv6-riscv/tree/f780d7850765d74cbdcd1fff4b822d8829f7c9bd</a:t>
            </a:r>
          </a:p>
          <a:p xmlns:a="http://schemas.openxmlformats.org/drawingml/2006/main">
            <a:r>
              <a:t>[3] MIT PDOS, xv6: a simple, Unix-like teaching operating system, Locking chapter.</a:t>
            </a:r>
          </a:p>
          <a:p xmlns:a="http://schemas.openxmlformats.org/drawingml/2006/main">
            <a:r>
              <a:t>Background reference; local fixed source controls exact implementation details.</a:t>
            </a:r>
          </a:p>
          <a:p xmlns:a="http://schemas.openxmlformats.org/drawingml/2006/main">
            <a:r>
              <a:t>https://mit-pdos.github.io/xv6-riscv-book/lock.html</a:t>
            </a:r>
          </a:p>
          <a:p xmlns:a="http://schemas.openxmlformats.org/drawingml/2006/main">
            <a:r>
              <a:t>[4] POSIX documentation reproduced by the Linux man-pages project: pthread_cond_wait(3p),</a:t>
            </a:r>
          </a:p>
          <a:p xmlns:a="http://schemas.openxmlformats.org/drawingml/2006/main">
            <a:r>
              <a:t>sem_wait(3), pthread_rwlock_rdlock(3p), and pthread_barrier_wait(3p).</a:t>
            </a:r>
          </a:p>
          <a:p xmlns:a="http://schemas.openxmlformats.org/drawingml/2006/main">
            <a:r>
              <a:t>https://man7.org/linux/man-pages/</a:t>
            </a:r>
          </a:p>
          <a:p xmlns:a="http://schemas.openxmlformats.org/drawingml/2006/main">
            <a:r>
              <a:t>[5] race_test.c and member1_tools.c, supplied case-study workload and host helper. Full guest</a:t>
            </a:r>
          </a:p>
          <a:p xmlns:a="http://schemas.openxmlformats.org/drawingml/2006/main">
            <a:r>
              <a:t>workload is reproduced in Appendix A; the host helper is retained with the project.</a:t>
            </a:r>
          </a:p>
          <a:p xmlns:a="http://schemas.openxmlformats.org/drawingml/2006/main">
            <a:r>
              <a:t>[6] Faculty-provided handwritten case-study format, 1000097330.pdf, two pages. Specifies</a:t>
            </a:r>
          </a:p>
          <a:p xmlns:a="http://schemas.openxmlformats.org/drawingml/2006/main">
            <a:r>
              <a:t>report typography and presentation structure.</a:t>
            </a:r>
          </a:p>
          <a:p xmlns:a="http://schemas.openxmlformats.org/drawingml/2006/main">
            <a:r>
              <a:t>[7] Earlier-run demonstration: member1_completed/demo-walkthrough.mp4. A rendered</a:t>
            </a:r>
          </a:p>
          <a:p xmlns:a="http://schemas.openxmlformats.org/drawingml/2006/main">
            <a:r>
              <a:t>source/log walkthrough; separate from C-validation results and not a live desktop recording.</a:t>
            </a:r>
          </a:p>
          <a:p xmlns:a="http://schemas.openxmlformats.org/drawingml/2006/main">
            <a:r>
              <a:t>Web documentation consulted on 25 October 2026. Report evidence excerpts are rendered from</a:t>
            </a:r>
          </a:p>
          <a:p xmlns:a="http://schemas.openxmlformats.org/drawingml/2006/main">
            <a:r>
              <a:t>saved text. No generated image is presented as a native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cb652d89242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47b7ee63646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b119382784b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3aa7c868f48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5204490c34d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cb2faf65f4b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8A31CE-8ACB-4414-8F3D-D86764394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E79985-8F8B-42C9-A23D-F00F493B6D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DF6530-6C22-48FC-9637-EE399CB45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028488-5251-437B-B23D-FD9A52F42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1EC8F8-04C7-425C-BB39-4A941C4868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28A314-4D52-44DA-ADEB-0A26EE58A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FCE698-C3EF-4D6F-A699-F4BE2BBF4B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8F8D05-61E5-41EA-858D-EA2062EED6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459439-A18C-4B01-BDCF-72AB88C7C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4D0F82-2DA1-4543-817F-9C1474E74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18ca694814ce1" /><Relationship Type="http://schemas.openxmlformats.org/officeDocument/2006/relationships/slideLayout" Target="/ppt/slideLayouts/slideLayout1.xml" Id="R9f1134de7e844893" /><Relationship Type="http://schemas.openxmlformats.org/officeDocument/2006/relationships/slideLayout" Target="/ppt/slideLayouts/slideLayout2.xml" Id="R07169eda24b54141" /><Relationship Type="http://schemas.openxmlformats.org/officeDocument/2006/relationships/slideLayout" Target="/ppt/slideLayouts/slideLayout3.xml" Id="R3391826df1424712" /><Relationship Type="http://schemas.openxmlformats.org/officeDocument/2006/relationships/slideLayout" Target="/ppt/slideLayouts/slideLayout4.xml" Id="R464ca376acdc48ed" /><Relationship Type="http://schemas.openxmlformats.org/officeDocument/2006/relationships/slideLayout" Target="/ppt/slideLayouts/slideLayout5.xml" Id="R1e680d03b15149ac" /><Relationship Type="http://schemas.openxmlformats.org/officeDocument/2006/relationships/slideLayout" Target="/ppt/slideLayouts/slideLayout6.xml" Id="R65ba4672f7414b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1134de7e844893"/>
    <p:sldLayoutId xmlns:r="http://schemas.openxmlformats.org/officeDocument/2006/relationships" id="2147483650" r:id="R07169eda24b54141"/>
    <p:sldLayoutId xmlns:r="http://schemas.openxmlformats.org/officeDocument/2006/relationships" id="2147483651" r:id="R3391826df1424712"/>
    <p:sldLayoutId xmlns:r="http://schemas.openxmlformats.org/officeDocument/2006/relationships" id="2147483652" r:id="R464ca376acdc48ed"/>
    <p:sldLayoutId xmlns:r="http://schemas.openxmlformats.org/officeDocument/2006/relationships" id="2147483653" r:id="R1e680d03b15149ac"/>
    <p:sldLayoutId xmlns:r="http://schemas.openxmlformats.org/officeDocument/2006/relationships" id="2147483654" r:id="R65ba4672f7414b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c102509224942" /><Relationship Type="http://schemas.openxmlformats.org/officeDocument/2006/relationships/notesSlide" Target="/ppt/notesSlides/notesSlide1.xml" Id="Rc043d5eb320a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f060e9a624770" /><Relationship Type="http://schemas.openxmlformats.org/officeDocument/2006/relationships/notesSlide" Target="/ppt/notesSlides/notesSlide2.xml" Id="R1f983d0c265547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9a88e54c34295" /><Relationship Type="http://schemas.openxmlformats.org/officeDocument/2006/relationships/notesSlide" Target="/ppt/notesSlides/notesSlide3.xml" Id="R2df20700ea484c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6e20045274ff5" /><Relationship Type="http://schemas.openxmlformats.org/officeDocument/2006/relationships/notesSlide" Target="/ppt/notesSlides/notesSlide4.xml" Id="R2ce84c5be86240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3d0a817f24f3d" /><Relationship Type="http://schemas.openxmlformats.org/officeDocument/2006/relationships/notesSlide" Target="/ppt/notesSlides/notesSlide5.xml" Id="R23c59acf5d8f41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617686c894ada" /><Relationship Type="http://schemas.openxmlformats.org/officeDocument/2006/relationships/notesSlide" Target="/ppt/notesSlides/notesSlide6.xml" Id="Re97ef742a6d847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c61ed77c748b9" /><Relationship Type="http://schemas.openxmlformats.org/officeDocument/2006/relationships/notesSlide" Target="/ppt/notesSlides/notesSlide7.xml" Id="R4617f6a3d5524b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fcd4a31024bb2" /><Relationship Type="http://schemas.openxmlformats.org/officeDocument/2006/relationships/notesSlide" Target="/ppt/notesSlides/notesSlide8.xml" Id="R318b33bc6aee4c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d131c222a4cea" /><Relationship Type="http://schemas.openxmlformats.org/officeDocument/2006/relationships/notesSlide" Target="/ppt/notesSlides/notesSlide9.xml" Id="R9c06f30e15de42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ae36d891946d5" /><Relationship Type="http://schemas.openxmlformats.org/officeDocument/2006/relationships/notesSlide" Target="/ppt/notesSlides/notesSlide10.xml" Id="Rd13c76ccc97147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abd3feddc43dd" /><Relationship Type="http://schemas.openxmlformats.org/officeDocument/2006/relationships/notesSlide" Target="/ppt/notesSlides/notesSlide11.xml" Id="R91701d8d647e46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2edc77de94bf1" /><Relationship Type="http://schemas.openxmlformats.org/officeDocument/2006/relationships/notesSlide" Target="/ppt/notesSlides/notesSlide12.xml" Id="R4175e24ff6384a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536d71ca64378" /><Relationship Type="http://schemas.openxmlformats.org/officeDocument/2006/relationships/notesSlide" Target="/ppt/notesSlides/notesSlide13.xml" Id="Re19a4e365fc44c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dd31aeef84d9f" /><Relationship Type="http://schemas.openxmlformats.org/officeDocument/2006/relationships/notesSlide" Target="/ppt/notesSlides/notesSlide14.xml" Id="R95ed7e4bab7645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b4f1bcc644ef3" /><Relationship Type="http://schemas.openxmlformats.org/officeDocument/2006/relationships/notesSlide" Target="/ppt/notesSlides/notesSlide15.xml" Id="R9a0877c312594f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7d59381f84758" /><Relationship Type="http://schemas.openxmlformats.org/officeDocument/2006/relationships/notesSlide" Target="/ppt/notesSlides/notesSlide16.xml" Id="Rb8f1b19c4d914d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8120b1eb8468a" /><Relationship Type="http://schemas.openxmlformats.org/officeDocument/2006/relationships/hyperlink" Target="demo-walkthrough.mp4" TargetMode="External" Id="Re780c71ab0024672" /><Relationship Type="http://schemas.openxmlformats.org/officeDocument/2006/relationships/notesSlide" Target="/ppt/notesSlides/notesSlide17.xml" Id="Rfddca82d44e043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dcbb23f064a40" /><Relationship Type="http://schemas.openxmlformats.org/officeDocument/2006/relationships/chart" Target="/ppt/slides/charts/chart1.xml" Id="R30a697d19b9c41ac" /><Relationship Type="http://schemas.openxmlformats.org/officeDocument/2006/relationships/notesSlide" Target="/ppt/notesSlides/notesSlide18.xml" Id="R6ffafc74d45340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d9b5c5b9140a4" /><Relationship Type="http://schemas.openxmlformats.org/officeDocument/2006/relationships/notesSlide" Target="/ppt/notesSlides/notesSlide19.xml" Id="R537de16604b649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f4078552a482d" /><Relationship Type="http://schemas.openxmlformats.org/officeDocument/2006/relationships/notesSlide" Target="/ppt/notesSlides/notesSlide20.xml" Id="R20feb9e1affb4a5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Arial"/>
                <a:ea typeface="Arial"/>
                <a:cs typeface="Arial"/>
              </a:rPr>
              <a:t>PASS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PASS attempts</c:v>
          </c:tx>
          <c:spPr>
            <a:solidFill xmlns:a="http://schemas.openxmlformats.org/drawingml/2006/main">
              <a:srgbClr val="245B80"/>
            </a:solidFill>
          </c:spPr>
          <c:invertIfNegative val="0"/>
          <c:cat>
            <c:strLit>
              <c:ptCount val="3"/>
              <c:pt idx="0">
                <c:v>Original</c:v>
              </c:pt>
              <c:pt idx="1">
                <c:v>Unlocked</c:v>
              </c:pt>
              <c:pt idx="2">
                <c:v>Restored</c:v>
              </c:pt>
            </c:strLit>
          </c:cat>
          <c:val>
            <c:numLit>
              <c:formatCode>General</c:formatCode>
              <c:ptCount val="3"/>
              <c:pt idx="0">
                <c:v>10</c:v>
              </c:pt>
              <c:pt idx="1">
                <c:v>0</c:v>
              </c:pt>
              <c:pt idx="2">
                <c:v>10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9A053-927B-4E5A-BF52-801D829C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Race Conditions and</a:t>
            </a:r>
          </a:p>
          <a:p xmlns:a="http://schemas.openxmlformats.org/drawingml/2006/main">
            <a: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Synchronization in xv6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A529B-BDE3-4993-A1EE-70800642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Operating Systems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E119D-2285-42D9-8FFA-97E96F8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 Nithish Kumar Goud    |    160124733327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E46B0-CB0D-40C7-BB3E-22F1C74B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G Ishan    |    160124733322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B42CD-4A82-43E7-B403-DB0D865A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Santhosh    |    160124733332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86037-B90D-482A-8A2B-E70D9ADD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Venkat    |    160124733340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52358-3CB2-416F-A56E-19E8C1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0"/>
                </a:solidFill>
                <a:latin typeface="Arial"/>
                <a:ea typeface="Arial"/>
                <a:cs typeface="Arial"/>
              </a:rPr>
              <a:t>Faculty / semester / academic year: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023969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4F78F-6792-4AE7-B7AA-C65361E2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8C121-A4D5-47B0-BF78-C31743E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2CBAA-BCD6-4E79-8F9F-D52ED325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Concurrent kernel requests update the same physical-page free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A101C-1BDB-4A4A-B9C3-44DF7E6F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Unsafe overlapping updates can break the allocator invariant.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32FAD-28D8-4F20-AE8E-FBC84E11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Compare original locks, deliberate removal, and restoration.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13C86-3005-4FEE-A1A9-77DCD54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Question: how does the existing spinlock protect shared state?</a:t>
            </a:r>
          </a:p>
        </p:txBody>
      </p:sp>
    </p:spTree>
    <p:extLst>
      <p:ext uri="{BB962C8B-B14F-4D97-AF65-F5344CB8AC3E}">
        <p14:creationId xmlns:p14="http://schemas.microsoft.com/office/powerpoint/2010/main" val="626655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5BEE2-CD71-45B7-BF3A-99C512E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Introduction, objectives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C173B-6C18-4BF2-92E7-E953DD0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842E-ECB9-490E-8111-0FECAFBE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 condition: correctness depends on concurrent timing.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80E4D-397D-49B2-928A-4C14F21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Objective: connect shared-data rules to actual kernel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14E87-87C0-458B-AFBE-78F40B00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2. Illustrative lost update: expected 2, final value 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5D6C8-39F3-46FA-888B-F9C77B843E1C}"/>
              </a:ext>
            </a:extLst>
          </p:cNvPr>
          <p:cNvGraphicFramePr/>
          <p:nvPr/>
        </p:nvGraphicFramePr>
        <p:xfrm>
          <a:off xmlns:a="http://schemas.openxmlformats.org/drawingml/2006/main" x="685800" y="3305175"/>
          <a:ext xmlns:a="http://schemas.openxmlformats.org/drawingml/2006/main" cx="108204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695825"/>
                <a:gridCol w="4695825"/>
              </a:tblGrid>
              <a:tr h="519113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Activity 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Activity 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19113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Compute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Compute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Store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Store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63C70-A864-40A6-94F8-FB7C27CB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counter++ is a sequence of actions; the example is conceptual.</a:t>
            </a:r>
          </a:p>
        </p:txBody>
      </p:sp>
    </p:spTree>
    <p:extLst>
      <p:ext uri="{BB962C8B-B14F-4D97-AF65-F5344CB8AC3E}">
        <p14:creationId xmlns:p14="http://schemas.microsoft.com/office/powerpoint/2010/main" val="210431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95FA4-7622-4CBB-A05C-1E5DDD4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Existing system and race problems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D5145-6090-433B-8E85-A8B61EA0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5BAEC-FA21-4EA2-9E6A-8A754BBF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Standard xv6 already protects its allocator with kmem.lock.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0572F-F0F3-403B-9C0B-656AF21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Removing protection permits conflicting free-list updates.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4229A-AB58-4E2A-B7E6-601EB999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Possible effects: lost pages, corruption, allocation errors, crashes.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3CCAC-2354-4F2C-8AC0-2A4DEB5C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 race is a correctness problem; deadlock is a waiting problem.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7B26D-5D72-4B87-B4AC-406E09A9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An observed timeout does not prove deadlock.</a:t>
            </a:r>
          </a:p>
        </p:txBody>
      </p:sp>
    </p:spTree>
    <p:extLst>
      <p:ext uri="{BB962C8B-B14F-4D97-AF65-F5344CB8AC3E}">
        <p14:creationId xmlns:p14="http://schemas.microsoft.com/office/powerpoint/2010/main" val="756316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5AC4C-1A5E-40A4-B6C1-74037E1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Synchronization types and suitable 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F4DD0-A2EA-4DB3-81B2-98D2AC09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DB33D-8C3B-4041-ACDB-C6662441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1. Synchronization methods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AE7F3-CEDB-4A70-BF39-A35749A03170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439025"/>
              </a:tblGrid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Suitable purpose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Mutex / spinlock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Exclusive access; sleep or busy-wait as appropriate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Semaphore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Available permits or bounded resources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Condition variable / monitor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Wait for a state predicate under an exclusion rule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Reader-writer lock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Concurrent readers; exclusive writers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Barrier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Wait for all participants at a phase boundary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Atomic operation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Indivisible update; not a whole-object guarantee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B0572-B86A-416B-A0E5-0FDA1FBE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Only the xv6 allocator spinlock was evaluated experimentally.</a:t>
            </a:r>
          </a:p>
        </p:txBody>
      </p:sp>
    </p:spTree>
    <p:extLst>
      <p:ext uri="{BB962C8B-B14F-4D97-AF65-F5344CB8AC3E}">
        <p14:creationId xmlns:p14="http://schemas.microsoft.com/office/powerpoint/2010/main" val="1601861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63474-6AA7-4166-BF45-FBFBFE0A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56C00-60F6-4AB7-95F8-126C7359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228CB-F130-493B-8AE0-0C12BE18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Retain or restore the same lock around every free-list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F8EBD-65B1-4E65-A605-DE881563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Protect the complete push or pop, including its dependent reads.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07357-C1C8-4D3B-BBDE-AE33CBF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Atomic ownership and acquire/release ordering support the lock.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BF793-FD28-4C1A-8F08-604BC644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Keep sections short and follow a consistent lock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16FFF-4028-4316-B08D-64F0318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The solution restores an existing xv6 mechanism.</a:t>
            </a:r>
          </a:p>
        </p:txBody>
      </p:sp>
    </p:spTree>
    <p:extLst>
      <p:ext uri="{BB962C8B-B14F-4D97-AF65-F5344CB8AC3E}">
        <p14:creationId xmlns:p14="http://schemas.microsoft.com/office/powerpoint/2010/main" val="1141341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E08D7-BB06-496C-A25E-9E82F7F6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Synchronization working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19EEF-5AF9-46E5-A6F4-F77A798F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9577E-84B1-42EB-A73F-D15786A5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1.  Disable local interrupts with push_off()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26782-4834-4EBB-8808-78640241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2.  Acquire ownership through atomic exchange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CF1AF-03B5-46A3-AEBE-CB69771B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3.  Read or update the protected free-list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FD6C-805D-49A9-80C0-1F85C468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4.  Release with ordering, then restore nested interrupt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DF668-543A-48A8-93A1-3B06576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Local interrupt disabling alone cannot exclude another CPU.</a:t>
            </a:r>
          </a:p>
        </p:txBody>
      </p:sp>
    </p:spTree>
    <p:extLst>
      <p:ext uri="{BB962C8B-B14F-4D97-AF65-F5344CB8AC3E}">
        <p14:creationId xmlns:p14="http://schemas.microsoft.com/office/powerpoint/2010/main" val="1360723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C5DE6-5321-4CA9-B38D-3A7C00BD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Practical environment and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889D8-2709-47A6-954C-E7DC8287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71943-8CB7-4150-B24A-4365FEA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3. Fixed settings for all three phases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10324-45B9-4EBB-8ABF-920E2B737DAA}"/>
              </a:ext>
            </a:extLst>
          </p:cNvPr>
          <p:cNvGraphicFramePr/>
          <p:nvPr/>
        </p:nvGraphicFramePr>
        <p:xfrm>
          <a:off xmlns:a="http://schemas.openxmlformats.org/drawingml/2006/main" x="685800" y="1895475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Recorded configuration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Guest / host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RISC-V xv6 / Ubuntu 24.04 under WSL2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Emulator / compiler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QEMU 8.2.2 / RISC-V GCC 13.3.0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Resources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4 CPUs; 128 MiB RAM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Workload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4 children; 8 pages each; 200 rounds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Attempts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 per phase; fresh guest per attempt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Limits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30 s to shell; 60 s after stress command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39D5A-5E84-497F-8A9C-2EBC938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C workload + C host runner; recorded on 24 October 2026.</a:t>
            </a:r>
          </a:p>
        </p:txBody>
      </p:sp>
    </p:spTree>
    <p:extLst>
      <p:ext uri="{BB962C8B-B14F-4D97-AF65-F5344CB8AC3E}">
        <p14:creationId xmlns:p14="http://schemas.microsoft.com/office/powerpoint/2010/main" val="6671066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E8B9F-5605-46CC-BC25-0A973CF3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Shared allocator data and critical sections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F3F40-6157-4D09-BC84-9814CF8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5DF6D-A7CD-41F7-8656-D40E13DD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/* kalloc(): remove one free page */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acquire(&amp;kmem.lock);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 = kmem.freelist;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if (r) kmem.freelist = r-&gt;next;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release(&amp;kmem.lock);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/* kfree(): add one free page */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acquire(&amp;kmem.lock);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r-&gt;next = kmem.freelist;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kmem.freelist = r;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release(&amp;kmem.lock);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14EFA-FA7E-459E-B3FA-DEE8BFAD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1. Exact protected update excerpts; surrounding code omitted.</a:t>
            </a:r>
          </a:p>
        </p:txBody>
      </p:sp>
    </p:spTree>
    <p:extLst>
      <p:ext uri="{BB962C8B-B14F-4D97-AF65-F5344CB8AC3E}">
        <p14:creationId xmlns:p14="http://schemas.microsoft.com/office/powerpoint/2010/main" val="871667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905B4-B3C3-423E-B820-FBFC1082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 workload and checking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14CCE-A244-4431-91A6-E506FCB9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B6098-8614-49BD-B7DC-A787ECD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Pipe gate releases four child processes to overlap their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A9516-6568-480D-89D7-9D2FB6E1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Each child allocates 32 KiB and writes a distinct byte tag.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81359-7C47-4037-B122-585A3CAF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Verify every byte, release memory, and repeat 200 rounds.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ABF56-A648-461A-9418-FD623117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Parent checks setup errors and every child exit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C1BAB-D033-4EDA-A2B6-D3C1A94F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volatile forces rereads here; it does not synchronize the kernel.</a:t>
            </a:r>
          </a:p>
        </p:txBody>
      </p:sp>
    </p:spTree>
    <p:extLst>
      <p:ext uri="{BB962C8B-B14F-4D97-AF65-F5344CB8AC3E}">
        <p14:creationId xmlns:p14="http://schemas.microsoft.com/office/powerpoint/2010/main" val="621410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30EA5-715A-4F0F-99EE-B0D26A6A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Allocation and freeing execution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86072-68E2-476A-8827-0A3E077E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1235-12E1-4015-8C4B-F9FEB225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Allocation: sbrk() &gt; sys_sbrk() &gt; growproc() &gt; uvmalloc() &gt; kalloc()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13B1B-B9F7-483D-B34E-3399508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Release: sbrk(-bytes) &gt; growproc() &gt; uvmdealloc() / uvmunmap() &gt; kfree()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1821A-A100-4926-A89D-289BF442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0668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wsl -d Ubuntu-24.04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cd ~/xv6-member1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make qemu CPUS=4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# In the xv6 shell: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B5A7A-4EEA-4E3E-AAAF-396F2E8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Private user buffers exercise the shared kernel allocator.</a:t>
            </a:r>
          </a:p>
        </p:txBody>
      </p:sp>
    </p:spTree>
    <p:extLst>
      <p:ext uri="{BB962C8B-B14F-4D97-AF65-F5344CB8AC3E}">
        <p14:creationId xmlns:p14="http://schemas.microsoft.com/office/powerpoint/2010/main" val="392391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20F82-F9DA-40F8-A69A-A752C84B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Possible allocator interleavings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A2D4D-66EA-4EED-829E-496175CB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8582A-59BB-4FEA-9787-F13A36FA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4. Theoretical example: both CPUs allocate head page P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C871C-6747-4E6D-BB27-3DA8E5A0A401}"/>
              </a:ext>
            </a:extLst>
          </p:cNvPr>
          <p:cNvGraphicFramePr/>
          <p:nvPr/>
        </p:nvGraphicFramePr>
        <p:xfrm>
          <a:off xmlns:a="http://schemas.openxmlformats.org/drawingml/2006/main" x="685800" y="1895475"/>
          <a:ext xmlns:a="http://schemas.openxmlformats.org/drawingml/2006/main" cx="108204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791075"/>
                <a:gridCol w="4791075"/>
              </a:tblGrid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CPU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CPU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 head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 head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Set head to P.next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Set head to P.next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Return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Return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83EFF-ED0E-4D52-814A-9098992E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Possible source-level schedule; not a trace from a recorded failure.</a:t>
            </a:r>
          </a:p>
        </p:txBody>
      </p:sp>
    </p:spTree>
    <p:extLst>
      <p:ext uri="{BB962C8B-B14F-4D97-AF65-F5344CB8AC3E}">
        <p14:creationId xmlns:p14="http://schemas.microsoft.com/office/powerpoint/2010/main" val="314731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3C49D-60CB-42F4-A99C-C9049BD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Original-lock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DCC34-9CA9-44EF-B845-140851A3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DB8D6-4869-4781-80B1-16A7076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xv6 kernel is booting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hart 1 starting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hart 3 starting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hart 2 starting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init: starting sh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$ race_test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race_test: children=4 pages=8 rounds=200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race_test: PASS (all 4 children completed)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$ QEMU: Terminated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C4269-1CFC-426F-B3A0-41A63516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2. Saved C-validation A01 console text; baseline phase: 10/10 PASS.</a:t>
            </a:r>
          </a:p>
        </p:txBody>
      </p:sp>
    </p:spTree>
    <p:extLst>
      <p:ext uri="{BB962C8B-B14F-4D97-AF65-F5344CB8AC3E}">
        <p14:creationId xmlns:p14="http://schemas.microsoft.com/office/powerpoint/2010/main" val="1999169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A47A3-88BE-4E59-9A2F-4A77B15F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Deliberate allocator-lock removal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65D92-3CF0-41BB-8DB4-3DC69F20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09013-BBEA-4DE1-BF66-E1CBF45F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/* Same temporary change in kalloc() and kfree():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- acquire(&amp;kmem.lock);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+ // acquire(&amp;kmem.lock);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  /* existing free-list updates stay unchanged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- release(&amp;kmem.lock);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+ // release(&amp;kmem.lock);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BBB4A-3A64-4A30-A444-7D80F30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3. Focused diff: four calls removed; workload unchanged.</a:t>
            </a:r>
          </a:p>
        </p:txBody>
      </p:sp>
    </p:spTree>
    <p:extLst>
      <p:ext uri="{BB962C8B-B14F-4D97-AF65-F5344CB8AC3E}">
        <p14:creationId xmlns:p14="http://schemas.microsoft.com/office/powerpoint/2010/main" val="113466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8CC0E-1BC4-4E72-A20A-B374CE62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Unlocked-run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DA818-0392-423B-B865-11B8ACD3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1E03B-3D20-44C8-88F3-19E39CA4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: CORRUPTION round=1 offset=16384 expected=3 got=4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race_test: FAIL (2 child failures; setup_failed=0)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Host limit reached: 60 seconds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3A5A-3458-4084-ABF8-87D9DC99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B06 also contains panic/trap text. Primary categories follow the 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01B9C-BCD4-4F1F-84D2-63AFC0D8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4. Separate excerpts: B06, B07, B08 respectively; not one transcript.</a:t>
            </a:r>
          </a:p>
        </p:txBody>
      </p:sp>
    </p:spTree>
    <p:extLst>
      <p:ext uri="{BB962C8B-B14F-4D97-AF65-F5344CB8AC3E}">
        <p14:creationId xmlns:p14="http://schemas.microsoft.com/office/powerpoint/2010/main" val="7490753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F995E-4BB6-4BEE-96D2-DEDB3830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Lock restoration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2FE2E-AC28-44A4-A64D-9127EE9A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BC42B-8B27-4A2D-8F33-8D76114D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kernel/kalloc.c: 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final-restoration.diff: empty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user/race_test.c: 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race_test: PASS (all 4 children completed)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01571-4C6F-4296-B784-F7EC5B2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5. Restoration checks and C01 result; restored phase: 10/10 PASS.</a:t>
            </a:r>
          </a:p>
        </p:txBody>
      </p:sp>
    </p:spTree>
    <p:extLst>
      <p:ext uri="{BB962C8B-B14F-4D97-AF65-F5344CB8AC3E}">
        <p14:creationId xmlns:p14="http://schemas.microsoft.com/office/powerpoint/2010/main" val="14686210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A697-2B34-4313-8411-C6FA3652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A458B-B816-4FE6-9A07-5B247B58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CDA1A-A518-446C-8477-48167E5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the workload, controlled lock removal, and restoration.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304F7-028B-410C-ACD2-15D93A16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Open the accompanying walkthrough video.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5CAD5-8033-4FC5-8150-DD889AFE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Earlier-run source/log replay; separate from C-validation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F9BAD-59B3-47B5-9307-5A4A56A4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pPr>
            <a:r>
              <a:rPr sz="2550" b="1" u="sng">
                <a:solidFill>
                  <a:srgbClr val="225E8B"/>
                </a:solidFill>
                <a:latin typeface="Arial"/>
                <a:ea typeface="Arial"/>
                <a:cs typeface="Arial"/>
                <a:hlinkClick xmlns:r="http://schemas.openxmlformats.org/officeDocument/2006/relationships" r:id="Re780c71ab0024672"/>
              </a:rPr>
              <a:t>Open demo-walkthrough.mp4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58438-F3FB-45B7-A548-BAE60C9F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Rendered walkthrough, not a live desktop screen recording.</a:t>
            </a:r>
          </a:p>
        </p:txBody>
      </p:sp>
    </p:spTree>
    <p:extLst>
      <p:ext uri="{BB962C8B-B14F-4D97-AF65-F5344CB8AC3E}">
        <p14:creationId xmlns:p14="http://schemas.microsoft.com/office/powerpoint/2010/main" val="5832339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56B6E-2F00-4D55-AFBE-A34EB1C5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Results and practical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1C8EC-2557-475B-87F3-975E1E49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D1FE2-22AB-4533-B522-777F1369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5. Recorded attempt totals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EB0D7-7257-4D5C-AE7D-3583DEF6BB46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45720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"/>
                <a:gridCol w="1143000"/>
              </a:tblGrid>
              <a:tr h="523875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2DA"/>
                      </a:solidFill>
                      <a:prstDash val="solid"/>
                    </a:lnL>
                    <a:lnR w="9525">
                      <a:solidFill>
                        <a:srgbClr val="CAD2DA"/>
                      </a:solidFill>
                      <a:prstDash val="solid"/>
                    </a:lnR>
                    <a:lnT w="9525">
                      <a:solidFill>
                        <a:srgbClr val="CAD2DA"/>
                      </a:solidFill>
                      <a:prstDash val="solid"/>
                    </a:lnT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T w="9525">
                      <a:solidFill>
                        <a:srgbClr val="CAD2DA"/>
                      </a:solidFill>
                      <a:prstDash val="solid"/>
                    </a:lnT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T w="9525">
                      <a:solidFill>
                        <a:srgbClr val="CAD2DA"/>
                      </a:solidFill>
                      <a:prstDash val="solid"/>
                    </a:lnT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Original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2DA"/>
                      </a:solidFill>
                      <a:prstDash val="solid"/>
                    </a:lnL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Unlocked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2DA"/>
                      </a:solidFill>
                      <a:prstDash val="solid"/>
                    </a:lnL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Restored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2DA"/>
                      </a:solidFill>
                      <a:prstDash val="solid"/>
                    </a:lnL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543EAFE-F325-4E4E-9B6A-814CD7416A3F}"/>
              </a:ext>
            </a:extLst>
          </p:cNvPr>
          <p:cNvGraphicFramePr/>
          <p:nvPr/>
        </p:nvGraphicFramePr>
        <p:xfrm>
          <a:off xmlns:a="http://schemas.openxmlformats.org/drawingml/2006/main" x="5905500" y="1476375"/>
          <a:ext xmlns:a="http://schemas.openxmlformats.org/drawingml/2006/main" cx="538162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a697d19b9c41a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3876F-D5D3-49F4-8899-A1185A83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Unlocked: 1 corruption, 6 panic/trap, 2 test failures, 1 timeout.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DDC4B-D227-4433-9DE5-A41F06D0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Timeout is not a deadlock diagnosis; elapsed times are not benchmarks.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5193E-48F2-49D7-BCB8-EF32BA12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One workload, 4 CPUs, 10 attempts per phase; PASS is not a proof of safety.</a:t>
            </a:r>
          </a:p>
        </p:txBody>
      </p:sp>
    </p:spTree>
    <p:extLst>
      <p:ext uri="{BB962C8B-B14F-4D97-AF65-F5344CB8AC3E}">
        <p14:creationId xmlns:p14="http://schemas.microsoft.com/office/powerpoint/2010/main" val="1327988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221DF-4D17-4502-B62E-A9420549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Conclusion, applications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9DDB2-7BB9-419A-903C-42244815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D11DA-EC13-4F0E-ADEF-660D9285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Learning: protect the invariant across the complete critical section.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266BD-DC8D-4448-A8BE-C1684D4D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Finding: completion returned after the original locks were restored.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B5DBF-1B16-48D7-8DB7-B1E91355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Applications: memory lists, shared queues, caches, application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3C5EA-85D8-471A-AA97-479046D3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Future work: vary CPUs, detect lost pages, measure contention.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FF5A1-0605-4907-9E59-DCEF5027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Further experiments and alternative primitives remain untested.</a:t>
            </a:r>
          </a:p>
        </p:txBody>
      </p:sp>
    </p:spTree>
    <p:extLst>
      <p:ext uri="{BB962C8B-B14F-4D97-AF65-F5344CB8AC3E}">
        <p14:creationId xmlns:p14="http://schemas.microsoft.com/office/powerpoint/2010/main" val="6030452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14B4C-19BB-4C2D-AF5C-104074C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682DC-8C3A-4B99-95F5-82136C60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9D45E-484E-4F29-B4BF-0FCD966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Fixed xv6 source revision: f780d7850765d74cbdcd1fff4b822d8829f7c9bd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676F4-4586-4120-9826-072E922D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C-validation: results.csv, raw logs, diffs, and restoration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0B215-348F-4FBD-A6E3-224B9310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MIT xv6 book: Locking chapter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20014-058D-4EB5-A660-EEC6EF5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POSIX / Linux man-pages: conditions, semaphores, RW locks, barriers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C50C0-B0EE-4DAB-884D-936800B5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Faculty format: 1000097330.pdf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C9EA9-BEFD-47F3-A521-8BF06C4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Full source links and relevant evidence filenames are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94818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2026-10-25T15:00:21.9370000Z</dcterms:created>
  <dcterms:modified xsi:type="dcterms:W3CDTF">2026-10-25T15:00:21.9370000Z</dcterms:modified>
</coreProperties>
</file>