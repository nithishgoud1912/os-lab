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b3cc94168944a5" /><Relationship Type="http://schemas.openxmlformats.org/officeDocument/2006/relationships/extended-properties" Target="/docProps/app.xml" Id="R9ff2a8caebcb4709" /><Relationship Type="http://schemas.openxmlformats.org/officeDocument/2006/relationships/officeDocument" Target="/ppt/presentation.xml" Id="R8c84815df92848a9" /></Relationships>
</file>

<file path=ppt/presentation.xml><?xml version="1.0" encoding="utf-8"?>
<p:presentation xmlns:p="http://schemas.openxmlformats.org/presentationml/2006/main">
  <p:sldMasterIdLst>
    <p:sldMasterId xmlns:r="http://schemas.openxmlformats.org/officeDocument/2006/relationships" id="2147483648" r:id="R896e919d94c04ce8"/>
  </p:sldMasterIdLst>
  <p:notesMasterIdLst>
    <p:notesMasterId xmlns:r="http://schemas.openxmlformats.org/officeDocument/2006/relationships" r:id="Rcb684585a4444777"/>
  </p:notesMasterIdLst>
  <p:sldIdLst>
    <p:sldId xmlns:r="http://schemas.openxmlformats.org/officeDocument/2006/relationships" id="256" r:id="Rc8603002ca194919"/>
    <p:sldId xmlns:r="http://schemas.openxmlformats.org/officeDocument/2006/relationships" id="257" r:id="R5fd119ee532b4cbc"/>
    <p:sldId xmlns:r="http://schemas.openxmlformats.org/officeDocument/2006/relationships" id="258" r:id="R2b2a7ab59dd6431f"/>
    <p:sldId xmlns:r="http://schemas.openxmlformats.org/officeDocument/2006/relationships" id="259" r:id="R6d926658c1b444a4"/>
    <p:sldId xmlns:r="http://schemas.openxmlformats.org/officeDocument/2006/relationships" id="260" r:id="Rf2a2fc14b6614d4c"/>
    <p:sldId xmlns:r="http://schemas.openxmlformats.org/officeDocument/2006/relationships" id="261" r:id="R41e7eb7d998e4ccd"/>
    <p:sldId xmlns:r="http://schemas.openxmlformats.org/officeDocument/2006/relationships" id="262" r:id="R0c33a8d66de84720"/>
    <p:sldId xmlns:r="http://schemas.openxmlformats.org/officeDocument/2006/relationships" id="263" r:id="R2d6afd63efc14efb"/>
    <p:sldId xmlns:r="http://schemas.openxmlformats.org/officeDocument/2006/relationships" id="264" r:id="R3542e2b74e484860"/>
    <p:sldId xmlns:r="http://schemas.openxmlformats.org/officeDocument/2006/relationships" id="265" r:id="Rb0530bb7e8a146b0"/>
    <p:sldId xmlns:r="http://schemas.openxmlformats.org/officeDocument/2006/relationships" id="266" r:id="R387562c5750b4814"/>
    <p:sldId xmlns:r="http://schemas.openxmlformats.org/officeDocument/2006/relationships" id="267" r:id="Rf46437d2fe3c49e3"/>
    <p:sldId xmlns:r="http://schemas.openxmlformats.org/officeDocument/2006/relationships" id="268" r:id="R66c302e9da434815"/>
    <p:sldId xmlns:r="http://schemas.openxmlformats.org/officeDocument/2006/relationships" id="269" r:id="Rbbb7456c3fd447c1"/>
    <p:sldId xmlns:r="http://schemas.openxmlformats.org/officeDocument/2006/relationships" id="270" r:id="Re66d379099334e18"/>
    <p:sldId xmlns:r="http://schemas.openxmlformats.org/officeDocument/2006/relationships" id="271" r:id="Ra88ffe6eeeb94cc8"/>
    <p:sldId xmlns:r="http://schemas.openxmlformats.org/officeDocument/2006/relationships" id="272" r:id="R1e7a32d969d049bf"/>
    <p:sldId xmlns:r="http://schemas.openxmlformats.org/officeDocument/2006/relationships" id="273" r:id="R1f31b2bac1ba4dbd"/>
    <p:sldId xmlns:r="http://schemas.openxmlformats.org/officeDocument/2006/relationships" id="274" r:id="R4d6baebcbb5c4488"/>
    <p:sldId xmlns:r="http://schemas.openxmlformats.org/officeDocument/2006/relationships" id="275" r:id="Rbea4e1435d7049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bd030a5a1242a3" /><Relationship Type="http://schemas.openxmlformats.org/officeDocument/2006/relationships/slideMaster" Target="/ppt/slideMasters/slideMaster1.xml" Id="R896e919d94c04ce8" /><Relationship Type="http://schemas.openxmlformats.org/officeDocument/2006/relationships/notesMaster" Target="/ppt/notesMasters/notesMaster1.xml" Id="Rcb684585a4444777" /><Relationship Type="http://schemas.openxmlformats.org/officeDocument/2006/relationships/presProps" Target="/ppt/presProps.xml" Id="Rbd68cce867584d61" /><Relationship Type="http://schemas.openxmlformats.org/officeDocument/2006/relationships/tableStyles" Target="/ppt/tableStyles.xml" Id="R93a8ec9103bd438d" /><Relationship Type="http://schemas.openxmlformats.org/officeDocument/2006/relationships/slide" Target="/ppt/slides/slide1.xml" Id="Rc8603002ca194919" /><Relationship Type="http://schemas.openxmlformats.org/officeDocument/2006/relationships/slide" Target="/ppt/slides/slide2.xml" Id="R5fd119ee532b4cbc" /><Relationship Type="http://schemas.openxmlformats.org/officeDocument/2006/relationships/slide" Target="/ppt/slides/slide3.xml" Id="R2b2a7ab59dd6431f" /><Relationship Type="http://schemas.openxmlformats.org/officeDocument/2006/relationships/slide" Target="/ppt/slides/slide4.xml" Id="R6d926658c1b444a4" /><Relationship Type="http://schemas.openxmlformats.org/officeDocument/2006/relationships/slide" Target="/ppt/slides/slide5.xml" Id="Rf2a2fc14b6614d4c" /><Relationship Type="http://schemas.openxmlformats.org/officeDocument/2006/relationships/slide" Target="/ppt/slides/slide6.xml" Id="R41e7eb7d998e4ccd" /><Relationship Type="http://schemas.openxmlformats.org/officeDocument/2006/relationships/slide" Target="/ppt/slides/slide7.xml" Id="R0c33a8d66de84720" /><Relationship Type="http://schemas.openxmlformats.org/officeDocument/2006/relationships/slide" Target="/ppt/slides/slide8.xml" Id="R2d6afd63efc14efb" /><Relationship Type="http://schemas.openxmlformats.org/officeDocument/2006/relationships/slide" Target="/ppt/slides/slide9.xml" Id="R3542e2b74e484860" /><Relationship Type="http://schemas.openxmlformats.org/officeDocument/2006/relationships/slide" Target="/ppt/slides/slide10.xml" Id="Rb0530bb7e8a146b0" /><Relationship Type="http://schemas.openxmlformats.org/officeDocument/2006/relationships/slide" Target="/ppt/slides/slide11.xml" Id="R387562c5750b4814" /><Relationship Type="http://schemas.openxmlformats.org/officeDocument/2006/relationships/slide" Target="/ppt/slides/slide12.xml" Id="Rf46437d2fe3c49e3" /><Relationship Type="http://schemas.openxmlformats.org/officeDocument/2006/relationships/slide" Target="/ppt/slides/slide13.xml" Id="R66c302e9da434815" /><Relationship Type="http://schemas.openxmlformats.org/officeDocument/2006/relationships/slide" Target="/ppt/slides/slide14.xml" Id="Rbbb7456c3fd447c1" /><Relationship Type="http://schemas.openxmlformats.org/officeDocument/2006/relationships/slide" Target="/ppt/slides/slide15.xml" Id="Re66d379099334e18" /><Relationship Type="http://schemas.openxmlformats.org/officeDocument/2006/relationships/slide" Target="/ppt/slides/slide16.xml" Id="Ra88ffe6eeeb94cc8" /><Relationship Type="http://schemas.openxmlformats.org/officeDocument/2006/relationships/slide" Target="/ppt/slides/slide17.xml" Id="R1e7a32d969d049bf" /><Relationship Type="http://schemas.openxmlformats.org/officeDocument/2006/relationships/slide" Target="/ppt/slides/slide18.xml" Id="R1f31b2bac1ba4dbd" /><Relationship Type="http://schemas.openxmlformats.org/officeDocument/2006/relationships/slide" Target="/ppt/slides/slide19.xml" Id="R4d6baebcbb5c4488" /><Relationship Type="http://schemas.openxmlformats.org/officeDocument/2006/relationships/slide" Target="/ppt/slides/slide20.xml" Id="Rbea4e1435d7049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2286aa75f54c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5b9136b1134e0c" /><Relationship Type="http://schemas.openxmlformats.org/officeDocument/2006/relationships/notesMaster" Target="/ppt/notesMasters/notesMaster1.xml" Id="R543423543c7246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ff30911fd74fec" /><Relationship Type="http://schemas.openxmlformats.org/officeDocument/2006/relationships/notesMaster" Target="/ppt/notesMasters/notesMaster1.xml" Id="R7006f87e41e54b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2041a1ace5465a" /><Relationship Type="http://schemas.openxmlformats.org/officeDocument/2006/relationships/notesMaster" Target="/ppt/notesMasters/notesMaster1.xml" Id="Rcb0f87d5141c4d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9b1463cc104ae2" /><Relationship Type="http://schemas.openxmlformats.org/officeDocument/2006/relationships/notesMaster" Target="/ppt/notesMasters/notesMaster1.xml" Id="R1e4ea3f488a847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ecbad7c908440b" /><Relationship Type="http://schemas.openxmlformats.org/officeDocument/2006/relationships/notesMaster" Target="/ppt/notesMasters/notesMaster1.xml" Id="Rfa2088bfd8fb47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eb1cb1142c4f60" /><Relationship Type="http://schemas.openxmlformats.org/officeDocument/2006/relationships/notesMaster" Target="/ppt/notesMasters/notesMaster1.xml" Id="Rd35775e8285740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13ce438b424079" /><Relationship Type="http://schemas.openxmlformats.org/officeDocument/2006/relationships/notesMaster" Target="/ppt/notesMasters/notesMaster1.xml" Id="Rce1120644d1d42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b5db81a5dd4535" /><Relationship Type="http://schemas.openxmlformats.org/officeDocument/2006/relationships/notesMaster" Target="/ppt/notesMasters/notesMaster1.xml" Id="R17d4e1c359a94b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1b4c8ee77e4f73" /><Relationship Type="http://schemas.openxmlformats.org/officeDocument/2006/relationships/notesMaster" Target="/ppt/notesMasters/notesMaster1.xml" Id="Rf972adfa51274f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6f901365114f5f" /><Relationship Type="http://schemas.openxmlformats.org/officeDocument/2006/relationships/notesMaster" Target="/ppt/notesMasters/notesMaster1.xml" Id="Recadd64c4eac4c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733e4cc2f24b77" /><Relationship Type="http://schemas.openxmlformats.org/officeDocument/2006/relationships/notesMaster" Target="/ppt/notesMasters/notesMaster1.xml" Id="R941b9d1d3f26499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76de51397eb420a" /><Relationship Type="http://schemas.openxmlformats.org/officeDocument/2006/relationships/notesMaster" Target="/ppt/notesMasters/notesMaster1.xml" Id="R9c34e4500ed948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2fbd20b66242b1" /><Relationship Type="http://schemas.openxmlformats.org/officeDocument/2006/relationships/notesMaster" Target="/ppt/notesMasters/notesMaster1.xml" Id="Rabbd10851d2b476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3c6d74fe1c648ed" /><Relationship Type="http://schemas.openxmlformats.org/officeDocument/2006/relationships/notesMaster" Target="/ppt/notesMasters/notesMaster1.xml" Id="R0e028a1c4838477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d36092ceff848a3" /><Relationship Type="http://schemas.openxmlformats.org/officeDocument/2006/relationships/notesMaster" Target="/ppt/notesMasters/notesMaster1.xml" Id="R0c46a3cdb14948b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eb73efd3f47496d" /><Relationship Type="http://schemas.openxmlformats.org/officeDocument/2006/relationships/notesMaster" Target="/ppt/notesMasters/notesMaster1.xml" Id="Rf1bc25ffba564c0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50c74f173ce4654" /><Relationship Type="http://schemas.openxmlformats.org/officeDocument/2006/relationships/notesMaster" Target="/ppt/notesMasters/notesMaster1.xml" Id="R3831dbdc1d8c40c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2eb03ff9be545c0" /><Relationship Type="http://schemas.openxmlformats.org/officeDocument/2006/relationships/notesMaster" Target="/ppt/notesMasters/notesMaster1.xml" Id="R38a655d0ee9d480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2911f7b857b4437" /><Relationship Type="http://schemas.openxmlformats.org/officeDocument/2006/relationships/notesMaster" Target="/ppt/notesMasters/notesMaster1.xml" Id="Rd0302a350fed46b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b31db6904ee4427" /><Relationship Type="http://schemas.openxmlformats.org/officeDocument/2006/relationships/notesMaster" Target="/ppt/notesMasters/notesMaster1.xml" Id="Ra38ad47d69a54f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case study examines shared kernel data in xv6 on four CPUs. Team names and roll numbers follow the supplied division document. Faculty, semester, and academic year remain blank for the department to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studies the physical-memory free list as the shared structure. The project compares original locking, a temporary four-call removal, and restoration. The activity and expected outcome follow the supplied faculty guideline.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race is a correctness defect whose outcome depends on timing among concurrent operations on shared state. The table gives a simple lost-update example. The counter is conceptual; the xv6 experiment uses the physical-page free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allocator invariant requires each free physical page to appear exactly once in the free list and never be returned to two callers at once. Violating that invariant can lose pages, corrupt memory, or crash the kernel. A race and a deadlock describe different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solution preserves the invariant by serializing the complete free-list push or pop. In the tested xv6 revision, acquire and release use atomic operations with acquire and release ordering. The experiment restores the existing lock rather than adding a new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Synchronization coordinates concurrent execution around shared data. xv6 push_off prevents same-CPU interrupt re-entry while the lock is held, and an atomic exchange provides cross-CPU ownership. Release uses ordering before the lock becomes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spinlock provides exclusive access while a CPU waits actively. A semaphore manages permits, a condition variable lets a thread wait for a predicate under a mutex, a reader-writer lock permits concurrent readers, and a barrier waits for a group phase. Atomic operations protect indivisible updates but do not automatically protect a multi-step object invariant. Only the allocator spinlock was measured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kernel/kalloc.c declares kmem.freelist and kmem.lock. kalloc acquires the lock before reading the head and advancing it. kfree acquires it before linking a page to the head. kernel/spinlock.c and spinlock.h implement initlock, acquire, release, holding, push_off, and pop_off. Source: https://github.com/mit-pdos/xv6-riscv/blob/f780d7850765d74cbdcd1fff4b822d8829f7c9bd/kernel/kalloc.c and https://github.com/mit-pdos/xv6-riscv/blob/f780d7850765d74cbdcd1fff4b822d8829f7c9bd/kernel/spinlock.c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user/race_test.c runs inside xv6 using pipe, fork, read, write, sbrk, wait, and exit. Four children start near the same time. Each allocates 32 KiB, fills each byte with a child-specific tag, waits briefly in user space, verifies the bytes, and shrinks the allocation. The parent reports PASS only if setup and child statuses succeed. No artificial delay or timing instrumentation was inserted into the kernel.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member1_tools.c is the host C runner. Its helper functions handle paths, file loading and saving, subprocess execution, checked commands, build recording, result messages, run timing, CSV rows, manifests, package creation, restoration, and replay. In the guest, user/ulib.c sbrk reaches kernel/sysproc.c sys_sbrk, kernel/proc.c growproc, kernel/vm.c uvmalloc or uvmdealloc, then kernel/kalloc.c kalloc or kfree. The command shown is a reproducible WSL sequence; the measured C-runner set was automated through run 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revision is f780d7850765d74cbdcd1fff4b822d8829f7c9bd. Environment: Ubuntu 24.04 under WSL2, QEMU 8.2.2, RISC-V GCC 13.3.0, four CPUs, and 128 MiB guest RAM. Every attempt booted a fresh guest. The host used a 30 second shell timeout and 60 seconds after starting the stress test. All attempts reached the shell and started the test. No kernel timing instrumentation was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Without kmem.lock, two CPUs can read the same free-list head P before either advances it, and both may return P. During concurrent frees, CPU 0 may link page A to old head F while CPU 1 links page B to F and overwrites the head with B, losing A. These are source-level possibilities. The logs do not identify an exact internal interleaving.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Rendered excerpt from saved original-set log A01, not a native desktop screenshot. The original locked phase had 10 PASS outcomes in 10 attempts. Full logs are in member1_completed/evidence/.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experimental variant comments out acquire and release in both kalloc() and kfree(), four calls total. The free-list operations and workload stay unchanged. Removing the calls also removes their local interrupt-handling effects when no outer lock is active, so the experiment does not isolate those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Rendered excerpt from original-set log B02. Its primary CSV category is CORRUPTION even though the same output also includes a kernel trap. The original unlocked phase had three corruption outcomes, four panic or trap outcomes, two test failures, and one timeout. Do not infer a specific instruction interleaving from this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restoration evidence shows the allocator hash check and empty final allocator diff. The final kernel was rebuilt with the original locks. In the original set, all ten restored attempts passed. This is a rendered excerpt from saved files, not a desktop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companion MP4 is a rendered walkthrough assembled from the original saved source and logs. It is not a live screen recording. The PPT and report keep the video separate from the C-runner validation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and rendered plot summarize the original dataset. The separate C-runner dataset had one corruption, six panic/trap, two test failures, and one timeout in its unlocked phase. Both datasets had ten PASS outcomes in locked and restored phases. Each attempt reached the shell and began the test. A timeout is not proof of deadlock, and elapsed time is not a benchmark. The plot is a rendered figure from saved results, not a desktop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connects a shared-data invariant to mutual exclusion. Locked and restored conditions completed all ten attempts in each dataset, while each unlocked condition produced ten non-PASS outcomes. The conclusion applies to this xv6 revision, QEMU setup, and workload. More CPU counts, allocator-specific lost-page checks, contention measurements, and other shared structures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consulted: MIT xv6 RISC-V book, locking chapter, https://mit-pdos.github.io/xv6-riscv-book/lock.html. Exact xv6 source, https://github.com/mit-pdos/xv6-riscv/tree/f780d7850765d74cbdcd1fff4b822d8829f7c9bd. POSIX synchronization, https://pubs.opengroup.org/onlinepubs/9699919799/basedefs/V1_chap04.html. Local evidence is in member1_completed/evidence/ and member1_completed/c_validation/. Assignment requirements are in 1000097330.pdf and XV6_Race_Condition_Four_Member_Division.pdf.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491d88a52949d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9e791a3984944d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dda97cc70fc4ac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890c267254845b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3cb965433784ec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9f979746d1741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8A31CE-8ACB-4414-8F3D-D867643940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E79985-8F8B-42C9-A23D-F00F493B6D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DF6530-6C22-48FC-9637-EE399CB45D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028488-5251-437B-B23D-FD9A52F421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C1EC8F8-04C7-425C-BB39-4A941C4868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28A314-4D52-44DA-ADEB-0A26EE58A8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FCE698-C3EF-4D6F-A699-F4BE2BBF4B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8F8D05-61E5-41EA-858D-EA2062EED67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459439-A18C-4B01-BDCF-72AB88C7C5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4D0F82-2DA1-4543-817F-9C1474E741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7a42dd3b374069" /><Relationship Type="http://schemas.openxmlformats.org/officeDocument/2006/relationships/slideLayout" Target="/ppt/slideLayouts/slideLayout1.xml" Id="Rd2ac036449714f7b" /><Relationship Type="http://schemas.openxmlformats.org/officeDocument/2006/relationships/slideLayout" Target="/ppt/slideLayouts/slideLayout2.xml" Id="R9012bb5e3d53450e" /><Relationship Type="http://schemas.openxmlformats.org/officeDocument/2006/relationships/slideLayout" Target="/ppt/slideLayouts/slideLayout3.xml" Id="R4551eec60d344f68" /><Relationship Type="http://schemas.openxmlformats.org/officeDocument/2006/relationships/slideLayout" Target="/ppt/slideLayouts/slideLayout4.xml" Id="Rf0197c2bcd9a4cda" /><Relationship Type="http://schemas.openxmlformats.org/officeDocument/2006/relationships/slideLayout" Target="/ppt/slideLayouts/slideLayout5.xml" Id="R18516f34c9534809" /><Relationship Type="http://schemas.openxmlformats.org/officeDocument/2006/relationships/slideLayout" Target="/ppt/slideLayouts/slideLayout6.xml" Id="R78d516c1bc604d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ac036449714f7b"/>
    <p:sldLayoutId xmlns:r="http://schemas.openxmlformats.org/officeDocument/2006/relationships" id="2147483650" r:id="R9012bb5e3d53450e"/>
    <p:sldLayoutId xmlns:r="http://schemas.openxmlformats.org/officeDocument/2006/relationships" id="2147483651" r:id="R4551eec60d344f68"/>
    <p:sldLayoutId xmlns:r="http://schemas.openxmlformats.org/officeDocument/2006/relationships" id="2147483652" r:id="Rf0197c2bcd9a4cda"/>
    <p:sldLayoutId xmlns:r="http://schemas.openxmlformats.org/officeDocument/2006/relationships" id="2147483653" r:id="R18516f34c9534809"/>
    <p:sldLayoutId xmlns:r="http://schemas.openxmlformats.org/officeDocument/2006/relationships" id="2147483654" r:id="R78d516c1bc604d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386528b8c094fd2" /><Relationship Type="http://schemas.openxmlformats.org/officeDocument/2006/relationships/notesSlide" Target="/ppt/notesSlides/notesSlide1.xml" Id="Ra0e84c84ee664a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506390340774ecd" /><Relationship Type="http://schemas.openxmlformats.org/officeDocument/2006/relationships/notesSlide" Target="/ppt/notesSlides/notesSlide2.xml" Id="Rc956216151a540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ea6fed3ea7d4030" /><Relationship Type="http://schemas.openxmlformats.org/officeDocument/2006/relationships/notesSlide" Target="/ppt/notesSlides/notesSlide3.xml" Id="R42855e09628b44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3445935e2354331" /><Relationship Type="http://schemas.openxmlformats.org/officeDocument/2006/relationships/notesSlide" Target="/ppt/notesSlides/notesSlide4.xml" Id="R0a62017752b144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e98fc4cbf374919" /><Relationship Type="http://schemas.openxmlformats.org/officeDocument/2006/relationships/notesSlide" Target="/ppt/notesSlides/notesSlide5.xml" Id="R80b2f13eb62f49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a75eeafc9c1497d" /><Relationship Type="http://schemas.openxmlformats.org/officeDocument/2006/relationships/notesSlide" Target="/ppt/notesSlides/notesSlide6.xml" Id="Re29f850f77274b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2ea1c6ed65b46f4" /><Relationship Type="http://schemas.openxmlformats.org/officeDocument/2006/relationships/notesSlide" Target="/ppt/notesSlides/notesSlide7.xml" Id="Rac74a0f7989743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1b8bc9547c742f5" /><Relationship Type="http://schemas.openxmlformats.org/officeDocument/2006/relationships/notesSlide" Target="/ppt/notesSlides/notesSlide8.xml" Id="R545073bd2d5647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a6de81a5f5b4485" /><Relationship Type="http://schemas.openxmlformats.org/officeDocument/2006/relationships/notesSlide" Target="/ppt/notesSlides/notesSlide9.xml" Id="R10d0bbeacde0461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783864b17034ca6" /><Relationship Type="http://schemas.openxmlformats.org/officeDocument/2006/relationships/notesSlide" Target="/ppt/notesSlides/notesSlide10.xml" Id="R5ed1034cfbff4a2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1e3a8370045431a" /><Relationship Type="http://schemas.openxmlformats.org/officeDocument/2006/relationships/notesSlide" Target="/ppt/notesSlides/notesSlide11.xml" Id="R3439b407c14b43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73f85f0d5aa412f" /><Relationship Type="http://schemas.openxmlformats.org/officeDocument/2006/relationships/notesSlide" Target="/ppt/notesSlides/notesSlide12.xml" Id="R09569684d79f4b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bb5048b49564373" /><Relationship Type="http://schemas.openxmlformats.org/officeDocument/2006/relationships/image" Target="/ppt/media/image.png" Id="R9f55c2254c494559" /><Relationship Type="http://schemas.openxmlformats.org/officeDocument/2006/relationships/notesSlide" Target="/ppt/notesSlides/notesSlide13.xml" Id="R1f37211b479741f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a7093b674654cba" /><Relationship Type="http://schemas.openxmlformats.org/officeDocument/2006/relationships/image" Target="/ppt/media/image2.png" Id="R4f90b75a2d244576" /><Relationship Type="http://schemas.openxmlformats.org/officeDocument/2006/relationships/notesSlide" Target="/ppt/notesSlides/notesSlide14.xml" Id="Rc85602aae553479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c9a28ab4c0e4a42" /><Relationship Type="http://schemas.openxmlformats.org/officeDocument/2006/relationships/image" Target="/ppt/media/image3.png" Id="Rb006c5001fda4bfe" /><Relationship Type="http://schemas.openxmlformats.org/officeDocument/2006/relationships/notesSlide" Target="/ppt/notesSlides/notesSlide15.xml" Id="Ra3dcd0b3a721447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8f1b43962c7456e" /><Relationship Type="http://schemas.openxmlformats.org/officeDocument/2006/relationships/image" Target="/ppt/media/image4.png" Id="Rf40062eb8bc44928" /><Relationship Type="http://schemas.openxmlformats.org/officeDocument/2006/relationships/notesSlide" Target="/ppt/notesSlides/notesSlide16.xml" Id="Rd2f44f0a4528460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6c1f09f41a54cd5" /><Relationship Type="http://schemas.openxmlformats.org/officeDocument/2006/relationships/hyperlink" Target="demo-walkthrough.mp4" TargetMode="External" Id="R8020111ad0574ac9" /><Relationship Type="http://schemas.openxmlformats.org/officeDocument/2006/relationships/notesSlide" Target="/ppt/notesSlides/notesSlide17.xml" Id="Rb5b4c2e665574d5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e4c50c54319407d" /><Relationship Type="http://schemas.openxmlformats.org/officeDocument/2006/relationships/image" Target="/ppt/media/image5.png" Id="R3ca6dd7029234af1" /><Relationship Type="http://schemas.openxmlformats.org/officeDocument/2006/relationships/notesSlide" Target="/ppt/notesSlides/notesSlide18.xml" Id="Rc06bca85a5d14dc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ab9140c8c844a93" /><Relationship Type="http://schemas.openxmlformats.org/officeDocument/2006/relationships/notesSlide" Target="/ppt/notesSlides/notesSlide19.xml" Id="R8206be2a0628488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342281da6324cac" /><Relationship Type="http://schemas.openxmlformats.org/officeDocument/2006/relationships/notesSlide" Target="/ppt/notesSlides/notesSlide20.xml" Id="Redd74e1115dc404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89A053-927B-4E5A-BF52-801D829C861A}"/>
              </a:ext>
            </a:extLst>
          </p:cNvPr>
          <p:cNvSpPr>
            <a:spLocks xmlns:a="http://schemas.openxmlformats.org/drawingml/2006/main" noGrp="1"/>
          </p:cNvSpPr>
          <p:nvPr/>
        </p:nvSpPr>
        <p:spPr>
          <a:xfrm xmlns:a="http://schemas.openxmlformats.org/drawingml/2006/main">
            <a:off x="685800" y="714375"/>
            <a:ext cx="1082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12304A"/>
                </a:solidFill>
                <a:latin typeface="Arial"/>
                <a:ea typeface="Arial"/>
                <a:cs typeface="Arial"/>
              </a:defRPr>
            </a:defPPr>
            <a:lvl1pPr>
              <a:buNone/>
              <a:defRPr sz="4200" b="1">
                <a:solidFill>
                  <a:srgbClr val="12304A"/>
                </a:solidFill>
                <a:latin typeface="Arial"/>
                <a:ea typeface="Arial"/>
                <a:cs typeface="Arial"/>
              </a:defRPr>
            </a:lvl1pPr>
            <a:lvl2pPr>
              <a:buNone/>
              <a:defRPr sz="4200" b="1">
                <a:solidFill>
                  <a:srgbClr val="12304A"/>
                </a:solidFill>
                <a:latin typeface="Arial"/>
                <a:ea typeface="Arial"/>
                <a:cs typeface="Arial"/>
              </a:defRPr>
            </a:lvl2pPr>
            <a:lvl3pPr>
              <a:buNone/>
              <a:defRPr sz="4200" b="1">
                <a:solidFill>
                  <a:srgbClr val="12304A"/>
                </a:solidFill>
                <a:latin typeface="Arial"/>
                <a:ea typeface="Arial"/>
                <a:cs typeface="Arial"/>
              </a:defRPr>
            </a:lvl3pPr>
            <a:lvl4pPr>
              <a:buNone/>
              <a:defRPr sz="4200" b="1">
                <a:solidFill>
                  <a:srgbClr val="12304A"/>
                </a:solidFill>
                <a:latin typeface="Arial"/>
                <a:ea typeface="Arial"/>
                <a:cs typeface="Arial"/>
              </a:defRPr>
            </a:lvl4pPr>
            <a:lvl5pPr>
              <a:buNone/>
              <a:defRPr sz="4200" b="1">
                <a:solidFill>
                  <a:srgbClr val="12304A"/>
                </a:solidFill>
                <a:latin typeface="Arial"/>
                <a:ea typeface="Arial"/>
                <a:cs typeface="Arial"/>
              </a:defRPr>
            </a:lvl5pPr>
            <a:lvl6pPr>
              <a:buNone/>
              <a:defRPr sz="4200" b="1">
                <a:solidFill>
                  <a:srgbClr val="12304A"/>
                </a:solidFill>
                <a:latin typeface="Arial"/>
                <a:ea typeface="Arial"/>
                <a:cs typeface="Arial"/>
              </a:defRPr>
            </a:lvl6pPr>
            <a:lvl7pPr>
              <a:buNone/>
              <a:defRPr sz="4200" b="1">
                <a:solidFill>
                  <a:srgbClr val="12304A"/>
                </a:solidFill>
                <a:latin typeface="Arial"/>
                <a:ea typeface="Arial"/>
                <a:cs typeface="Arial"/>
              </a:defRPr>
            </a:lvl7pPr>
            <a:lvl8pPr>
              <a:buNone/>
              <a:defRPr sz="4200" b="1">
                <a:solidFill>
                  <a:srgbClr val="12304A"/>
                </a:solidFill>
                <a:latin typeface="Arial"/>
                <a:ea typeface="Arial"/>
                <a:cs typeface="Arial"/>
              </a:defRPr>
            </a:lvl8pPr>
            <a:lvl9pPr>
              <a:buNone/>
              <a:defRPr sz="4200" b="1">
                <a:solidFill>
                  <a:srgbClr val="12304A"/>
                </a:solidFill>
                <a:latin typeface="Arial"/>
                <a:ea typeface="Arial"/>
                <a:cs typeface="Arial"/>
              </a:defRPr>
            </a:lvl9pPr>
          </a:lstStyle>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Case Study 14</a:t>
            </a:r>
          </a:p>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Race Condition in XV6 Shared Data</a:t>
            </a:r>
          </a:p>
        </p:txBody>
      </p:sp>
      <p:sp>
        <p:nvSpPr>
          <p:cNvPr id="3" name="">
            <a:extLst xmlns:a="http://schemas.openxmlformats.org/drawingml/2006/main">
              <a:ext uri="{FF2B5EF4-FFF2-40B4-BE49-F238E27FC236}">
                <a16:creationId xmlns:a16="http://schemas.microsoft.com/office/drawing/2014/main" id="{7F7A529B-BDE3-4993-A1EE-70800642122D}"/>
              </a:ext>
            </a:extLst>
          </p:cNvPr>
          <p:cNvSpPr>
            <a:spLocks xmlns:a="http://schemas.openxmlformats.org/drawingml/2006/main" noGrp="1"/>
          </p:cNvSpPr>
          <p:nvPr/>
        </p:nvSpPr>
        <p:spPr>
          <a:xfrm xmlns:a="http://schemas.openxmlformats.org/drawingml/2006/main">
            <a:off x="685800" y="2476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Operating Systems | Department of CSE</a:t>
            </a:r>
          </a:p>
        </p:txBody>
      </p:sp>
      <p:sp>
        <p:nvSpPr>
          <p:cNvPr id="4" name="">
            <a:extLst xmlns:a="http://schemas.openxmlformats.org/drawingml/2006/main">
              <a:ext uri="{FF2B5EF4-FFF2-40B4-BE49-F238E27FC236}">
                <a16:creationId xmlns:a16="http://schemas.microsoft.com/office/drawing/2014/main" id="{5D5E119D-2285-42D9-8FFA-97E96F8B342D}"/>
              </a:ext>
            </a:extLst>
          </p:cNvPr>
          <p:cNvSpPr>
            <a:spLocks xmlns:a="http://schemas.openxmlformats.org/drawingml/2006/main" noGrp="1"/>
          </p:cNvSpPr>
          <p:nvPr/>
        </p:nvSpPr>
        <p:spPr>
          <a:xfrm xmlns:a="http://schemas.openxmlformats.org/drawingml/2006/main">
            <a:off x="685800" y="33051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L Nithish Kumar Goud    |    160124733327</a:t>
            </a:r>
          </a:p>
        </p:txBody>
      </p:sp>
      <p:sp>
        <p:nvSpPr>
          <p:cNvPr id="5" name="">
            <a:extLst xmlns:a="http://schemas.openxmlformats.org/drawingml/2006/main">
              <a:ext uri="{FF2B5EF4-FFF2-40B4-BE49-F238E27FC236}">
                <a16:creationId xmlns:a16="http://schemas.microsoft.com/office/drawing/2014/main" id="{D88E46B0-CB0D-40C7-BB3E-22F1C74BBABC}"/>
              </a:ext>
            </a:extLst>
          </p:cNvPr>
          <p:cNvSpPr>
            <a:spLocks xmlns:a="http://schemas.openxmlformats.org/drawingml/2006/main" noGrp="1"/>
          </p:cNvSpPr>
          <p:nvPr/>
        </p:nvSpPr>
        <p:spPr>
          <a:xfrm xmlns:a="http://schemas.openxmlformats.org/drawingml/2006/main">
            <a:off x="685800" y="38100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G Ishan    |    160124733322</a:t>
            </a:r>
          </a:p>
        </p:txBody>
      </p:sp>
      <p:sp>
        <p:nvSpPr>
          <p:cNvPr id="6" name="">
            <a:extLst xmlns:a="http://schemas.openxmlformats.org/drawingml/2006/main">
              <a:ext uri="{FF2B5EF4-FFF2-40B4-BE49-F238E27FC236}">
                <a16:creationId xmlns:a16="http://schemas.microsoft.com/office/drawing/2014/main" id="{73DB42CD-4A82-43E7-B403-DB0D865A4A00}"/>
              </a:ext>
            </a:extLst>
          </p:cNvPr>
          <p:cNvSpPr>
            <a:spLocks xmlns:a="http://schemas.openxmlformats.org/drawingml/2006/main" noGrp="1"/>
          </p:cNvSpPr>
          <p:nvPr/>
        </p:nvSpPr>
        <p:spPr>
          <a:xfrm xmlns:a="http://schemas.openxmlformats.org/drawingml/2006/main">
            <a:off x="685800" y="43148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Santhosh    |    160124733332</a:t>
            </a:r>
          </a:p>
        </p:txBody>
      </p:sp>
      <p:sp>
        <p:nvSpPr>
          <p:cNvPr id="7" name="">
            <a:extLst xmlns:a="http://schemas.openxmlformats.org/drawingml/2006/main">
              <a:ext uri="{FF2B5EF4-FFF2-40B4-BE49-F238E27FC236}">
                <a16:creationId xmlns:a16="http://schemas.microsoft.com/office/drawing/2014/main" id="{19986037-B90D-482A-8A2B-E70D9ADD3378}"/>
              </a:ext>
            </a:extLst>
          </p:cNvPr>
          <p:cNvSpPr>
            <a:spLocks xmlns:a="http://schemas.openxmlformats.org/drawingml/2006/main" noGrp="1"/>
          </p:cNvSpPr>
          <p:nvPr/>
        </p:nvSpPr>
        <p:spPr>
          <a:xfrm xmlns:a="http://schemas.openxmlformats.org/drawingml/2006/main">
            <a:off x="685800" y="4819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Venkat    |    160124733340</a:t>
            </a:r>
          </a:p>
        </p:txBody>
      </p:sp>
      <p:sp>
        <p:nvSpPr>
          <p:cNvPr id="8" name="">
            <a:extLst xmlns:a="http://schemas.openxmlformats.org/drawingml/2006/main">
              <a:ext uri="{FF2B5EF4-FFF2-40B4-BE49-F238E27FC236}">
                <a16:creationId xmlns:a16="http://schemas.microsoft.com/office/drawing/2014/main" id="{CE952358-3CB2-416F-A56E-19E8C1919394}"/>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570"/>
                </a:solidFill>
                <a:latin typeface="Arial"/>
                <a:ea typeface="Arial"/>
                <a:cs typeface="Arial"/>
              </a:defRPr>
            </a:defPPr>
            <a:lvl1pPr>
              <a:buNone/>
              <a:defRPr sz="1725" b="0">
                <a:solidFill>
                  <a:srgbClr val="596570"/>
                </a:solidFill>
                <a:latin typeface="Arial"/>
                <a:ea typeface="Arial"/>
                <a:cs typeface="Arial"/>
              </a:defRPr>
            </a:lvl1pPr>
            <a:lvl2pPr>
              <a:buNone/>
              <a:defRPr sz="1725" b="0">
                <a:solidFill>
                  <a:srgbClr val="596570"/>
                </a:solidFill>
                <a:latin typeface="Arial"/>
                <a:ea typeface="Arial"/>
                <a:cs typeface="Arial"/>
              </a:defRPr>
            </a:lvl2pPr>
            <a:lvl3pPr>
              <a:buNone/>
              <a:defRPr sz="1725" b="0">
                <a:solidFill>
                  <a:srgbClr val="596570"/>
                </a:solidFill>
                <a:latin typeface="Arial"/>
                <a:ea typeface="Arial"/>
                <a:cs typeface="Arial"/>
              </a:defRPr>
            </a:lvl3pPr>
            <a:lvl4pPr>
              <a:buNone/>
              <a:defRPr sz="1725" b="0">
                <a:solidFill>
                  <a:srgbClr val="596570"/>
                </a:solidFill>
                <a:latin typeface="Arial"/>
                <a:ea typeface="Arial"/>
                <a:cs typeface="Arial"/>
              </a:defRPr>
            </a:lvl4pPr>
            <a:lvl5pPr>
              <a:buNone/>
              <a:defRPr sz="1725" b="0">
                <a:solidFill>
                  <a:srgbClr val="596570"/>
                </a:solidFill>
                <a:latin typeface="Arial"/>
                <a:ea typeface="Arial"/>
                <a:cs typeface="Arial"/>
              </a:defRPr>
            </a:lvl5pPr>
            <a:lvl6pPr>
              <a:buNone/>
              <a:defRPr sz="1725" b="0">
                <a:solidFill>
                  <a:srgbClr val="596570"/>
                </a:solidFill>
                <a:latin typeface="Arial"/>
                <a:ea typeface="Arial"/>
                <a:cs typeface="Arial"/>
              </a:defRPr>
            </a:lvl6pPr>
            <a:lvl7pPr>
              <a:buNone/>
              <a:defRPr sz="1725" b="0">
                <a:solidFill>
                  <a:srgbClr val="596570"/>
                </a:solidFill>
                <a:latin typeface="Arial"/>
                <a:ea typeface="Arial"/>
                <a:cs typeface="Arial"/>
              </a:defRPr>
            </a:lvl7pPr>
            <a:lvl8pPr>
              <a:buNone/>
              <a:defRPr sz="1725" b="0">
                <a:solidFill>
                  <a:srgbClr val="596570"/>
                </a:solidFill>
                <a:latin typeface="Arial"/>
                <a:ea typeface="Arial"/>
                <a:cs typeface="Arial"/>
              </a:defRPr>
            </a:lvl8pPr>
            <a:lvl9pPr>
              <a:buNone/>
              <a:defRPr sz="1725" b="0">
                <a:solidFill>
                  <a:srgbClr val="596570"/>
                </a:solidFill>
                <a:latin typeface="Arial"/>
                <a:ea typeface="Arial"/>
                <a:cs typeface="Arial"/>
              </a:defRPr>
            </a:lvl9pPr>
          </a:lstStyle>
          <a:p xmlns:a="http://schemas.openxmlformats.org/drawingml/2006/main">
            <a:pPr>
              <a:buNone/>
              <a:defRPr sz="1725" b="0">
                <a:solidFill>
                  <a:srgbClr val="596570"/>
                </a:solidFill>
                <a:latin typeface="Arial"/>
                <a:ea typeface="Arial"/>
                <a:cs typeface="Arial"/>
              </a:defRPr>
            </a:pPr>
            <a:r>
              <a:rPr sz="1725" b="0">
                <a:solidFill>
                  <a:srgbClr val="596570"/>
                </a:solidFill>
                <a:latin typeface="Arial"/>
                <a:ea typeface="Arial"/>
                <a:cs typeface="Arial"/>
              </a:rPr>
              <a:t>Chaitanya Bharathi Institute of Technology | Faculty / semester / year: __________</a:t>
            </a:r>
          </a:p>
        </p:txBody>
      </p:sp>
    </p:spTree>
    <p:extLst>
      <p:ext uri="{BB962C8B-B14F-4D97-AF65-F5344CB8AC3E}">
        <p14:creationId xmlns:p14="http://schemas.microsoft.com/office/powerpoint/2010/main" val="10239692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A34F78F-6792-4AE7-B7AA-C65361E2330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Case Study 14: Required scope</a:t>
            </a:r>
          </a:p>
        </p:txBody>
      </p:sp>
      <p:sp>
        <p:nvSpPr>
          <p:cNvPr id="3" name="">
            <a:extLst xmlns:a="http://schemas.openxmlformats.org/drawingml/2006/main">
              <a:ext uri="{FF2B5EF4-FFF2-40B4-BE49-F238E27FC236}">
                <a16:creationId xmlns:a16="http://schemas.microsoft.com/office/drawing/2014/main" id="{6F58C121-A4D5-47B0-BF78-C31743EDE466}"/>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AF2CBAA-BCD6-4E79-8F9F-D52ED325633E}"/>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Problem Statement: Study how race conditions can occur when multiple processes or CPUs access shared kernel data without proper synchronization.</a:t>
            </a:r>
          </a:p>
        </p:txBody>
      </p:sp>
      <p:sp>
        <p:nvSpPr>
          <p:cNvPr id="5" name="">
            <a:extLst xmlns:a="http://schemas.openxmlformats.org/drawingml/2006/main">
              <a:ext uri="{FF2B5EF4-FFF2-40B4-BE49-F238E27FC236}">
                <a16:creationId xmlns:a16="http://schemas.microsoft.com/office/drawing/2014/main" id="{89DA101C-1BDB-4A4A-B9C3-44DF7E6FD607}"/>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Analyse how XV6 prevents inconsistent updates using locking mechanisms.</a:t>
            </a:r>
          </a:p>
        </p:txBody>
      </p:sp>
      <p:sp>
        <p:nvSpPr>
          <p:cNvPr id="6" name="">
            <a:extLst xmlns:a="http://schemas.openxmlformats.org/drawingml/2006/main">
              <a:ext uri="{FF2B5EF4-FFF2-40B4-BE49-F238E27FC236}">
                <a16:creationId xmlns:a16="http://schemas.microsoft.com/office/drawing/2014/main" id="{B2A32FAD-28D8-4F20-AE8E-FBC84E11218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Objectives: understand races and critical sections, identify shared data, explain mutual exclusion, observe concurrent updates, and explain how locks preserve consistency.</a:t>
            </a:r>
          </a:p>
        </p:txBody>
      </p:sp>
      <p:sp>
        <p:nvSpPr>
          <p:cNvPr id="7" name="">
            <a:extLst xmlns:a="http://schemas.openxmlformats.org/drawingml/2006/main">
              <a:ext uri="{FF2B5EF4-FFF2-40B4-BE49-F238E27FC236}">
                <a16:creationId xmlns:a16="http://schemas.microsoft.com/office/drawing/2014/main" id="{E1813C86-3005-4FEE-A1A9-77DCD54F0438}"/>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Activities: inspect the free list and its lock, reason about lock removal, record possible two-CPU outcomes, then restore locking and compare. Expected outcome: explain safe shared-data access.</a:t>
            </a:r>
          </a:p>
        </p:txBody>
      </p:sp>
    </p:spTree>
    <p:extLst>
      <p:ext uri="{BB962C8B-B14F-4D97-AF65-F5344CB8AC3E}">
        <p14:creationId xmlns:p14="http://schemas.microsoft.com/office/powerpoint/2010/main" val="6266558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E5BEE2-CD71-45B7-BF3A-99C512E8AF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 What is a race condition?</a:t>
            </a:r>
          </a:p>
        </p:txBody>
      </p:sp>
      <p:sp>
        <p:nvSpPr>
          <p:cNvPr id="3" name="">
            <a:extLst xmlns:a="http://schemas.openxmlformats.org/drawingml/2006/main">
              <a:ext uri="{FF2B5EF4-FFF2-40B4-BE49-F238E27FC236}">
                <a16:creationId xmlns:a16="http://schemas.microsoft.com/office/drawing/2014/main" id="{B0BC173B-6C18-4BF2-92E7-E953DD0AEB3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57D2842E-ECB9-490E-8111-0FECAFBE1C58}"/>
              </a:ext>
            </a:extLst>
          </p:cNvPr>
          <p:cNvSpPr>
            <a:spLocks xmlns:a="http://schemas.openxmlformats.org/drawingml/2006/main" noGrp="1"/>
          </p:cNvSpPr>
          <p:nvPr/>
        </p:nvSpPr>
        <p:spPr>
          <a:xfrm xmlns:a="http://schemas.openxmlformats.org/drawingml/2006/main">
            <a:off x="685800" y="13335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Race: correctness depends on timing of shared-data operations.</a:t>
            </a:r>
          </a:p>
        </p:txBody>
      </p:sp>
      <p:sp>
        <p:nvSpPr>
          <p:cNvPr id="5" name="">
            <a:extLst xmlns:a="http://schemas.openxmlformats.org/drawingml/2006/main">
              <a:ext uri="{FF2B5EF4-FFF2-40B4-BE49-F238E27FC236}">
                <a16:creationId xmlns:a16="http://schemas.microsoft.com/office/drawing/2014/main" id="{65F80E4D-397D-49B2-928A-4C14F2172D69}"/>
              </a:ext>
            </a:extLst>
          </p:cNvPr>
          <p:cNvSpPr>
            <a:spLocks xmlns:a="http://schemas.openxmlformats.org/drawingml/2006/main" noGrp="1"/>
          </p:cNvSpPr>
          <p:nvPr/>
        </p:nvSpPr>
        <p:spPr>
          <a:xfrm xmlns:a="http://schemas.openxmlformats.org/drawingml/2006/main">
            <a:off x="685800" y="19526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An increment reads, modifies, then writes shared state.</a:t>
            </a:r>
          </a:p>
        </p:txBody>
      </p:sp>
      <p:sp>
        <p:nvSpPr>
          <p:cNvPr id="6" name="">
            <a:extLst xmlns:a="http://schemas.openxmlformats.org/drawingml/2006/main">
              <a:ext uri="{FF2B5EF4-FFF2-40B4-BE49-F238E27FC236}">
                <a16:creationId xmlns:a16="http://schemas.microsoft.com/office/drawing/2014/main" id="{52614E87-87C0-458B-AFBE-78F40B002DA1}"/>
              </a:ext>
            </a:extLst>
          </p:cNvPr>
          <p:cNvSpPr>
            <a:spLocks xmlns:a="http://schemas.openxmlformats.org/drawingml/2006/main" noGrp="1"/>
          </p:cNvSpPr>
          <p:nvPr/>
        </p:nvSpPr>
        <p:spPr>
          <a:xfrm xmlns:a="http://schemas.openxmlformats.org/drawingml/2006/main">
            <a:off x="685800" y="28194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1. Two increments can lose one update</a:t>
            </a:r>
          </a:p>
        </p:txBody>
      </p:sp>
      <p:graphicFrame>
        <p:nvGraphicFramePr>
          <p:cNvPr id="7" name="">
            <a:extLst xmlns:a="http://schemas.openxmlformats.org/drawingml/2006/main">
              <a:ext uri="{FF2B5EF4-FFF2-40B4-BE49-F238E27FC236}">
                <a16:creationId xmlns:a16="http://schemas.microsoft.com/office/drawing/2014/main" id="{07F94278-B1BC-478A-B86F-2E113F37D29E}"/>
              </a:ext>
            </a:extLst>
          </p:cNvPr>
          <p:cNvGraphicFramePr/>
          <p:nvPr/>
        </p:nvGraphicFramePr>
        <p:xfrm>
          <a:off xmlns:a="http://schemas.openxmlformats.org/drawingml/2006/main" x="685800" y="3305175"/>
          <a:ext xmlns:a="http://schemas.openxmlformats.org/drawingml/2006/main" cx="10820400" cy="2076450"/>
        </p:xfrm>
        <a:graphic xmlns:a="http://schemas.openxmlformats.org/drawingml/2006/main">
          <a:graphicData uri="http://schemas.openxmlformats.org/drawingml/2006/table">
            <a:tbl>
              <a:tblPr/>
              <a:tblGrid>
                <a:gridCol w="1428750"/>
                <a:gridCol w="4695825"/>
                <a:gridCol w="4695825"/>
              </a:tblGrid>
              <a:tr h="519113">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Activity A</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Activity B</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19113">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0</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0</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Compute 1</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Compute 1</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Store 1</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Store 1</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B863C70-A864-40A6-94F8-FB7C27CB742D}"/>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Both CPUs read 0 and write 1, so the result is 1 instead of 2.</a:t>
            </a:r>
          </a:p>
        </p:txBody>
      </p:sp>
    </p:spTree>
    <p:extLst>
      <p:ext uri="{BB962C8B-B14F-4D97-AF65-F5344CB8AC3E}">
        <p14:creationId xmlns:p14="http://schemas.microsoft.com/office/powerpoint/2010/main" val="2104317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DA95FA4-7622-4CBB-A05C-1E5DDD4AF65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2. Problems generated by race conditions</a:t>
            </a:r>
          </a:p>
        </p:txBody>
      </p:sp>
      <p:sp>
        <p:nvSpPr>
          <p:cNvPr id="3" name="">
            <a:extLst xmlns:a="http://schemas.openxmlformats.org/drawingml/2006/main">
              <a:ext uri="{FF2B5EF4-FFF2-40B4-BE49-F238E27FC236}">
                <a16:creationId xmlns:a16="http://schemas.microsoft.com/office/drawing/2014/main" id="{AB8D5145-6090-433B-8E85-A8B61EA0B26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FD05BAEC-FA21-4EA2-9E6A-8A754BBFCBC6}"/>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 lost head update can remove a free page from the list.</a:t>
            </a:r>
          </a:p>
        </p:txBody>
      </p:sp>
      <p:sp>
        <p:nvSpPr>
          <p:cNvPr id="5" name="">
            <a:extLst xmlns:a="http://schemas.openxmlformats.org/drawingml/2006/main">
              <a:ext uri="{FF2B5EF4-FFF2-40B4-BE49-F238E27FC236}">
                <a16:creationId xmlns:a16="http://schemas.microsoft.com/office/drawing/2014/main" id="{5500572F-F0F3-403B-9C0B-656AF21CE5F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Two allocators may both return the same physical page.</a:t>
            </a:r>
          </a:p>
        </p:txBody>
      </p:sp>
      <p:sp>
        <p:nvSpPr>
          <p:cNvPr id="6" name="">
            <a:extLst xmlns:a="http://schemas.openxmlformats.org/drawingml/2006/main">
              <a:ext uri="{FF2B5EF4-FFF2-40B4-BE49-F238E27FC236}">
                <a16:creationId xmlns:a16="http://schemas.microsoft.com/office/drawing/2014/main" id="{96F4229A-AB58-4E2A-B7E6-601EB9998767}"/>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Broken links can cause allocator corruption, failures, or kernel traps.</a:t>
            </a:r>
          </a:p>
        </p:txBody>
      </p:sp>
      <p:sp>
        <p:nvSpPr>
          <p:cNvPr id="7" name="">
            <a:extLst xmlns:a="http://schemas.openxmlformats.org/drawingml/2006/main">
              <a:ext uri="{FF2B5EF4-FFF2-40B4-BE49-F238E27FC236}">
                <a16:creationId xmlns:a16="http://schemas.microsoft.com/office/drawing/2014/main" id="{2053CCAC-2354-4F2C-8AC0-2A4DEB5C1DD7}"/>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Shared-state errors can spread into unrelated processes and kernel work.</a:t>
            </a:r>
          </a:p>
        </p:txBody>
      </p:sp>
      <p:sp>
        <p:nvSpPr>
          <p:cNvPr id="8" name="">
            <a:extLst xmlns:a="http://schemas.openxmlformats.org/drawingml/2006/main">
              <a:ext uri="{FF2B5EF4-FFF2-40B4-BE49-F238E27FC236}">
                <a16:creationId xmlns:a16="http://schemas.microsoft.com/office/drawing/2014/main" id="{6427B26D-5D72-4B87-B4AC-406E09A9E28B}"/>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Timeout is an observation, not a deadlock diagnosis.</a:t>
            </a:r>
          </a:p>
        </p:txBody>
      </p:sp>
    </p:spTree>
    <p:extLst>
      <p:ext uri="{BB962C8B-B14F-4D97-AF65-F5344CB8AC3E}">
        <p14:creationId xmlns:p14="http://schemas.microsoft.com/office/powerpoint/2010/main" val="7563164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963474-6AA7-4166-BF45-FBFBFE0A9C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3. How can race conditions be solved?</a:t>
            </a:r>
          </a:p>
        </p:txBody>
      </p:sp>
      <p:sp>
        <p:nvSpPr>
          <p:cNvPr id="3" name="">
            <a:extLst xmlns:a="http://schemas.openxmlformats.org/drawingml/2006/main">
              <a:ext uri="{FF2B5EF4-FFF2-40B4-BE49-F238E27FC236}">
                <a16:creationId xmlns:a16="http://schemas.microsoft.com/office/drawing/2014/main" id="{E6656C00-60F6-4AB7-95F8-126C7359E408}"/>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AB2228CB-F130-493B-8AE0-0C12BE180D6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Protect every shared update with the lock associated with that data.</a:t>
            </a:r>
          </a:p>
        </p:txBody>
      </p:sp>
      <p:sp>
        <p:nvSpPr>
          <p:cNvPr id="5" name="">
            <a:extLst xmlns:a="http://schemas.openxmlformats.org/drawingml/2006/main">
              <a:ext uri="{FF2B5EF4-FFF2-40B4-BE49-F238E27FC236}">
                <a16:creationId xmlns:a16="http://schemas.microsoft.com/office/drawing/2014/main" id="{DADF8EBD-65B1-4E65-A605-DE8815635913}"/>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Include dependent reads and writes in the same critical section.</a:t>
            </a:r>
          </a:p>
        </p:txBody>
      </p:sp>
      <p:sp>
        <p:nvSpPr>
          <p:cNvPr id="6" name="">
            <a:extLst xmlns:a="http://schemas.openxmlformats.org/drawingml/2006/main">
              <a:ext uri="{FF2B5EF4-FFF2-40B4-BE49-F238E27FC236}">
                <a16:creationId xmlns:a16="http://schemas.microsoft.com/office/drawing/2014/main" id="{B1E07357-C1C8-4D3B-BBDE-AE33CBF1257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Use atomic lock ownership with acquire and release ordering.</a:t>
            </a:r>
          </a:p>
        </p:txBody>
      </p:sp>
      <p:sp>
        <p:nvSpPr>
          <p:cNvPr id="7" name="">
            <a:extLst xmlns:a="http://schemas.openxmlformats.org/drawingml/2006/main">
              <a:ext uri="{FF2B5EF4-FFF2-40B4-BE49-F238E27FC236}">
                <a16:creationId xmlns:a16="http://schemas.microsoft.com/office/drawing/2014/main" id="{B1EBF793-FD28-4C1A-8F08-604BC644A4BE}"/>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Keep the protected section short and use one locking discipline.</a:t>
            </a:r>
          </a:p>
        </p:txBody>
      </p:sp>
      <p:sp>
        <p:nvSpPr>
          <p:cNvPr id="8" name="">
            <a:extLst xmlns:a="http://schemas.openxmlformats.org/drawingml/2006/main">
              <a:ext uri="{FF2B5EF4-FFF2-40B4-BE49-F238E27FC236}">
                <a16:creationId xmlns:a16="http://schemas.microsoft.com/office/drawing/2014/main" id="{E0716FFF-4028-4316-B08D-64F03182B9D3}"/>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xv6 allocator already uses kmem.lock; this study restores it.</a:t>
            </a:r>
          </a:p>
        </p:txBody>
      </p:sp>
    </p:spTree>
    <p:extLst>
      <p:ext uri="{BB962C8B-B14F-4D97-AF65-F5344CB8AC3E}">
        <p14:creationId xmlns:p14="http://schemas.microsoft.com/office/powerpoint/2010/main" val="11413415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BBE08D7-BB06-496C-A25E-9E82F7F62EF0}"/>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4. What is synchronization?</a:t>
            </a:r>
          </a:p>
        </p:txBody>
      </p:sp>
      <p:sp>
        <p:nvSpPr>
          <p:cNvPr id="3" name="">
            <a:extLst xmlns:a="http://schemas.openxmlformats.org/drawingml/2006/main">
              <a:ext uri="{FF2B5EF4-FFF2-40B4-BE49-F238E27FC236}">
                <a16:creationId xmlns:a16="http://schemas.microsoft.com/office/drawing/2014/main" id="{66E19EEF-5AF9-46E5-A6F4-F77A798F4F9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C909577E-84B1-42EB-A73F-D15786A5D5BE}"/>
              </a:ext>
            </a:extLst>
          </p:cNvPr>
          <p:cNvSpPr>
            <a:spLocks xmlns:a="http://schemas.openxmlformats.org/drawingml/2006/main" noGrp="1"/>
          </p:cNvSpPr>
          <p:nvPr/>
        </p:nvSpPr>
        <p:spPr>
          <a:xfrm xmlns:a="http://schemas.openxmlformats.org/drawingml/2006/main">
            <a:off x="685800" y="15811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Synchronization coordinates concurrent work so shared-state rules stay valid.</a:t>
            </a:r>
          </a:p>
        </p:txBody>
      </p:sp>
      <p:sp>
        <p:nvSpPr>
          <p:cNvPr id="5" name="">
            <a:extLst xmlns:a="http://schemas.openxmlformats.org/drawingml/2006/main">
              <a:ext uri="{FF2B5EF4-FFF2-40B4-BE49-F238E27FC236}">
                <a16:creationId xmlns:a16="http://schemas.microsoft.com/office/drawing/2014/main" id="{8CD26782-4834-4EBB-8808-786402413526}"/>
              </a:ext>
            </a:extLst>
          </p:cNvPr>
          <p:cNvSpPr>
            <a:spLocks xmlns:a="http://schemas.openxmlformats.org/drawingml/2006/main" noGrp="1"/>
          </p:cNvSpPr>
          <p:nvPr/>
        </p:nvSpPr>
        <p:spPr>
          <a:xfrm xmlns:a="http://schemas.openxmlformats.org/drawingml/2006/main">
            <a:off x="685800" y="25812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Acquire: push_off() then atomic exchange for lock ownership.</a:t>
            </a:r>
          </a:p>
        </p:txBody>
      </p:sp>
      <p:sp>
        <p:nvSpPr>
          <p:cNvPr id="6" name="">
            <a:extLst xmlns:a="http://schemas.openxmlformats.org/drawingml/2006/main">
              <a:ext uri="{FF2B5EF4-FFF2-40B4-BE49-F238E27FC236}">
                <a16:creationId xmlns:a16="http://schemas.microsoft.com/office/drawing/2014/main" id="{3EACF1AF-03B5-46A3-AEBE-CB69771B7586}"/>
              </a:ext>
            </a:extLst>
          </p:cNvPr>
          <p:cNvSpPr>
            <a:spLocks xmlns:a="http://schemas.openxmlformats.org/drawingml/2006/main" noGrp="1"/>
          </p:cNvSpPr>
          <p:nvPr/>
        </p:nvSpPr>
        <p:spPr>
          <a:xfrm xmlns:a="http://schemas.openxmlformats.org/drawingml/2006/main">
            <a:off x="685800" y="35814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2A"/>
                </a:solidFill>
                <a:latin typeface="Arial"/>
                <a:ea typeface="Arial"/>
                <a:cs typeface="Arial"/>
              </a:defRPr>
            </a:defPPr>
            <a:lvl1pPr>
              <a:buNone/>
              <a:defRPr sz="2250" b="1">
                <a:solidFill>
                  <a:srgbClr val="17202A"/>
                </a:solidFill>
                <a:latin typeface="Arial"/>
                <a:ea typeface="Arial"/>
                <a:cs typeface="Arial"/>
              </a:defRPr>
            </a:lvl1pPr>
            <a:lvl2pPr>
              <a:buNone/>
              <a:defRPr sz="2250" b="1">
                <a:solidFill>
                  <a:srgbClr val="17202A"/>
                </a:solidFill>
                <a:latin typeface="Arial"/>
                <a:ea typeface="Arial"/>
                <a:cs typeface="Arial"/>
              </a:defRPr>
            </a:lvl2pPr>
            <a:lvl3pPr>
              <a:buNone/>
              <a:defRPr sz="2250" b="1">
                <a:solidFill>
                  <a:srgbClr val="17202A"/>
                </a:solidFill>
                <a:latin typeface="Arial"/>
                <a:ea typeface="Arial"/>
                <a:cs typeface="Arial"/>
              </a:defRPr>
            </a:lvl3pPr>
            <a:lvl4pPr>
              <a:buNone/>
              <a:defRPr sz="2250" b="1">
                <a:solidFill>
                  <a:srgbClr val="17202A"/>
                </a:solidFill>
                <a:latin typeface="Arial"/>
                <a:ea typeface="Arial"/>
                <a:cs typeface="Arial"/>
              </a:defRPr>
            </a:lvl4pPr>
            <a:lvl5pPr>
              <a:buNone/>
              <a:defRPr sz="2250" b="1">
                <a:solidFill>
                  <a:srgbClr val="17202A"/>
                </a:solidFill>
                <a:latin typeface="Arial"/>
                <a:ea typeface="Arial"/>
                <a:cs typeface="Arial"/>
              </a:defRPr>
            </a:lvl5pPr>
            <a:lvl6pPr>
              <a:buNone/>
              <a:defRPr sz="2250" b="1">
                <a:solidFill>
                  <a:srgbClr val="17202A"/>
                </a:solidFill>
                <a:latin typeface="Arial"/>
                <a:ea typeface="Arial"/>
                <a:cs typeface="Arial"/>
              </a:defRPr>
            </a:lvl6pPr>
            <a:lvl7pPr>
              <a:buNone/>
              <a:defRPr sz="2250" b="1">
                <a:solidFill>
                  <a:srgbClr val="17202A"/>
                </a:solidFill>
                <a:latin typeface="Arial"/>
                <a:ea typeface="Arial"/>
                <a:cs typeface="Arial"/>
              </a:defRPr>
            </a:lvl7pPr>
            <a:lvl8pPr>
              <a:buNone/>
              <a:defRPr sz="2250" b="1">
                <a:solidFill>
                  <a:srgbClr val="17202A"/>
                </a:solidFill>
                <a:latin typeface="Arial"/>
                <a:ea typeface="Arial"/>
                <a:cs typeface="Arial"/>
              </a:defRPr>
            </a:lvl8pPr>
            <a:lvl9pPr>
              <a:buNone/>
              <a:defRPr sz="2250" b="1">
                <a:solidFill>
                  <a:srgbClr val="17202A"/>
                </a:solidFill>
                <a:latin typeface="Arial"/>
                <a:ea typeface="Arial"/>
                <a:cs typeface="Arial"/>
              </a:defRPr>
            </a:lvl9pPr>
          </a:lstStyle>
          <a:p xmlns:a="http://schemas.openxmlformats.org/drawingml/2006/main">
            <a:pPr>
              <a:buNone/>
              <a:defRPr sz="2250" b="1">
                <a:solidFill>
                  <a:srgbClr val="17202A"/>
                </a:solidFill>
                <a:latin typeface="Arial"/>
                <a:ea typeface="Arial"/>
                <a:cs typeface="Arial"/>
              </a:defRPr>
            </a:pPr>
            <a:r>
              <a:rPr sz="2250" b="1">
                <a:solidFill>
                  <a:srgbClr val="17202A"/>
                </a:solidFill>
                <a:latin typeface="Arial"/>
                <a:ea typeface="Arial"/>
                <a:cs typeface="Arial"/>
              </a:rPr>
              <a:t>Critical section: read or update the free-list head and links.</a:t>
            </a:r>
          </a:p>
        </p:txBody>
      </p:sp>
      <p:sp>
        <p:nvSpPr>
          <p:cNvPr id="7" name="">
            <a:extLst xmlns:a="http://schemas.openxmlformats.org/drawingml/2006/main">
              <a:ext uri="{FF2B5EF4-FFF2-40B4-BE49-F238E27FC236}">
                <a16:creationId xmlns:a16="http://schemas.microsoft.com/office/drawing/2014/main" id="{27C6FD6C-805D-49A9-80C0-1F85C468450B}"/>
              </a:ext>
            </a:extLst>
          </p:cNvPr>
          <p:cNvSpPr>
            <a:spLocks xmlns:a="http://schemas.openxmlformats.org/drawingml/2006/main" noGrp="1"/>
          </p:cNvSpPr>
          <p:nvPr/>
        </p:nvSpPr>
        <p:spPr>
          <a:xfrm xmlns:a="http://schemas.openxmlformats.org/drawingml/2006/main">
            <a:off x="685800" y="45815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Release: publish updates, release the lock, restore interrupt state.</a:t>
            </a:r>
          </a:p>
        </p:txBody>
      </p:sp>
      <p:sp>
        <p:nvSpPr>
          <p:cNvPr id="8" name="">
            <a:extLst xmlns:a="http://schemas.openxmlformats.org/drawingml/2006/main">
              <a:ext uri="{FF2B5EF4-FFF2-40B4-BE49-F238E27FC236}">
                <a16:creationId xmlns:a16="http://schemas.microsoft.com/office/drawing/2014/main" id="{53BDF668-543A-48A8-93A1-3B06576BF83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Disabling local interrupts does not exclude other CPUs.</a:t>
            </a:r>
          </a:p>
        </p:txBody>
      </p:sp>
    </p:spTree>
    <p:extLst>
      <p:ext uri="{BB962C8B-B14F-4D97-AF65-F5344CB8AC3E}">
        <p14:creationId xmlns:p14="http://schemas.microsoft.com/office/powerpoint/2010/main" val="13607233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215AC4C-1A5E-40A4-B6C1-74037E156DE8}"/>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5. Types of synchronization</a:t>
            </a:r>
          </a:p>
        </p:txBody>
      </p:sp>
      <p:sp>
        <p:nvSpPr>
          <p:cNvPr id="3" name="">
            <a:extLst xmlns:a="http://schemas.openxmlformats.org/drawingml/2006/main">
              <a:ext uri="{FF2B5EF4-FFF2-40B4-BE49-F238E27FC236}">
                <a16:creationId xmlns:a16="http://schemas.microsoft.com/office/drawing/2014/main" id="{0E7F4DD0-A2EA-4DB3-81B2-98D2AC09118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D4ADB33D-8C3B-4041-ACDB-C6662441A094}"/>
              </a:ext>
            </a:extLst>
          </p:cNvPr>
          <p:cNvSpPr>
            <a:spLocks xmlns:a="http://schemas.openxmlformats.org/drawingml/2006/main" noGrp="1"/>
          </p:cNvSpPr>
          <p:nvPr/>
        </p:nvSpPr>
        <p:spPr>
          <a:xfrm xmlns:a="http://schemas.openxmlformats.org/drawingml/2006/main">
            <a:off x="685800" y="1304925"/>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2. Common synchronization methods</a:t>
            </a:r>
          </a:p>
        </p:txBody>
      </p:sp>
      <p:graphicFrame>
        <p:nvGraphicFramePr>
          <p:cNvPr id="5" name="">
            <a:extLst xmlns:a="http://schemas.openxmlformats.org/drawingml/2006/main">
              <a:ext uri="{FF2B5EF4-FFF2-40B4-BE49-F238E27FC236}">
                <a16:creationId xmlns:a16="http://schemas.microsoft.com/office/drawing/2014/main" id="{D0729B7B-401F-40F8-B538-CAF487D0AA56}"/>
              </a:ext>
            </a:extLst>
          </p:cNvPr>
          <p:cNvGraphicFramePr/>
          <p:nvPr/>
        </p:nvGraphicFramePr>
        <p:xfrm>
          <a:off xmlns:a="http://schemas.openxmlformats.org/drawingml/2006/main" x="685800" y="1724025"/>
          <a:ext xmlns:a="http://schemas.openxmlformats.org/drawingml/2006/main" cx="10820400" cy="3933825"/>
        </p:xfrm>
        <a:graphic xmlns:a="http://schemas.openxmlformats.org/drawingml/2006/main">
          <a:graphicData uri="http://schemas.openxmlformats.org/drawingml/2006/table">
            <a:tbl>
              <a:tblPr/>
              <a:tblGrid>
                <a:gridCol w="3381375"/>
                <a:gridCol w="7439025"/>
              </a:tblGrid>
              <a:tr h="561975">
                <a:tc>
                  <a:txBody>
                    <a:bodyPr lIns="85725" tIns="85725" rIns="85725" bIns="85725"/>
                    <a:lstStyle/>
                    <a:p>
                      <a:r>
                        <a:rPr sz="1800" b="1">
                          <a:solidFill>
                            <a:srgbClr val="17202A"/>
                          </a:solidFill>
                          <a:latin typeface="Arial"/>
                          <a:ea typeface="Arial"/>
                          <a:cs typeface="Arial"/>
                        </a:rPr>
                        <a:t>Method</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Suitable purpose</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61975">
                <a:tc>
                  <a:txBody>
                    <a:bodyPr lIns="85725" tIns="85725" rIns="85725" bIns="85725"/>
                    <a:lstStyle/>
                    <a:p>
                      <a:r>
                        <a:rPr sz="1800" b="0">
                          <a:solidFill>
                            <a:srgbClr val="17202A"/>
                          </a:solidFill>
                          <a:latin typeface="Arial"/>
                          <a:ea typeface="Arial"/>
                          <a:cs typeface="Arial"/>
                        </a:rPr>
                        <a:t>Mutex / spinlock</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Exclusive access; sleep or busy-wait as appropriate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Semaphore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Available permits or bounded resources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Condition variable / monitor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 for a state predicate under an exclusion rule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Reader-writer lock</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Concurrent readers; exclusive writers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Barrier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 for all participants at a phase boundary</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Atomic operation</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Indivisible update; not a whole-object guarantee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B6B0572-B86A-416B-A0E5-0FDA1FBED59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Only xv6’s allocator spinlock was tested in this case study.</a:t>
            </a:r>
          </a:p>
        </p:txBody>
      </p:sp>
    </p:spTree>
    <p:extLst>
      <p:ext uri="{BB962C8B-B14F-4D97-AF65-F5344CB8AC3E}">
        <p14:creationId xmlns:p14="http://schemas.microsoft.com/office/powerpoint/2010/main" val="16018613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10E8B9F-5605-46CC-BC25-0A973CF362C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6. How xv6 protects the shared free list</a:t>
            </a:r>
          </a:p>
        </p:txBody>
      </p:sp>
      <p:sp>
        <p:nvSpPr>
          <p:cNvPr id="3" name="">
            <a:extLst xmlns:a="http://schemas.openxmlformats.org/drawingml/2006/main">
              <a:ext uri="{FF2B5EF4-FFF2-40B4-BE49-F238E27FC236}">
                <a16:creationId xmlns:a16="http://schemas.microsoft.com/office/drawing/2014/main" id="{CF0F3F40-6157-4D09-BC84-9814CF8A22E5}"/>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F515DF6D-A7CD-41F7-8656-D40E13DDD015}"/>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kalloc(): remove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if (r) kmem.freelist = r-&gt;next;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a:p xmlns:a="http://schemas.openxmlformats.org/drawingml/2006/main">
            <a:r>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kfree(): add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r-&gt;next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kmem.freelist = r;</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p:txBody>
      </p:sp>
      <p:sp>
        <p:nvSpPr>
          <p:cNvPr id="5" name="">
            <a:extLst xmlns:a="http://schemas.openxmlformats.org/drawingml/2006/main">
              <a:ext uri="{FF2B5EF4-FFF2-40B4-BE49-F238E27FC236}">
                <a16:creationId xmlns:a16="http://schemas.microsoft.com/office/drawing/2014/main" id="{C6A14EFA-FA7E-459E-B3FA-DEE8BFADE86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1. kalloc() and kfree() update the free list inside kmem.lock.</a:t>
            </a:r>
          </a:p>
        </p:txBody>
      </p:sp>
    </p:spTree>
    <p:extLst>
      <p:ext uri="{BB962C8B-B14F-4D97-AF65-F5344CB8AC3E}">
        <p14:creationId xmlns:p14="http://schemas.microsoft.com/office/powerpoint/2010/main" val="8716670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11905B4-B3C3-423E-B820-FBFC1082921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user/race_test.c</a:t>
            </a:r>
          </a:p>
        </p:txBody>
      </p:sp>
      <p:sp>
        <p:nvSpPr>
          <p:cNvPr id="3" name="">
            <a:extLst xmlns:a="http://schemas.openxmlformats.org/drawingml/2006/main">
              <a:ext uri="{FF2B5EF4-FFF2-40B4-BE49-F238E27FC236}">
                <a16:creationId xmlns:a16="http://schemas.microsoft.com/office/drawing/2014/main" id="{02714CCE-A244-4431-91A6-E506FCB9B01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949B6098-8614-49BD-B7DC-A787ECD635A3}"/>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parent forks four children and releases them through a pipe gate.</a:t>
            </a:r>
          </a:p>
        </p:txBody>
      </p:sp>
      <p:sp>
        <p:nvSpPr>
          <p:cNvPr id="5" name="">
            <a:extLst xmlns:a="http://schemas.openxmlformats.org/drawingml/2006/main">
              <a:ext uri="{FF2B5EF4-FFF2-40B4-BE49-F238E27FC236}">
                <a16:creationId xmlns:a16="http://schemas.microsoft.com/office/drawing/2014/main" id="{7F4A9516-6568-480D-89D7-9D2FB6E1E9C2}"/>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Each child requests 32 KiB, or eight 4096-byte pages, per round.</a:t>
            </a:r>
          </a:p>
        </p:txBody>
      </p:sp>
      <p:sp>
        <p:nvSpPr>
          <p:cNvPr id="6" name="">
            <a:extLst xmlns:a="http://schemas.openxmlformats.org/drawingml/2006/main">
              <a:ext uri="{FF2B5EF4-FFF2-40B4-BE49-F238E27FC236}">
                <a16:creationId xmlns:a16="http://schemas.microsoft.com/office/drawing/2014/main" id="{AB781359-7C47-4037-B122-585A3CAFEFF2}"/>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Children fill unique tags, reread every byte, free memory, and repeat 200 rounds.</a:t>
            </a:r>
          </a:p>
        </p:txBody>
      </p:sp>
      <p:sp>
        <p:nvSpPr>
          <p:cNvPr id="7" name="">
            <a:extLst xmlns:a="http://schemas.openxmlformats.org/drawingml/2006/main">
              <a:ext uri="{FF2B5EF4-FFF2-40B4-BE49-F238E27FC236}">
                <a16:creationId xmlns:a16="http://schemas.microsoft.com/office/drawing/2014/main" id="{A20ABF56-A648-461A-9418-FD623117C1BA}"/>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parent checks setup errors and every wait() status.</a:t>
            </a:r>
          </a:p>
        </p:txBody>
      </p:sp>
      <p:sp>
        <p:nvSpPr>
          <p:cNvPr id="8" name="">
            <a:extLst xmlns:a="http://schemas.openxmlformats.org/drawingml/2006/main">
              <a:ext uri="{FF2B5EF4-FFF2-40B4-BE49-F238E27FC236}">
                <a16:creationId xmlns:a16="http://schemas.microsoft.com/office/drawing/2014/main" id="{75EC1BAB-D033-4EDA-A2B6-D3C1A94FC05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volatile forces rereads; it provides no synchronization.</a:t>
            </a:r>
          </a:p>
        </p:txBody>
      </p:sp>
    </p:spTree>
    <p:extLst>
      <p:ext uri="{BB962C8B-B14F-4D97-AF65-F5344CB8AC3E}">
        <p14:creationId xmlns:p14="http://schemas.microsoft.com/office/powerpoint/2010/main" val="6214101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C430EA5-715A-4F0F-99EE-B0D26A6AD3D5}"/>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member1_tools.c and WSL commands</a:t>
            </a:r>
          </a:p>
        </p:txBody>
      </p:sp>
      <p:sp>
        <p:nvSpPr>
          <p:cNvPr id="3" name="">
            <a:extLst xmlns:a="http://schemas.openxmlformats.org/drawingml/2006/main">
              <a:ext uri="{FF2B5EF4-FFF2-40B4-BE49-F238E27FC236}">
                <a16:creationId xmlns:a16="http://schemas.microsoft.com/office/drawing/2014/main" id="{EC186072-68E2-476A-8827-0A3E077E8F0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B1F41235-12E1-4015-8C4B-F9FEB225395C}"/>
              </a:ext>
            </a:extLst>
          </p:cNvPr>
          <p:cNvSpPr>
            <a:spLocks xmlns:a="http://schemas.openxmlformats.org/drawingml/2006/main" noGrp="1"/>
          </p:cNvSpPr>
          <p:nvPr/>
        </p:nvSpPr>
        <p:spPr>
          <a:xfrm xmlns:a="http://schemas.openxmlformats.org/drawingml/2006/main">
            <a:off x="685800" y="14287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02A"/>
                </a:solidFill>
                <a:latin typeface="Arial"/>
                <a:ea typeface="Arial"/>
                <a:cs typeface="Arial"/>
              </a:defRPr>
            </a:defPPr>
            <a:lvl1pPr>
              <a:buNone/>
              <a:defRPr sz="2025" b="1">
                <a:solidFill>
                  <a:srgbClr val="17202A"/>
                </a:solidFill>
                <a:latin typeface="Arial"/>
                <a:ea typeface="Arial"/>
                <a:cs typeface="Arial"/>
              </a:defRPr>
            </a:lvl1pPr>
            <a:lvl2pPr>
              <a:buNone/>
              <a:defRPr sz="2025" b="1">
                <a:solidFill>
                  <a:srgbClr val="17202A"/>
                </a:solidFill>
                <a:latin typeface="Arial"/>
                <a:ea typeface="Arial"/>
                <a:cs typeface="Arial"/>
              </a:defRPr>
            </a:lvl2pPr>
            <a:lvl3pPr>
              <a:buNone/>
              <a:defRPr sz="2025" b="1">
                <a:solidFill>
                  <a:srgbClr val="17202A"/>
                </a:solidFill>
                <a:latin typeface="Arial"/>
                <a:ea typeface="Arial"/>
                <a:cs typeface="Arial"/>
              </a:defRPr>
            </a:lvl3pPr>
            <a:lvl4pPr>
              <a:buNone/>
              <a:defRPr sz="2025" b="1">
                <a:solidFill>
                  <a:srgbClr val="17202A"/>
                </a:solidFill>
                <a:latin typeface="Arial"/>
                <a:ea typeface="Arial"/>
                <a:cs typeface="Arial"/>
              </a:defRPr>
            </a:lvl4pPr>
            <a:lvl5pPr>
              <a:buNone/>
              <a:defRPr sz="2025" b="1">
                <a:solidFill>
                  <a:srgbClr val="17202A"/>
                </a:solidFill>
                <a:latin typeface="Arial"/>
                <a:ea typeface="Arial"/>
                <a:cs typeface="Arial"/>
              </a:defRPr>
            </a:lvl5pPr>
            <a:lvl6pPr>
              <a:buNone/>
              <a:defRPr sz="2025" b="1">
                <a:solidFill>
                  <a:srgbClr val="17202A"/>
                </a:solidFill>
                <a:latin typeface="Arial"/>
                <a:ea typeface="Arial"/>
                <a:cs typeface="Arial"/>
              </a:defRPr>
            </a:lvl6pPr>
            <a:lvl7pPr>
              <a:buNone/>
              <a:defRPr sz="2025" b="1">
                <a:solidFill>
                  <a:srgbClr val="17202A"/>
                </a:solidFill>
                <a:latin typeface="Arial"/>
                <a:ea typeface="Arial"/>
                <a:cs typeface="Arial"/>
              </a:defRPr>
            </a:lvl7pPr>
            <a:lvl8pPr>
              <a:buNone/>
              <a:defRPr sz="2025" b="1">
                <a:solidFill>
                  <a:srgbClr val="17202A"/>
                </a:solidFill>
                <a:latin typeface="Arial"/>
                <a:ea typeface="Arial"/>
                <a:cs typeface="Arial"/>
              </a:defRPr>
            </a:lvl8pPr>
            <a:lvl9pPr>
              <a:buNone/>
              <a:defRPr sz="2025" b="1">
                <a:solidFill>
                  <a:srgbClr val="17202A"/>
                </a:solidFill>
                <a:latin typeface="Arial"/>
                <a:ea typeface="Arial"/>
                <a:cs typeface="Arial"/>
              </a:defRPr>
            </a:lvl9pPr>
          </a:lstStyle>
          <a:p xmlns:a="http://schemas.openxmlformats.org/drawingml/2006/main">
            <a:pPr>
              <a:buNone/>
              <a:defRPr sz="2025" b="1">
                <a:solidFill>
                  <a:srgbClr val="17202A"/>
                </a:solidFill>
                <a:latin typeface="Arial"/>
                <a:ea typeface="Arial"/>
                <a:cs typeface="Arial"/>
              </a:defRPr>
            </a:pPr>
            <a:r>
              <a:rPr sz="2025" b="1">
                <a:solidFill>
                  <a:srgbClr val="17202A"/>
                </a:solidFill>
                <a:latin typeface="Arial"/>
                <a:ea typeface="Arial"/>
                <a:cs typeface="Arial"/>
              </a:rPr>
              <a:t>Host C helper builds xv6, launches QEMU, records each attempt, and restores kalloc.c.</a:t>
            </a:r>
          </a:p>
        </p:txBody>
      </p:sp>
      <p:sp>
        <p:nvSpPr>
          <p:cNvPr id="5" name="">
            <a:extLst xmlns:a="http://schemas.openxmlformats.org/drawingml/2006/main">
              <a:ext uri="{FF2B5EF4-FFF2-40B4-BE49-F238E27FC236}">
                <a16:creationId xmlns:a16="http://schemas.microsoft.com/office/drawing/2014/main" id="{7B513B1B-B9F7-483D-B34E-3399508197B7}"/>
              </a:ext>
            </a:extLst>
          </p:cNvPr>
          <p:cNvSpPr>
            <a:spLocks xmlns:a="http://schemas.openxmlformats.org/drawingml/2006/main" noGrp="1"/>
          </p:cNvSpPr>
          <p:nvPr/>
        </p:nvSpPr>
        <p:spPr>
          <a:xfrm xmlns:a="http://schemas.openxmlformats.org/drawingml/2006/main">
            <a:off x="685800" y="22669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Its run, package, and replay modes validate, summarize, and replay saved evidence.</a:t>
            </a:r>
          </a:p>
        </p:txBody>
      </p:sp>
      <p:sp>
        <p:nvSpPr>
          <p:cNvPr id="6" name="">
            <a:extLst xmlns:a="http://schemas.openxmlformats.org/drawingml/2006/main">
              <a:ext uri="{FF2B5EF4-FFF2-40B4-BE49-F238E27FC236}">
                <a16:creationId xmlns:a16="http://schemas.microsoft.com/office/drawing/2014/main" id="{7811821A-A100-4926-A89D-289BF442C894}"/>
              </a:ext>
            </a:extLst>
          </p:cNvPr>
          <p:cNvSpPr>
            <a:spLocks xmlns:a="http://schemas.openxmlformats.org/drawingml/2006/main" noGrp="1"/>
          </p:cNvSpPr>
          <p:nvPr/>
        </p:nvSpPr>
        <p:spPr>
          <a:xfrm xmlns:a="http://schemas.openxmlformats.org/drawingml/2006/main">
            <a:off x="781050" y="3476625"/>
            <a:ext cx="10668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PowerShell: wsl -d Ubuntu-24.04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cd ~/xv6-member1</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git rev-parse HEAD</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-j4 kernel/kernel fs.img</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qemu CPUS=4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xv6 shell: echo hello xv6; usertests -q; race_test</a:t>
            </a:r>
          </a:p>
        </p:txBody>
      </p:sp>
      <p:sp>
        <p:nvSpPr>
          <p:cNvPr id="7" name="">
            <a:extLst xmlns:a="http://schemas.openxmlformats.org/drawingml/2006/main">
              <a:ext uri="{FF2B5EF4-FFF2-40B4-BE49-F238E27FC236}">
                <a16:creationId xmlns:a16="http://schemas.microsoft.com/office/drawing/2014/main" id="{2AAB5A7A-4EEA-4E3E-AAAF-396F2E85E23C}"/>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allocation path ends in kalloc(); shrink reaches kfree().</a:t>
            </a:r>
          </a:p>
        </p:txBody>
      </p:sp>
    </p:spTree>
    <p:extLst>
      <p:ext uri="{BB962C8B-B14F-4D97-AF65-F5344CB8AC3E}">
        <p14:creationId xmlns:p14="http://schemas.microsoft.com/office/powerpoint/2010/main" val="39239142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4C5DE6-5321-4CA9-B38D-3A7C00BD554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Experiment environment and fixed protocol</a:t>
            </a:r>
          </a:p>
        </p:txBody>
      </p:sp>
      <p:sp>
        <p:nvSpPr>
          <p:cNvPr id="3" name="">
            <a:extLst xmlns:a="http://schemas.openxmlformats.org/drawingml/2006/main">
              <a:ext uri="{FF2B5EF4-FFF2-40B4-BE49-F238E27FC236}">
                <a16:creationId xmlns:a16="http://schemas.microsoft.com/office/drawing/2014/main" id="{0F3889D8-2709-47A6-954C-E7DC828742BB}"/>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10F71943-8CB7-4150-B24A-4365FEA6D06D}"/>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4. Recorded environment and run controls</a:t>
            </a:r>
          </a:p>
        </p:txBody>
      </p:sp>
      <p:graphicFrame>
        <p:nvGraphicFramePr>
          <p:cNvPr id="5" name="">
            <a:extLst xmlns:a="http://schemas.openxmlformats.org/drawingml/2006/main">
              <a:ext uri="{FF2B5EF4-FFF2-40B4-BE49-F238E27FC236}">
                <a16:creationId xmlns:a16="http://schemas.microsoft.com/office/drawing/2014/main" id="{92ACF975-CBCE-413D-BC9E-756EF9C7A8B1}"/>
              </a:ext>
            </a:extLst>
          </p:cNvPr>
          <p:cNvGraphicFramePr/>
          <p:nvPr/>
        </p:nvGraphicFramePr>
        <p:xfrm>
          <a:off xmlns:a="http://schemas.openxmlformats.org/drawingml/2006/main" x="685800" y="1895475"/>
          <a:ext xmlns:a="http://schemas.openxmlformats.org/drawingml/2006/main" cx="10820400" cy="3667125"/>
        </p:xfrm>
        <a:graphic xmlns:a="http://schemas.openxmlformats.org/drawingml/2006/main">
          <a:graphicData uri="http://schemas.openxmlformats.org/drawingml/2006/table">
            <a:tbl>
              <a:tblPr/>
              <a:tblGrid>
                <a:gridCol w="3238500"/>
                <a:gridCol w="7581900"/>
              </a:tblGrid>
              <a:tr h="523875">
                <a:tc>
                  <a:txBody>
                    <a:bodyPr lIns="85725" tIns="85725" rIns="85725" bIns="85725"/>
                    <a:lstStyle/>
                    <a:p>
                      <a:r>
                        <a:rPr sz="1800" b="1">
                          <a:solidFill>
                            <a:srgbClr val="17202A"/>
                          </a:solidFill>
                          <a:latin typeface="Arial"/>
                          <a:ea typeface="Arial"/>
                          <a:cs typeface="Arial"/>
                        </a:rPr>
                        <a:t>Setting</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Recorded configuration</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23875">
                <a:tc>
                  <a:txBody>
                    <a:bodyPr lIns="85725" tIns="85725" rIns="85725" bIns="85725"/>
                    <a:lstStyle/>
                    <a:p>
                      <a:r>
                        <a:rPr sz="1800" b="0">
                          <a:solidFill>
                            <a:srgbClr val="17202A"/>
                          </a:solidFill>
                          <a:latin typeface="Arial"/>
                          <a:ea typeface="Arial"/>
                          <a:cs typeface="Arial"/>
                        </a:rPr>
                        <a:t>Guest / host</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RISC-V xv6 / Ubuntu 24.04 under WSL2</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Emulator / compiler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QEMU 8.2.2 / RISC-V GCC 13.3.0</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Resources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CPUs; 128 MiB RAM</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Workload</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children; 8 pages each; 200 rounds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Attempts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10 per phase; fresh guest per attempt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Limits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30 s to shell; 60 s after stress command</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BF39D5A-5E84-497F-8A9C-2EBC938B79C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Original observations and C-runner validation are separate 30-attempt sets.</a:t>
            </a:r>
          </a:p>
        </p:txBody>
      </p:sp>
    </p:spTree>
    <p:extLst>
      <p:ext uri="{BB962C8B-B14F-4D97-AF65-F5344CB8AC3E}">
        <p14:creationId xmlns:p14="http://schemas.microsoft.com/office/powerpoint/2010/main" val="6671066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5520F82-F9DA-40F8-A69A-A752C84B20C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8. What the lock prevents: two-CPU examples</a:t>
            </a:r>
          </a:p>
        </p:txBody>
      </p:sp>
      <p:sp>
        <p:nvSpPr>
          <p:cNvPr id="3" name="">
            <a:extLst xmlns:a="http://schemas.openxmlformats.org/drawingml/2006/main">
              <a:ext uri="{FF2B5EF4-FFF2-40B4-BE49-F238E27FC236}">
                <a16:creationId xmlns:a16="http://schemas.microsoft.com/office/drawing/2014/main" id="{918A2D4D-66EA-4EED-829E-496175CBDDF2}"/>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05A8582A-59BB-4FEA-9787-F13A36FAEF96}"/>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3. Possible kalloc() schedule without kmem.lock</a:t>
            </a:r>
          </a:p>
        </p:txBody>
      </p:sp>
      <p:graphicFrame>
        <p:nvGraphicFramePr>
          <p:cNvPr id="5" name="">
            <a:extLst xmlns:a="http://schemas.openxmlformats.org/drawingml/2006/main">
              <a:ext uri="{FF2B5EF4-FFF2-40B4-BE49-F238E27FC236}">
                <a16:creationId xmlns:a16="http://schemas.microsoft.com/office/drawing/2014/main" id="{E3CCF8DB-F65B-4004-A1B8-67F4B44782FC}"/>
              </a:ext>
            </a:extLst>
          </p:cNvPr>
          <p:cNvGraphicFramePr/>
          <p:nvPr/>
        </p:nvGraphicFramePr>
        <p:xfrm>
          <a:off xmlns:a="http://schemas.openxmlformats.org/drawingml/2006/main" x="685800" y="1895475"/>
          <a:ext xmlns:a="http://schemas.openxmlformats.org/drawingml/2006/main" cx="10820400" cy="3286125"/>
        </p:xfrm>
        <a:graphic xmlns:a="http://schemas.openxmlformats.org/drawingml/2006/main">
          <a:graphicData uri="http://schemas.openxmlformats.org/drawingml/2006/table">
            <a:tbl>
              <a:tblPr/>
              <a:tblGrid>
                <a:gridCol w="1238250"/>
                <a:gridCol w="4791075"/>
                <a:gridCol w="4791075"/>
              </a:tblGrid>
              <a:tr h="547688">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47688">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4</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5</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1A83EFF-ED0E-4D52-814A-9098992ECD9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same lock protects kfree() from overwriting a concurrent head update. These are possible schedules, not recorded instruction traces.</a:t>
            </a:r>
          </a:p>
        </p:txBody>
      </p:sp>
    </p:spTree>
    <p:extLst>
      <p:ext uri="{BB962C8B-B14F-4D97-AF65-F5344CB8AC3E}">
        <p14:creationId xmlns:p14="http://schemas.microsoft.com/office/powerpoint/2010/main" val="3147313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63C49D-60CB-42F4-A99C-C9049BD2A053}"/>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set: locked baseline A01</a:t>
            </a:r>
          </a:p>
        </p:txBody>
      </p:sp>
      <p:sp>
        <p:nvSpPr>
          <p:cNvPr id="3" name="">
            <a:extLst xmlns:a="http://schemas.openxmlformats.org/drawingml/2006/main">
              <a:ext uri="{FF2B5EF4-FFF2-40B4-BE49-F238E27FC236}">
                <a16:creationId xmlns:a16="http://schemas.microsoft.com/office/drawing/2014/main" id="{AF6DCC34-9CA9-44EF-B845-140851A3F19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5CEDB8D6-4869-4781-80B1-16A70762EEFD}"/>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3A1C4269-1CFC-426F-B3A0-41A635165DE9}"/>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2. Rendered excerpt from saved original-set log A01; not a desktop screenshot.</a:t>
            </a:r>
          </a:p>
        </p:txBody>
      </p:sp>
      <p:pic>
        <p:nvPicPr>
          <p:cNvPr id="6" name="">
            <a:extLst xmlns:a="http://schemas.openxmlformats.org/drawingml/2006/main">
              <a:ext uri="{FF2B5EF4-FFF2-40B4-BE49-F238E27FC236}">
                <a16:creationId xmlns:a16="http://schemas.microsoft.com/office/drawing/2014/main" id="{A712D4EB-BAB3-4281-8E25-BD5828816A7F}"/>
              </a:ext>
            </a:extLst>
          </p:cNvPr>
          <p:cNvPicPr>
            <a:picLocks xmlns:a="http://schemas.openxmlformats.org/drawingml/2006/main" noChangeAspect="1"/>
          </p:cNvPicPr>
          <p:nvPr/>
        </p:nvPicPr>
        <p:blipFill>
          <a:blip xmlns:r="http://schemas.openxmlformats.org/officeDocument/2006/relationships" xmlns:a="http://schemas.openxmlformats.org/drawingml/2006/main" r:embed="R9f55c2254c494559"/>
          <a:stretch xmlns:a="http://schemas.openxmlformats.org/drawingml/2006/main"/>
        </p:blipFill>
        <p:spPr>
          <a:xfrm xmlns:a="http://schemas.openxmlformats.org/drawingml/2006/main">
            <a:off x="2095500" y="1466850"/>
            <a:ext cx="8001000" cy="4495800"/>
          </a:xfrm>
          <a:prstGeom xmlns:a="http://schemas.openxmlformats.org/drawingml/2006/main" prst="rect">
            <a:avLst/>
          </a:prstGeom>
        </p:spPr>
      </p:pic>
    </p:spTree>
    <p:extLst>
      <p:ext uri="{BB962C8B-B14F-4D97-AF65-F5344CB8AC3E}">
        <p14:creationId xmlns:p14="http://schemas.microsoft.com/office/powerpoint/2010/main" val="19991692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DDA47A3-88BE-4E59-9A2F-4A77B15F08A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Controlled removal of allocator locking</a:t>
            </a:r>
          </a:p>
        </p:txBody>
      </p:sp>
      <p:sp>
        <p:nvSpPr>
          <p:cNvPr id="3" name="">
            <a:extLst xmlns:a="http://schemas.openxmlformats.org/drawingml/2006/main">
              <a:ext uri="{FF2B5EF4-FFF2-40B4-BE49-F238E27FC236}">
                <a16:creationId xmlns:a16="http://schemas.microsoft.com/office/drawing/2014/main" id="{03F65D92-3CF0-41BB-8DB4-3DC69F20732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F2409013-BBEA-4DE1-BF66-E1CBF45F56A3}"/>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0D7BBB4A-3A64-4A30-A444-7D80F30D603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3. Rendered source excerpt: four acquire/release calls removed; workload unchanged.</a:t>
            </a:r>
          </a:p>
        </p:txBody>
      </p:sp>
      <p:pic>
        <p:nvPicPr>
          <p:cNvPr id="6" name="">
            <a:extLst xmlns:a="http://schemas.openxmlformats.org/drawingml/2006/main">
              <a:ext uri="{FF2B5EF4-FFF2-40B4-BE49-F238E27FC236}">
                <a16:creationId xmlns:a16="http://schemas.microsoft.com/office/drawing/2014/main" id="{1D8F12CA-68FC-4DCD-834E-470D49B2094A}"/>
              </a:ext>
            </a:extLst>
          </p:cNvPr>
          <p:cNvPicPr>
            <a:picLocks xmlns:a="http://schemas.openxmlformats.org/drawingml/2006/main" noChangeAspect="1"/>
          </p:cNvPicPr>
          <p:nvPr/>
        </p:nvPicPr>
        <p:blipFill>
          <a:blip xmlns:r="http://schemas.openxmlformats.org/officeDocument/2006/relationships" xmlns:a="http://schemas.openxmlformats.org/drawingml/2006/main" r:embed="R4f90b75a2d244576"/>
          <a:stretch xmlns:a="http://schemas.openxmlformats.org/drawingml/2006/main"/>
        </p:blipFill>
        <p:spPr>
          <a:xfrm xmlns:a="http://schemas.openxmlformats.org/drawingml/2006/main">
            <a:off x="2095500" y="1466850"/>
            <a:ext cx="8001000" cy="4495800"/>
          </a:xfrm>
          <a:prstGeom xmlns:a="http://schemas.openxmlformats.org/drawingml/2006/main" prst="rect">
            <a:avLst/>
          </a:prstGeom>
        </p:spPr>
      </p:pic>
    </p:spTree>
    <p:extLst>
      <p:ext uri="{BB962C8B-B14F-4D97-AF65-F5344CB8AC3E}">
        <p14:creationId xmlns:p14="http://schemas.microsoft.com/office/powerpoint/2010/main" val="1134660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738CC0E-1BC4-4E72-A20A-B374CE6259A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set: unlocked run B02</a:t>
            </a:r>
          </a:p>
        </p:txBody>
      </p:sp>
      <p:sp>
        <p:nvSpPr>
          <p:cNvPr id="3" name="">
            <a:extLst xmlns:a="http://schemas.openxmlformats.org/drawingml/2006/main">
              <a:ext uri="{FF2B5EF4-FFF2-40B4-BE49-F238E27FC236}">
                <a16:creationId xmlns:a16="http://schemas.microsoft.com/office/drawing/2014/main" id="{A9BDA818-0392-423B-B865-11B8ACD3CE7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1CA1E03B-3D20-44C8-88F3-19E39CA4F404}"/>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16C73A5A-3458-4084-ABF8-87D9DC998DD3}"/>
              </a:ext>
            </a:extLst>
          </p:cNvPr>
          <p:cNvSpPr>
            <a:spLocks xmlns:a="http://schemas.openxmlformats.org/drawingml/2006/main" noGrp="1"/>
          </p:cNvSpPr>
          <p:nvPr/>
        </p:nvSpPr>
        <p:spPr>
          <a:xfrm xmlns:a="http://schemas.openxmlformats.org/drawingml/2006/main">
            <a:off x="685800" y="5000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202A"/>
                </a:solidFill>
                <a:latin typeface="Arial"/>
                <a:ea typeface="Arial"/>
                <a:cs typeface="Arial"/>
              </a:defRPr>
            </a:defPPr>
            <a:lvl1pPr>
              <a:buNone/>
              <a:defRPr sz="1950" b="0">
                <a:solidFill>
                  <a:srgbClr val="17202A"/>
                </a:solidFill>
                <a:latin typeface="Arial"/>
                <a:ea typeface="Arial"/>
                <a:cs typeface="Arial"/>
              </a:defRPr>
            </a:lvl1pPr>
            <a:lvl2pPr>
              <a:buNone/>
              <a:defRPr sz="1950" b="0">
                <a:solidFill>
                  <a:srgbClr val="17202A"/>
                </a:solidFill>
                <a:latin typeface="Arial"/>
                <a:ea typeface="Arial"/>
                <a:cs typeface="Arial"/>
              </a:defRPr>
            </a:lvl2pPr>
            <a:lvl3pPr>
              <a:buNone/>
              <a:defRPr sz="1950" b="0">
                <a:solidFill>
                  <a:srgbClr val="17202A"/>
                </a:solidFill>
                <a:latin typeface="Arial"/>
                <a:ea typeface="Arial"/>
                <a:cs typeface="Arial"/>
              </a:defRPr>
            </a:lvl3pPr>
            <a:lvl4pPr>
              <a:buNone/>
              <a:defRPr sz="1950" b="0">
                <a:solidFill>
                  <a:srgbClr val="17202A"/>
                </a:solidFill>
                <a:latin typeface="Arial"/>
                <a:ea typeface="Arial"/>
                <a:cs typeface="Arial"/>
              </a:defRPr>
            </a:lvl4pPr>
            <a:lvl5pPr>
              <a:buNone/>
              <a:defRPr sz="1950" b="0">
                <a:solidFill>
                  <a:srgbClr val="17202A"/>
                </a:solidFill>
                <a:latin typeface="Arial"/>
                <a:ea typeface="Arial"/>
                <a:cs typeface="Arial"/>
              </a:defRPr>
            </a:lvl5pPr>
            <a:lvl6pPr>
              <a:buNone/>
              <a:defRPr sz="1950" b="0">
                <a:solidFill>
                  <a:srgbClr val="17202A"/>
                </a:solidFill>
                <a:latin typeface="Arial"/>
                <a:ea typeface="Arial"/>
                <a:cs typeface="Arial"/>
              </a:defRPr>
            </a:lvl6pPr>
            <a:lvl7pPr>
              <a:buNone/>
              <a:defRPr sz="1950" b="0">
                <a:solidFill>
                  <a:srgbClr val="17202A"/>
                </a:solidFill>
                <a:latin typeface="Arial"/>
                <a:ea typeface="Arial"/>
                <a:cs typeface="Arial"/>
              </a:defRPr>
            </a:lvl7pPr>
            <a:lvl8pPr>
              <a:buNone/>
              <a:defRPr sz="1950" b="0">
                <a:solidFill>
                  <a:srgbClr val="17202A"/>
                </a:solidFill>
                <a:latin typeface="Arial"/>
                <a:ea typeface="Arial"/>
                <a:cs typeface="Arial"/>
              </a:defRPr>
            </a:lvl8pPr>
            <a:lvl9pPr>
              <a:buNone/>
              <a:defRPr sz="1950" b="0">
                <a:solidFill>
                  <a:srgbClr val="17202A"/>
                </a:solidFill>
                <a:latin typeface="Arial"/>
                <a:ea typeface="Arial"/>
                <a:cs typeface="Arial"/>
              </a:defRPr>
            </a:lvl9pPr>
          </a:lstStyle>
          <a:p xmlns:a="http://schemas.openxmlformats.org/drawingml/2006/main">
            <a:pPr>
              <a:buNone/>
              <a:defRPr sz="1950" b="0">
                <a:solidFill>
                  <a:srgbClr val="17202A"/>
                </a:solidFill>
                <a:latin typeface="Arial"/>
                <a:ea typeface="Arial"/>
                <a:cs typeface="Arial"/>
              </a:defRPr>
            </a:pPr>
            <a:r>
              <a:rPr sz="1950" b="0">
                <a:solidFill>
                  <a:srgbClr val="17202A"/>
                </a:solidFill>
                <a:latin typeface="Arial"/>
                <a:ea typeface="Arial"/>
                <a:cs typeface="Arial"/>
              </a:rPr>
              <a:t>B02 shows corruption followed by a kernel trap. The primary outcome remains CORRUPTION.</a:t>
            </a:r>
          </a:p>
        </p:txBody>
      </p:sp>
      <p:sp>
        <p:nvSpPr>
          <p:cNvPr id="6" name="">
            <a:extLst xmlns:a="http://schemas.openxmlformats.org/drawingml/2006/main">
              <a:ext uri="{FF2B5EF4-FFF2-40B4-BE49-F238E27FC236}">
                <a16:creationId xmlns:a16="http://schemas.microsoft.com/office/drawing/2014/main" id="{74B01B9C-BCD4-4F1F-84D2-63AFC0D8A7A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4. Rendered excerpt from saved original-set log B02; not a desktop screenshot.</a:t>
            </a:r>
          </a:p>
        </p:txBody>
      </p:sp>
      <p:pic>
        <p:nvPicPr>
          <p:cNvPr id="7" name="">
            <a:extLst xmlns:a="http://schemas.openxmlformats.org/drawingml/2006/main">
              <a:ext uri="{FF2B5EF4-FFF2-40B4-BE49-F238E27FC236}">
                <a16:creationId xmlns:a16="http://schemas.microsoft.com/office/drawing/2014/main" id="{DB4CFCE6-197B-44D4-8B53-E3450CDA7E17}"/>
              </a:ext>
            </a:extLst>
          </p:cNvPr>
          <p:cNvPicPr>
            <a:picLocks xmlns:a="http://schemas.openxmlformats.org/drawingml/2006/main" noChangeAspect="1"/>
          </p:cNvPicPr>
          <p:nvPr/>
        </p:nvPicPr>
        <p:blipFill>
          <a:blip xmlns:r="http://schemas.openxmlformats.org/officeDocument/2006/relationships" xmlns:a="http://schemas.openxmlformats.org/drawingml/2006/main" r:embed="Rb006c5001fda4bfe"/>
          <a:stretch xmlns:a="http://schemas.openxmlformats.org/drawingml/2006/main"/>
        </p:blipFill>
        <p:spPr>
          <a:xfrm xmlns:a="http://schemas.openxmlformats.org/drawingml/2006/main">
            <a:off x="2095500" y="1466850"/>
            <a:ext cx="8001000" cy="4495800"/>
          </a:xfrm>
          <a:prstGeom xmlns:a="http://schemas.openxmlformats.org/drawingml/2006/main" prst="rect">
            <a:avLst/>
          </a:prstGeom>
        </p:spPr>
      </p:pic>
    </p:spTree>
    <p:extLst>
      <p:ext uri="{BB962C8B-B14F-4D97-AF65-F5344CB8AC3E}">
        <p14:creationId xmlns:p14="http://schemas.microsoft.com/office/powerpoint/2010/main" val="7490753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38F995E-4BB6-4BEE-96D2-DEDB38301B8F}"/>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allocator restored and verified</a:t>
            </a:r>
          </a:p>
        </p:txBody>
      </p:sp>
      <p:sp>
        <p:nvSpPr>
          <p:cNvPr id="3" name="">
            <a:extLst xmlns:a="http://schemas.openxmlformats.org/drawingml/2006/main">
              <a:ext uri="{FF2B5EF4-FFF2-40B4-BE49-F238E27FC236}">
                <a16:creationId xmlns:a16="http://schemas.microsoft.com/office/drawing/2014/main" id="{F6D2FE2E-AC28-44A4-A64D-9127EE9A0B14}"/>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858BC42B-8B27-4A2D-8F33-8D76114D1196}"/>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7B101571-4C6F-4296-B784-F7EC5B293FD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5. Rendered restoration checks from saved artifacts; restored phase: 10/10 PASS.</a:t>
            </a:r>
          </a:p>
        </p:txBody>
      </p:sp>
      <p:pic>
        <p:nvPicPr>
          <p:cNvPr id="6" name="">
            <a:extLst xmlns:a="http://schemas.openxmlformats.org/drawingml/2006/main">
              <a:ext uri="{FF2B5EF4-FFF2-40B4-BE49-F238E27FC236}">
                <a16:creationId xmlns:a16="http://schemas.microsoft.com/office/drawing/2014/main" id="{3DE38EE2-B27F-4832-BC12-0178C3CD30CA}"/>
              </a:ext>
            </a:extLst>
          </p:cNvPr>
          <p:cNvPicPr>
            <a:picLocks xmlns:a="http://schemas.openxmlformats.org/drawingml/2006/main" noChangeAspect="1"/>
          </p:cNvPicPr>
          <p:nvPr/>
        </p:nvPicPr>
        <p:blipFill>
          <a:blip xmlns:r="http://schemas.openxmlformats.org/officeDocument/2006/relationships" xmlns:a="http://schemas.openxmlformats.org/drawingml/2006/main" r:embed="Rf40062eb8bc44928"/>
          <a:stretch xmlns:a="http://schemas.openxmlformats.org/drawingml/2006/main"/>
        </p:blipFill>
        <p:spPr>
          <a:xfrm xmlns:a="http://schemas.openxmlformats.org/drawingml/2006/main">
            <a:off x="2095500" y="1466850"/>
            <a:ext cx="8001000" cy="4495800"/>
          </a:xfrm>
          <a:prstGeom xmlns:a="http://schemas.openxmlformats.org/drawingml/2006/main" prst="rect">
            <a:avLst/>
          </a:prstGeom>
        </p:spPr>
      </p:pic>
    </p:spTree>
    <p:extLst>
      <p:ext uri="{BB962C8B-B14F-4D97-AF65-F5344CB8AC3E}">
        <p14:creationId xmlns:p14="http://schemas.microsoft.com/office/powerpoint/2010/main" val="146862105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EE3A697-2B34-4313-8411-C6FA3652424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Companion demonstration video</a:t>
            </a:r>
          </a:p>
        </p:txBody>
      </p:sp>
      <p:sp>
        <p:nvSpPr>
          <p:cNvPr id="3" name="">
            <a:extLst xmlns:a="http://schemas.openxmlformats.org/drawingml/2006/main">
              <a:ext uri="{FF2B5EF4-FFF2-40B4-BE49-F238E27FC236}">
                <a16:creationId xmlns:a16="http://schemas.microsoft.com/office/drawing/2014/main" id="{09BA458B-B816-4FE6-9A07-5B247B58F419}"/>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2EECDA1A-A518-446C-8477-48167E54E172}"/>
              </a:ext>
            </a:extLst>
          </p:cNvPr>
          <p:cNvSpPr>
            <a:spLocks xmlns:a="http://schemas.openxmlformats.org/drawingml/2006/main" noGrp="1"/>
          </p:cNvSpPr>
          <p:nvPr/>
        </p:nvSpPr>
        <p:spPr>
          <a:xfrm xmlns:a="http://schemas.openxmlformats.org/drawingml/2006/main">
            <a:off x="685800" y="15811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The walkthrough follows the saved source, lock-removal diff, results, and restoration.</a:t>
            </a:r>
          </a:p>
        </p:txBody>
      </p:sp>
      <p:sp>
        <p:nvSpPr>
          <p:cNvPr id="5" name="">
            <a:extLst xmlns:a="http://schemas.openxmlformats.org/drawingml/2006/main">
              <a:ext uri="{FF2B5EF4-FFF2-40B4-BE49-F238E27FC236}">
                <a16:creationId xmlns:a16="http://schemas.microsoft.com/office/drawing/2014/main" id="{88E304F7-028B-410C-ACD2-15D93A1602BD}"/>
              </a:ext>
            </a:extLst>
          </p:cNvPr>
          <p:cNvSpPr>
            <a:spLocks xmlns:a="http://schemas.openxmlformats.org/drawingml/2006/main" noGrp="1"/>
          </p:cNvSpPr>
          <p:nvPr/>
        </p:nvSpPr>
        <p:spPr>
          <a:xfrm xmlns:a="http://schemas.openxmlformats.org/drawingml/2006/main">
            <a:off x="685800" y="24003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Open demo-walkthrough.mp4 from the same delivery folder.</a:t>
            </a:r>
          </a:p>
        </p:txBody>
      </p:sp>
      <p:sp>
        <p:nvSpPr>
          <p:cNvPr id="6" name="">
            <a:extLst xmlns:a="http://schemas.openxmlformats.org/drawingml/2006/main">
              <a:ext uri="{FF2B5EF4-FFF2-40B4-BE49-F238E27FC236}">
                <a16:creationId xmlns:a16="http://schemas.microsoft.com/office/drawing/2014/main" id="{38D5CAD5-8033-4FC5-8150-DD889AFE4FF9}"/>
              </a:ext>
            </a:extLst>
          </p:cNvPr>
          <p:cNvSpPr>
            <a:spLocks xmlns:a="http://schemas.openxmlformats.org/drawingml/2006/main" noGrp="1"/>
          </p:cNvSpPr>
          <p:nvPr/>
        </p:nvSpPr>
        <p:spPr>
          <a:xfrm xmlns:a="http://schemas.openxmlformats.org/drawingml/2006/main">
            <a:off x="685800" y="32194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The video replays saved source and logs from the original run set.</a:t>
            </a:r>
          </a:p>
        </p:txBody>
      </p:sp>
      <p:sp>
        <p:nvSpPr>
          <p:cNvPr id="7" name="">
            <a:extLst xmlns:a="http://schemas.openxmlformats.org/drawingml/2006/main">
              <a:ext uri="{FF2B5EF4-FFF2-40B4-BE49-F238E27FC236}">
                <a16:creationId xmlns:a16="http://schemas.microsoft.com/office/drawing/2014/main" id="{1B4F9BAD-59B3-47B5-9307-5A4A56A4EEB5}"/>
              </a:ext>
            </a:extLst>
          </p:cNvPr>
          <p:cNvSpPr>
            <a:spLocks xmlns:a="http://schemas.openxmlformats.org/drawingml/2006/main" noGrp="1"/>
          </p:cNvSpPr>
          <p:nvPr/>
        </p:nvSpPr>
        <p:spPr>
          <a:xfrm xmlns:a="http://schemas.openxmlformats.org/drawingml/2006/main">
            <a:off x="685800" y="46101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25E8B"/>
                </a:solidFill>
                <a:latin typeface="Arial"/>
                <a:ea typeface="Arial"/>
                <a:cs typeface="Arial"/>
              </a:defRPr>
            </a:defPPr>
            <a:lvl1pPr>
              <a:buNone/>
              <a:defRPr sz="2550" b="1">
                <a:solidFill>
                  <a:srgbClr val="225E8B"/>
                </a:solidFill>
                <a:latin typeface="Arial"/>
                <a:ea typeface="Arial"/>
                <a:cs typeface="Arial"/>
              </a:defRPr>
            </a:lvl1pPr>
            <a:lvl2pPr>
              <a:buNone/>
              <a:defRPr sz="2550" b="1">
                <a:solidFill>
                  <a:srgbClr val="225E8B"/>
                </a:solidFill>
                <a:latin typeface="Arial"/>
                <a:ea typeface="Arial"/>
                <a:cs typeface="Arial"/>
              </a:defRPr>
            </a:lvl2pPr>
            <a:lvl3pPr>
              <a:buNone/>
              <a:defRPr sz="2550" b="1">
                <a:solidFill>
                  <a:srgbClr val="225E8B"/>
                </a:solidFill>
                <a:latin typeface="Arial"/>
                <a:ea typeface="Arial"/>
                <a:cs typeface="Arial"/>
              </a:defRPr>
            </a:lvl3pPr>
            <a:lvl4pPr>
              <a:buNone/>
              <a:defRPr sz="2550" b="1">
                <a:solidFill>
                  <a:srgbClr val="225E8B"/>
                </a:solidFill>
                <a:latin typeface="Arial"/>
                <a:ea typeface="Arial"/>
                <a:cs typeface="Arial"/>
              </a:defRPr>
            </a:lvl4pPr>
            <a:lvl5pPr>
              <a:buNone/>
              <a:defRPr sz="2550" b="1">
                <a:solidFill>
                  <a:srgbClr val="225E8B"/>
                </a:solidFill>
                <a:latin typeface="Arial"/>
                <a:ea typeface="Arial"/>
                <a:cs typeface="Arial"/>
              </a:defRPr>
            </a:lvl5pPr>
            <a:lvl6pPr>
              <a:buNone/>
              <a:defRPr sz="2550" b="1">
                <a:solidFill>
                  <a:srgbClr val="225E8B"/>
                </a:solidFill>
                <a:latin typeface="Arial"/>
                <a:ea typeface="Arial"/>
                <a:cs typeface="Arial"/>
              </a:defRPr>
            </a:lvl6pPr>
            <a:lvl7pPr>
              <a:buNone/>
              <a:defRPr sz="2550" b="1">
                <a:solidFill>
                  <a:srgbClr val="225E8B"/>
                </a:solidFill>
                <a:latin typeface="Arial"/>
                <a:ea typeface="Arial"/>
                <a:cs typeface="Arial"/>
              </a:defRPr>
            </a:lvl7pPr>
            <a:lvl8pPr>
              <a:buNone/>
              <a:defRPr sz="2550" b="1">
                <a:solidFill>
                  <a:srgbClr val="225E8B"/>
                </a:solidFill>
                <a:latin typeface="Arial"/>
                <a:ea typeface="Arial"/>
                <a:cs typeface="Arial"/>
              </a:defRPr>
            </a:lvl8pPr>
            <a:lvl9pPr>
              <a:buNone/>
              <a:defRPr sz="2550" b="1">
                <a:solidFill>
                  <a:srgbClr val="225E8B"/>
                </a:solidFill>
                <a:latin typeface="Arial"/>
                <a:ea typeface="Arial"/>
                <a:cs typeface="Arial"/>
              </a:defRPr>
            </a:lvl9pPr>
          </a:lstStyle>
          <a:p xmlns:a="http://schemas.openxmlformats.org/drawingml/2006/main">
            <a:pPr>
              <a:buNone/>
              <a:defRPr sz="2550" b="1">
                <a:solidFill>
                  <a:srgbClr val="225E8B"/>
                </a:solidFill>
                <a:latin typeface="Arial"/>
                <a:ea typeface="Arial"/>
                <a:cs typeface="Arial"/>
              </a:defRPr>
            </a:pPr>
            <a:r>
              <a:rPr sz="2550" b="1" u="sng">
                <a:solidFill>
                  <a:srgbClr val="225E8B"/>
                </a:solidFill>
                <a:latin typeface="Arial"/>
                <a:ea typeface="Arial"/>
                <a:cs typeface="Arial"/>
                <a:hlinkClick xmlns:r="http://schemas.openxmlformats.org/officeDocument/2006/relationships" r:id="R8020111ad0574ac9"/>
              </a:rPr>
              <a:t>Companion file: demo-walkthrough.mp4</a:t>
            </a:r>
          </a:p>
        </p:txBody>
      </p:sp>
      <p:sp>
        <p:nvSpPr>
          <p:cNvPr id="8" name="">
            <a:extLst xmlns:a="http://schemas.openxmlformats.org/drawingml/2006/main">
              <a:ext uri="{FF2B5EF4-FFF2-40B4-BE49-F238E27FC236}">
                <a16:creationId xmlns:a16="http://schemas.microsoft.com/office/drawing/2014/main" id="{CD458438-F3FB-45B7-A548-BAE60C9FA0D7}"/>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Rendered walkthrough from saved artifacts, not a live desktop recording.</a:t>
            </a:r>
          </a:p>
        </p:txBody>
      </p:sp>
    </p:spTree>
    <p:extLst>
      <p:ext uri="{BB962C8B-B14F-4D97-AF65-F5344CB8AC3E}">
        <p14:creationId xmlns:p14="http://schemas.microsoft.com/office/powerpoint/2010/main" val="58323397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9156B6E-2F00-4D55-AFBE-A34EB1C5D5B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9. Results comparison and limits</a:t>
            </a:r>
          </a:p>
        </p:txBody>
      </p:sp>
      <p:sp>
        <p:nvSpPr>
          <p:cNvPr id="3" name="">
            <a:extLst xmlns:a="http://schemas.openxmlformats.org/drawingml/2006/main">
              <a:ext uri="{FF2B5EF4-FFF2-40B4-BE49-F238E27FC236}">
                <a16:creationId xmlns:a16="http://schemas.microsoft.com/office/drawing/2014/main" id="{6891C8EC-2557-475B-87F3-975E1E497DC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D31D1FE2-22AB-4533-B522-777F13698703}"/>
              </a:ext>
            </a:extLst>
          </p:cNvPr>
          <p:cNvSpPr>
            <a:spLocks xmlns:a="http://schemas.openxmlformats.org/drawingml/2006/main" noGrp="1"/>
          </p:cNvSpPr>
          <p:nvPr/>
        </p:nvSpPr>
        <p:spPr>
          <a:xfrm xmlns:a="http://schemas.openxmlformats.org/drawingml/2006/main">
            <a:off x="685800" y="13620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02A"/>
                </a:solidFill>
                <a:latin typeface="Arial"/>
                <a:ea typeface="Arial"/>
                <a:cs typeface="Arial"/>
              </a:defRPr>
            </a:defPPr>
            <a:lvl1pPr>
              <a:buNone/>
              <a:defRPr sz="1725" b="1">
                <a:solidFill>
                  <a:srgbClr val="17202A"/>
                </a:solidFill>
                <a:latin typeface="Arial"/>
                <a:ea typeface="Arial"/>
                <a:cs typeface="Arial"/>
              </a:defRPr>
            </a:lvl1pPr>
            <a:lvl2pPr>
              <a:buNone/>
              <a:defRPr sz="1725" b="1">
                <a:solidFill>
                  <a:srgbClr val="17202A"/>
                </a:solidFill>
                <a:latin typeface="Arial"/>
                <a:ea typeface="Arial"/>
                <a:cs typeface="Arial"/>
              </a:defRPr>
            </a:lvl2pPr>
            <a:lvl3pPr>
              <a:buNone/>
              <a:defRPr sz="1725" b="1">
                <a:solidFill>
                  <a:srgbClr val="17202A"/>
                </a:solidFill>
                <a:latin typeface="Arial"/>
                <a:ea typeface="Arial"/>
                <a:cs typeface="Arial"/>
              </a:defRPr>
            </a:lvl3pPr>
            <a:lvl4pPr>
              <a:buNone/>
              <a:defRPr sz="1725" b="1">
                <a:solidFill>
                  <a:srgbClr val="17202A"/>
                </a:solidFill>
                <a:latin typeface="Arial"/>
                <a:ea typeface="Arial"/>
                <a:cs typeface="Arial"/>
              </a:defRPr>
            </a:lvl4pPr>
            <a:lvl5pPr>
              <a:buNone/>
              <a:defRPr sz="1725" b="1">
                <a:solidFill>
                  <a:srgbClr val="17202A"/>
                </a:solidFill>
                <a:latin typeface="Arial"/>
                <a:ea typeface="Arial"/>
                <a:cs typeface="Arial"/>
              </a:defRPr>
            </a:lvl5pPr>
            <a:lvl6pPr>
              <a:buNone/>
              <a:defRPr sz="1725" b="1">
                <a:solidFill>
                  <a:srgbClr val="17202A"/>
                </a:solidFill>
                <a:latin typeface="Arial"/>
                <a:ea typeface="Arial"/>
                <a:cs typeface="Arial"/>
              </a:defRPr>
            </a:lvl6pPr>
            <a:lvl7pPr>
              <a:buNone/>
              <a:defRPr sz="1725" b="1">
                <a:solidFill>
                  <a:srgbClr val="17202A"/>
                </a:solidFill>
                <a:latin typeface="Arial"/>
                <a:ea typeface="Arial"/>
                <a:cs typeface="Arial"/>
              </a:defRPr>
            </a:lvl7pPr>
            <a:lvl8pPr>
              <a:buNone/>
              <a:defRPr sz="1725" b="1">
                <a:solidFill>
                  <a:srgbClr val="17202A"/>
                </a:solidFill>
                <a:latin typeface="Arial"/>
                <a:ea typeface="Arial"/>
                <a:cs typeface="Arial"/>
              </a:defRPr>
            </a:lvl8pPr>
            <a:lvl9pPr>
              <a:buNone/>
              <a:defRPr sz="1725" b="1">
                <a:solidFill>
                  <a:srgbClr val="17202A"/>
                </a:solidFill>
                <a:latin typeface="Arial"/>
                <a:ea typeface="Arial"/>
                <a:cs typeface="Arial"/>
              </a:defRPr>
            </a:lvl9pPr>
          </a:lstStyle>
          <a:p xmlns:a="http://schemas.openxmlformats.org/drawingml/2006/main">
            <a:pPr>
              <a:buNone/>
              <a:defRPr sz="1725" b="1">
                <a:solidFill>
                  <a:srgbClr val="17202A"/>
                </a:solidFill>
                <a:latin typeface="Arial"/>
                <a:ea typeface="Arial"/>
                <a:cs typeface="Arial"/>
              </a:defRPr>
            </a:pPr>
            <a:r>
              <a:rPr sz="1725" b="1">
                <a:solidFill>
                  <a:srgbClr val="17202A"/>
                </a:solidFill>
                <a:latin typeface="Arial"/>
                <a:ea typeface="Arial"/>
                <a:cs typeface="Arial"/>
              </a:rPr>
              <a:t>Table 5. Original run-set outcome totals</a:t>
            </a:r>
          </a:p>
        </p:txBody>
      </p:sp>
      <p:graphicFrame>
        <p:nvGraphicFramePr>
          <p:cNvPr id="5" name="">
            <a:extLst xmlns:a="http://schemas.openxmlformats.org/drawingml/2006/main">
              <a:ext uri="{FF2B5EF4-FFF2-40B4-BE49-F238E27FC236}">
                <a16:creationId xmlns:a16="http://schemas.microsoft.com/office/drawing/2014/main" id="{EE29CBD0-4E04-495A-9014-4CCDEAC60196}"/>
              </a:ext>
            </a:extLst>
          </p:cNvPr>
          <p:cNvGraphicFramePr/>
          <p:nvPr/>
        </p:nvGraphicFramePr>
        <p:xfrm>
          <a:off xmlns:a="http://schemas.openxmlformats.org/drawingml/2006/main" x="685800" y="1828800"/>
          <a:ext xmlns:a="http://schemas.openxmlformats.org/drawingml/2006/main" cx="4572000" cy="2095500"/>
        </p:xfrm>
        <a:graphic xmlns:a="http://schemas.openxmlformats.org/drawingml/2006/main">
          <a:graphicData uri="http://schemas.openxmlformats.org/drawingml/2006/table">
            <a:tbl>
              <a:tblPr/>
              <a:tblGrid>
                <a:gridCol w="2286000"/>
                <a:gridCol w="1143000"/>
                <a:gridCol w="1143000"/>
              </a:tblGrid>
              <a:tr h="523875">
                <a:tc>
                  <a:txBody>
                    <a:bodyPr lIns="95250" tIns="95250" rIns="95250" bIns="95250"/>
                    <a:lstStyle/>
                    <a:p>
                      <a:r>
                        <a:rPr sz="1875" b="1">
                          <a:solidFill>
                            <a:srgbClr val="17202A"/>
                          </a:solidFill>
                          <a:latin typeface="Arial"/>
                          <a:ea typeface="Arial"/>
                          <a:cs typeface="Arial"/>
                        </a:rPr>
                        <a:t>Phase (original set)</a:t>
                      </a:r>
                    </a:p>
                  </a:txBody>
                  <a:tcPr marL="91440" marR="91440" marT="45720" marB="45720">
                    <a:lnL w="9525">
                      <a:solidFill>
                        <a:srgbClr val="CAD2DA"/>
                      </a:solidFill>
                      <a:prstDash val="solid"/>
                    </a:lnL>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PASS</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Non-PASS</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r>
              <a:tr h="523875">
                <a:tc>
                  <a:txBody>
                    <a:bodyPr lIns="95250" tIns="95250" rIns="95250" bIns="95250"/>
                    <a:lstStyle/>
                    <a:p>
                      <a:r>
                        <a:rPr sz="1875" b="0">
                          <a:solidFill>
                            <a:srgbClr val="17202A"/>
                          </a:solidFill>
                          <a:latin typeface="Arial"/>
                          <a:ea typeface="Arial"/>
                          <a:cs typeface="Arial"/>
                        </a:rPr>
                        <a:t>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Unlocked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Restored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273876F-D5D3-49F4-8899-A1185A8303C2}"/>
              </a:ext>
            </a:extLst>
          </p:cNvPr>
          <p:cNvSpPr>
            <a:spLocks xmlns:a="http://schemas.openxmlformats.org/drawingml/2006/main" noGrp="1"/>
          </p:cNvSpPr>
          <p:nvPr/>
        </p:nvSpPr>
        <p:spPr>
          <a:xfrm xmlns:a="http://schemas.openxmlformats.org/drawingml/2006/main">
            <a:off x="685800" y="4762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Figure 6. Rendered plot from the original results.csv; not a desktop screenshot.</a:t>
            </a:r>
          </a:p>
        </p:txBody>
      </p:sp>
      <p:sp>
        <p:nvSpPr>
          <p:cNvPr id="8" name="">
            <a:extLst xmlns:a="http://schemas.openxmlformats.org/drawingml/2006/main">
              <a:ext uri="{FF2B5EF4-FFF2-40B4-BE49-F238E27FC236}">
                <a16:creationId xmlns:a16="http://schemas.microsoft.com/office/drawing/2014/main" id="{E3ADDC4B-D227-4433-9DE5-A41F06D0502A}"/>
              </a:ext>
            </a:extLst>
          </p:cNvPr>
          <p:cNvSpPr>
            <a:spLocks xmlns:a="http://schemas.openxmlformats.org/drawingml/2006/main" noGrp="1"/>
          </p:cNvSpPr>
          <p:nvPr/>
        </p:nvSpPr>
        <p:spPr>
          <a:xfrm xmlns:a="http://schemas.openxmlformats.org/drawingml/2006/main">
            <a:off x="685800" y="52863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02A"/>
                </a:solidFill>
                <a:latin typeface="Arial"/>
                <a:ea typeface="Arial"/>
                <a:cs typeface="Arial"/>
              </a:defRPr>
            </a:defPPr>
            <a:lvl1pPr>
              <a:buNone/>
              <a:defRPr sz="1875" b="0">
                <a:solidFill>
                  <a:srgbClr val="17202A"/>
                </a:solidFill>
                <a:latin typeface="Arial"/>
                <a:ea typeface="Arial"/>
                <a:cs typeface="Arial"/>
              </a:defRPr>
            </a:lvl1pPr>
            <a:lvl2pPr>
              <a:buNone/>
              <a:defRPr sz="1875" b="0">
                <a:solidFill>
                  <a:srgbClr val="17202A"/>
                </a:solidFill>
                <a:latin typeface="Arial"/>
                <a:ea typeface="Arial"/>
                <a:cs typeface="Arial"/>
              </a:defRPr>
            </a:lvl2pPr>
            <a:lvl3pPr>
              <a:buNone/>
              <a:defRPr sz="1875" b="0">
                <a:solidFill>
                  <a:srgbClr val="17202A"/>
                </a:solidFill>
                <a:latin typeface="Arial"/>
                <a:ea typeface="Arial"/>
                <a:cs typeface="Arial"/>
              </a:defRPr>
            </a:lvl3pPr>
            <a:lvl4pPr>
              <a:buNone/>
              <a:defRPr sz="1875" b="0">
                <a:solidFill>
                  <a:srgbClr val="17202A"/>
                </a:solidFill>
                <a:latin typeface="Arial"/>
                <a:ea typeface="Arial"/>
                <a:cs typeface="Arial"/>
              </a:defRPr>
            </a:lvl4pPr>
            <a:lvl5pPr>
              <a:buNone/>
              <a:defRPr sz="1875" b="0">
                <a:solidFill>
                  <a:srgbClr val="17202A"/>
                </a:solidFill>
                <a:latin typeface="Arial"/>
                <a:ea typeface="Arial"/>
                <a:cs typeface="Arial"/>
              </a:defRPr>
            </a:lvl5pPr>
            <a:lvl6pPr>
              <a:buNone/>
              <a:defRPr sz="1875" b="0">
                <a:solidFill>
                  <a:srgbClr val="17202A"/>
                </a:solidFill>
                <a:latin typeface="Arial"/>
                <a:ea typeface="Arial"/>
                <a:cs typeface="Arial"/>
              </a:defRPr>
            </a:lvl6pPr>
            <a:lvl7pPr>
              <a:buNone/>
              <a:defRPr sz="1875" b="0">
                <a:solidFill>
                  <a:srgbClr val="17202A"/>
                </a:solidFill>
                <a:latin typeface="Arial"/>
                <a:ea typeface="Arial"/>
                <a:cs typeface="Arial"/>
              </a:defRPr>
            </a:lvl7pPr>
            <a:lvl8pPr>
              <a:buNone/>
              <a:defRPr sz="1875" b="0">
                <a:solidFill>
                  <a:srgbClr val="17202A"/>
                </a:solidFill>
                <a:latin typeface="Arial"/>
                <a:ea typeface="Arial"/>
                <a:cs typeface="Arial"/>
              </a:defRPr>
            </a:lvl8pPr>
            <a:lvl9pPr>
              <a:buNone/>
              <a:defRPr sz="1875" b="0">
                <a:solidFill>
                  <a:srgbClr val="17202A"/>
                </a:solidFill>
                <a:latin typeface="Arial"/>
                <a:ea typeface="Arial"/>
                <a:cs typeface="Arial"/>
              </a:defRPr>
            </a:lvl9pPr>
          </a:lstStyle>
          <a:p xmlns:a="http://schemas.openxmlformats.org/drawingml/2006/main">
            <a:pPr>
              <a:buNone/>
              <a:defRPr sz="1875" b="0">
                <a:solidFill>
                  <a:srgbClr val="17202A"/>
                </a:solidFill>
                <a:latin typeface="Arial"/>
                <a:ea typeface="Arial"/>
                <a:cs typeface="Arial"/>
              </a:defRPr>
            </a:pPr>
            <a:r>
              <a:rPr sz="1875" b="0">
                <a:solidFill>
                  <a:srgbClr val="17202A"/>
                </a:solidFill>
                <a:latin typeface="Arial"/>
                <a:ea typeface="Arial"/>
                <a:cs typeface="Arial"/>
              </a:rPr>
              <a:t>C-runner unlocked: 1 corruption, 6 panic/trap, 2 test failures, 1 timeout. Original unlocked: 3, 4, 2, 1.</a:t>
            </a:r>
          </a:p>
        </p:txBody>
      </p:sp>
      <p:sp>
        <p:nvSpPr>
          <p:cNvPr id="9" name="">
            <a:extLst xmlns:a="http://schemas.openxmlformats.org/drawingml/2006/main">
              <a:ext uri="{FF2B5EF4-FFF2-40B4-BE49-F238E27FC236}">
                <a16:creationId xmlns:a16="http://schemas.microsoft.com/office/drawing/2014/main" id="{8085193E-48F2-49D7-BCB8-EF32BA126E3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Each set has 10 attempts per phase. PASS is evidence for this workload, not proof of safety.</a:t>
            </a:r>
          </a:p>
        </p:txBody>
      </p:sp>
      <p:pic>
        <p:nvPicPr>
          <p:cNvPr id="10" name="">
            <a:extLst xmlns:a="http://schemas.openxmlformats.org/drawingml/2006/main">
              <a:ext uri="{FF2B5EF4-FFF2-40B4-BE49-F238E27FC236}">
                <a16:creationId xmlns:a16="http://schemas.microsoft.com/office/drawing/2014/main" id="{DAAA8046-35AD-4350-93E6-FC285C0E1F71}"/>
              </a:ext>
            </a:extLst>
          </p:cNvPr>
          <p:cNvPicPr>
            <a:picLocks xmlns:a="http://schemas.openxmlformats.org/drawingml/2006/main" noChangeAspect="1"/>
          </p:cNvPicPr>
          <p:nvPr/>
        </p:nvPicPr>
        <p:blipFill>
          <a:blip xmlns:r="http://schemas.openxmlformats.org/officeDocument/2006/relationships" xmlns:a="http://schemas.openxmlformats.org/drawingml/2006/main" r:embed="R3ca6dd7029234af1"/>
          <a:stretch xmlns:a="http://schemas.openxmlformats.org/drawingml/2006/main"/>
        </p:blipFill>
        <p:spPr>
          <a:xfrm xmlns:a="http://schemas.openxmlformats.org/drawingml/2006/main">
            <a:off x="5905500" y="1476375"/>
            <a:ext cx="5381625" cy="2952750"/>
          </a:xfrm>
          <a:prstGeom xmlns:a="http://schemas.openxmlformats.org/drawingml/2006/main" prst="rect">
            <a:avLst/>
          </a:prstGeom>
        </p:spPr>
      </p:pic>
    </p:spTree>
    <p:extLst>
      <p:ext uri="{BB962C8B-B14F-4D97-AF65-F5344CB8AC3E}">
        <p14:creationId xmlns:p14="http://schemas.microsoft.com/office/powerpoint/2010/main" val="13279885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89221DF-4D17-4502-B62E-A9420549692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10. Conclusion, applications and future scope</a:t>
            </a:r>
          </a:p>
        </p:txBody>
      </p:sp>
      <p:sp>
        <p:nvSpPr>
          <p:cNvPr id="3" name="">
            <a:extLst xmlns:a="http://schemas.openxmlformats.org/drawingml/2006/main">
              <a:ext uri="{FF2B5EF4-FFF2-40B4-BE49-F238E27FC236}">
                <a16:creationId xmlns:a16="http://schemas.microsoft.com/office/drawing/2014/main" id="{26F9DDB2-7BB9-419A-903C-42244815CA8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A21D11DA-EC13-4F0E-ADEF-660D92854FC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Learning: a lock must cover the full read and update that preserves an invariant.</a:t>
            </a:r>
          </a:p>
        </p:txBody>
      </p:sp>
      <p:sp>
        <p:nvSpPr>
          <p:cNvPr id="5" name="">
            <a:extLst xmlns:a="http://schemas.openxmlformats.org/drawingml/2006/main">
              <a:ext uri="{FF2B5EF4-FFF2-40B4-BE49-F238E27FC236}">
                <a16:creationId xmlns:a16="http://schemas.microsoft.com/office/drawing/2014/main" id="{A4A266BD-DC8D-4448-A8BE-C1684D4D39C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Finding: all locked and restored attempts passed; unlocked attempts recorded failures.</a:t>
            </a:r>
          </a:p>
        </p:txBody>
      </p:sp>
      <p:sp>
        <p:nvSpPr>
          <p:cNvPr id="6" name="">
            <a:extLst xmlns:a="http://schemas.openxmlformats.org/drawingml/2006/main">
              <a:ext uri="{FF2B5EF4-FFF2-40B4-BE49-F238E27FC236}">
                <a16:creationId xmlns:a16="http://schemas.microsoft.com/office/drawing/2014/main" id="{41BB5DBF-1B16-48D7-8DB7-B1E91355E6A5}"/>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same reasoning applies to kernel queues, caches, process data, and shared application state.</a:t>
            </a:r>
          </a:p>
        </p:txBody>
      </p:sp>
      <p:sp>
        <p:nvSpPr>
          <p:cNvPr id="7" name="">
            <a:extLst xmlns:a="http://schemas.openxmlformats.org/drawingml/2006/main">
              <a:ext uri="{FF2B5EF4-FFF2-40B4-BE49-F238E27FC236}">
                <a16:creationId xmlns:a16="http://schemas.microsoft.com/office/drawing/2014/main" id="{08B3C5EA-85D8-471A-AA97-479046D35CDB}"/>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Future work: test more CPU counts, detect lost pages, and measure lock contention.</a:t>
            </a:r>
          </a:p>
        </p:txBody>
      </p:sp>
      <p:sp>
        <p:nvSpPr>
          <p:cNvPr id="8" name="">
            <a:extLst xmlns:a="http://schemas.openxmlformats.org/drawingml/2006/main">
              <a:ext uri="{FF2B5EF4-FFF2-40B4-BE49-F238E27FC236}">
                <a16:creationId xmlns:a16="http://schemas.microsoft.com/office/drawing/2014/main" id="{F71FF5A1-0605-4907-9E59-DCEF5027F8C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Only the xv6 allocator spinlock was measured; other primitives and structures remain untested.</a:t>
            </a:r>
          </a:p>
        </p:txBody>
      </p:sp>
    </p:spTree>
    <p:extLst>
      <p:ext uri="{BB962C8B-B14F-4D97-AF65-F5344CB8AC3E}">
        <p14:creationId xmlns:p14="http://schemas.microsoft.com/office/powerpoint/2010/main" val="60304527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C14B4C-19BB-4C2D-AF5C-104074CFB97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References</a:t>
            </a:r>
          </a:p>
        </p:txBody>
      </p:sp>
      <p:sp>
        <p:nvSpPr>
          <p:cNvPr id="3" name="">
            <a:extLst xmlns:a="http://schemas.openxmlformats.org/drawingml/2006/main">
              <a:ext uri="{FF2B5EF4-FFF2-40B4-BE49-F238E27FC236}">
                <a16:creationId xmlns:a16="http://schemas.microsoft.com/office/drawing/2014/main" id="{54C682DC-8C3A-4B99-95F5-82136C6049BF}"/>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EB39D45E-484E-4F29-B4BF-0FCD9669D48A}"/>
              </a:ext>
            </a:extLst>
          </p:cNvPr>
          <p:cNvSpPr>
            <a:spLocks xmlns:a="http://schemas.openxmlformats.org/drawingml/2006/main" noGrp="1"/>
          </p:cNvSpPr>
          <p:nvPr/>
        </p:nvSpPr>
        <p:spPr>
          <a:xfrm xmlns:a="http://schemas.openxmlformats.org/drawingml/2006/main">
            <a:off x="685800" y="15240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7202A"/>
                </a:solidFill>
                <a:latin typeface="Arial"/>
                <a:ea typeface="Arial"/>
                <a:cs typeface="Arial"/>
              </a:defRPr>
            </a:defPPr>
            <a:lvl1pPr>
              <a:buNone/>
              <a:defRPr sz="1725" b="0">
                <a:solidFill>
                  <a:srgbClr val="17202A"/>
                </a:solidFill>
                <a:latin typeface="Arial"/>
                <a:ea typeface="Arial"/>
                <a:cs typeface="Arial"/>
              </a:defRPr>
            </a:lvl1pPr>
            <a:lvl2pPr>
              <a:buNone/>
              <a:defRPr sz="1725" b="0">
                <a:solidFill>
                  <a:srgbClr val="17202A"/>
                </a:solidFill>
                <a:latin typeface="Arial"/>
                <a:ea typeface="Arial"/>
                <a:cs typeface="Arial"/>
              </a:defRPr>
            </a:lvl2pPr>
            <a:lvl3pPr>
              <a:buNone/>
              <a:defRPr sz="1725" b="0">
                <a:solidFill>
                  <a:srgbClr val="17202A"/>
                </a:solidFill>
                <a:latin typeface="Arial"/>
                <a:ea typeface="Arial"/>
                <a:cs typeface="Arial"/>
              </a:defRPr>
            </a:lvl3pPr>
            <a:lvl4pPr>
              <a:buNone/>
              <a:defRPr sz="1725" b="0">
                <a:solidFill>
                  <a:srgbClr val="17202A"/>
                </a:solidFill>
                <a:latin typeface="Arial"/>
                <a:ea typeface="Arial"/>
                <a:cs typeface="Arial"/>
              </a:defRPr>
            </a:lvl4pPr>
            <a:lvl5pPr>
              <a:buNone/>
              <a:defRPr sz="1725" b="0">
                <a:solidFill>
                  <a:srgbClr val="17202A"/>
                </a:solidFill>
                <a:latin typeface="Arial"/>
                <a:ea typeface="Arial"/>
                <a:cs typeface="Arial"/>
              </a:defRPr>
            </a:lvl5pPr>
            <a:lvl6pPr>
              <a:buNone/>
              <a:defRPr sz="1725" b="0">
                <a:solidFill>
                  <a:srgbClr val="17202A"/>
                </a:solidFill>
                <a:latin typeface="Arial"/>
                <a:ea typeface="Arial"/>
                <a:cs typeface="Arial"/>
              </a:defRPr>
            </a:lvl6pPr>
            <a:lvl7pPr>
              <a:buNone/>
              <a:defRPr sz="1725" b="0">
                <a:solidFill>
                  <a:srgbClr val="17202A"/>
                </a:solidFill>
                <a:latin typeface="Arial"/>
                <a:ea typeface="Arial"/>
                <a:cs typeface="Arial"/>
              </a:defRPr>
            </a:lvl7pPr>
            <a:lvl8pPr>
              <a:buNone/>
              <a:defRPr sz="1725" b="0">
                <a:solidFill>
                  <a:srgbClr val="17202A"/>
                </a:solidFill>
                <a:latin typeface="Arial"/>
                <a:ea typeface="Arial"/>
                <a:cs typeface="Arial"/>
              </a:defRPr>
            </a:lvl8pPr>
            <a:lvl9pPr>
              <a:buNone/>
              <a:defRPr sz="1725" b="0">
                <a:solidFill>
                  <a:srgbClr val="17202A"/>
                </a:solidFill>
                <a:latin typeface="Arial"/>
                <a:ea typeface="Arial"/>
                <a:cs typeface="Arial"/>
              </a:defRPr>
            </a:lvl9pPr>
          </a:lstStyle>
          <a:p xmlns:a="http://schemas.openxmlformats.org/drawingml/2006/main">
            <a:pPr>
              <a:buNone/>
              <a:defRPr sz="1725" b="0">
                <a:solidFill>
                  <a:srgbClr val="17202A"/>
                </a:solidFill>
                <a:latin typeface="Arial"/>
                <a:ea typeface="Arial"/>
                <a:cs typeface="Arial"/>
              </a:defRPr>
            </a:pPr>
            <a:r>
              <a:rPr sz="1725" b="0">
                <a:solidFill>
                  <a:srgbClr val="17202A"/>
                </a:solidFill>
                <a:latin typeface="Arial"/>
                <a:ea typeface="Arial"/>
                <a:cs typeface="Arial"/>
              </a:rPr>
              <a:t>xv6 RISC-V source at commit f780d7850765d74cbdcd1fff4b822d8829f7c9bd</a:t>
            </a:r>
          </a:p>
        </p:txBody>
      </p:sp>
      <p:sp>
        <p:nvSpPr>
          <p:cNvPr id="5" name="">
            <a:extLst xmlns:a="http://schemas.openxmlformats.org/drawingml/2006/main">
              <a:ext uri="{FF2B5EF4-FFF2-40B4-BE49-F238E27FC236}">
                <a16:creationId xmlns:a16="http://schemas.microsoft.com/office/drawing/2014/main" id="{E6A676F4-4586-4120-9826-072E922DEE8B}"/>
              </a:ext>
            </a:extLst>
          </p:cNvPr>
          <p:cNvSpPr>
            <a:spLocks xmlns:a="http://schemas.openxmlformats.org/drawingml/2006/main" noGrp="1"/>
          </p:cNvSpPr>
          <p:nvPr/>
        </p:nvSpPr>
        <p:spPr>
          <a:xfrm xmlns:a="http://schemas.openxmlformats.org/drawingml/2006/main">
            <a:off x="685800" y="23431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MIT xv6 book, Locking chapter</a:t>
            </a:r>
          </a:p>
        </p:txBody>
      </p:sp>
      <p:sp>
        <p:nvSpPr>
          <p:cNvPr id="6" name="">
            <a:extLst xmlns:a="http://schemas.openxmlformats.org/drawingml/2006/main">
              <a:ext uri="{FF2B5EF4-FFF2-40B4-BE49-F238E27FC236}">
                <a16:creationId xmlns:a16="http://schemas.microsoft.com/office/drawing/2014/main" id="{3860B215-348F-4FBD-A6E3-224B9310EF95}"/>
              </a:ext>
            </a:extLst>
          </p:cNvPr>
          <p:cNvSpPr>
            <a:spLocks xmlns:a="http://schemas.openxmlformats.org/drawingml/2006/main" noGrp="1"/>
          </p:cNvSpPr>
          <p:nvPr/>
        </p:nvSpPr>
        <p:spPr>
          <a:xfrm xmlns:a="http://schemas.openxmlformats.org/drawingml/2006/main">
            <a:off x="685800" y="3162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POSIX.1 Base Definitions, memory synchronization</a:t>
            </a:r>
          </a:p>
        </p:txBody>
      </p:sp>
      <p:sp>
        <p:nvSpPr>
          <p:cNvPr id="7" name="">
            <a:extLst xmlns:a="http://schemas.openxmlformats.org/drawingml/2006/main">
              <a:ext uri="{FF2B5EF4-FFF2-40B4-BE49-F238E27FC236}">
                <a16:creationId xmlns:a16="http://schemas.microsoft.com/office/drawing/2014/main" id="{4C920014-058D-4EB5-A660-EEC6EF592398}"/>
              </a:ext>
            </a:extLst>
          </p:cNvPr>
          <p:cNvSpPr>
            <a:spLocks xmlns:a="http://schemas.openxmlformats.org/drawingml/2006/main" noGrp="1"/>
          </p:cNvSpPr>
          <p:nvPr/>
        </p:nvSpPr>
        <p:spPr>
          <a:xfrm xmlns:a="http://schemas.openxmlformats.org/drawingml/2006/main">
            <a:off x="685800" y="3981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Local evidence: original and c_validation CSVs, logs, diffs, checksums</a:t>
            </a:r>
          </a:p>
        </p:txBody>
      </p:sp>
      <p:sp>
        <p:nvSpPr>
          <p:cNvPr id="8" name="">
            <a:extLst xmlns:a="http://schemas.openxmlformats.org/drawingml/2006/main">
              <a:ext uri="{FF2B5EF4-FFF2-40B4-BE49-F238E27FC236}">
                <a16:creationId xmlns:a16="http://schemas.microsoft.com/office/drawing/2014/main" id="{F20C50C0-B0EE-4DAB-884D-936800B5E2F6}"/>
              </a:ext>
            </a:extLst>
          </p:cNvPr>
          <p:cNvSpPr>
            <a:spLocks xmlns:a="http://schemas.openxmlformats.org/drawingml/2006/main" noGrp="1"/>
          </p:cNvSpPr>
          <p:nvPr/>
        </p:nvSpPr>
        <p:spPr>
          <a:xfrm xmlns:a="http://schemas.openxmlformats.org/drawingml/2006/main">
            <a:off x="685800" y="48006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Faculty guidelines: 1000097330.pdf; team division PDF</a:t>
            </a:r>
          </a:p>
        </p:txBody>
      </p:sp>
      <p:sp>
        <p:nvSpPr>
          <p:cNvPr id="9" name="">
            <a:extLst xmlns:a="http://schemas.openxmlformats.org/drawingml/2006/main">
              <a:ext uri="{FF2B5EF4-FFF2-40B4-BE49-F238E27FC236}">
                <a16:creationId xmlns:a16="http://schemas.microsoft.com/office/drawing/2014/main" id="{287C9EA9-BEFD-47F3-A521-8BF06C440070}"/>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Full URLs and evidence locations are in speaker notes and report references.</a:t>
            </a:r>
          </a:p>
        </p:txBody>
      </p:sp>
    </p:spTree>
    <p:extLst>
      <p:ext uri="{BB962C8B-B14F-4D97-AF65-F5344CB8AC3E}">
        <p14:creationId xmlns:p14="http://schemas.microsoft.com/office/powerpoint/2010/main" val="194818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2026-10-26T08:15:33.0850000Z</dcterms:created>
  <dcterms:modified xsi:type="dcterms:W3CDTF">2026-10-26T08:15:33.0850000Z</dcterms:modified>
</coreProperties>
</file>