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8e3671c2044f68" /><Relationship Type="http://schemas.openxmlformats.org/officeDocument/2006/relationships/extended-properties" Target="/docProps/app.xml" Id="Ra5581c88893d4220" /><Relationship Type="http://schemas.openxmlformats.org/officeDocument/2006/relationships/officeDocument" Target="/ppt/presentation.xml" Id="R602abf6ecb4a47d3" /></Relationships>
</file>

<file path=ppt/presentation.xml><?xml version="1.0" encoding="utf-8"?>
<p:presentation xmlns:p="http://schemas.openxmlformats.org/presentationml/2006/main">
  <p:sldMasterIdLst>
    <p:sldMasterId xmlns:r="http://schemas.openxmlformats.org/officeDocument/2006/relationships" id="2147483648" r:id="R51055c9573674bf3"/>
  </p:sldMasterIdLst>
  <p:notesMasterIdLst>
    <p:notesMasterId xmlns:r="http://schemas.openxmlformats.org/officeDocument/2006/relationships" r:id="R8b54f5c0e51c4229"/>
  </p:notesMasterIdLst>
  <p:sldIdLst>
    <p:sldId xmlns:r="http://schemas.openxmlformats.org/officeDocument/2006/relationships" id="256" r:id="Rf6b6d977d80b434f"/>
    <p:sldId xmlns:r="http://schemas.openxmlformats.org/officeDocument/2006/relationships" id="257" r:id="Raab50996517d48a6"/>
    <p:sldId xmlns:r="http://schemas.openxmlformats.org/officeDocument/2006/relationships" id="258" r:id="Rc26fad7c6eba41be"/>
    <p:sldId xmlns:r="http://schemas.openxmlformats.org/officeDocument/2006/relationships" id="259" r:id="Rbb5a1e8f15464848"/>
    <p:sldId xmlns:r="http://schemas.openxmlformats.org/officeDocument/2006/relationships" id="260" r:id="Rc24f524ea9414991"/>
    <p:sldId xmlns:r="http://schemas.openxmlformats.org/officeDocument/2006/relationships" id="261" r:id="R24ab24dde743409b"/>
    <p:sldId xmlns:r="http://schemas.openxmlformats.org/officeDocument/2006/relationships" id="262" r:id="R9f6164c421a64c91"/>
    <p:sldId xmlns:r="http://schemas.openxmlformats.org/officeDocument/2006/relationships" id="263" r:id="R0870c04524134cfc"/>
    <p:sldId xmlns:r="http://schemas.openxmlformats.org/officeDocument/2006/relationships" id="264" r:id="Rb37777f62bd74344"/>
    <p:sldId xmlns:r="http://schemas.openxmlformats.org/officeDocument/2006/relationships" id="265" r:id="Rd2461eeb01004f96"/>
    <p:sldId xmlns:r="http://schemas.openxmlformats.org/officeDocument/2006/relationships" id="266" r:id="Rc309cca0c2f64e1d"/>
    <p:sldId xmlns:r="http://schemas.openxmlformats.org/officeDocument/2006/relationships" id="267" r:id="R2ac4215bc35b4eae"/>
    <p:sldId xmlns:r="http://schemas.openxmlformats.org/officeDocument/2006/relationships" id="268" r:id="R4b4d3996e240452a"/>
    <p:sldId xmlns:r="http://schemas.openxmlformats.org/officeDocument/2006/relationships" id="269" r:id="R78d24f982c9947e0"/>
    <p:sldId xmlns:r="http://schemas.openxmlformats.org/officeDocument/2006/relationships" id="270" r:id="R7366d535856e48c2"/>
    <p:sldId xmlns:r="http://schemas.openxmlformats.org/officeDocument/2006/relationships" id="271" r:id="R20702de45d7b4d98"/>
    <p:sldId xmlns:r="http://schemas.openxmlformats.org/officeDocument/2006/relationships" id="272" r:id="Rc7a66d3c812e44ee"/>
    <p:sldId xmlns:r="http://schemas.openxmlformats.org/officeDocument/2006/relationships" id="273" r:id="R1daf633a3d224027"/>
    <p:sldId xmlns:r="http://schemas.openxmlformats.org/officeDocument/2006/relationships" id="274" r:id="R2eb889b9513444ce"/>
    <p:sldId xmlns:r="http://schemas.openxmlformats.org/officeDocument/2006/relationships" id="275" r:id="R0163468d59c042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587fd08d4144c20" /><Relationship Type="http://schemas.openxmlformats.org/officeDocument/2006/relationships/slideMaster" Target="/ppt/slideMasters/slideMaster1.xml" Id="R51055c9573674bf3" /><Relationship Type="http://schemas.openxmlformats.org/officeDocument/2006/relationships/notesMaster" Target="/ppt/notesMasters/notesMaster1.xml" Id="R8b54f5c0e51c4229" /><Relationship Type="http://schemas.openxmlformats.org/officeDocument/2006/relationships/presProps" Target="/ppt/presProps.xml" Id="Rbc29b6ce90ae48c0" /><Relationship Type="http://schemas.openxmlformats.org/officeDocument/2006/relationships/tableStyles" Target="/ppt/tableStyles.xml" Id="R56f708358f45443f" /><Relationship Type="http://schemas.openxmlformats.org/officeDocument/2006/relationships/slide" Target="/ppt/slides/slide1.xml" Id="Rf6b6d977d80b434f" /><Relationship Type="http://schemas.openxmlformats.org/officeDocument/2006/relationships/slide" Target="/ppt/slides/slide2.xml" Id="Raab50996517d48a6" /><Relationship Type="http://schemas.openxmlformats.org/officeDocument/2006/relationships/slide" Target="/ppt/slides/slide3.xml" Id="Rc26fad7c6eba41be" /><Relationship Type="http://schemas.openxmlformats.org/officeDocument/2006/relationships/slide" Target="/ppt/slides/slide4.xml" Id="Rbb5a1e8f15464848" /><Relationship Type="http://schemas.openxmlformats.org/officeDocument/2006/relationships/slide" Target="/ppt/slides/slide5.xml" Id="Rc24f524ea9414991" /><Relationship Type="http://schemas.openxmlformats.org/officeDocument/2006/relationships/slide" Target="/ppt/slides/slide6.xml" Id="R24ab24dde743409b" /><Relationship Type="http://schemas.openxmlformats.org/officeDocument/2006/relationships/slide" Target="/ppt/slides/slide7.xml" Id="R9f6164c421a64c91" /><Relationship Type="http://schemas.openxmlformats.org/officeDocument/2006/relationships/slide" Target="/ppt/slides/slide8.xml" Id="R0870c04524134cfc" /><Relationship Type="http://schemas.openxmlformats.org/officeDocument/2006/relationships/slide" Target="/ppt/slides/slide9.xml" Id="Rb37777f62bd74344" /><Relationship Type="http://schemas.openxmlformats.org/officeDocument/2006/relationships/slide" Target="/ppt/slides/slide10.xml" Id="Rd2461eeb01004f96" /><Relationship Type="http://schemas.openxmlformats.org/officeDocument/2006/relationships/slide" Target="/ppt/slides/slide11.xml" Id="Rc309cca0c2f64e1d" /><Relationship Type="http://schemas.openxmlformats.org/officeDocument/2006/relationships/slide" Target="/ppt/slides/slide12.xml" Id="R2ac4215bc35b4eae" /><Relationship Type="http://schemas.openxmlformats.org/officeDocument/2006/relationships/slide" Target="/ppt/slides/slide13.xml" Id="R4b4d3996e240452a" /><Relationship Type="http://schemas.openxmlformats.org/officeDocument/2006/relationships/slide" Target="/ppt/slides/slide14.xml" Id="R78d24f982c9947e0" /><Relationship Type="http://schemas.openxmlformats.org/officeDocument/2006/relationships/slide" Target="/ppt/slides/slide15.xml" Id="R7366d535856e48c2" /><Relationship Type="http://schemas.openxmlformats.org/officeDocument/2006/relationships/slide" Target="/ppt/slides/slide16.xml" Id="R20702de45d7b4d98" /><Relationship Type="http://schemas.openxmlformats.org/officeDocument/2006/relationships/slide" Target="/ppt/slides/slide17.xml" Id="Rc7a66d3c812e44ee" /><Relationship Type="http://schemas.openxmlformats.org/officeDocument/2006/relationships/slide" Target="/ppt/slides/slide18.xml" Id="R1daf633a3d224027" /><Relationship Type="http://schemas.openxmlformats.org/officeDocument/2006/relationships/slide" Target="/ppt/slides/slide19.xml" Id="R2eb889b9513444ce" /><Relationship Type="http://schemas.openxmlformats.org/officeDocument/2006/relationships/slide" Target="/ppt/slides/slide20.xml" Id="R0163468d59c042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69062e12074a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8ffbff5782479a" /><Relationship Type="http://schemas.openxmlformats.org/officeDocument/2006/relationships/notesMaster" Target="/ppt/notesMasters/notesMaster1.xml" Id="R9f1fae75de074d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e8552bff634609" /><Relationship Type="http://schemas.openxmlformats.org/officeDocument/2006/relationships/notesMaster" Target="/ppt/notesMasters/notesMaster1.xml" Id="R227dfb33b8f642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9f8345d0b14168" /><Relationship Type="http://schemas.openxmlformats.org/officeDocument/2006/relationships/notesMaster" Target="/ppt/notesMasters/notesMaster1.xml" Id="Rd40a42e59a8c46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0beffe6fc14431" /><Relationship Type="http://schemas.openxmlformats.org/officeDocument/2006/relationships/notesMaster" Target="/ppt/notesMasters/notesMaster1.xml" Id="R11b5d19329b643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c9c5ac42014f42" /><Relationship Type="http://schemas.openxmlformats.org/officeDocument/2006/relationships/notesMaster" Target="/ppt/notesMasters/notesMaster1.xml" Id="R727541d812034cf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d455d58ccc41dc" /><Relationship Type="http://schemas.openxmlformats.org/officeDocument/2006/relationships/notesMaster" Target="/ppt/notesMasters/notesMaster1.xml" Id="R0fab981e82954c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40bcb7e04f47ab" /><Relationship Type="http://schemas.openxmlformats.org/officeDocument/2006/relationships/notesMaster" Target="/ppt/notesMasters/notesMaster1.xml" Id="R25dfdf0aa11b4c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e9c3a3b3614e3a" /><Relationship Type="http://schemas.openxmlformats.org/officeDocument/2006/relationships/notesMaster" Target="/ppt/notesMasters/notesMaster1.xml" Id="Rc6f34fef531648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4db2d955a3f461b" /><Relationship Type="http://schemas.openxmlformats.org/officeDocument/2006/relationships/notesMaster" Target="/ppt/notesMasters/notesMaster1.xml" Id="R3d469b8adb044b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c9c524c93774762" /><Relationship Type="http://schemas.openxmlformats.org/officeDocument/2006/relationships/notesMaster" Target="/ppt/notesMasters/notesMaster1.xml" Id="R9427046e825346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2e79492f0540db" /><Relationship Type="http://schemas.openxmlformats.org/officeDocument/2006/relationships/notesMaster" Target="/ppt/notesMasters/notesMaster1.xml" Id="R4cc7557c4f3842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34054d914dc4d1e" /><Relationship Type="http://schemas.openxmlformats.org/officeDocument/2006/relationships/notesMaster" Target="/ppt/notesMasters/notesMaster1.xml" Id="R2836deba84a54aa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4cf14fcb5c4edd" /><Relationship Type="http://schemas.openxmlformats.org/officeDocument/2006/relationships/notesMaster" Target="/ppt/notesMasters/notesMaster1.xml" Id="R616b7148750247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319da9670948c1" /><Relationship Type="http://schemas.openxmlformats.org/officeDocument/2006/relationships/notesMaster" Target="/ppt/notesMasters/notesMaster1.xml" Id="Rf325fc44e2914f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149a6fcec549a1" /><Relationship Type="http://schemas.openxmlformats.org/officeDocument/2006/relationships/notesMaster" Target="/ppt/notesMasters/notesMaster1.xml" Id="R2fc893567b8d49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7c8077ba4a4cad" /><Relationship Type="http://schemas.openxmlformats.org/officeDocument/2006/relationships/notesMaster" Target="/ppt/notesMasters/notesMaster1.xml" Id="R8949c1b98be640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1af22e7e8664bef" /><Relationship Type="http://schemas.openxmlformats.org/officeDocument/2006/relationships/notesMaster" Target="/ppt/notesMasters/notesMaster1.xml" Id="Ra8f9c44882bf4ab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1a755a9071f47b6" /><Relationship Type="http://schemas.openxmlformats.org/officeDocument/2006/relationships/notesMaster" Target="/ppt/notesMasters/notesMaster1.xml" Id="Rd8db8dc76f8d475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cbba23976ae4d63" /><Relationship Type="http://schemas.openxmlformats.org/officeDocument/2006/relationships/notesMaster" Target="/ppt/notesMasters/notesMaster1.xml" Id="Rf674777c6ab8479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bc1c6e29981481e" /><Relationship Type="http://schemas.openxmlformats.org/officeDocument/2006/relationships/notesMaster" Target="/ppt/notesMasters/notesMaster1.xml" Id="R38fdd475a5b94c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the physical-memory free list as the shared structure. The project compares original locking, a temporary four-call removal, and restoration. The activity and expected outcome follow the supplied faculty 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how concurrent operations interleave. The xv6 example is the allocator: without kmem.lock, CPU 0 and CPU 1 can both read P as the free-list head, both advance the head from the same stale pointer, and both return P. This is a source-level possible schedule, not a trace claimed for any one recorded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checked xv6 implementation from kernel/spinlock.c. acquire() calls push_off(), rejects recursive ownership, and spins on an atomic exchange with acquire ordering. release() checks ownership, clears the owner record, publishes protected stores with release ordering, then calls pop_off(). Atomic exchange provides cross-CPU exclusion; push_off handles local interrupt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spinlock provides exclusive access while a CPU waits actively. A semaphore manages permits, a condition variable lets a thread wait for a predicate under a mutex, a reader-writer lock permits concurrent readers, and a barrier waits for a group phase. Atomic operations protect indivisible updates but do not automatically protect a multi-step object invariant. Only the allocator spinlock was measured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guest C program uses a pipe as a start gate, forks four children, and only releases them after all workers exist. Each worker repeats 200 rounds of sbrk(8*4096), writes a unique byte tag across the 32 KiB allocation, waits briefly in user space, rereads each byte, then calls sbrk(-bytes). The parent verifies every wait() status. volatile requests fresh reads in this test; it does not synchronize the kernel or prevent aliasing of a physical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saved original-set log A01, not a native desktop screenshot. The original locked phase had 10 PASS outcomes in 10 attempts. Full logs are in member1_completed/evidence/.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original-set log B02. Its primary CSV category is CORRUPTION even though the same output also includes a kernel trap. The original unlocked phase had three corruption outcomes, four panic or trap outcomes, two test failures, and one timeout. Do not infer a specific instruction interleaving from this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restoration evidence shows the allocator hash check and empty final allocator diff. The final kernel was rebuilt with the original locks. In the original set, all ten restored attempts passed. This is a rendered excerpt from saved files,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diagram based on the checked source and recorded host workflow. Guest growth: user/race_test.c → user/ulib.c sbrk → kernel/sysproc.c sys_sbrk → kernel/proc.c growproc → kernel/vm.c uvmalloc → kernel/kalloc.c kalloc. Shrink reaches uvmdealloc/uvmunmap and kfree. Host phases are controlled by member1_tools.c: baseline with four lock calls present, a deliberate edit of exactly four acquire/release calls, then byte-for-byte restoration and rebuild. atexit(restore) handles normal C process termination; it cannot guarantee recovery after power loss or forced termination. Evidence CSV and raw logs remain separated by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and rendered plot summarize the original dataset. The separate C-runner dataset had one corruption, six panic/trap, two test failures, and one timeout in its unlocked phase. Both datasets had ten PASS outcomes in locked and restored phases. Each attempt reached the shell and began the test. A timeout is not proof of deadlock, and elapsed time is not a benchmark. The plot is a rendered figure from saved results,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consulted: MIT xv6 RISC-V book, locking chapter, https://mit-pdos.github.io/xv6-riscv-book/lock.html. Exact xv6 source, https://github.com/mit-pdos/xv6-riscv/tree/f780d7850765d74cbdcd1fff4b822d8829f7c9bd. POSIX synchronization, https://pubs.opengroup.org/onlinepubs/9699919799/basedefs/V1_chap04.html. Local evidence is in member1_completed/evidence/ and member1_completed/c_validation/. Assignment requirements are in 1000097330.pdf and XV6_Race_Condition_Four_Member_Division.pdf.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4e0e7d7a0f40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5d1b4e5188d426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572df3f06245b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65b6bff16544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9eb07904b9481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4cfe11a7b742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467b7f89c264af6" /><Relationship Type="http://schemas.openxmlformats.org/officeDocument/2006/relationships/slideLayout" Target="/ppt/slideLayouts/slideLayout1.xml" Id="Rff0e9e37b9a54829" /><Relationship Type="http://schemas.openxmlformats.org/officeDocument/2006/relationships/slideLayout" Target="/ppt/slideLayouts/slideLayout2.xml" Id="Rda193f023fc74a36" /><Relationship Type="http://schemas.openxmlformats.org/officeDocument/2006/relationships/slideLayout" Target="/ppt/slideLayouts/slideLayout3.xml" Id="R81fe6620254547d6" /><Relationship Type="http://schemas.openxmlformats.org/officeDocument/2006/relationships/slideLayout" Target="/ppt/slideLayouts/slideLayout4.xml" Id="R3d9178c503b144aa" /><Relationship Type="http://schemas.openxmlformats.org/officeDocument/2006/relationships/slideLayout" Target="/ppt/slideLayouts/slideLayout5.xml" Id="Rbd687660847f4bf7" /><Relationship Type="http://schemas.openxmlformats.org/officeDocument/2006/relationships/slideLayout" Target="/ppt/slideLayouts/slideLayout6.xml" Id="R19a158571c954b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0e9e37b9a54829"/>
    <p:sldLayoutId xmlns:r="http://schemas.openxmlformats.org/officeDocument/2006/relationships" id="2147483650" r:id="Rda193f023fc74a36"/>
    <p:sldLayoutId xmlns:r="http://schemas.openxmlformats.org/officeDocument/2006/relationships" id="2147483651" r:id="R81fe6620254547d6"/>
    <p:sldLayoutId xmlns:r="http://schemas.openxmlformats.org/officeDocument/2006/relationships" id="2147483652" r:id="R3d9178c503b144aa"/>
    <p:sldLayoutId xmlns:r="http://schemas.openxmlformats.org/officeDocument/2006/relationships" id="2147483653" r:id="Rbd687660847f4bf7"/>
    <p:sldLayoutId xmlns:r="http://schemas.openxmlformats.org/officeDocument/2006/relationships" id="2147483654" r:id="R19a158571c954b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3ba1388b71a4860" /><Relationship Type="http://schemas.openxmlformats.org/officeDocument/2006/relationships/notesSlide" Target="/ppt/notesSlides/notesSlide1.xml" Id="R770de6f28ddd4d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17ddeeaadc498d" /><Relationship Type="http://schemas.openxmlformats.org/officeDocument/2006/relationships/notesSlide" Target="/ppt/notesSlides/notesSlide2.xml" Id="Rdd15006aeb6241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4edcf5204cb429c" /><Relationship Type="http://schemas.openxmlformats.org/officeDocument/2006/relationships/notesSlide" Target="/ppt/notesSlides/notesSlide3.xml" Id="R9c1cb6ae9c2a4c4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621eb0a0ec94ee2" /><Relationship Type="http://schemas.openxmlformats.org/officeDocument/2006/relationships/notesSlide" Target="/ppt/notesSlides/notesSlide4.xml" Id="Rfc358beeca3340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eac8b4a99e845d6" /><Relationship Type="http://schemas.openxmlformats.org/officeDocument/2006/relationships/notesSlide" Target="/ppt/notesSlides/notesSlide5.xml" Id="Rbaaef8a2e22842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53fa318b02c4cab" /><Relationship Type="http://schemas.openxmlformats.org/officeDocument/2006/relationships/notesSlide" Target="/ppt/notesSlides/notesSlide6.xml" Id="R44db38dc25b346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6df075ea8c0413e" /><Relationship Type="http://schemas.openxmlformats.org/officeDocument/2006/relationships/notesSlide" Target="/ppt/notesSlides/notesSlide7.xml" Id="Rc083061dcc1d46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ff0942c70854ae1" /><Relationship Type="http://schemas.openxmlformats.org/officeDocument/2006/relationships/notesSlide" Target="/ppt/notesSlides/notesSlide8.xml" Id="R9677da7f851a45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5eab31b2376495d" /><Relationship Type="http://schemas.openxmlformats.org/officeDocument/2006/relationships/notesSlide" Target="/ppt/notesSlides/notesSlide9.xml" Id="Rb282e8398e284e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33c6fcac26f47c4" /><Relationship Type="http://schemas.openxmlformats.org/officeDocument/2006/relationships/notesSlide" Target="/ppt/notesSlides/notesSlide10.xml" Id="Rea1de6304ef1424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53ef49ed9fe49ea" /><Relationship Type="http://schemas.openxmlformats.org/officeDocument/2006/relationships/notesSlide" Target="/ppt/notesSlides/notesSlide11.xml" Id="R42747789071043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8e4d27aaf2444a5" /><Relationship Type="http://schemas.openxmlformats.org/officeDocument/2006/relationships/notesSlide" Target="/ppt/notesSlides/notesSlide12.xml" Id="Rdad58cf9be5246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22db703b942475f" /><Relationship Type="http://schemas.openxmlformats.org/officeDocument/2006/relationships/image" Target="/ppt/media/image.png" Id="R24a84de0a8e14c47" /><Relationship Type="http://schemas.openxmlformats.org/officeDocument/2006/relationships/notesSlide" Target="/ppt/notesSlides/notesSlide13.xml" Id="R3807636144ab49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0b8c7ac69f94cee" /><Relationship Type="http://schemas.openxmlformats.org/officeDocument/2006/relationships/image" Target="/ppt/media/image2.png" Id="Rc57d1d099c0e4c88" /><Relationship Type="http://schemas.openxmlformats.org/officeDocument/2006/relationships/notesSlide" Target="/ppt/notesSlides/notesSlide14.xml" Id="R2dad7c5f842648c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0220b8dbbf7453b" /><Relationship Type="http://schemas.openxmlformats.org/officeDocument/2006/relationships/image" Target="/ppt/media/image3.png" Id="R3bea0f606e5e43c3" /><Relationship Type="http://schemas.openxmlformats.org/officeDocument/2006/relationships/notesSlide" Target="/ppt/notesSlides/notesSlide15.xml" Id="R9072db9aba714d4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52d5981a15e4cce" /><Relationship Type="http://schemas.openxmlformats.org/officeDocument/2006/relationships/image" Target="/ppt/media/image4.png" Id="Ra6e378a91eb0439a" /><Relationship Type="http://schemas.openxmlformats.org/officeDocument/2006/relationships/notesSlide" Target="/ppt/notesSlides/notesSlide16.xml" Id="R8fa56f1ca0c3463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1ab2e7007514ad6" /><Relationship Type="http://schemas.openxmlformats.org/officeDocument/2006/relationships/notesSlide" Target="/ppt/notesSlides/notesSlide17.xml" Id="Ra8b05b29af6d4c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d78fcc27a12482a" /><Relationship Type="http://schemas.openxmlformats.org/officeDocument/2006/relationships/image" Target="/ppt/media/image5.png" Id="Re9de6606f9e14201" /><Relationship Type="http://schemas.openxmlformats.org/officeDocument/2006/relationships/notesSlide" Target="/ppt/notesSlides/notesSlide18.xml" Id="Rdb10ed46825f4d7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387ec59648e45a7" /><Relationship Type="http://schemas.openxmlformats.org/officeDocument/2006/relationships/notesSlide" Target="/ppt/notesSlides/notesSlide19.xml" Id="R5d07a4628aba426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d7bec38a29b4756" /><Relationship Type="http://schemas.openxmlformats.org/officeDocument/2006/relationships/notesSlide" Target="/ppt/notesSlides/notesSlide20.xml" Id="Rdfd5cd9f65bf4a2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Statement: Study how race conditions can occur when multiple processes or CPUs access shared kernel data without proper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Analyse how XV6 prevents inconsistent updates using locking mechanisms.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races and critical sections, identify shared data, explain mutual exclusion, observe concurrent updates, and explain how locks preserve consistency.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Activities: inspect the free list and its lock, reason about lock removal, record possible two-CPU outcomes, then restore locking and compare. Expected outcome: explain safe shared-data access.</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What is a race condition?</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 race makes correctness depend on shared-data timing.</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In xv6, concurrent kalloc() calls can read the same kmem.freelist head.</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A stale free-list head can assign page P twice</a:t>
            </a:r>
          </a:p>
        </p:txBody>
      </p:sp>
      <p:graphicFrame>
        <p:nvGraphicFramePr>
          <p:cNvPr id="7" name="">
            <a:extLst xmlns:a="http://schemas.openxmlformats.org/drawingml/2006/main">
              <a:ext uri="{FF2B5EF4-FFF2-40B4-BE49-F238E27FC236}">
                <a16:creationId xmlns:a16="http://schemas.microsoft.com/office/drawing/2014/main" id="{8E05AF32-3796-4CE5-8F41-8182ADDD87C6}"/>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r0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r1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Two callers may return P and corrupt separate processes' data.</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Problems generated by race conditions</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remove a free page from the list.</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both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cause allocator corruption, failures, or kernel traps.</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Shared-state errors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Timeout is an observation,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How can race conditions be solved?</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every shared update with the lock associated with that data.</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Include dependent reads and writes in the same critical section.</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lock ownership with acquire and 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protected section short and use one locking discipline.</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xv6 allocator already uses kmem.lock; this study restores it.</a:t>
            </a:r>
          </a:p>
        </p:txBody>
      </p:sp>
    </p:spTree>
    <p:extLst>
      <p:ext uri="{BB962C8B-B14F-4D97-AF65-F5344CB8AC3E}">
        <p14:creationId xmlns:p14="http://schemas.microsoft.com/office/powerpoint/2010/main" val="11413415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 What is synchronization?</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acquire(): push_off() disables local interrupt re-entry.</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202A"/>
                </a:solidFill>
                <a:latin typeface="Arial"/>
                <a:ea typeface="Arial"/>
                <a:cs typeface="Arial"/>
              </a:defRPr>
            </a:defPPr>
            <a:lvl1pPr algn="l">
              <a:buNone/>
              <a:defRPr sz="2250" b="0">
                <a:solidFill>
                  <a:srgbClr val="17202A"/>
                </a:solidFill>
                <a:latin typeface="Arial"/>
                <a:ea typeface="Arial"/>
                <a:cs typeface="Arial"/>
              </a:defRPr>
            </a:lvl1pPr>
            <a:lvl2pPr algn="l">
              <a:buNone/>
              <a:defRPr sz="2250" b="0">
                <a:solidFill>
                  <a:srgbClr val="17202A"/>
                </a:solidFill>
                <a:latin typeface="Arial"/>
                <a:ea typeface="Arial"/>
                <a:cs typeface="Arial"/>
              </a:defRPr>
            </a:lvl2pPr>
            <a:lvl3pPr algn="l">
              <a:buNone/>
              <a:defRPr sz="2250" b="0">
                <a:solidFill>
                  <a:srgbClr val="17202A"/>
                </a:solidFill>
                <a:latin typeface="Arial"/>
                <a:ea typeface="Arial"/>
                <a:cs typeface="Arial"/>
              </a:defRPr>
            </a:lvl3pPr>
            <a:lvl4pPr algn="l">
              <a:buNone/>
              <a:defRPr sz="2250" b="0">
                <a:solidFill>
                  <a:srgbClr val="17202A"/>
                </a:solidFill>
                <a:latin typeface="Arial"/>
                <a:ea typeface="Arial"/>
                <a:cs typeface="Arial"/>
              </a:defRPr>
            </a:lvl4pPr>
            <a:lvl5pPr algn="l">
              <a:buNone/>
              <a:defRPr sz="2250" b="0">
                <a:solidFill>
                  <a:srgbClr val="17202A"/>
                </a:solidFill>
                <a:latin typeface="Arial"/>
                <a:ea typeface="Arial"/>
                <a:cs typeface="Arial"/>
              </a:defRPr>
            </a:lvl5pPr>
            <a:lvl6pPr algn="l">
              <a:buNone/>
              <a:defRPr sz="2250" b="0">
                <a:solidFill>
                  <a:srgbClr val="17202A"/>
                </a:solidFill>
                <a:latin typeface="Arial"/>
                <a:ea typeface="Arial"/>
                <a:cs typeface="Arial"/>
              </a:defRPr>
            </a:lvl6pPr>
            <a:lvl7pPr algn="l">
              <a:buNone/>
              <a:defRPr sz="2250" b="0">
                <a:solidFill>
                  <a:srgbClr val="17202A"/>
                </a:solidFill>
                <a:latin typeface="Arial"/>
                <a:ea typeface="Arial"/>
                <a:cs typeface="Arial"/>
              </a:defRPr>
            </a:lvl7pPr>
            <a:lvl8pPr algn="l">
              <a:buNone/>
              <a:defRPr sz="2250" b="0">
                <a:solidFill>
                  <a:srgbClr val="17202A"/>
                </a:solidFill>
                <a:latin typeface="Arial"/>
                <a:ea typeface="Arial"/>
                <a:cs typeface="Arial"/>
              </a:defRPr>
            </a:lvl8pPr>
            <a:lvl9pPr algn="l">
              <a:buNone/>
              <a:defRPr sz="2250" b="0">
                <a:solidFill>
                  <a:srgbClr val="17202A"/>
                </a:solidFill>
                <a:latin typeface="Arial"/>
                <a:ea typeface="Arial"/>
                <a:cs typeface="Arial"/>
              </a:defRPr>
            </a:lvl9pPr>
          </a:lstStyle>
          <a:p xmlns:a="http://schemas.openxmlformats.org/drawingml/2006/main">
            <a:pPr algn="l">
              <a:buNone/>
              <a:defRPr sz="1725" b="0">
                <a:solidFill>
                  <a:srgbClr val="17202A"/>
                </a:solidFill>
                <a:latin typeface="Arial"/>
                <a:ea typeface="Arial"/>
                <a:cs typeface="Arial"/>
              </a:defRPr>
            </a:pPr>
            <a:r>
              <a:rPr sz="1725" b="0">
                <a:solidFill>
                  <a:srgbClr val="17202A"/>
                </a:solidFill>
                <a:latin typeface="Arial"/>
                <a:ea typeface="Arial"/>
                <a:cs typeface="Arial"/>
              </a:rPr>
              <a:t>while (__atomic_exchange_n(&amp;lk-&gt;locked, 1, __ATOMIC_ACQUIRE)) ;</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Critical section: mutate kmem.freelist and r-&gt;next as one operation.</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7202A"/>
                </a:solidFill>
                <a:latin typeface="Arial"/>
                <a:ea typeface="Arial"/>
                <a:cs typeface="Arial"/>
              </a:defRPr>
            </a:defPPr>
            <a:lvl1pPr algn="l">
              <a:buNone/>
              <a:defRPr sz="2250" b="0">
                <a:solidFill>
                  <a:srgbClr val="17202A"/>
                </a:solidFill>
                <a:latin typeface="Arial"/>
                <a:ea typeface="Arial"/>
                <a:cs typeface="Arial"/>
              </a:defRPr>
            </a:lvl1pPr>
            <a:lvl2pPr algn="l">
              <a:buNone/>
              <a:defRPr sz="2250" b="0">
                <a:solidFill>
                  <a:srgbClr val="17202A"/>
                </a:solidFill>
                <a:latin typeface="Arial"/>
                <a:ea typeface="Arial"/>
                <a:cs typeface="Arial"/>
              </a:defRPr>
            </a:lvl2pPr>
            <a:lvl3pPr algn="l">
              <a:buNone/>
              <a:defRPr sz="2250" b="0">
                <a:solidFill>
                  <a:srgbClr val="17202A"/>
                </a:solidFill>
                <a:latin typeface="Arial"/>
                <a:ea typeface="Arial"/>
                <a:cs typeface="Arial"/>
              </a:defRPr>
            </a:lvl3pPr>
            <a:lvl4pPr algn="l">
              <a:buNone/>
              <a:defRPr sz="2250" b="0">
                <a:solidFill>
                  <a:srgbClr val="17202A"/>
                </a:solidFill>
                <a:latin typeface="Arial"/>
                <a:ea typeface="Arial"/>
                <a:cs typeface="Arial"/>
              </a:defRPr>
            </a:lvl4pPr>
            <a:lvl5pPr algn="l">
              <a:buNone/>
              <a:defRPr sz="2250" b="0">
                <a:solidFill>
                  <a:srgbClr val="17202A"/>
                </a:solidFill>
                <a:latin typeface="Arial"/>
                <a:ea typeface="Arial"/>
                <a:cs typeface="Arial"/>
              </a:defRPr>
            </a:lvl5pPr>
            <a:lvl6pPr algn="l">
              <a:buNone/>
              <a:defRPr sz="2250" b="0">
                <a:solidFill>
                  <a:srgbClr val="17202A"/>
                </a:solidFill>
                <a:latin typeface="Arial"/>
                <a:ea typeface="Arial"/>
                <a:cs typeface="Arial"/>
              </a:defRPr>
            </a:lvl6pPr>
            <a:lvl7pPr algn="l">
              <a:buNone/>
              <a:defRPr sz="2250" b="0">
                <a:solidFill>
                  <a:srgbClr val="17202A"/>
                </a:solidFill>
                <a:latin typeface="Arial"/>
                <a:ea typeface="Arial"/>
                <a:cs typeface="Arial"/>
              </a:defRPr>
            </a:lvl7pPr>
            <a:lvl8pPr algn="l">
              <a:buNone/>
              <a:defRPr sz="2250" b="0">
                <a:solidFill>
                  <a:srgbClr val="17202A"/>
                </a:solidFill>
                <a:latin typeface="Arial"/>
                <a:ea typeface="Arial"/>
                <a:cs typeface="Arial"/>
              </a:defRPr>
            </a:lvl8pPr>
            <a:lvl9pPr algn="l">
              <a:buNone/>
              <a:defRPr sz="2250" b="0">
                <a:solidFill>
                  <a:srgbClr val="17202A"/>
                </a:solidFill>
                <a:latin typeface="Arial"/>
                <a:ea typeface="Arial"/>
                <a:cs typeface="Arial"/>
              </a:defRPr>
            </a:lvl9pPr>
          </a:lstStyle>
          <a:p xmlns:a="http://schemas.openxmlformats.org/drawingml/2006/main">
            <a:pPr algn="l">
              <a:buNone/>
              <a:defRPr sz="1725" b="0">
                <a:solidFill>
                  <a:srgbClr val="17202A"/>
                </a:solidFill>
                <a:latin typeface="Arial"/>
                <a:ea typeface="Arial"/>
                <a:cs typeface="Arial"/>
              </a:defRPr>
            </a:pPr>
            <a:r>
              <a:rPr sz="1725" b="0">
                <a:solidFill>
                  <a:srgbClr val="17202A"/>
                </a:solidFill>
                <a:latin typeface="Arial"/>
                <a:ea typeface="Arial"/>
                <a:cs typeface="Arial"/>
              </a:rPr>
              <a:t>__atomic_store_n(&amp;lk-&gt;locked, 0, __ATOMIC_RELEASE); pop_off();</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Atomic ownership excludes other CPUs; interrupt masking alone cannot.</a:t>
            </a:r>
          </a:p>
        </p:txBody>
      </p:sp>
    </p:spTree>
    <p:extLst>
      <p:ext uri="{BB962C8B-B14F-4D97-AF65-F5344CB8AC3E}">
        <p14:creationId xmlns:p14="http://schemas.microsoft.com/office/powerpoint/2010/main" val="13607233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5. Types of synchronization</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Common synchronization methods</a:t>
            </a:r>
          </a:p>
        </p:txBody>
      </p:sp>
      <p:graphicFrame>
        <p:nvGraphicFramePr>
          <p:cNvPr id="5" name="">
            <a:extLst xmlns:a="http://schemas.openxmlformats.org/drawingml/2006/main">
              <a:ext uri="{FF2B5EF4-FFF2-40B4-BE49-F238E27FC236}">
                <a16:creationId xmlns:a16="http://schemas.microsoft.com/office/drawing/2014/main" id="{5D2C97BD-271F-4018-8140-E7C387BFAC13}"/>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Method</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Suitable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Mutex / spinlock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Exclusive access; sleep or busy-wait as appropriate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Semaphore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Available permits or bounded resources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Condition variable / monitor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 state predicate under an exclusion rule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Reader-writer 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Concurrent readers; exclusive writers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Barrier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all participants at a phase boundary</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Atomic operation</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Indivisible update; not a whole-object guarantee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xv6’s allocator spinlock was tested in this case study.</a:t>
            </a:r>
          </a:p>
        </p:txBody>
      </p:sp>
    </p:spTree>
    <p:extLst>
      <p:ext uri="{BB962C8B-B14F-4D97-AF65-F5344CB8AC3E}">
        <p14:creationId xmlns:p14="http://schemas.microsoft.com/office/powerpoint/2010/main" val="16018613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How xv6 protects the shared free list</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1. kalloc() and kfree() update the free list inside kmem.lock.</a:t>
            </a:r>
          </a:p>
        </p:txBody>
      </p:sp>
    </p:spTree>
    <p:extLst>
      <p:ext uri="{BB962C8B-B14F-4D97-AF65-F5344CB8AC3E}">
        <p14:creationId xmlns:p14="http://schemas.microsoft.com/office/powerpoint/2010/main" val="8716670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user/race_test.c</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workers, waits for all four, then writes one gate token per child.</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worker requests eight pages, fills a child-specific tag, rereads 32 KiB, then shrinks.</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325" b="0">
                <a:solidFill>
                  <a:srgbClr val="17202A"/>
                </a:solidFill>
                <a:latin typeface="Arial"/>
                <a:ea typeface="Arial"/>
                <a:cs typeface="Arial"/>
              </a:defRPr>
            </a:lvl1pPr>
            <a:lvl2pPr algn="l">
              <a:buNone/>
              <a:defRPr sz="2325" b="0">
                <a:solidFill>
                  <a:srgbClr val="17202A"/>
                </a:solidFill>
                <a:latin typeface="Arial"/>
                <a:ea typeface="Arial"/>
                <a:cs typeface="Arial"/>
              </a:defRPr>
            </a:lvl2pPr>
            <a:lvl3pPr algn="l">
              <a:buNone/>
              <a:defRPr sz="2325" b="0">
                <a:solidFill>
                  <a:srgbClr val="17202A"/>
                </a:solidFill>
                <a:latin typeface="Arial"/>
                <a:ea typeface="Arial"/>
                <a:cs typeface="Arial"/>
              </a:defRPr>
            </a:lvl3pPr>
            <a:lvl4pPr algn="l">
              <a:buNone/>
              <a:defRPr sz="2325" b="0">
                <a:solidFill>
                  <a:srgbClr val="17202A"/>
                </a:solidFill>
                <a:latin typeface="Arial"/>
                <a:ea typeface="Arial"/>
                <a:cs typeface="Arial"/>
              </a:defRPr>
            </a:lvl4pPr>
            <a:lvl5pPr algn="l">
              <a:buNone/>
              <a:defRPr sz="2325" b="0">
                <a:solidFill>
                  <a:srgbClr val="17202A"/>
                </a:solidFill>
                <a:latin typeface="Arial"/>
                <a:ea typeface="Arial"/>
                <a:cs typeface="Arial"/>
              </a:defRPr>
            </a:lvl5pPr>
            <a:lvl6pPr algn="l">
              <a:buNone/>
              <a:defRPr sz="2325" b="0">
                <a:solidFill>
                  <a:srgbClr val="17202A"/>
                </a:solidFill>
                <a:latin typeface="Arial"/>
                <a:ea typeface="Arial"/>
                <a:cs typeface="Arial"/>
              </a:defRPr>
            </a:lvl6pPr>
            <a:lvl7pPr algn="l">
              <a:buNone/>
              <a:defRPr sz="2325" b="0">
                <a:solidFill>
                  <a:srgbClr val="17202A"/>
                </a:solidFill>
                <a:latin typeface="Arial"/>
                <a:ea typeface="Arial"/>
                <a:cs typeface="Arial"/>
              </a:defRPr>
            </a:lvl7pPr>
            <a:lvl8pPr algn="l">
              <a:buNone/>
              <a:defRPr sz="2325" b="0">
                <a:solidFill>
                  <a:srgbClr val="17202A"/>
                </a:solidFill>
                <a:latin typeface="Arial"/>
                <a:ea typeface="Arial"/>
                <a:cs typeface="Arial"/>
              </a:defRPr>
            </a:lvl8pPr>
            <a:lvl9pPr algn="l">
              <a:buNone/>
              <a:defRPr sz="23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volatile uchar *memory = (volatile uchar *)allocation;</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for (int offset = 0; offset &lt; bytes; offset++)</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memory[offset] = tag;</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Any pipe/fork error or non-zero wait() status makes the run fail.</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worker repeats this allocate-write-check-free cycle for 200 rounds.</a:t>
            </a:r>
          </a:p>
        </p:txBody>
      </p:sp>
    </p:spTree>
    <p:extLst>
      <p:ext uri="{BB962C8B-B14F-4D97-AF65-F5344CB8AC3E}">
        <p14:creationId xmlns:p14="http://schemas.microsoft.com/office/powerpoint/2010/main" val="6214101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member1_tools.c and WSL commands</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allocation path ends in kalloc(); shrink reaches kfree().</a:t>
            </a:r>
          </a:p>
        </p:txBody>
      </p:sp>
    </p:spTree>
    <p:extLst>
      <p:ext uri="{BB962C8B-B14F-4D97-AF65-F5344CB8AC3E}">
        <p14:creationId xmlns:p14="http://schemas.microsoft.com/office/powerpoint/2010/main" val="3923914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Experiment environment and fixed protocol</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Recorded environment and run controls</a:t>
            </a:r>
          </a:p>
        </p:txBody>
      </p:sp>
      <p:graphicFrame>
        <p:nvGraphicFramePr>
          <p:cNvPr id="5" name="">
            <a:extLst xmlns:a="http://schemas.openxmlformats.org/drawingml/2006/main">
              <a:ext uri="{FF2B5EF4-FFF2-40B4-BE49-F238E27FC236}">
                <a16:creationId xmlns:a16="http://schemas.microsoft.com/office/drawing/2014/main" id="{E2804836-C084-4AAD-B7DE-B2C2EDCBA6A2}"/>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Original observations and C-runner validation are separate 30-attempt sets.</a:t>
            </a:r>
          </a:p>
        </p:txBody>
      </p:sp>
    </p:spTree>
    <p:extLst>
      <p:ext uri="{BB962C8B-B14F-4D97-AF65-F5344CB8AC3E}">
        <p14:creationId xmlns:p14="http://schemas.microsoft.com/office/powerpoint/2010/main" val="6671066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What the lock prevents: two-CPU examples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AA79D2AD-A401-4F54-9CFD-B4E0FEB5E6AC}"/>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same lock protects kfree() from overwriting a concurrent head update. These are possible schedules, not recorded instruction traces.</a:t>
            </a:r>
          </a:p>
        </p:txBody>
      </p:sp>
    </p:spTree>
    <p:extLst>
      <p:ext uri="{BB962C8B-B14F-4D97-AF65-F5344CB8AC3E}">
        <p14:creationId xmlns:p14="http://schemas.microsoft.com/office/powerpoint/2010/main" val="3147313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locked baseline A01</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Rendered excerpt from saved original-set log A01; not a desktop screenshot.</a:t>
            </a:r>
          </a:p>
        </p:txBody>
      </p:sp>
      <p:pic>
        <p:nvPicPr>
          <p:cNvPr id="6" name="">
            <a:extLst xmlns:a="http://schemas.openxmlformats.org/drawingml/2006/main">
              <a:ext uri="{FF2B5EF4-FFF2-40B4-BE49-F238E27FC236}">
                <a16:creationId xmlns:a16="http://schemas.microsoft.com/office/drawing/2014/main" id="{D82ECA4C-790B-4BE2-954E-844E0C5F948B}"/>
              </a:ext>
            </a:extLst>
          </p:cNvPr>
          <p:cNvPicPr>
            <a:picLocks xmlns:a="http://schemas.openxmlformats.org/drawingml/2006/main" noChangeAspect="1"/>
          </p:cNvPicPr>
          <p:nvPr/>
        </p:nvPicPr>
        <p:blipFill>
          <a:blip xmlns:r="http://schemas.openxmlformats.org/officeDocument/2006/relationships" xmlns:a="http://schemas.openxmlformats.org/drawingml/2006/main" r:embed="R24a84de0a8e14c47"/>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Controlled removal of allocator locking</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Rendered source excerpt: four acquire/release calls removed; workload unchanged.</a:t>
            </a:r>
          </a:p>
        </p:txBody>
      </p:sp>
      <p:pic>
        <p:nvPicPr>
          <p:cNvPr id="6" name="">
            <a:extLst xmlns:a="http://schemas.openxmlformats.org/drawingml/2006/main">
              <a:ext uri="{FF2B5EF4-FFF2-40B4-BE49-F238E27FC236}">
                <a16:creationId xmlns:a16="http://schemas.microsoft.com/office/drawing/2014/main" id="{4AA795CE-2E83-49FF-97AD-0C35A0325D2B}"/>
              </a:ext>
            </a:extLst>
          </p:cNvPr>
          <p:cNvPicPr>
            <a:picLocks xmlns:a="http://schemas.openxmlformats.org/drawingml/2006/main" noChangeAspect="1"/>
          </p:cNvPicPr>
          <p:nvPr/>
        </p:nvPicPr>
        <p:blipFill>
          <a:blip xmlns:r="http://schemas.openxmlformats.org/officeDocument/2006/relationships" xmlns:a="http://schemas.openxmlformats.org/drawingml/2006/main" r:embed="Rc57d1d099c0e4c88"/>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134660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unlocked run B02</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Rendered excerpt from saved original-set log B02; not a desktop screenshot.</a:t>
            </a:r>
          </a:p>
        </p:txBody>
      </p:sp>
      <p:pic>
        <p:nvPicPr>
          <p:cNvPr id="7" name="">
            <a:extLst xmlns:a="http://schemas.openxmlformats.org/drawingml/2006/main">
              <a:ext uri="{FF2B5EF4-FFF2-40B4-BE49-F238E27FC236}">
                <a16:creationId xmlns:a16="http://schemas.microsoft.com/office/drawing/2014/main" id="{DA904C16-DAB7-4C3A-8004-7005A4032532}"/>
              </a:ext>
            </a:extLst>
          </p:cNvPr>
          <p:cNvPicPr>
            <a:picLocks xmlns:a="http://schemas.openxmlformats.org/drawingml/2006/main" noChangeAspect="1"/>
          </p:cNvPicPr>
          <p:nvPr/>
        </p:nvPicPr>
        <p:blipFill>
          <a:blip xmlns:r="http://schemas.openxmlformats.org/officeDocument/2006/relationships" xmlns:a="http://schemas.openxmlformats.org/drawingml/2006/main" r:embed="R3bea0f606e5e43c3"/>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allocator restored and verified</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Rendered restoration checks from saved artifacts; restored phase: 10/10 PASS.</a:t>
            </a:r>
          </a:p>
        </p:txBody>
      </p:sp>
      <p:pic>
        <p:nvPicPr>
          <p:cNvPr id="6" name="">
            <a:extLst xmlns:a="http://schemas.openxmlformats.org/drawingml/2006/main">
              <a:ext uri="{FF2B5EF4-FFF2-40B4-BE49-F238E27FC236}">
                <a16:creationId xmlns:a16="http://schemas.microsoft.com/office/drawing/2014/main" id="{F6DA8451-11C3-4C1E-98C0-1E41D0575637}"/>
              </a:ext>
            </a:extLst>
          </p:cNvPr>
          <p:cNvPicPr>
            <a:picLocks xmlns:a="http://schemas.openxmlformats.org/drawingml/2006/main" noChangeAspect="1"/>
          </p:cNvPicPr>
          <p:nvPr/>
        </p:nvPicPr>
        <p:blipFill>
          <a:blip xmlns:r="http://schemas.openxmlformats.org/officeDocument/2006/relationships" xmlns:a="http://schemas.openxmlformats.org/drawingml/2006/main" r:embed="Ra6e378a91eb0439a"/>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EE4A09B6-F566-49C1-A20F-5E6C7FC4D901}"/>
              </a:ext>
            </a:extLst>
          </p:cNvPr>
          <p:cNvCxnSpPr>
            <a:stCxn xmlns:a="http://schemas.openxmlformats.org/drawingml/2006/main" id="17" idx="3"/>
            <a:endCxn xmlns:a="http://schemas.openxmlformats.org/drawingml/2006/main" id="18" idx="1"/>
          </p:cNvCxnSpPr>
          <p:nvPr/>
        </p:nvCxnSpPr>
        <p:spPr>
          <a:xfrm xmlns:a="http://schemas.openxmlformats.org/drawingml/2006/main">
            <a:off x="8763000" y="3676650"/>
            <a:ext cx="4381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20" name="">
            <a:extLst xmlns:a="http://schemas.openxmlformats.org/drawingml/2006/main">
              <a:ext uri="{FF2B5EF4-FFF2-40B4-BE49-F238E27FC236}">
                <a16:creationId xmlns:a16="http://schemas.microsoft.com/office/drawing/2014/main" id="{4538C4B3-B78E-4C98-903C-AEA93EFB628E}"/>
              </a:ext>
            </a:extLst>
          </p:cNvPr>
          <p:cNvCxnSpPr>
            <a:stCxn xmlns:a="http://schemas.openxmlformats.org/drawingml/2006/main" id="16" idx="3"/>
            <a:endCxn xmlns:a="http://schemas.openxmlformats.org/drawingml/2006/main" id="17" idx="1"/>
          </p:cNvCxnSpPr>
          <p:nvPr/>
        </p:nvCxnSpPr>
        <p:spPr>
          <a:xfrm xmlns:a="http://schemas.openxmlformats.org/drawingml/2006/main">
            <a:off x="5924550" y="3676650"/>
            <a:ext cx="4381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19" name="">
            <a:extLst xmlns:a="http://schemas.openxmlformats.org/drawingml/2006/main">
              <a:ext uri="{FF2B5EF4-FFF2-40B4-BE49-F238E27FC236}">
                <a16:creationId xmlns:a16="http://schemas.microsoft.com/office/drawing/2014/main" id="{8CFD6024-C933-49F7-BCBE-FE96ADA10E34}"/>
              </a:ext>
            </a:extLst>
          </p:cNvPr>
          <p:cNvCxnSpPr>
            <a:stCxn xmlns:a="http://schemas.openxmlformats.org/drawingml/2006/main" id="15" idx="3"/>
            <a:endCxn xmlns:a="http://schemas.openxmlformats.org/drawingml/2006/main" id="16" idx="1"/>
          </p:cNvCxnSpPr>
          <p:nvPr/>
        </p:nvCxnSpPr>
        <p:spPr>
          <a:xfrm xmlns:a="http://schemas.openxmlformats.org/drawingml/2006/main">
            <a:off x="3086100" y="3676650"/>
            <a:ext cx="4381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12" name="">
            <a:extLst xmlns:a="http://schemas.openxmlformats.org/drawingml/2006/main">
              <a:ext uri="{FF2B5EF4-FFF2-40B4-BE49-F238E27FC236}">
                <a16:creationId xmlns:a16="http://schemas.microsoft.com/office/drawing/2014/main" id="{2C09BA12-E414-4CF6-A38A-31D80BE746DC}"/>
              </a:ext>
            </a:extLst>
          </p:cNvPr>
          <p:cNvCxnSpPr>
            <a:stCxn xmlns:a="http://schemas.openxmlformats.org/drawingml/2006/main" id="7" idx="3"/>
            <a:endCxn xmlns:a="http://schemas.openxmlformats.org/drawingml/2006/main" id="8" idx="1"/>
          </p:cNvCxnSpPr>
          <p:nvPr/>
        </p:nvCxnSpPr>
        <p:spPr>
          <a:xfrm xmlns:a="http://schemas.openxmlformats.org/drawingml/2006/main">
            <a:off x="9239250" y="2066925"/>
            <a:ext cx="3619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11" name="">
            <a:extLst xmlns:a="http://schemas.openxmlformats.org/drawingml/2006/main">
              <a:ext uri="{FF2B5EF4-FFF2-40B4-BE49-F238E27FC236}">
                <a16:creationId xmlns:a16="http://schemas.microsoft.com/office/drawing/2014/main" id="{2C269B9A-3A78-47F3-830C-0892D0714D1B}"/>
              </a:ext>
            </a:extLst>
          </p:cNvPr>
          <p:cNvCxnSpPr>
            <a:stCxn xmlns:a="http://schemas.openxmlformats.org/drawingml/2006/main" id="6" idx="3"/>
            <a:endCxn xmlns:a="http://schemas.openxmlformats.org/drawingml/2006/main" id="7" idx="1"/>
          </p:cNvCxnSpPr>
          <p:nvPr/>
        </p:nvCxnSpPr>
        <p:spPr>
          <a:xfrm xmlns:a="http://schemas.openxmlformats.org/drawingml/2006/main">
            <a:off x="7010400" y="2066925"/>
            <a:ext cx="3619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10" name="">
            <a:extLst xmlns:a="http://schemas.openxmlformats.org/drawingml/2006/main">
              <a:ext uri="{FF2B5EF4-FFF2-40B4-BE49-F238E27FC236}">
                <a16:creationId xmlns:a16="http://schemas.microsoft.com/office/drawing/2014/main" id="{663AB121-9EDD-4BFB-9B95-7048D8BB14F0}"/>
              </a:ext>
            </a:extLst>
          </p:cNvPr>
          <p:cNvCxnSpPr>
            <a:stCxn xmlns:a="http://schemas.openxmlformats.org/drawingml/2006/main" id="5" idx="3"/>
            <a:endCxn xmlns:a="http://schemas.openxmlformats.org/drawingml/2006/main" id="6" idx="1"/>
          </p:cNvCxnSpPr>
          <p:nvPr/>
        </p:nvCxnSpPr>
        <p:spPr>
          <a:xfrm xmlns:a="http://schemas.openxmlformats.org/drawingml/2006/main">
            <a:off x="4781550" y="2066925"/>
            <a:ext cx="3619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cxnSp>
        <p:nvCxnSpPr>
          <p:cNvPr id="9" name="">
            <a:extLst xmlns:a="http://schemas.openxmlformats.org/drawingml/2006/main">
              <a:ext uri="{FF2B5EF4-FFF2-40B4-BE49-F238E27FC236}">
                <a16:creationId xmlns:a16="http://schemas.microsoft.com/office/drawing/2014/main" id="{9DA3608E-50A4-4496-A496-70CFADCB916B}"/>
              </a:ext>
            </a:extLst>
          </p:cNvPr>
          <p:cNvCxnSpPr>
            <a:stCxn xmlns:a="http://schemas.openxmlformats.org/drawingml/2006/main" id="4" idx="3"/>
            <a:endCxn xmlns:a="http://schemas.openxmlformats.org/drawingml/2006/main" id="5" idx="1"/>
          </p:cNvCxnSpPr>
          <p:nvPr/>
        </p:nvCxnSpPr>
        <p:spPr>
          <a:xfrm xmlns:a="http://schemas.openxmlformats.org/drawingml/2006/main">
            <a:off x="2552700" y="2066925"/>
            <a:ext cx="361950" cy="0"/>
          </a:xfrm>
          <a:prstGeom xmlns:a="http://schemas.openxmlformats.org/drawingml/2006/main" prst="straightConnector1">
            <a:avLst/>
          </a:prstGeom>
          <a:ln xmlns:a="http://schemas.openxmlformats.org/drawingml/2006/main" w="19050">
            <a:solidFill>
              <a:srgbClr val="607487"/>
            </a:solidFill>
            <a:prstDash val="solid"/>
            <a:headEnd type="arrow" w="sm" len="sm"/>
          </a:ln>
        </p:spPr>
      </p:cxnSp>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Implementation workflows</a:t>
            </a:r>
          </a:p>
        </p:txBody>
      </p:sp>
      <p:sp>
        <p:nvSpPr>
          <p:cNvPr id="3" name="">
            <a:extLst xmlns:a="http://schemas.openxmlformats.org/drawingml/2006/main">
              <a:ext uri="{FF2B5EF4-FFF2-40B4-BE49-F238E27FC236}">
                <a16:creationId xmlns:a16="http://schemas.microsoft.com/office/drawing/2014/main" id="{267AEF42-B68A-4670-9564-FC2FF9A2C6D1}"/>
              </a:ext>
            </a:extLst>
          </p:cNvPr>
          <p:cNvSpPr>
            <a:spLocks xmlns:a="http://schemas.openxmlformats.org/drawingml/2006/main" noGrp="1"/>
          </p:cNvSpPr>
          <p:nvPr/>
        </p:nvSpPr>
        <p:spPr>
          <a:xfrm xmlns:a="http://schemas.openxmlformats.org/drawingml/2006/main">
            <a:off x="685800" y="1381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GUEST ALLOCATION PATH  |  4 children × 8 pages × 200 rounds</a:t>
            </a:r>
          </a:p>
        </p:txBody>
      </p:sp>
      <p:sp>
        <p:nvSpPr>
          <p:cNvPr id="4" name="guest-test">
            <a:extLst xmlns:a="http://schemas.openxmlformats.org/drawingml/2006/main">
              <a:ext uri="{FF2B5EF4-FFF2-40B4-BE49-F238E27FC236}">
                <a16:creationId xmlns:a16="http://schemas.microsoft.com/office/drawing/2014/main" id="{73E56735-2121-4A52-8CEA-540C68B264E5}"/>
              </a:ext>
            </a:extLst>
          </p:cNvPr>
          <p:cNvSpPr>
            <a:spLocks xmlns:a="http://schemas.openxmlformats.org/drawingml/2006/main" noGrp="1"/>
          </p:cNvSpPr>
          <p:nvPr/>
        </p:nvSpPr>
        <p:spPr>
          <a:xfrm xmlns:a="http://schemas.openxmlformats.org/drawingml/2006/main">
            <a:off x="6858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race_test.c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4 forked workers</a:t>
            </a:r>
          </a:p>
        </p:txBody>
      </p:sp>
      <p:sp>
        <p:nvSpPr>
          <p:cNvPr id="5" name="sbrk-call">
            <a:extLst xmlns:a="http://schemas.openxmlformats.org/drawingml/2006/main">
              <a:ext uri="{FF2B5EF4-FFF2-40B4-BE49-F238E27FC236}">
                <a16:creationId xmlns:a16="http://schemas.microsoft.com/office/drawing/2014/main" id="{BFE7C8A9-1FE9-4E35-81F5-7836DC9A0600}"/>
              </a:ext>
            </a:extLst>
          </p:cNvPr>
          <p:cNvSpPr>
            <a:spLocks xmlns:a="http://schemas.openxmlformats.org/drawingml/2006/main" noGrp="1"/>
          </p:cNvSpPr>
          <p:nvPr/>
        </p:nvSpPr>
        <p:spPr>
          <a:xfrm xmlns:a="http://schemas.openxmlformats.org/drawingml/2006/main">
            <a:off x="29146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sbrk(bytes)</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user/ulib.c</a:t>
            </a:r>
          </a:p>
        </p:txBody>
      </p:sp>
      <p:sp>
        <p:nvSpPr>
          <p:cNvPr id="6" name="system-call">
            <a:extLst xmlns:a="http://schemas.openxmlformats.org/drawingml/2006/main">
              <a:ext uri="{FF2B5EF4-FFF2-40B4-BE49-F238E27FC236}">
                <a16:creationId xmlns:a16="http://schemas.microsoft.com/office/drawing/2014/main" id="{18F83B15-61EA-4C51-959D-A860B530DCB1}"/>
              </a:ext>
            </a:extLst>
          </p:cNvPr>
          <p:cNvSpPr>
            <a:spLocks xmlns:a="http://schemas.openxmlformats.org/drawingml/2006/main" noGrp="1"/>
          </p:cNvSpPr>
          <p:nvPr/>
        </p:nvSpPr>
        <p:spPr>
          <a:xfrm xmlns:a="http://schemas.openxmlformats.org/drawingml/2006/main">
            <a:off x="51435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sys_sbrk()</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kernel/sysproc.c</a:t>
            </a:r>
          </a:p>
        </p:txBody>
      </p:sp>
      <p:sp>
        <p:nvSpPr>
          <p:cNvPr id="7" name="vm-growth">
            <a:extLst xmlns:a="http://schemas.openxmlformats.org/drawingml/2006/main">
              <a:ext uri="{FF2B5EF4-FFF2-40B4-BE49-F238E27FC236}">
                <a16:creationId xmlns:a16="http://schemas.microsoft.com/office/drawing/2014/main" id="{15952A2F-0EEE-4380-853D-91DC2C9AD262}"/>
              </a:ext>
            </a:extLst>
          </p:cNvPr>
          <p:cNvSpPr>
            <a:spLocks xmlns:a="http://schemas.openxmlformats.org/drawingml/2006/main" noGrp="1"/>
          </p:cNvSpPr>
          <p:nvPr/>
        </p:nvSpPr>
        <p:spPr>
          <a:xfrm xmlns:a="http://schemas.openxmlformats.org/drawingml/2006/main">
            <a:off x="73723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growproc() → uvmalloc()</a:t>
            </a:r>
          </a:p>
        </p:txBody>
      </p:sp>
      <p:sp>
        <p:nvSpPr>
          <p:cNvPr id="8" name="allocator-lock">
            <a:extLst xmlns:a="http://schemas.openxmlformats.org/drawingml/2006/main">
              <a:ext uri="{FF2B5EF4-FFF2-40B4-BE49-F238E27FC236}">
                <a16:creationId xmlns:a16="http://schemas.microsoft.com/office/drawing/2014/main" id="{A7BFB172-0AC3-4AE0-A175-0D39B7A119CE}"/>
              </a:ext>
            </a:extLst>
          </p:cNvPr>
          <p:cNvSpPr>
            <a:spLocks xmlns:a="http://schemas.openxmlformats.org/drawingml/2006/main" noGrp="1"/>
          </p:cNvSpPr>
          <p:nvPr/>
        </p:nvSpPr>
        <p:spPr>
          <a:xfrm xmlns:a="http://schemas.openxmlformats.org/drawingml/2006/main">
            <a:off x="96012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kalloc()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kmem.lock</a:t>
            </a:r>
          </a:p>
        </p:txBody>
      </p:sp>
      <p:sp>
        <p:nvSpPr>
          <p:cNvPr id="13" name="">
            <a:extLst xmlns:a="http://schemas.openxmlformats.org/drawingml/2006/main">
              <a:ext uri="{FF2B5EF4-FFF2-40B4-BE49-F238E27FC236}">
                <a16:creationId xmlns:a16="http://schemas.microsoft.com/office/drawing/2014/main" id="{73F7FF87-3772-4852-8C21-6CF51344D772}"/>
              </a:ext>
            </a:extLst>
          </p:cNvPr>
          <p:cNvSpPr>
            <a:spLocks xmlns:a="http://schemas.openxmlformats.org/drawingml/2006/main" noGrp="1"/>
          </p:cNvSpPr>
          <p:nvPr/>
        </p:nvSpPr>
        <p:spPr>
          <a:xfrm xmlns:a="http://schemas.openxmlformats.org/drawingml/2006/main">
            <a:off x="685800" y="2514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53616E"/>
                </a:solidFill>
                <a:latin typeface="Arial"/>
                <a:ea typeface="Arial"/>
                <a:cs typeface="Arial"/>
              </a:defRPr>
            </a:defPPr>
            <a:lvl1pPr algn="l">
              <a:defRPr sz="1275">
                <a:solidFill>
                  <a:srgbClr val="53616E"/>
                </a:solidFill>
                <a:latin typeface="Arial"/>
                <a:ea typeface="Arial"/>
                <a:cs typeface="Arial"/>
              </a:defRPr>
            </a:lvl1pPr>
            <a:lvl2pPr algn="l">
              <a:defRPr sz="1275">
                <a:solidFill>
                  <a:srgbClr val="53616E"/>
                </a:solidFill>
                <a:latin typeface="Arial"/>
                <a:ea typeface="Arial"/>
                <a:cs typeface="Arial"/>
              </a:defRPr>
            </a:lvl2pPr>
            <a:lvl3pPr algn="l">
              <a:defRPr sz="1275">
                <a:solidFill>
                  <a:srgbClr val="53616E"/>
                </a:solidFill>
                <a:latin typeface="Arial"/>
                <a:ea typeface="Arial"/>
                <a:cs typeface="Arial"/>
              </a:defRPr>
            </a:lvl3pPr>
            <a:lvl4pPr algn="l">
              <a:defRPr sz="1275">
                <a:solidFill>
                  <a:srgbClr val="53616E"/>
                </a:solidFill>
                <a:latin typeface="Arial"/>
                <a:ea typeface="Arial"/>
                <a:cs typeface="Arial"/>
              </a:defRPr>
            </a:lvl4pPr>
            <a:lvl5pPr algn="l">
              <a:defRPr sz="1275">
                <a:solidFill>
                  <a:srgbClr val="53616E"/>
                </a:solidFill>
                <a:latin typeface="Arial"/>
                <a:ea typeface="Arial"/>
                <a:cs typeface="Arial"/>
              </a:defRPr>
            </a:lvl5pPr>
            <a:lvl6pPr algn="l">
              <a:defRPr sz="1275">
                <a:solidFill>
                  <a:srgbClr val="53616E"/>
                </a:solidFill>
                <a:latin typeface="Arial"/>
                <a:ea typeface="Arial"/>
                <a:cs typeface="Arial"/>
              </a:defRPr>
            </a:lvl6pPr>
            <a:lvl7pPr algn="l">
              <a:defRPr sz="1275">
                <a:solidFill>
                  <a:srgbClr val="53616E"/>
                </a:solidFill>
                <a:latin typeface="Arial"/>
                <a:ea typeface="Arial"/>
                <a:cs typeface="Arial"/>
              </a:defRPr>
            </a:lvl7pPr>
            <a:lvl8pPr algn="l">
              <a:defRPr sz="1275">
                <a:solidFill>
                  <a:srgbClr val="53616E"/>
                </a:solidFill>
                <a:latin typeface="Arial"/>
                <a:ea typeface="Arial"/>
                <a:cs typeface="Arial"/>
              </a:defRPr>
            </a:lvl8pPr>
            <a:lvl9pPr algn="l">
              <a:defRPr sz="1275">
                <a:solidFill>
                  <a:srgbClr val="53616E"/>
                </a:solidFill>
                <a:latin typeface="Arial"/>
                <a:ea typeface="Arial"/>
                <a:cs typeface="Arial"/>
              </a:defRPr>
            </a:lvl9pPr>
          </a:lstStyle>
          <a:p xmlns:a="http://schemas.openxmlformats.org/drawingml/2006/main">
            <a:pPr algn="l">
              <a:defRPr sz="1275">
                <a:solidFill>
                  <a:srgbClr val="53616E"/>
                </a:solidFill>
                <a:latin typeface="Arial"/>
                <a:ea typeface="Arial"/>
                <a:cs typeface="Arial"/>
              </a:defRPr>
            </a:pPr>
            <a:r>
              <a:rPr sz="1275">
                <a:solidFill>
                  <a:srgbClr val="53616E"/>
                </a:solidFill>
                <a:latin typeface="Arial"/>
                <a:ea typeface="Arial"/>
                <a:cs typeface="Arial"/>
              </a:rPr>
              <a:t>The same path reverses on shrink: uvmdealloc() → uvmunmap() → kfree().</a:t>
            </a:r>
          </a:p>
        </p:txBody>
      </p:sp>
      <p:sp>
        <p:nvSpPr>
          <p:cNvPr id="14" name="">
            <a:extLst xmlns:a="http://schemas.openxmlformats.org/drawingml/2006/main">
              <a:ext uri="{FF2B5EF4-FFF2-40B4-BE49-F238E27FC236}">
                <a16:creationId xmlns:a16="http://schemas.microsoft.com/office/drawing/2014/main" id="{9EB1FE73-E8B3-437E-AA52-CAEE95D6D209}"/>
              </a:ext>
            </a:extLst>
          </p:cNvPr>
          <p:cNvSpPr>
            <a:spLocks xmlns:a="http://schemas.openxmlformats.org/drawingml/2006/main" noGrp="1"/>
          </p:cNvSpPr>
          <p:nvPr/>
        </p:nvSpPr>
        <p:spPr>
          <a:xfrm xmlns:a="http://schemas.openxmlformats.org/drawingml/2006/main">
            <a:off x="685800" y="29908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HOST C RUNNER  |  controlled phases and restoration evidence</a:t>
            </a:r>
          </a:p>
        </p:txBody>
      </p:sp>
      <p:sp>
        <p:nvSpPr>
          <p:cNvPr id="15" name="phase-locked">
            <a:extLst xmlns:a="http://schemas.openxmlformats.org/drawingml/2006/main">
              <a:ext uri="{FF2B5EF4-FFF2-40B4-BE49-F238E27FC236}">
                <a16:creationId xmlns:a16="http://schemas.microsoft.com/office/drawing/2014/main" id="{68443630-3B88-4D88-852C-F6F69A94C6A0}"/>
              </a:ext>
            </a:extLst>
          </p:cNvPr>
          <p:cNvSpPr>
            <a:spLocks xmlns:a="http://schemas.openxmlformats.org/drawingml/2006/main" noGrp="1"/>
          </p:cNvSpPr>
          <p:nvPr/>
        </p:nvSpPr>
        <p:spPr>
          <a:xfrm xmlns:a="http://schemas.openxmlformats.org/drawingml/2006/main">
            <a:off x="68580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A: 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original allocator</a:t>
            </a:r>
          </a:p>
        </p:txBody>
      </p:sp>
      <p:sp>
        <p:nvSpPr>
          <p:cNvPr id="16" name="phase-unlocked">
            <a:extLst xmlns:a="http://schemas.openxmlformats.org/drawingml/2006/main">
              <a:ext uri="{FF2B5EF4-FFF2-40B4-BE49-F238E27FC236}">
                <a16:creationId xmlns:a16="http://schemas.microsoft.com/office/drawing/2014/main" id="{7F59BD46-5300-4915-B9EF-6E68D8091BEF}"/>
              </a:ext>
            </a:extLst>
          </p:cNvPr>
          <p:cNvSpPr>
            <a:spLocks xmlns:a="http://schemas.openxmlformats.org/drawingml/2006/main" noGrp="1"/>
          </p:cNvSpPr>
          <p:nvPr/>
        </p:nvSpPr>
        <p:spPr>
          <a:xfrm xmlns:a="http://schemas.openxmlformats.org/drawingml/2006/main">
            <a:off x="352425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B: UNLOCKED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comment exactly 4 calls</a:t>
            </a:r>
          </a:p>
        </p:txBody>
      </p:sp>
      <p:sp>
        <p:nvSpPr>
          <p:cNvPr id="17" name="phase-restored">
            <a:extLst xmlns:a="http://schemas.openxmlformats.org/drawingml/2006/main">
              <a:ext uri="{FF2B5EF4-FFF2-40B4-BE49-F238E27FC236}">
                <a16:creationId xmlns:a16="http://schemas.microsoft.com/office/drawing/2014/main" id="{E98BA102-9CAD-4C5F-B715-5BD3AE764F2B}"/>
              </a:ext>
            </a:extLst>
          </p:cNvPr>
          <p:cNvSpPr>
            <a:spLocks xmlns:a="http://schemas.openxmlformats.org/drawingml/2006/main" noGrp="1"/>
          </p:cNvSpPr>
          <p:nvPr/>
        </p:nvSpPr>
        <p:spPr>
          <a:xfrm xmlns:a="http://schemas.openxmlformats.org/drawingml/2006/main">
            <a:off x="6362700" y="333375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 RESTORED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write saved bytes + rebuild</a:t>
            </a:r>
          </a:p>
        </p:txBody>
      </p:sp>
      <p:sp>
        <p:nvSpPr>
          <p:cNvPr id="18" name="phase-verify">
            <a:extLst xmlns:a="http://schemas.openxmlformats.org/drawingml/2006/main">
              <a:ext uri="{FF2B5EF4-FFF2-40B4-BE49-F238E27FC236}">
                <a16:creationId xmlns:a16="http://schemas.microsoft.com/office/drawing/2014/main" id="{C0C5B786-7BAA-492B-AEB7-EE5B586516CB}"/>
              </a:ext>
            </a:extLst>
          </p:cNvPr>
          <p:cNvSpPr>
            <a:spLocks xmlns:a="http://schemas.openxmlformats.org/drawingml/2006/main" noGrp="1"/>
          </p:cNvSpPr>
          <p:nvPr/>
        </p:nvSpPr>
        <p:spPr>
          <a:xfrm xmlns:a="http://schemas.openxmlformats.org/drawingml/2006/main">
            <a:off x="9201150" y="3333750"/>
            <a:ext cx="226695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VERIFY</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hash + empty diff + CSV</a:t>
            </a:r>
          </a:p>
        </p:txBody>
      </p:sp>
      <p:sp>
        <p:nvSpPr>
          <p:cNvPr id="22" name="">
            <a:extLst xmlns:a="http://schemas.openxmlformats.org/drawingml/2006/main">
              <a:ext uri="{FF2B5EF4-FFF2-40B4-BE49-F238E27FC236}">
                <a16:creationId xmlns:a16="http://schemas.microsoft.com/office/drawing/2014/main" id="{59249804-9534-40BB-AC97-0609428A5375}"/>
              </a:ext>
            </a:extLst>
          </p:cNvPr>
          <p:cNvSpPr>
            <a:spLocks xmlns:a="http://schemas.openxmlformats.org/drawingml/2006/main" noGrp="1"/>
          </p:cNvSpPr>
          <p:nvPr/>
        </p:nvSpPr>
        <p:spPr>
          <a:xfrm xmlns:a="http://schemas.openxmlformats.org/drawingml/2006/main">
            <a:off x="685800" y="4229100"/>
            <a:ext cx="10820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a:solidFill>
                  <a:srgbClr val="53616E"/>
                </a:solidFill>
                <a:latin typeface="Arial"/>
                <a:ea typeface="Arial"/>
                <a:cs typeface="Arial"/>
              </a:defRPr>
            </a:defPPr>
            <a:lvl1pPr algn="l">
              <a:defRPr sz="1125" b="1">
                <a:solidFill>
                  <a:srgbClr val="53616E"/>
                </a:solidFill>
                <a:latin typeface="Arial"/>
                <a:ea typeface="Arial"/>
                <a:cs typeface="Arial"/>
              </a:defRPr>
            </a:lvl1pPr>
            <a:lvl2pPr algn="l">
              <a:defRPr sz="1125" b="1">
                <a:solidFill>
                  <a:srgbClr val="53616E"/>
                </a:solidFill>
                <a:latin typeface="Arial"/>
                <a:ea typeface="Arial"/>
                <a:cs typeface="Arial"/>
              </a:defRPr>
            </a:lvl2pPr>
            <a:lvl3pPr algn="l">
              <a:defRPr sz="1125" b="1">
                <a:solidFill>
                  <a:srgbClr val="53616E"/>
                </a:solidFill>
                <a:latin typeface="Arial"/>
                <a:ea typeface="Arial"/>
                <a:cs typeface="Arial"/>
              </a:defRPr>
            </a:lvl3pPr>
            <a:lvl4pPr algn="l">
              <a:defRPr sz="1125" b="1">
                <a:solidFill>
                  <a:srgbClr val="53616E"/>
                </a:solidFill>
                <a:latin typeface="Arial"/>
                <a:ea typeface="Arial"/>
                <a:cs typeface="Arial"/>
              </a:defRPr>
            </a:lvl4pPr>
            <a:lvl5pPr algn="l">
              <a:defRPr sz="1125" b="1">
                <a:solidFill>
                  <a:srgbClr val="53616E"/>
                </a:solidFill>
                <a:latin typeface="Arial"/>
                <a:ea typeface="Arial"/>
                <a:cs typeface="Arial"/>
              </a:defRPr>
            </a:lvl5pPr>
            <a:lvl6pPr algn="l">
              <a:defRPr sz="1125" b="1">
                <a:solidFill>
                  <a:srgbClr val="53616E"/>
                </a:solidFill>
                <a:latin typeface="Arial"/>
                <a:ea typeface="Arial"/>
                <a:cs typeface="Arial"/>
              </a:defRPr>
            </a:lvl6pPr>
            <a:lvl7pPr algn="l">
              <a:defRPr sz="1125" b="1">
                <a:solidFill>
                  <a:srgbClr val="53616E"/>
                </a:solidFill>
                <a:latin typeface="Arial"/>
                <a:ea typeface="Arial"/>
                <a:cs typeface="Arial"/>
              </a:defRPr>
            </a:lvl7pPr>
            <a:lvl8pPr algn="l">
              <a:defRPr sz="1125" b="1">
                <a:solidFill>
                  <a:srgbClr val="53616E"/>
                </a:solidFill>
                <a:latin typeface="Arial"/>
                <a:ea typeface="Arial"/>
                <a:cs typeface="Arial"/>
              </a:defRPr>
            </a:lvl8pPr>
            <a:lvl9pPr algn="l">
              <a:defRPr sz="1125" b="1">
                <a:solidFill>
                  <a:srgbClr val="53616E"/>
                </a:solidFill>
                <a:latin typeface="Arial"/>
                <a:ea typeface="Arial"/>
                <a:cs typeface="Arial"/>
              </a:defRPr>
            </a:lvl9pPr>
          </a:lstStyle>
          <a:p xmlns:a="http://schemas.openxmlformats.org/drawingml/2006/main">
            <a:pPr algn="l">
              <a:defRPr sz="1125" b="1">
                <a:solidFill>
                  <a:srgbClr val="53616E"/>
                </a:solidFill>
                <a:latin typeface="Arial"/>
                <a:ea typeface="Arial"/>
                <a:cs typeface="Arial"/>
              </a:defRPr>
            </a:pPr>
            <a:r>
              <a:rPr sz="1125" b="1">
                <a:solidFill>
                  <a:srgbClr val="53616E"/>
                </a:solidFill>
                <a:latin typeface="Arial"/>
                <a:ea typeface="Arial"/>
                <a:cs typeface="Arial"/>
              </a:rPr>
              <a:t>Restoration guard in member1_tools.c</a:t>
            </a:r>
          </a:p>
        </p:txBody>
      </p:sp>
      <p:sp>
        <p:nvSpPr>
          <p:cNvPr id="23" name="">
            <a:extLst xmlns:a="http://schemas.openxmlformats.org/drawingml/2006/main">
              <a:ext uri="{FF2B5EF4-FFF2-40B4-BE49-F238E27FC236}">
                <a16:creationId xmlns:a16="http://schemas.microsoft.com/office/drawing/2014/main" id="{12F8E747-FE33-4502-BC2D-78F1F2D76988}"/>
              </a:ext>
            </a:extLst>
          </p:cNvPr>
          <p:cNvSpPr>
            <a:spLocks xmlns:a="http://schemas.openxmlformats.org/drawingml/2006/main" noGrp="1"/>
          </p:cNvSpPr>
          <p:nvPr/>
        </p:nvSpPr>
        <p:spPr>
          <a:xfrm xmlns:a="http://schemas.openxmlformats.org/drawingml/2006/main">
            <a:off x="685800" y="44767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a:solidFill>
                  <a:srgbClr val="17202A"/>
                </a:solidFill>
                <a:latin typeface="Arial"/>
                <a:ea typeface="Arial"/>
                <a:cs typeface="Arial"/>
              </a:defRPr>
            </a:defPPr>
            <a:lvl1pPr algn="l">
              <a:defRPr sz="1500">
                <a:solidFill>
                  <a:srgbClr val="17202A"/>
                </a:solidFill>
                <a:latin typeface="Arial"/>
                <a:ea typeface="Arial"/>
                <a:cs typeface="Arial"/>
              </a:defRPr>
            </a:lvl1pPr>
            <a:lvl2pPr algn="l">
              <a:defRPr sz="1500">
                <a:solidFill>
                  <a:srgbClr val="17202A"/>
                </a:solidFill>
                <a:latin typeface="Arial"/>
                <a:ea typeface="Arial"/>
                <a:cs typeface="Arial"/>
              </a:defRPr>
            </a:lvl2pPr>
            <a:lvl3pPr algn="l">
              <a:defRPr sz="1500">
                <a:solidFill>
                  <a:srgbClr val="17202A"/>
                </a:solidFill>
                <a:latin typeface="Arial"/>
                <a:ea typeface="Arial"/>
                <a:cs typeface="Arial"/>
              </a:defRPr>
            </a:lvl3pPr>
            <a:lvl4pPr algn="l">
              <a:defRPr sz="1500">
                <a:solidFill>
                  <a:srgbClr val="17202A"/>
                </a:solidFill>
                <a:latin typeface="Arial"/>
                <a:ea typeface="Arial"/>
                <a:cs typeface="Arial"/>
              </a:defRPr>
            </a:lvl4pPr>
            <a:lvl5pPr algn="l">
              <a:defRPr sz="1500">
                <a:solidFill>
                  <a:srgbClr val="17202A"/>
                </a:solidFill>
                <a:latin typeface="Arial"/>
                <a:ea typeface="Arial"/>
                <a:cs typeface="Arial"/>
              </a:defRPr>
            </a:lvl5pPr>
            <a:lvl6pPr algn="l">
              <a:defRPr sz="1500">
                <a:solidFill>
                  <a:srgbClr val="17202A"/>
                </a:solidFill>
                <a:latin typeface="Arial"/>
                <a:ea typeface="Arial"/>
                <a:cs typeface="Arial"/>
              </a:defRPr>
            </a:lvl6pPr>
            <a:lvl7pPr algn="l">
              <a:defRPr sz="1500">
                <a:solidFill>
                  <a:srgbClr val="17202A"/>
                </a:solidFill>
                <a:latin typeface="Arial"/>
                <a:ea typeface="Arial"/>
                <a:cs typeface="Arial"/>
              </a:defRPr>
            </a:lvl7pPr>
            <a:lvl8pPr algn="l">
              <a:defRPr sz="1500">
                <a:solidFill>
                  <a:srgbClr val="17202A"/>
                </a:solidFill>
                <a:latin typeface="Arial"/>
                <a:ea typeface="Arial"/>
                <a:cs typeface="Arial"/>
              </a:defRPr>
            </a:lvl8pPr>
            <a:lvl9pPr algn="l">
              <a:defRPr sz="1500">
                <a:solidFill>
                  <a:srgbClr val="17202A"/>
                </a:solidFill>
                <a:latin typeface="Arial"/>
                <a:ea typeface="Arial"/>
                <a:cs typeface="Arial"/>
              </a:defRPr>
            </a:lvl9pPr>
          </a:lstStyle>
          <a:p xmlns:a="http://schemas.openxmlformats.org/drawingml/2006/main">
            <a:pPr algn="l">
              <a:defRPr sz="1500">
                <a:solidFill>
                  <a:srgbClr val="17202A"/>
                </a:solidFill>
                <a:latin typeface="Arial"/>
                <a:ea typeface="Arial"/>
                <a:cs typeface="Arial"/>
              </a:defRPr>
            </a:pPr>
            <a:r>
              <a:rPr sz="1500">
                <a:solidFill>
                  <a:srgbClr val="17202A"/>
                </a:solidFill>
                <a:latin typeface="Arial"/>
                <a:ea typeface="Arial"/>
                <a:cs typeface="Arial"/>
              </a:rPr>
              <a:t>must_restore = 1;  atexit(restore);</a:t>
            </a:r>
          </a:p>
        </p:txBody>
      </p:sp>
      <p:sp>
        <p:nvSpPr>
          <p:cNvPr id="24" name="">
            <a:extLst xmlns:a="http://schemas.openxmlformats.org/drawingml/2006/main">
              <a:ext uri="{FF2B5EF4-FFF2-40B4-BE49-F238E27FC236}">
                <a16:creationId xmlns:a16="http://schemas.microsoft.com/office/drawing/2014/main" id="{9DA1D07A-2B38-48A6-A32A-5B8922319FAB}"/>
              </a:ext>
            </a:extLst>
          </p:cNvPr>
          <p:cNvSpPr>
            <a:spLocks xmlns:a="http://schemas.openxmlformats.org/drawingml/2006/main" noGrp="1"/>
          </p:cNvSpPr>
          <p:nvPr/>
        </p:nvSpPr>
        <p:spPr>
          <a:xfrm xmlns:a="http://schemas.openxmlformats.org/drawingml/2006/main">
            <a:off x="685800" y="4905375"/>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17202A"/>
                </a:solidFill>
                <a:latin typeface="Arial"/>
                <a:ea typeface="Arial"/>
                <a:cs typeface="Arial"/>
              </a:defRPr>
            </a:defPPr>
            <a:lvl1pPr algn="l">
              <a:defRPr sz="1350">
                <a:solidFill>
                  <a:srgbClr val="17202A"/>
                </a:solidFill>
                <a:latin typeface="Arial"/>
                <a:ea typeface="Arial"/>
                <a:cs typeface="Arial"/>
              </a:defRPr>
            </a:lvl1pPr>
            <a:lvl2pPr algn="l">
              <a:defRPr sz="1350">
                <a:solidFill>
                  <a:srgbClr val="17202A"/>
                </a:solidFill>
                <a:latin typeface="Arial"/>
                <a:ea typeface="Arial"/>
                <a:cs typeface="Arial"/>
              </a:defRPr>
            </a:lvl2pPr>
            <a:lvl3pPr algn="l">
              <a:defRPr sz="1350">
                <a:solidFill>
                  <a:srgbClr val="17202A"/>
                </a:solidFill>
                <a:latin typeface="Arial"/>
                <a:ea typeface="Arial"/>
                <a:cs typeface="Arial"/>
              </a:defRPr>
            </a:lvl3pPr>
            <a:lvl4pPr algn="l">
              <a:defRPr sz="1350">
                <a:solidFill>
                  <a:srgbClr val="17202A"/>
                </a:solidFill>
                <a:latin typeface="Arial"/>
                <a:ea typeface="Arial"/>
                <a:cs typeface="Arial"/>
              </a:defRPr>
            </a:lvl4pPr>
            <a:lvl5pPr algn="l">
              <a:defRPr sz="1350">
                <a:solidFill>
                  <a:srgbClr val="17202A"/>
                </a:solidFill>
                <a:latin typeface="Arial"/>
                <a:ea typeface="Arial"/>
                <a:cs typeface="Arial"/>
              </a:defRPr>
            </a:lvl5pPr>
            <a:lvl6pPr algn="l">
              <a:defRPr sz="1350">
                <a:solidFill>
                  <a:srgbClr val="17202A"/>
                </a:solidFill>
                <a:latin typeface="Arial"/>
                <a:ea typeface="Arial"/>
                <a:cs typeface="Arial"/>
              </a:defRPr>
            </a:lvl6pPr>
            <a:lvl7pPr algn="l">
              <a:defRPr sz="1350">
                <a:solidFill>
                  <a:srgbClr val="17202A"/>
                </a:solidFill>
                <a:latin typeface="Arial"/>
                <a:ea typeface="Arial"/>
                <a:cs typeface="Arial"/>
              </a:defRPr>
            </a:lvl7pPr>
            <a:lvl8pPr algn="l">
              <a:defRPr sz="1350">
                <a:solidFill>
                  <a:srgbClr val="17202A"/>
                </a:solidFill>
                <a:latin typeface="Arial"/>
                <a:ea typeface="Arial"/>
                <a:cs typeface="Arial"/>
              </a:defRPr>
            </a:lvl8pPr>
            <a:lvl9pPr algn="l">
              <a:defRPr sz="1350">
                <a:solidFill>
                  <a:srgbClr val="17202A"/>
                </a:solidFill>
                <a:latin typeface="Arial"/>
                <a:ea typeface="Arial"/>
                <a:cs typeface="Arial"/>
              </a:defRPr>
            </a:lvl9pPr>
          </a:lstStyle>
          <a:p xmlns:a="http://schemas.openxmlformats.org/drawingml/2006/main">
            <a:pPr algn="l">
              <a:defRPr sz="1350">
                <a:solidFill>
                  <a:srgbClr val="17202A"/>
                </a:solidFill>
                <a:latin typeface="Arial"/>
                <a:ea typeface="Arial"/>
                <a:cs typeface="Arial"/>
              </a:defRPr>
            </a:pPr>
            <a:r>
              <a:rPr sz="1350">
                <a:solidFill>
                  <a:srgbClr val="17202A"/>
                </a:solidFill>
                <a:latin typeface="Arial"/>
                <a:ea typeface="Arial"/>
                <a:cs typeface="Arial"/>
              </a:rPr>
              <a:t>Each attempt boots a fresh QEMU guest. The host captures raw console output, classifies one primary outcome, and appends the run ID and log path to results.csv.</a:t>
            </a:r>
          </a:p>
        </p:txBody>
      </p:sp>
      <p:sp>
        <p:nvSpPr>
          <p:cNvPr id="25" name="slide-number-placeholder">
            <a:extLst xmlns:a="http://schemas.openxmlformats.org/drawingml/2006/main">
              <a:ext uri="{FF2B5EF4-FFF2-40B4-BE49-F238E27FC236}">
                <a16:creationId xmlns:a16="http://schemas.microsoft.com/office/drawing/2014/main" id="{99D4D732-4745-4D4D-9BC2-DE8C141BE2F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66727E"/>
                </a:solidFill>
                <a:latin typeface="Arial"/>
                <a:ea typeface="Arial"/>
                <a:cs typeface="Arial"/>
              </a:defRPr>
            </a:defPPr>
            <a:lvl1pPr algn="l">
              <a:defRPr sz="1275">
                <a:solidFill>
                  <a:srgbClr val="66727E"/>
                </a:solidFill>
                <a:latin typeface="Arial"/>
                <a:ea typeface="Arial"/>
                <a:cs typeface="Arial"/>
              </a:defRPr>
            </a:lvl1pPr>
            <a:lvl2pPr algn="l">
              <a:defRPr sz="1275">
                <a:solidFill>
                  <a:srgbClr val="66727E"/>
                </a:solidFill>
                <a:latin typeface="Arial"/>
                <a:ea typeface="Arial"/>
                <a:cs typeface="Arial"/>
              </a:defRPr>
            </a:lvl2pPr>
            <a:lvl3pPr algn="l">
              <a:defRPr sz="1275">
                <a:solidFill>
                  <a:srgbClr val="66727E"/>
                </a:solidFill>
                <a:latin typeface="Arial"/>
                <a:ea typeface="Arial"/>
                <a:cs typeface="Arial"/>
              </a:defRPr>
            </a:lvl3pPr>
            <a:lvl4pPr algn="l">
              <a:defRPr sz="1275">
                <a:solidFill>
                  <a:srgbClr val="66727E"/>
                </a:solidFill>
                <a:latin typeface="Arial"/>
                <a:ea typeface="Arial"/>
                <a:cs typeface="Arial"/>
              </a:defRPr>
            </a:lvl4pPr>
            <a:lvl5pPr algn="l">
              <a:defRPr sz="1275">
                <a:solidFill>
                  <a:srgbClr val="66727E"/>
                </a:solidFill>
                <a:latin typeface="Arial"/>
                <a:ea typeface="Arial"/>
                <a:cs typeface="Arial"/>
              </a:defRPr>
            </a:lvl5pPr>
            <a:lvl6pPr algn="l">
              <a:defRPr sz="1275">
                <a:solidFill>
                  <a:srgbClr val="66727E"/>
                </a:solidFill>
                <a:latin typeface="Arial"/>
                <a:ea typeface="Arial"/>
                <a:cs typeface="Arial"/>
              </a:defRPr>
            </a:lvl6pPr>
            <a:lvl7pPr algn="l">
              <a:defRPr sz="1275">
                <a:solidFill>
                  <a:srgbClr val="66727E"/>
                </a:solidFill>
                <a:latin typeface="Arial"/>
                <a:ea typeface="Arial"/>
                <a:cs typeface="Arial"/>
              </a:defRPr>
            </a:lvl7pPr>
            <a:lvl8pPr algn="l">
              <a:defRPr sz="1275">
                <a:solidFill>
                  <a:srgbClr val="66727E"/>
                </a:solidFill>
                <a:latin typeface="Arial"/>
                <a:ea typeface="Arial"/>
                <a:cs typeface="Arial"/>
              </a:defRPr>
            </a:lvl8pPr>
            <a:lvl9pPr algn="l">
              <a:defRPr sz="1275">
                <a:solidFill>
                  <a:srgbClr val="66727E"/>
                </a:solidFill>
                <a:latin typeface="Arial"/>
                <a:ea typeface="Arial"/>
                <a:cs typeface="Arial"/>
              </a:defRPr>
            </a:lvl9pPr>
          </a:lstStyle>
          <a:p xmlns:a="http://schemas.openxmlformats.org/drawingml/2006/main">
            <a:pPr algn="l">
              <a:defRPr sz="1275">
                <a:solidFill>
                  <a:srgbClr val="66727E"/>
                </a:solidFill>
                <a:latin typeface="Arial"/>
                <a:ea typeface="Arial"/>
                <a:cs typeface="Arial"/>
              </a:defRPr>
            </a:pPr>
            <a:r>
              <a:rPr sz="1275">
                <a:solidFill>
                  <a:srgbClr val="66727E"/>
                </a:solidFill>
                <a:latin typeface="Arial"/>
                <a:ea typeface="Arial"/>
                <a:cs typeface="Arial"/>
              </a:rPr>
              <a:t>17</a:t>
            </a:r>
          </a:p>
        </p:txBody>
      </p:sp>
    </p:spTree>
    <p:extLst>
      <p:ext uri="{BB962C8B-B14F-4D97-AF65-F5344CB8AC3E}">
        <p14:creationId xmlns:p14="http://schemas.microsoft.com/office/powerpoint/2010/main" val="5832339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Results comparison and limits</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Original run-set outcome totals</a:t>
            </a:r>
          </a:p>
        </p:txBody>
      </p:sp>
      <p:graphicFrame>
        <p:nvGraphicFramePr>
          <p:cNvPr id="5" name="">
            <a:extLst xmlns:a="http://schemas.openxmlformats.org/drawingml/2006/main">
              <a:ext uri="{FF2B5EF4-FFF2-40B4-BE49-F238E27FC236}">
                <a16:creationId xmlns:a16="http://schemas.microsoft.com/office/drawing/2014/main" id="{B43BA629-147A-4435-B797-AD0BC7FE4289}"/>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PASS</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Other</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6. Rendered plot from the original results.csv; not a desktop screenshot.</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C validation unlocked: 1 corruption, 6 panic/trap, 2 failures, 1 timeout. Original: 3 corruption, 4 panic/trap, 2 failures, 1 timeout.</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Each set has 10 attempts per phase. PASS is evidence for this workload, not proof of safety.</a:t>
            </a:r>
          </a:p>
        </p:txBody>
      </p:sp>
      <p:pic>
        <p:nvPicPr>
          <p:cNvPr id="10" name="">
            <a:extLst xmlns:a="http://schemas.openxmlformats.org/drawingml/2006/main">
              <a:ext uri="{FF2B5EF4-FFF2-40B4-BE49-F238E27FC236}">
                <a16:creationId xmlns:a16="http://schemas.microsoft.com/office/drawing/2014/main" id="{AEB709F9-0593-4A5C-9A75-9AA164C92EA1}"/>
              </a:ext>
            </a:extLst>
          </p:cNvPr>
          <p:cNvPicPr>
            <a:picLocks xmlns:a="http://schemas.openxmlformats.org/drawingml/2006/main" noChangeAspect="1"/>
          </p:cNvPicPr>
          <p:nvPr/>
        </p:nvPicPr>
        <p:blipFill>
          <a:blip xmlns:r="http://schemas.openxmlformats.org/officeDocument/2006/relationships" xmlns:a="http://schemas.openxmlformats.org/drawingml/2006/main" r:embed="Re9de6606f9e14201"/>
          <a:stretch xmlns:a="http://schemas.openxmlformats.org/drawingml/2006/main"/>
        </p:blipFill>
        <p:spPr>
          <a:xfrm xmlns:a="http://schemas.openxmlformats.org/drawingml/2006/main">
            <a:off x="6234113" y="1476375"/>
            <a:ext cx="4724400" cy="2952750"/>
          </a:xfrm>
          <a:prstGeom xmlns:a="http://schemas.openxmlformats.org/drawingml/2006/main" prst="rect">
            <a:avLst/>
          </a:prstGeom>
        </p:spPr>
      </p:pic>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applications and future scope</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the xv6 allocator spinlock was measured; other primitives and structures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202A"/>
                </a:solidFill>
                <a:latin typeface="Arial"/>
                <a:ea typeface="Arial"/>
                <a:cs typeface="Arial"/>
              </a:defRPr>
            </a:defPPr>
            <a:lvl1pPr>
              <a:buNone/>
              <a:defRPr sz="1725" b="0">
                <a:solidFill>
                  <a:srgbClr val="17202A"/>
                </a:solidFill>
                <a:latin typeface="Arial"/>
                <a:ea typeface="Arial"/>
                <a:cs typeface="Arial"/>
              </a:defRPr>
            </a:lvl1pPr>
            <a:lvl2pPr>
              <a:buNone/>
              <a:defRPr sz="1725" b="0">
                <a:solidFill>
                  <a:srgbClr val="17202A"/>
                </a:solidFill>
                <a:latin typeface="Arial"/>
                <a:ea typeface="Arial"/>
                <a:cs typeface="Arial"/>
              </a:defRPr>
            </a:lvl2pPr>
            <a:lvl3pPr>
              <a:buNone/>
              <a:defRPr sz="1725" b="0">
                <a:solidFill>
                  <a:srgbClr val="17202A"/>
                </a:solidFill>
                <a:latin typeface="Arial"/>
                <a:ea typeface="Arial"/>
                <a:cs typeface="Arial"/>
              </a:defRPr>
            </a:lvl3pPr>
            <a:lvl4pPr>
              <a:buNone/>
              <a:defRPr sz="1725" b="0">
                <a:solidFill>
                  <a:srgbClr val="17202A"/>
                </a:solidFill>
                <a:latin typeface="Arial"/>
                <a:ea typeface="Arial"/>
                <a:cs typeface="Arial"/>
              </a:defRPr>
            </a:lvl4pPr>
            <a:lvl5pPr>
              <a:buNone/>
              <a:defRPr sz="1725" b="0">
                <a:solidFill>
                  <a:srgbClr val="17202A"/>
                </a:solidFill>
                <a:latin typeface="Arial"/>
                <a:ea typeface="Arial"/>
                <a:cs typeface="Arial"/>
              </a:defRPr>
            </a:lvl5pPr>
            <a:lvl6pPr>
              <a:buNone/>
              <a:defRPr sz="1725" b="0">
                <a:solidFill>
                  <a:srgbClr val="17202A"/>
                </a:solidFill>
                <a:latin typeface="Arial"/>
                <a:ea typeface="Arial"/>
                <a:cs typeface="Arial"/>
              </a:defRPr>
            </a:lvl6pPr>
            <a:lvl7pPr>
              <a:buNone/>
              <a:defRPr sz="1725" b="0">
                <a:solidFill>
                  <a:srgbClr val="17202A"/>
                </a:solidFill>
                <a:latin typeface="Arial"/>
                <a:ea typeface="Arial"/>
                <a:cs typeface="Arial"/>
              </a:defRPr>
            </a:lvl7pPr>
            <a:lvl8pPr>
              <a:buNone/>
              <a:defRPr sz="1725" b="0">
                <a:solidFill>
                  <a:srgbClr val="17202A"/>
                </a:solidFill>
                <a:latin typeface="Arial"/>
                <a:ea typeface="Arial"/>
                <a:cs typeface="Arial"/>
              </a:defRPr>
            </a:lvl8pPr>
            <a:lvl9pPr>
              <a:buNone/>
              <a:defRPr sz="1725" b="0">
                <a:solidFill>
                  <a:srgbClr val="17202A"/>
                </a:solidFill>
                <a:latin typeface="Arial"/>
                <a:ea typeface="Arial"/>
                <a:cs typeface="Arial"/>
              </a:defRPr>
            </a:lvl9pPr>
          </a:lstStyle>
          <a:p xmlns:a="http://schemas.openxmlformats.org/drawingml/2006/main">
            <a:pPr>
              <a:buNone/>
              <a:defRPr sz="1725" b="0">
                <a:solidFill>
                  <a:srgbClr val="17202A"/>
                </a:solidFill>
                <a:latin typeface="Arial"/>
                <a:ea typeface="Arial"/>
                <a:cs typeface="Arial"/>
              </a:defRPr>
            </a:pPr>
            <a:r>
              <a:rPr sz="1725" b="0">
                <a:solidFill>
                  <a:srgbClr val="17202A"/>
                </a:solidFill>
                <a:latin typeface="Arial"/>
                <a:ea typeface="Arial"/>
                <a:cs typeface="Arial"/>
              </a:rPr>
              <a:t>xv6 RISC-V source at commit f780d7850765d74cbdcd1fff4b822d8829f7c9bd</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MIT xv6 book, Locking chapter</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POSIX.1 Base Definitions, memory synchronization</a:t>
            </a:r>
          </a:p>
        </p:txBody>
      </p:sp>
      <p:sp>
        <p:nvSpPr>
          <p:cNvPr id="7" name="">
            <a:extLst xmlns:a="http://schemas.openxmlformats.org/drawingml/2006/main">
              <a:ext uri="{FF2B5EF4-FFF2-40B4-BE49-F238E27FC236}">
                <a16:creationId xmlns:a16="http://schemas.microsoft.com/office/drawing/2014/main" id="{4C920014-058D-4EB5-A660-EEC6EF592398}"/>
              </a:ext>
            </a:extLst>
          </p:cNvPr>
          <p:cNvSpPr>
            <a:spLocks xmlns:a="http://schemas.openxmlformats.org/drawingml/2006/main" noGrp="1"/>
          </p:cNvSpPr>
          <p:nvPr/>
        </p:nvSpPr>
        <p:spPr>
          <a:xfrm xmlns:a="http://schemas.openxmlformats.org/drawingml/2006/main">
            <a:off x="685800" y="3981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Local evidence: original and c_validation CSVs, logs, diffs, checksums</a:t>
            </a:r>
          </a:p>
        </p:txBody>
      </p:sp>
      <p:sp>
        <p:nvSpPr>
          <p:cNvPr id="8" name="">
            <a:extLst xmlns:a="http://schemas.openxmlformats.org/drawingml/2006/main">
              <a:ext uri="{FF2B5EF4-FFF2-40B4-BE49-F238E27FC236}">
                <a16:creationId xmlns:a16="http://schemas.microsoft.com/office/drawing/2014/main" id="{F20C50C0-B0EE-4DAB-884D-936800B5E2F6}"/>
              </a:ext>
            </a:extLst>
          </p:cNvPr>
          <p:cNvSpPr>
            <a:spLocks xmlns:a="http://schemas.openxmlformats.org/drawingml/2006/main" noGrp="1"/>
          </p:cNvSpPr>
          <p:nvPr/>
        </p:nvSpPr>
        <p:spPr>
          <a:xfrm xmlns:a="http://schemas.openxmlformats.org/drawingml/2006/main">
            <a:off x="685800" y="4800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Faculty guidelines: 1000097330.pdf; team division PDF</a:t>
            </a:r>
          </a:p>
        </p:txBody>
      </p:sp>
      <p:sp>
        <p:nvSpPr>
          <p:cNvPr id="9" name="">
            <a:extLst xmlns:a="http://schemas.openxmlformats.org/drawingml/2006/main">
              <a:ext uri="{FF2B5EF4-FFF2-40B4-BE49-F238E27FC236}">
                <a16:creationId xmlns:a16="http://schemas.microsoft.com/office/drawing/2014/main" id="{287C9EA9-BEFD-47F3-A521-8BF06C440070}"/>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Full URLs and evidence locations are in speaker notes and report references.</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2026-10-26T08:43:16.8870000Z</dcterms:created>
  <dcterms:modified xsi:type="dcterms:W3CDTF">2026-10-26T08:43:16.8880000Z</dcterms:modified>
</coreProperties>
</file>