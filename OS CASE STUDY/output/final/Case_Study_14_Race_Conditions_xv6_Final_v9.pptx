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5510d9f2bb4563" /><Relationship Type="http://schemas.openxmlformats.org/officeDocument/2006/relationships/extended-properties" Target="/docProps/app.xml" Id="R6b6ebc5c4fed4a94" /><Relationship Type="http://schemas.openxmlformats.org/officeDocument/2006/relationships/officeDocument" Target="/ppt/presentation.xml" Id="Rfdfb73fc54184b23" /></Relationships>
</file>

<file path=ppt/presentation.xml><?xml version="1.0" encoding="utf-8"?>
<p:presentation xmlns:p="http://schemas.openxmlformats.org/presentationml/2006/main">
  <p:sldMasterIdLst>
    <p:sldMasterId xmlns:r="http://schemas.openxmlformats.org/officeDocument/2006/relationships" id="2147483648" r:id="Rc1af18e8bede43a5"/>
  </p:sldMasterIdLst>
  <p:notesMasterIdLst>
    <p:notesMasterId xmlns:r="http://schemas.openxmlformats.org/officeDocument/2006/relationships" r:id="R7c76c434891b481b"/>
  </p:notesMasterIdLst>
  <p:sldIdLst>
    <p:sldId xmlns:r="http://schemas.openxmlformats.org/officeDocument/2006/relationships" id="256" r:id="R304c4240bf7941a7"/>
    <p:sldId xmlns:r="http://schemas.openxmlformats.org/officeDocument/2006/relationships" id="257" r:id="R580a1b4513f749f7"/>
    <p:sldId xmlns:r="http://schemas.openxmlformats.org/officeDocument/2006/relationships" id="258" r:id="R2a1fa3e741b74175"/>
    <p:sldId xmlns:r="http://schemas.openxmlformats.org/officeDocument/2006/relationships" id="259" r:id="R1892c9443d824192"/>
    <p:sldId xmlns:r="http://schemas.openxmlformats.org/officeDocument/2006/relationships" id="260" r:id="R318c7baf076e435a"/>
    <p:sldId xmlns:r="http://schemas.openxmlformats.org/officeDocument/2006/relationships" id="261" r:id="Rf77548e45338401c"/>
    <p:sldId xmlns:r="http://schemas.openxmlformats.org/officeDocument/2006/relationships" id="262" r:id="R497222106dc34107"/>
    <p:sldId xmlns:r="http://schemas.openxmlformats.org/officeDocument/2006/relationships" id="263" r:id="R95ecd7bdfeb3417f"/>
    <p:sldId xmlns:r="http://schemas.openxmlformats.org/officeDocument/2006/relationships" id="264" r:id="Rd68998c1a45940f4"/>
    <p:sldId xmlns:r="http://schemas.openxmlformats.org/officeDocument/2006/relationships" id="265" r:id="Rd149ec49d44c468f"/>
    <p:sldId xmlns:r="http://schemas.openxmlformats.org/officeDocument/2006/relationships" id="266" r:id="R0cd248520a7241b0"/>
    <p:sldId xmlns:r="http://schemas.openxmlformats.org/officeDocument/2006/relationships" id="267" r:id="R3b8d50a3da8c4f06"/>
    <p:sldId xmlns:r="http://schemas.openxmlformats.org/officeDocument/2006/relationships" id="268" r:id="R57f9e6ae6f2d4470"/>
    <p:sldId xmlns:r="http://schemas.openxmlformats.org/officeDocument/2006/relationships" id="269" r:id="Rdd1f34f805b5445c"/>
    <p:sldId xmlns:r="http://schemas.openxmlformats.org/officeDocument/2006/relationships" id="270" r:id="R790635f6a4fc4470"/>
    <p:sldId xmlns:r="http://schemas.openxmlformats.org/officeDocument/2006/relationships" id="271" r:id="R066b4ad20c7c4de4"/>
    <p:sldId xmlns:r="http://schemas.openxmlformats.org/officeDocument/2006/relationships" id="272" r:id="R15392be6691f4817"/>
    <p:sldId xmlns:r="http://schemas.openxmlformats.org/officeDocument/2006/relationships" id="273" r:id="R3bb06b59bc164b89"/>
    <p:sldId xmlns:r="http://schemas.openxmlformats.org/officeDocument/2006/relationships" id="274" r:id="Rb75f7210fef04b2f"/>
    <p:sldId xmlns:r="http://schemas.openxmlformats.org/officeDocument/2006/relationships" id="275" r:id="R62eb41fd9bf9489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f5fcba02ec424a" /><Relationship Type="http://schemas.openxmlformats.org/officeDocument/2006/relationships/slideMaster" Target="/ppt/slideMasters/slideMaster1.xml" Id="Rc1af18e8bede43a5" /><Relationship Type="http://schemas.openxmlformats.org/officeDocument/2006/relationships/notesMaster" Target="/ppt/notesMasters/notesMaster1.xml" Id="R7c76c434891b481b" /><Relationship Type="http://schemas.openxmlformats.org/officeDocument/2006/relationships/presProps" Target="/ppt/presProps.xml" Id="Ra3f678ac2fd74979" /><Relationship Type="http://schemas.openxmlformats.org/officeDocument/2006/relationships/tableStyles" Target="/ppt/tableStyles.xml" Id="Rc926c48457d74b9f" /><Relationship Type="http://schemas.openxmlformats.org/officeDocument/2006/relationships/slide" Target="/ppt/slides/slide1.xml" Id="R304c4240bf7941a7" /><Relationship Type="http://schemas.openxmlformats.org/officeDocument/2006/relationships/slide" Target="/ppt/slides/slide2.xml" Id="R580a1b4513f749f7" /><Relationship Type="http://schemas.openxmlformats.org/officeDocument/2006/relationships/slide" Target="/ppt/slides/slide3.xml" Id="R2a1fa3e741b74175" /><Relationship Type="http://schemas.openxmlformats.org/officeDocument/2006/relationships/slide" Target="/ppt/slides/slide4.xml" Id="R1892c9443d824192" /><Relationship Type="http://schemas.openxmlformats.org/officeDocument/2006/relationships/slide" Target="/ppt/slides/slide5.xml" Id="R318c7baf076e435a" /><Relationship Type="http://schemas.openxmlformats.org/officeDocument/2006/relationships/slide" Target="/ppt/slides/slide6.xml" Id="Rf77548e45338401c" /><Relationship Type="http://schemas.openxmlformats.org/officeDocument/2006/relationships/slide" Target="/ppt/slides/slide7.xml" Id="R497222106dc34107" /><Relationship Type="http://schemas.openxmlformats.org/officeDocument/2006/relationships/slide" Target="/ppt/slides/slide8.xml" Id="R95ecd7bdfeb3417f" /><Relationship Type="http://schemas.openxmlformats.org/officeDocument/2006/relationships/slide" Target="/ppt/slides/slide9.xml" Id="Rd68998c1a45940f4" /><Relationship Type="http://schemas.openxmlformats.org/officeDocument/2006/relationships/slide" Target="/ppt/slides/slide10.xml" Id="Rd149ec49d44c468f" /><Relationship Type="http://schemas.openxmlformats.org/officeDocument/2006/relationships/slide" Target="/ppt/slides/slide11.xml" Id="R0cd248520a7241b0" /><Relationship Type="http://schemas.openxmlformats.org/officeDocument/2006/relationships/slide" Target="/ppt/slides/slide12.xml" Id="R3b8d50a3da8c4f06" /><Relationship Type="http://schemas.openxmlformats.org/officeDocument/2006/relationships/slide" Target="/ppt/slides/slide13.xml" Id="R57f9e6ae6f2d4470" /><Relationship Type="http://schemas.openxmlformats.org/officeDocument/2006/relationships/slide" Target="/ppt/slides/slide14.xml" Id="Rdd1f34f805b5445c" /><Relationship Type="http://schemas.openxmlformats.org/officeDocument/2006/relationships/slide" Target="/ppt/slides/slide15.xml" Id="R790635f6a4fc4470" /><Relationship Type="http://schemas.openxmlformats.org/officeDocument/2006/relationships/slide" Target="/ppt/slides/slide16.xml" Id="R066b4ad20c7c4de4" /><Relationship Type="http://schemas.openxmlformats.org/officeDocument/2006/relationships/slide" Target="/ppt/slides/slide17.xml" Id="R15392be6691f4817" /><Relationship Type="http://schemas.openxmlformats.org/officeDocument/2006/relationships/slide" Target="/ppt/slides/slide18.xml" Id="R3bb06b59bc164b89" /><Relationship Type="http://schemas.openxmlformats.org/officeDocument/2006/relationships/slide" Target="/ppt/slides/slide19.xml" Id="Rb75f7210fef04b2f" /><Relationship Type="http://schemas.openxmlformats.org/officeDocument/2006/relationships/slide" Target="/ppt/slides/slide20.xml" Id="R62eb41fd9bf9489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7415b701dd4e5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3ad2fcc405e4a15" /><Relationship Type="http://schemas.openxmlformats.org/officeDocument/2006/relationships/notesMaster" Target="/ppt/notesMasters/notesMaster1.xml" Id="Rd5e830126fd9462e"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27d55c6c9a4024" /><Relationship Type="http://schemas.openxmlformats.org/officeDocument/2006/relationships/notesMaster" Target="/ppt/notesMasters/notesMaster1.xml" Id="R6441439ea5cd45da" /></Relationships>
</file>

<file path=ppt/notesSlides/_rels/notesSlide3.xml.rels>&#65279;<?xml version="1.0" encoding="utf-8"?><Relationships xmlns="http://schemas.openxmlformats.org/package/2006/relationships"><Relationship Type="http://schemas.openxmlformats.org/officeDocument/2006/relationships/slide" Target="/ppt/slides/slide3.xml" Id="Rea3a79b92af64810" /><Relationship Type="http://schemas.openxmlformats.org/officeDocument/2006/relationships/notesMaster" Target="/ppt/notesMasters/notesMaster1.xml" Id="R61a5aad9a46146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780c392d1514629" /><Relationship Type="http://schemas.openxmlformats.org/officeDocument/2006/relationships/notesMaster" Target="/ppt/notesMasters/notesMaster1.xml" Id="Rf7fd52ec4ef946a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b848591f1544d6" /><Relationship Type="http://schemas.openxmlformats.org/officeDocument/2006/relationships/notesMaster" Target="/ppt/notesMasters/notesMaster1.xml" Id="R96aa94f5a88440c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fb1ad5757847f2" /><Relationship Type="http://schemas.openxmlformats.org/officeDocument/2006/relationships/notesMaster" Target="/ppt/notesMasters/notesMaster1.xml" Id="Rf183d99b4dca43ce"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0d2d24a1d046ed" /><Relationship Type="http://schemas.openxmlformats.org/officeDocument/2006/relationships/notesMaster" Target="/ppt/notesMasters/notesMaster1.xml" Id="Rff6e16bf35bc43a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109630ce69d4a77" /><Relationship Type="http://schemas.openxmlformats.org/officeDocument/2006/relationships/notesMaster" Target="/ppt/notesMasters/notesMaster1.xml" Id="R5fc7369eaa094719" /></Relationships>
</file>

<file path=ppt/notesSlides/_rels/notesSlide9.xml.rels>&#65279;<?xml version="1.0" encoding="utf-8"?><Relationships xmlns="http://schemas.openxmlformats.org/package/2006/relationships"><Relationship Type="http://schemas.openxmlformats.org/officeDocument/2006/relationships/slide" Target="/ppt/slides/slide9.xml" Id="R5a43c9e763d747a0" /><Relationship Type="http://schemas.openxmlformats.org/officeDocument/2006/relationships/notesMaster" Target="/ppt/notesMasters/notesMaster1.xml" Id="R44c086fa642e4d0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dd64b0b34043cb" /><Relationship Type="http://schemas.openxmlformats.org/officeDocument/2006/relationships/notesMaster" Target="/ppt/notesMasters/notesMaster1.xml" Id="Rcb165e8d115c4cf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e965ae672c04d3c" /><Relationship Type="http://schemas.openxmlformats.org/officeDocument/2006/relationships/notesMaster" Target="/ppt/notesMasters/notesMaster1.xml" Id="R691c67ff59214ab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4a499b2c2f4e2a" /><Relationship Type="http://schemas.openxmlformats.org/officeDocument/2006/relationships/notesMaster" Target="/ppt/notesMasters/notesMaster1.xml" Id="R7d44f6664f2c448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e0a15fdbbd4ecb" /><Relationship Type="http://schemas.openxmlformats.org/officeDocument/2006/relationships/notesMaster" Target="/ppt/notesMasters/notesMaster1.xml" Id="Rfcf770fe812f4b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d429e4d2016240c6" /><Relationship Type="http://schemas.openxmlformats.org/officeDocument/2006/relationships/notesMaster" Target="/ppt/notesMasters/notesMaster1.xml" Id="R34a41ad2c1c848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5f119afc50b4831" /><Relationship Type="http://schemas.openxmlformats.org/officeDocument/2006/relationships/notesMaster" Target="/ppt/notesMasters/notesMaster1.xml" Id="Rbea9608e6b9246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1d35325f3f846c6" /><Relationship Type="http://schemas.openxmlformats.org/officeDocument/2006/relationships/notesMaster" Target="/ppt/notesMasters/notesMaster1.xml" Id="Rb9ff05c2b78e42c8"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67dae451ba4657" /><Relationship Type="http://schemas.openxmlformats.org/officeDocument/2006/relationships/notesMaster" Target="/ppt/notesMasters/notesMaster1.xml" Id="R1d4a436b596d497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09e6e55fc8544ba" /><Relationship Type="http://schemas.openxmlformats.org/officeDocument/2006/relationships/notesMaster" Target="/ppt/notesMasters/notesMaster1.xml" Id="Rdce86f41b6694d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89bc39803534247" /><Relationship Type="http://schemas.openxmlformats.org/officeDocument/2006/relationships/notesMaster" Target="/ppt/notesMasters/notesMaster1.xml" Id="Rff39c52215264846"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1ec6258a0c44187" /><Relationship Type="http://schemas.openxmlformats.org/officeDocument/2006/relationships/notesMaster" Target="/ppt/notesMasters/notesMaster1.xml" Id="R6714df5c44bb47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case study examines shared kernel data in xv6 on four CPUs. Team names and roll numbers follow the supplied division document. Faculty, semester, and academic year remain blank for the department to complete.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assignment studies xv6 shared kernel data and its existing locks. The project compares original locking, a temporary four-call removal, and restoration. The motivation is that multiple CPUs can request and release physical pages concurrently.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race is a correctness defect whose outcome depends on how concurrent operations interleave. The xv6 example is the allocator: without kmem.lock, CPU 0 and CPU 1 can both read P as the free-list head, both advance the head from the same stale pointer, and both return P. This is a source-level possible schedule, not a trace claimed for any one recorded failure.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allocator invariant requires each free physical page to appear exactly once in the free list and never be returned to two callers at once. Violating that invariant can lose pages, corrupt memory, or crash the kernel. A race and a deadlock describe different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Standard xv6 uses one global kmem.lock for a single physical-page free list. This is simple and correct but serializes allocators and can make CPUs spin under contention. Per-CPU free lists can reduce that contention but need page refill or stealing logic. A lock-free compare-and-swap path needs safe pointer handling, including ABA mitigation. These alternatives were not implemented or benchmarked. Other shared structures listed here were reviewed at source level only.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solution preserves the invariant by serializing the complete free-list push or pop. In the tested xv6 revision, acquire and release use atomic operations with acquire and release ordering. The experiment restores the existing lock rather than adding a new 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Synchronization coordinates concurrent operations so shared state stays correct. A critical section groups dependent reads and writes. Common mechanisms include mutexes, spinlocks, semaphores, condition variables, reader-writer locks, barriers, and atomic operations. The experiment evaluates only xv6’s allocator spinlock.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diagram based on the checked source and recorded host workflow. Guest growth: user/race_test.c → user/ulib.c sbrk → kernel/sysproc.c sys_sbrk → kernel/proc.c growproc → kernel/vm.c uvmalloc → kernel/kalloc.c kalloc. Shrink reaches uvmdealloc/uvmunmap and kfree. Host phases are controlled by member1_tools.c: baseline with four lock calls present, a deliberate edit of exactly four acquire/release calls, then byte-for-byte restoration and rebuild. atexit(restore) handles normal C process termination; it cannot guarantee recovery after power loss or forced termination. Evidence CSV and raw logs remain separated by dataset.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kernel/kalloc.c declares kmem.freelist and kmem.lock. kalloc acquires the lock before reading the head and advancing it. kfree acquires it before linking a page to the head. kernel/spinlock.c and spinlock.h implement initlock, acquire, release, holding, push_off, and pop_off. Source: https://github.com/mit-pdos/xv6-riscv/blob/f780d7850765d74cbdcd1fff4b822d8829f7c9bd/kernel/kalloc.c and https://github.com/mit-pdos/xv6-riscv/blob/f780d7850765d74cbdcd1fff4b822d8829f7c9bd/kernel/spinlock.c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guest C program uses a pipe as a start gate, forks four children, and only releases them after all workers exist. Each worker repeats 200 rounds of sbrk(8*4096), writes a unique byte tag across the 32 KiB allocation, waits briefly in user space, rereads each byte, then calls sbrk(-bytes). The parent verifies every wait() status. volatile requests fresh reads in this test; it does not synchronize the kernel or prevent aliasing of a physical page.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member1_tools.c is the host C runner. Its helper functions handle paths, file loading and saving, subprocess execution, checked commands, build recording, result messages, run timing, CSV rows, manifests, package creation, restoration, and replay. In the guest, user/ulib.c sbrk reaches kernel/sysproc.c sys_sbrk, kernel/proc.c growproc, kernel/vm.c uvmalloc or uvmdealloc, then kernel/kalloc.c kalloc or kfree. The command shown is a reproducible WSL sequence; the measured C-runner set was automated through run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revision is f780d7850765d74cbdcd1fff4b822d8829f7c9bd. Environment: Ubuntu 24.04 under WSL2, QEMU 8.2.2, RISC-V GCC 13.3.0, four CPUs, and 128 MiB guest RAM. Every attempt booted a fresh guest. The host used a 30 second shell timeout and 60 seconds after starting the stress test. All attempts reached the shell and started the test. No kernel timing instrumentation was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Without kmem.lock, two CPUs can read the same free-list head P before either advances it, and both may return P. During concurrent frees, CPU 0 may link page A to old head F while CPU 1 links page B to F and overwrites the head with B, losing A. These are source-level possibilities. The logs do not identify an exact internal interleaving.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A01 .cast recording. It shows a fresh xv6 boot, the race_test parameters, and PASS. The locked baseline had 10 PASS outcomes in 10 attempts. No video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experimental variant comments out acquire and release in both kalloc() and kfree(), four calls total. The free-list operations and workload stay unchanged. Removing the calls also removes their local interrupt-handling effects when no outer lock is active, so the experiment does not isolate those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Static terminal still reconstructed from the saved B02 .cast recording. It shows the corruption message followed by kerneltrap. The primary outcome is CORRUPTION under the classifier precedence; the time limit did not expire in this attempt.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allocator bytes were restored, the final allocator diff was empty, and the kernel was rebuilt. Static terminal still reconstructed from saved C01 .cast recording shows PASS. The restored phase had 10 PASS outcomes in 10 attempts. No video is embedded.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and table compare two separate 30-attempt datasets. Unlocked outcomes: original set, 3 corruption, 4 panic/trap, 2 test failures, 1 timeout; C-runner, 1 corruption, 6 panic/trap, 2 test failures, 1 timeout. Both locked and restored phases passed 10/10 in each set. The host elapsed time begins when the shell prompt is detected, just before race_test is sent, and includes result detection and a short collection interval.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experiment connects a shared-data invariant to mutual exclusion. Locked and restored conditions completed all ten attempts in each dataset, while each unlocked condition produced ten non-PASS outcomes. The conclusion applies to this xv6 revision, QEMU setup, and workload. More CPU counts, allocator-specific lost-page checks, contention measurements, and other shared structures remain future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References: xv6 library (MIT PDOS), https://github.com/mit-pdos/xv6-riscv; MIT xv6 RISC-V book, Locking chapter, https://mit-pdos.github.io/xv6-riscv-book/lock.html; The Open Group memory synchronization specification, https://pubs.opengroup.org/onlinepubs/9699919799/basedefs/V1_chap04.html; Michael and Scott, Nonblocking algorithms and ABA, https://www.cs.rochester.edu/u/scott/papers/1998_JPDC_nonblocking.pdf.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d381ea69fb41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fb5458b580648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688cf7a25d64f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83aac9d428403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d076ada062946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ab5dd6fe291491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58A31CE-8ACB-4414-8F3D-D867643940B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0E79985-8F8B-42C9-A23D-F00F493B6D6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6DF6530-6C22-48FC-9637-EE399CB45DB4}"/>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028488-5251-437B-B23D-FD9A52F4217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C1EC8F8-04C7-425C-BB39-4A941C4868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C28A314-4D52-44DA-ADEB-0A26EE58A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FCE698-C3EF-4D6F-A699-F4BE2BBF4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8F8D05-61E5-41EA-858D-EA2062EED67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F459439-A18C-4B01-BDCF-72AB88C7C58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A4D0F82-2DA1-4543-817F-9C1474E741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e21f33079a241ae" /><Relationship Type="http://schemas.openxmlformats.org/officeDocument/2006/relationships/slideLayout" Target="/ppt/slideLayouts/slideLayout1.xml" Id="R0bf03c5cd2b74887" /><Relationship Type="http://schemas.openxmlformats.org/officeDocument/2006/relationships/slideLayout" Target="/ppt/slideLayouts/slideLayout2.xml" Id="Rece66f79075045c0" /><Relationship Type="http://schemas.openxmlformats.org/officeDocument/2006/relationships/slideLayout" Target="/ppt/slideLayouts/slideLayout3.xml" Id="Rf45cbe61c3a34a1d" /><Relationship Type="http://schemas.openxmlformats.org/officeDocument/2006/relationships/slideLayout" Target="/ppt/slideLayouts/slideLayout4.xml" Id="Rb5ee677f0c864f20" /><Relationship Type="http://schemas.openxmlformats.org/officeDocument/2006/relationships/slideLayout" Target="/ppt/slideLayouts/slideLayout5.xml" Id="R214043449fb64afb" /><Relationship Type="http://schemas.openxmlformats.org/officeDocument/2006/relationships/slideLayout" Target="/ppt/slideLayouts/slideLayout6.xml" Id="Ra204b04ade7848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f03c5cd2b74887"/>
    <p:sldLayoutId xmlns:r="http://schemas.openxmlformats.org/officeDocument/2006/relationships" id="2147483650" r:id="Rece66f79075045c0"/>
    <p:sldLayoutId xmlns:r="http://schemas.openxmlformats.org/officeDocument/2006/relationships" id="2147483651" r:id="Rf45cbe61c3a34a1d"/>
    <p:sldLayoutId xmlns:r="http://schemas.openxmlformats.org/officeDocument/2006/relationships" id="2147483652" r:id="Rb5ee677f0c864f20"/>
    <p:sldLayoutId xmlns:r="http://schemas.openxmlformats.org/officeDocument/2006/relationships" id="2147483653" r:id="R214043449fb64afb"/>
    <p:sldLayoutId xmlns:r="http://schemas.openxmlformats.org/officeDocument/2006/relationships" id="2147483654" r:id="Ra204b04ade7848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e231c7b94a048ab" /><Relationship Type="http://schemas.openxmlformats.org/officeDocument/2006/relationships/notesSlide" Target="/ppt/notesSlides/notesSlide1.xml" Id="Rc72f58cb3841443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53ce38fb2d4ad1" /><Relationship Type="http://schemas.openxmlformats.org/officeDocument/2006/relationships/notesSlide" Target="/ppt/notesSlides/notesSlide2.xml" Id="Rbf08f5eda9c642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473a09c31354182" /><Relationship Type="http://schemas.openxmlformats.org/officeDocument/2006/relationships/notesSlide" Target="/ppt/notesSlides/notesSlide3.xml" Id="Rd8583e0669b9498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0124544169e4274" /><Relationship Type="http://schemas.openxmlformats.org/officeDocument/2006/relationships/notesSlide" Target="/ppt/notesSlides/notesSlide4.xml" Id="R69bb3fe2238b44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2019af6d43e4050" /><Relationship Type="http://schemas.openxmlformats.org/officeDocument/2006/relationships/notesSlide" Target="/ppt/notesSlides/notesSlide5.xml" Id="Race8e53410994c2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3e472ffad1846ed" /><Relationship Type="http://schemas.openxmlformats.org/officeDocument/2006/relationships/notesSlide" Target="/ppt/notesSlides/notesSlide6.xml" Id="R5718097449e9405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08a1a71954645a0" /><Relationship Type="http://schemas.openxmlformats.org/officeDocument/2006/relationships/notesSlide" Target="/ppt/notesSlides/notesSlide7.xml" Id="Rff65f296bdfe450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f90d745fbc54a1a" /><Relationship Type="http://schemas.openxmlformats.org/officeDocument/2006/relationships/notesSlide" Target="/ppt/notesSlides/notesSlide8.xml" Id="R81699a42371d4ab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db831f4920644624" /><Relationship Type="http://schemas.openxmlformats.org/officeDocument/2006/relationships/notesSlide" Target="/ppt/notesSlides/notesSlide9.xml" Id="R23e32e607c06467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83f573293404cf4" /><Relationship Type="http://schemas.openxmlformats.org/officeDocument/2006/relationships/notesSlide" Target="/ppt/notesSlides/notesSlide10.xml" Id="R65cd2f175f3e45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fa3622dcaf0477d" /><Relationship Type="http://schemas.openxmlformats.org/officeDocument/2006/relationships/notesSlide" Target="/ppt/notesSlides/notesSlide11.xml" Id="R059c248b8f4247d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27917454c044adf" /><Relationship Type="http://schemas.openxmlformats.org/officeDocument/2006/relationships/notesSlide" Target="/ppt/notesSlides/notesSlide12.xml" Id="R303c9d34f528406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f76ed2b897964259" /><Relationship Type="http://schemas.openxmlformats.org/officeDocument/2006/relationships/notesSlide" Target="/ppt/notesSlides/notesSlide13.xml" Id="R8a71b71c989f4c2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65b697f05a74019" /><Relationship Type="http://schemas.openxmlformats.org/officeDocument/2006/relationships/image" Target="/ppt/media/image.png" Id="Rda0abbf60a7b4f0c" /><Relationship Type="http://schemas.openxmlformats.org/officeDocument/2006/relationships/notesSlide" Target="/ppt/notesSlides/notesSlide14.xml" Id="R934aca90365e49c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73b26cfdffd4e77" /><Relationship Type="http://schemas.openxmlformats.org/officeDocument/2006/relationships/notesSlide" Target="/ppt/notesSlides/notesSlide15.xml" Id="R4e7b1b061c5c435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b5fcc1a61d004e3f" /><Relationship Type="http://schemas.openxmlformats.org/officeDocument/2006/relationships/image" Target="/ppt/media/image2.png" Id="R483d5effccb64d3a" /><Relationship Type="http://schemas.openxmlformats.org/officeDocument/2006/relationships/notesSlide" Target="/ppt/notesSlides/notesSlide16.xml" Id="R3cf45292dbaa45f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98de4602fcc34d81" /><Relationship Type="http://schemas.openxmlformats.org/officeDocument/2006/relationships/image" Target="/ppt/media/image3.png" Id="R1822c812c9f84b4a" /><Relationship Type="http://schemas.openxmlformats.org/officeDocument/2006/relationships/notesSlide" Target="/ppt/notesSlides/notesSlide17.xml" Id="R5e333b015f904f3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26e1354176264089" /><Relationship Type="http://schemas.openxmlformats.org/officeDocument/2006/relationships/image" Target="/ppt/media/image4.png" Id="R544c22b9a1404327" /><Relationship Type="http://schemas.openxmlformats.org/officeDocument/2006/relationships/notesSlide" Target="/ppt/notesSlides/notesSlide18.xml" Id="Re3dff036579b4c5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73b3413375744500" /><Relationship Type="http://schemas.openxmlformats.org/officeDocument/2006/relationships/notesSlide" Target="/ppt/notesSlides/notesSlide19.xml" Id="Ra2882dcde8064284"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25ae99e67b0409f" /><Relationship Type="http://schemas.openxmlformats.org/officeDocument/2006/relationships/notesSlide" Target="/ppt/notesSlides/notesSlide20.xml" Id="Re3156e502325455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D889A053-927B-4E5A-BF52-801D829C861A}"/>
              </a:ext>
            </a:extLst>
          </p:cNvPr>
          <p:cNvSpPr>
            <a:spLocks xmlns:a="http://schemas.openxmlformats.org/drawingml/2006/main" noGrp="1"/>
          </p:cNvSpPr>
          <p:nvPr/>
        </p:nvSpPr>
        <p:spPr>
          <a:xfrm xmlns:a="http://schemas.openxmlformats.org/drawingml/2006/main">
            <a:off x="685800" y="714375"/>
            <a:ext cx="108204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2304A"/>
                </a:solidFill>
                <a:latin typeface="Arial"/>
                <a:ea typeface="Arial"/>
                <a:cs typeface="Arial"/>
              </a:defRPr>
            </a:defPPr>
            <a:lvl1pPr>
              <a:buNone/>
              <a:defRPr sz="4200" b="1">
                <a:solidFill>
                  <a:srgbClr val="12304A"/>
                </a:solidFill>
                <a:latin typeface="Arial"/>
                <a:ea typeface="Arial"/>
                <a:cs typeface="Arial"/>
              </a:defRPr>
            </a:lvl1pPr>
            <a:lvl2pPr>
              <a:buNone/>
              <a:defRPr sz="4200" b="1">
                <a:solidFill>
                  <a:srgbClr val="12304A"/>
                </a:solidFill>
                <a:latin typeface="Arial"/>
                <a:ea typeface="Arial"/>
                <a:cs typeface="Arial"/>
              </a:defRPr>
            </a:lvl2pPr>
            <a:lvl3pPr>
              <a:buNone/>
              <a:defRPr sz="4200" b="1">
                <a:solidFill>
                  <a:srgbClr val="12304A"/>
                </a:solidFill>
                <a:latin typeface="Arial"/>
                <a:ea typeface="Arial"/>
                <a:cs typeface="Arial"/>
              </a:defRPr>
            </a:lvl3pPr>
            <a:lvl4pPr>
              <a:buNone/>
              <a:defRPr sz="4200" b="1">
                <a:solidFill>
                  <a:srgbClr val="12304A"/>
                </a:solidFill>
                <a:latin typeface="Arial"/>
                <a:ea typeface="Arial"/>
                <a:cs typeface="Arial"/>
              </a:defRPr>
            </a:lvl4pPr>
            <a:lvl5pPr>
              <a:buNone/>
              <a:defRPr sz="4200" b="1">
                <a:solidFill>
                  <a:srgbClr val="12304A"/>
                </a:solidFill>
                <a:latin typeface="Arial"/>
                <a:ea typeface="Arial"/>
                <a:cs typeface="Arial"/>
              </a:defRPr>
            </a:lvl5pPr>
            <a:lvl6pPr>
              <a:buNone/>
              <a:defRPr sz="4200" b="1">
                <a:solidFill>
                  <a:srgbClr val="12304A"/>
                </a:solidFill>
                <a:latin typeface="Arial"/>
                <a:ea typeface="Arial"/>
                <a:cs typeface="Arial"/>
              </a:defRPr>
            </a:lvl6pPr>
            <a:lvl7pPr>
              <a:buNone/>
              <a:defRPr sz="4200" b="1">
                <a:solidFill>
                  <a:srgbClr val="12304A"/>
                </a:solidFill>
                <a:latin typeface="Arial"/>
                <a:ea typeface="Arial"/>
                <a:cs typeface="Arial"/>
              </a:defRPr>
            </a:lvl7pPr>
            <a:lvl8pPr>
              <a:buNone/>
              <a:defRPr sz="4200" b="1">
                <a:solidFill>
                  <a:srgbClr val="12304A"/>
                </a:solidFill>
                <a:latin typeface="Arial"/>
                <a:ea typeface="Arial"/>
                <a:cs typeface="Arial"/>
              </a:defRPr>
            </a:lvl8pPr>
            <a:lvl9pPr>
              <a:buNone/>
              <a:defRPr sz="4200" b="1">
                <a:solidFill>
                  <a:srgbClr val="12304A"/>
                </a:solidFill>
                <a:latin typeface="Arial"/>
                <a:ea typeface="Arial"/>
                <a:cs typeface="Arial"/>
              </a:defRPr>
            </a:lvl9pPr>
          </a:lstStyle>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Case Study 14</a:t>
            </a:r>
          </a:p>
          <a:p xmlns:a="http://schemas.openxmlformats.org/drawingml/2006/main">
            <a:pPr>
              <a:buNone/>
              <a:defRPr sz="4200" b="1">
                <a:solidFill>
                  <a:srgbClr val="12304A"/>
                </a:solidFill>
                <a:latin typeface="Arial"/>
                <a:ea typeface="Arial"/>
                <a:cs typeface="Arial"/>
              </a:defRPr>
            </a:pPr>
            <a:r>
              <a:rPr sz="4200" b="1">
                <a:solidFill>
                  <a:srgbClr val="12304A"/>
                </a:solidFill>
                <a:latin typeface="Arial"/>
                <a:ea typeface="Arial"/>
                <a:cs typeface="Arial"/>
              </a:rPr>
              <a:t>Race Condition in XV6 Shared Data</a:t>
            </a:r>
          </a:p>
        </p:txBody>
      </p:sp>
      <p:sp>
        <p:nvSpPr>
          <p:cNvPr id="3" name="">
            <a:extLst xmlns:a="http://schemas.openxmlformats.org/drawingml/2006/main">
              <a:ext uri="{FF2B5EF4-FFF2-40B4-BE49-F238E27FC236}">
                <a16:creationId xmlns:a16="http://schemas.microsoft.com/office/drawing/2014/main" id="{7F7A529B-BDE3-4993-A1EE-70800642122D}"/>
              </a:ext>
            </a:extLst>
          </p:cNvPr>
          <p:cNvSpPr>
            <a:spLocks xmlns:a="http://schemas.openxmlformats.org/drawingml/2006/main" noGrp="1"/>
          </p:cNvSpPr>
          <p:nvPr/>
        </p:nvSpPr>
        <p:spPr>
          <a:xfrm xmlns:a="http://schemas.openxmlformats.org/drawingml/2006/main">
            <a:off x="685800" y="24765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Operating Systems | Department of CSE</a:t>
            </a:r>
          </a:p>
        </p:txBody>
      </p:sp>
      <p:sp>
        <p:nvSpPr>
          <p:cNvPr id="4" name="">
            <a:extLst xmlns:a="http://schemas.openxmlformats.org/drawingml/2006/main">
              <a:ext uri="{FF2B5EF4-FFF2-40B4-BE49-F238E27FC236}">
                <a16:creationId xmlns:a16="http://schemas.microsoft.com/office/drawing/2014/main" id="{5D5E119D-2285-42D9-8FFA-97E96F8B342D}"/>
              </a:ext>
            </a:extLst>
          </p:cNvPr>
          <p:cNvSpPr>
            <a:spLocks xmlns:a="http://schemas.openxmlformats.org/drawingml/2006/main" noGrp="1"/>
          </p:cNvSpPr>
          <p:nvPr/>
        </p:nvSpPr>
        <p:spPr>
          <a:xfrm xmlns:a="http://schemas.openxmlformats.org/drawingml/2006/main">
            <a:off x="685800" y="330517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L Nithish Kumar Goud    |    160124733327</a:t>
            </a:r>
          </a:p>
        </p:txBody>
      </p:sp>
      <p:sp>
        <p:nvSpPr>
          <p:cNvPr id="5" name="">
            <a:extLst xmlns:a="http://schemas.openxmlformats.org/drawingml/2006/main">
              <a:ext uri="{FF2B5EF4-FFF2-40B4-BE49-F238E27FC236}">
                <a16:creationId xmlns:a16="http://schemas.microsoft.com/office/drawing/2014/main" id="{D88E46B0-CB0D-40C7-BB3E-22F1C74BBABC}"/>
              </a:ext>
            </a:extLst>
          </p:cNvPr>
          <p:cNvSpPr>
            <a:spLocks xmlns:a="http://schemas.openxmlformats.org/drawingml/2006/main" noGrp="1"/>
          </p:cNvSpPr>
          <p:nvPr/>
        </p:nvSpPr>
        <p:spPr>
          <a:xfrm xmlns:a="http://schemas.openxmlformats.org/drawingml/2006/main">
            <a:off x="685800" y="381000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G Ishan    |    160124733322</a:t>
            </a:r>
          </a:p>
        </p:txBody>
      </p:sp>
      <p:sp>
        <p:nvSpPr>
          <p:cNvPr id="6" name="">
            <a:extLst xmlns:a="http://schemas.openxmlformats.org/drawingml/2006/main">
              <a:ext uri="{FF2B5EF4-FFF2-40B4-BE49-F238E27FC236}">
                <a16:creationId xmlns:a16="http://schemas.microsoft.com/office/drawing/2014/main" id="{73DB42CD-4A82-43E7-B403-DB0D865A4A00}"/>
              </a:ext>
            </a:extLst>
          </p:cNvPr>
          <p:cNvSpPr>
            <a:spLocks xmlns:a="http://schemas.openxmlformats.org/drawingml/2006/main" noGrp="1"/>
          </p:cNvSpPr>
          <p:nvPr/>
        </p:nvSpPr>
        <p:spPr>
          <a:xfrm xmlns:a="http://schemas.openxmlformats.org/drawingml/2006/main">
            <a:off x="685800" y="43148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Santhosh    |    160124733332</a:t>
            </a:r>
          </a:p>
        </p:txBody>
      </p:sp>
      <p:sp>
        <p:nvSpPr>
          <p:cNvPr id="7" name="">
            <a:extLst xmlns:a="http://schemas.openxmlformats.org/drawingml/2006/main">
              <a:ext uri="{FF2B5EF4-FFF2-40B4-BE49-F238E27FC236}">
                <a16:creationId xmlns:a16="http://schemas.microsoft.com/office/drawing/2014/main" id="{19986037-B90D-482A-8A2B-E70D9ADD3378}"/>
              </a:ext>
            </a:extLst>
          </p:cNvPr>
          <p:cNvSpPr>
            <a:spLocks xmlns:a="http://schemas.openxmlformats.org/drawingml/2006/main" noGrp="1"/>
          </p:cNvSpPr>
          <p:nvPr/>
        </p:nvSpPr>
        <p:spPr>
          <a:xfrm xmlns:a="http://schemas.openxmlformats.org/drawingml/2006/main">
            <a:off x="685800" y="48196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Venkat    |    160124733340</a:t>
            </a:r>
          </a:p>
        </p:txBody>
      </p:sp>
      <p:sp>
        <p:nvSpPr>
          <p:cNvPr id="8" name="">
            <a:extLst xmlns:a="http://schemas.openxmlformats.org/drawingml/2006/main">
              <a:ext uri="{FF2B5EF4-FFF2-40B4-BE49-F238E27FC236}">
                <a16:creationId xmlns:a16="http://schemas.microsoft.com/office/drawing/2014/main" id="{CE952358-3CB2-416F-A56E-19E8C1919394}"/>
              </a:ext>
            </a:extLst>
          </p:cNvPr>
          <p:cNvSpPr>
            <a:spLocks xmlns:a="http://schemas.openxmlformats.org/drawingml/2006/main" noGrp="1"/>
          </p:cNvSpPr>
          <p:nvPr/>
        </p:nvSpPr>
        <p:spPr>
          <a:xfrm xmlns:a="http://schemas.openxmlformats.org/drawingml/2006/main">
            <a:off x="685800" y="5762625"/>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96570"/>
                </a:solidFill>
                <a:latin typeface="Arial"/>
                <a:ea typeface="Arial"/>
                <a:cs typeface="Arial"/>
              </a:defRPr>
            </a:defPPr>
            <a:lvl1pPr>
              <a:buNone/>
              <a:defRPr sz="1725" b="0">
                <a:solidFill>
                  <a:srgbClr val="596570"/>
                </a:solidFill>
                <a:latin typeface="Arial"/>
                <a:ea typeface="Arial"/>
                <a:cs typeface="Arial"/>
              </a:defRPr>
            </a:lvl1pPr>
            <a:lvl2pPr>
              <a:buNone/>
              <a:defRPr sz="1725" b="0">
                <a:solidFill>
                  <a:srgbClr val="596570"/>
                </a:solidFill>
                <a:latin typeface="Arial"/>
                <a:ea typeface="Arial"/>
                <a:cs typeface="Arial"/>
              </a:defRPr>
            </a:lvl2pPr>
            <a:lvl3pPr>
              <a:buNone/>
              <a:defRPr sz="1725" b="0">
                <a:solidFill>
                  <a:srgbClr val="596570"/>
                </a:solidFill>
                <a:latin typeface="Arial"/>
                <a:ea typeface="Arial"/>
                <a:cs typeface="Arial"/>
              </a:defRPr>
            </a:lvl3pPr>
            <a:lvl4pPr>
              <a:buNone/>
              <a:defRPr sz="1725" b="0">
                <a:solidFill>
                  <a:srgbClr val="596570"/>
                </a:solidFill>
                <a:latin typeface="Arial"/>
                <a:ea typeface="Arial"/>
                <a:cs typeface="Arial"/>
              </a:defRPr>
            </a:lvl4pPr>
            <a:lvl5pPr>
              <a:buNone/>
              <a:defRPr sz="1725" b="0">
                <a:solidFill>
                  <a:srgbClr val="596570"/>
                </a:solidFill>
                <a:latin typeface="Arial"/>
                <a:ea typeface="Arial"/>
                <a:cs typeface="Arial"/>
              </a:defRPr>
            </a:lvl5pPr>
            <a:lvl6pPr>
              <a:buNone/>
              <a:defRPr sz="1725" b="0">
                <a:solidFill>
                  <a:srgbClr val="596570"/>
                </a:solidFill>
                <a:latin typeface="Arial"/>
                <a:ea typeface="Arial"/>
                <a:cs typeface="Arial"/>
              </a:defRPr>
            </a:lvl6pPr>
            <a:lvl7pPr>
              <a:buNone/>
              <a:defRPr sz="1725" b="0">
                <a:solidFill>
                  <a:srgbClr val="596570"/>
                </a:solidFill>
                <a:latin typeface="Arial"/>
                <a:ea typeface="Arial"/>
                <a:cs typeface="Arial"/>
              </a:defRPr>
            </a:lvl7pPr>
            <a:lvl8pPr>
              <a:buNone/>
              <a:defRPr sz="1725" b="0">
                <a:solidFill>
                  <a:srgbClr val="596570"/>
                </a:solidFill>
                <a:latin typeface="Arial"/>
                <a:ea typeface="Arial"/>
                <a:cs typeface="Arial"/>
              </a:defRPr>
            </a:lvl8pPr>
            <a:lvl9pPr>
              <a:buNone/>
              <a:defRPr sz="1725" b="0">
                <a:solidFill>
                  <a:srgbClr val="596570"/>
                </a:solidFill>
                <a:latin typeface="Arial"/>
                <a:ea typeface="Arial"/>
                <a:cs typeface="Arial"/>
              </a:defRPr>
            </a:lvl9pPr>
          </a:lstStyle>
          <a:p xmlns:a="http://schemas.openxmlformats.org/drawingml/2006/main">
            <a:pPr>
              <a:buNone/>
              <a:defRPr sz="1725" b="0">
                <a:solidFill>
                  <a:srgbClr val="596570"/>
                </a:solidFill>
                <a:latin typeface="Arial"/>
                <a:ea typeface="Arial"/>
                <a:cs typeface="Arial"/>
              </a:defRPr>
            </a:pPr>
            <a:r>
              <a:rPr sz="1725" b="0">
                <a:solidFill>
                  <a:srgbClr val="596570"/>
                </a:solidFill>
                <a:latin typeface="Arial"/>
                <a:ea typeface="Arial"/>
                <a:cs typeface="Arial"/>
              </a:rPr>
              <a:t>Chaitanya Bharathi Institute of Technology | Faculty / semester / year: __________</a:t>
            </a:r>
          </a:p>
        </p:txBody>
      </p:sp>
    </p:spTree>
    <p:extLst>
      <p:ext uri="{BB962C8B-B14F-4D97-AF65-F5344CB8AC3E}">
        <p14:creationId xmlns:p14="http://schemas.microsoft.com/office/powerpoint/2010/main" val="102396926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A34F78F-6792-4AE7-B7AA-C65361E2330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Case Study 14: Required scope</a:t>
            </a:r>
          </a:p>
        </p:txBody>
      </p:sp>
      <p:sp>
        <p:nvSpPr>
          <p:cNvPr id="3" name="">
            <a:extLst xmlns:a="http://schemas.openxmlformats.org/drawingml/2006/main">
              <a:ext uri="{FF2B5EF4-FFF2-40B4-BE49-F238E27FC236}">
                <a16:creationId xmlns:a16="http://schemas.microsoft.com/office/drawing/2014/main" id="{6F58C121-A4D5-47B0-BF78-C31743EDE466}"/>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02</a:t>
            </a:r>
          </a:p>
        </p:txBody>
      </p:sp>
      <p:sp>
        <p:nvSpPr>
          <p:cNvPr id="4" name="">
            <a:extLst xmlns:a="http://schemas.openxmlformats.org/drawingml/2006/main">
              <a:ext uri="{FF2B5EF4-FFF2-40B4-BE49-F238E27FC236}">
                <a16:creationId xmlns:a16="http://schemas.microsoft.com/office/drawing/2014/main" id="{1AF2CBAA-BCD6-4E79-8F9F-D52ED325633E}"/>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Problem: study concurrent access to shared kernel data without synchronization.</a:t>
            </a:r>
          </a:p>
        </p:txBody>
      </p:sp>
      <p:sp>
        <p:nvSpPr>
          <p:cNvPr id="5" name="">
            <a:extLst xmlns:a="http://schemas.openxmlformats.org/drawingml/2006/main">
              <a:ext uri="{FF2B5EF4-FFF2-40B4-BE49-F238E27FC236}">
                <a16:creationId xmlns:a16="http://schemas.microsoft.com/office/drawing/2014/main" id="{89DA101C-1BDB-4A4A-B9C3-44DF7E6FD607}"/>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Analyze how xv6 locks prevent inconsistent updates.</a:t>
            </a:r>
          </a:p>
        </p:txBody>
      </p:sp>
      <p:sp>
        <p:nvSpPr>
          <p:cNvPr id="6" name="">
            <a:extLst xmlns:a="http://schemas.openxmlformats.org/drawingml/2006/main">
              <a:ext uri="{FF2B5EF4-FFF2-40B4-BE49-F238E27FC236}">
                <a16:creationId xmlns:a16="http://schemas.microsoft.com/office/drawing/2014/main" id="{B2A32FAD-28D8-4F20-AE8E-FBC84E11218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Objectives: understand critical sections, identify shared data, explain mutual exclusion, observe concurrent updates, and explain lock safety.</a:t>
            </a:r>
          </a:p>
        </p:txBody>
      </p:sp>
      <p:sp>
        <p:nvSpPr>
          <p:cNvPr id="7" name="">
            <a:extLst xmlns:a="http://schemas.openxmlformats.org/drawingml/2006/main">
              <a:ext uri="{FF2B5EF4-FFF2-40B4-BE49-F238E27FC236}">
                <a16:creationId xmlns:a16="http://schemas.microsoft.com/office/drawing/2014/main" id="{E1813C86-3005-4FEE-A1A9-77DCD54F0438}"/>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Motivation: the allocator is shared across CPUs. Activities: inspect its lock, run the four-CPU workload, remove and restore four lock calls, then compare. Outcome: explain safe shared-data access.</a:t>
            </a:r>
          </a:p>
        </p:txBody>
      </p:sp>
    </p:spTree>
    <p:extLst>
      <p:ext uri="{BB962C8B-B14F-4D97-AF65-F5344CB8AC3E}">
        <p14:creationId xmlns:p14="http://schemas.microsoft.com/office/powerpoint/2010/main" val="62665589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31E5BEE2-CD71-45B7-BF3A-99C512E8AF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 What is a race condition?</a:t>
            </a:r>
          </a:p>
        </p:txBody>
      </p:sp>
      <p:sp>
        <p:nvSpPr>
          <p:cNvPr id="3" name="">
            <a:extLst xmlns:a="http://schemas.openxmlformats.org/drawingml/2006/main">
              <a:ext uri="{FF2B5EF4-FFF2-40B4-BE49-F238E27FC236}">
                <a16:creationId xmlns:a16="http://schemas.microsoft.com/office/drawing/2014/main" id="{B0BC173B-6C18-4BF2-92E7-E953DD0AEB3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03</a:t>
            </a:r>
          </a:p>
        </p:txBody>
      </p:sp>
      <p:sp>
        <p:nvSpPr>
          <p:cNvPr id="4" name="">
            <a:extLst xmlns:a="http://schemas.openxmlformats.org/drawingml/2006/main">
              <a:ext uri="{FF2B5EF4-FFF2-40B4-BE49-F238E27FC236}">
                <a16:creationId xmlns:a16="http://schemas.microsoft.com/office/drawing/2014/main" id="{57D2842E-ECB9-490E-8111-0FECAFBE1C58}"/>
              </a:ext>
            </a:extLst>
          </p:cNvPr>
          <p:cNvSpPr>
            <a:spLocks xmlns:a="http://schemas.openxmlformats.org/drawingml/2006/main" noGrp="1"/>
          </p:cNvSpPr>
          <p:nvPr/>
        </p:nvSpPr>
        <p:spPr>
          <a:xfrm xmlns:a="http://schemas.openxmlformats.org/drawingml/2006/main">
            <a:off x="685800" y="133350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Race condition: shared-data correctness depends on how concurrent operations interleave.</a:t>
            </a:r>
          </a:p>
        </p:txBody>
      </p:sp>
      <p:sp>
        <p:nvSpPr>
          <p:cNvPr id="5" name="">
            <a:extLst xmlns:a="http://schemas.openxmlformats.org/drawingml/2006/main">
              <a:ext uri="{FF2B5EF4-FFF2-40B4-BE49-F238E27FC236}">
                <a16:creationId xmlns:a16="http://schemas.microsoft.com/office/drawing/2014/main" id="{65F80E4D-397D-49B2-928A-4C14F2172D69}"/>
              </a:ext>
            </a:extLst>
          </p:cNvPr>
          <p:cNvSpPr>
            <a:spLocks xmlns:a="http://schemas.openxmlformats.org/drawingml/2006/main" noGrp="1"/>
          </p:cNvSpPr>
          <p:nvPr/>
        </p:nvSpPr>
        <p:spPr>
          <a:xfrm xmlns:a="http://schemas.openxmlformats.org/drawingml/2006/main">
            <a:off x="685800" y="195262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In xv6, concurrent kalloc() calls can read the same kmem.freelist head.</a:t>
            </a:r>
          </a:p>
        </p:txBody>
      </p:sp>
      <p:sp>
        <p:nvSpPr>
          <p:cNvPr id="6" name="">
            <a:extLst xmlns:a="http://schemas.openxmlformats.org/drawingml/2006/main">
              <a:ext uri="{FF2B5EF4-FFF2-40B4-BE49-F238E27FC236}">
                <a16:creationId xmlns:a16="http://schemas.microsoft.com/office/drawing/2014/main" id="{52614E87-87C0-458B-AFBE-78F40B002DA1}"/>
              </a:ext>
            </a:extLst>
          </p:cNvPr>
          <p:cNvSpPr>
            <a:spLocks xmlns:a="http://schemas.openxmlformats.org/drawingml/2006/main" noGrp="1"/>
          </p:cNvSpPr>
          <p:nvPr/>
        </p:nvSpPr>
        <p:spPr>
          <a:xfrm xmlns:a="http://schemas.openxmlformats.org/drawingml/2006/main">
            <a:off x="685800" y="2819400"/>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1. A stale free-list head can assign page P twice</a:t>
            </a:r>
          </a:p>
        </p:txBody>
      </p:sp>
      <p:graphicFrame>
        <p:nvGraphicFramePr>
          <p:cNvPr id="7" name="">
            <a:extLst xmlns:a="http://schemas.openxmlformats.org/drawingml/2006/main">
              <a:ext uri="{FF2B5EF4-FFF2-40B4-BE49-F238E27FC236}">
                <a16:creationId xmlns:a16="http://schemas.microsoft.com/office/drawing/2014/main" id="{E5ACE274-FD3D-4005-886D-411D40AF0AB4}"/>
              </a:ext>
            </a:extLst>
          </p:cNvPr>
          <p:cNvGraphicFramePr/>
          <p:nvPr/>
        </p:nvGraphicFramePr>
        <p:xfrm>
          <a:off xmlns:a="http://schemas.openxmlformats.org/drawingml/2006/main" x="685800" y="3305175"/>
          <a:ext xmlns:a="http://schemas.openxmlformats.org/drawingml/2006/main" cx="10820400" cy="2076450"/>
        </p:xfrm>
        <a:graphic xmlns:a="http://schemas.openxmlformats.org/drawingml/2006/main">
          <a:graphicData uri="http://schemas.openxmlformats.org/drawingml/2006/table">
            <a:tbl>
              <a:tblPr/>
              <a:tblGrid>
                <a:gridCol w="1428750"/>
                <a:gridCol w="4695825"/>
                <a:gridCol w="4695825"/>
              </a:tblGrid>
              <a:tr h="519113">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 kalloc()</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19113">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r0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r1 = freelist =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freelist = P-&gt;next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19113">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DB863C70-A864-40A6-94F8-FB7C27CB742D}"/>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callers may return P and corrupt separate processes' data.</a:t>
            </a:r>
          </a:p>
        </p:txBody>
      </p:sp>
    </p:spTree>
    <p:extLst>
      <p:ext uri="{BB962C8B-B14F-4D97-AF65-F5344CB8AC3E}">
        <p14:creationId xmlns:p14="http://schemas.microsoft.com/office/powerpoint/2010/main" val="2104317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4DA95FA4-7622-4CBB-A05C-1E5DDD4AF65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2. Problems generated by race conditions</a:t>
            </a:r>
          </a:p>
        </p:txBody>
      </p:sp>
      <p:sp>
        <p:nvSpPr>
          <p:cNvPr id="3" name="">
            <a:extLst xmlns:a="http://schemas.openxmlformats.org/drawingml/2006/main">
              <a:ext uri="{FF2B5EF4-FFF2-40B4-BE49-F238E27FC236}">
                <a16:creationId xmlns:a16="http://schemas.microsoft.com/office/drawing/2014/main" id="{AB8D5145-6090-433B-8E85-A8B61EA0B26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04</a:t>
            </a:r>
          </a:p>
        </p:txBody>
      </p:sp>
      <p:sp>
        <p:nvSpPr>
          <p:cNvPr id="4" name="">
            <a:extLst xmlns:a="http://schemas.openxmlformats.org/drawingml/2006/main">
              <a:ext uri="{FF2B5EF4-FFF2-40B4-BE49-F238E27FC236}">
                <a16:creationId xmlns:a16="http://schemas.microsoft.com/office/drawing/2014/main" id="{FD05BAEC-FA21-4EA2-9E6A-8A754BBFCBC6}"/>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 lost head update can make a free page unreachable.</a:t>
            </a:r>
          </a:p>
        </p:txBody>
      </p:sp>
      <p:sp>
        <p:nvSpPr>
          <p:cNvPr id="5" name="">
            <a:extLst xmlns:a="http://schemas.openxmlformats.org/drawingml/2006/main">
              <a:ext uri="{FF2B5EF4-FFF2-40B4-BE49-F238E27FC236}">
                <a16:creationId xmlns:a16="http://schemas.microsoft.com/office/drawing/2014/main" id="{5500572F-F0F3-403B-9C0B-656AF21CE5F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Two allocators may return the same physical page.</a:t>
            </a:r>
          </a:p>
        </p:txBody>
      </p:sp>
      <p:sp>
        <p:nvSpPr>
          <p:cNvPr id="6" name="">
            <a:extLst xmlns:a="http://schemas.openxmlformats.org/drawingml/2006/main">
              <a:ext uri="{FF2B5EF4-FFF2-40B4-BE49-F238E27FC236}">
                <a16:creationId xmlns:a16="http://schemas.microsoft.com/office/drawing/2014/main" id="{96F4229A-AB58-4E2A-B7E6-601EB9998767}"/>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Broken links can corrupt memory or trap the kernel.</a:t>
            </a:r>
          </a:p>
        </p:txBody>
      </p:sp>
      <p:sp>
        <p:nvSpPr>
          <p:cNvPr id="7" name="">
            <a:extLst xmlns:a="http://schemas.openxmlformats.org/drawingml/2006/main">
              <a:ext uri="{FF2B5EF4-FFF2-40B4-BE49-F238E27FC236}">
                <a16:creationId xmlns:a16="http://schemas.microsoft.com/office/drawing/2014/main" id="{2053CCAC-2354-4F2C-8AC0-2A4DEB5C1DD7}"/>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Damage can spread into unrelated processes and kernel work.</a:t>
            </a:r>
          </a:p>
        </p:txBody>
      </p:sp>
      <p:sp>
        <p:nvSpPr>
          <p:cNvPr id="8" name="">
            <a:extLst xmlns:a="http://schemas.openxmlformats.org/drawingml/2006/main">
              <a:ext uri="{FF2B5EF4-FFF2-40B4-BE49-F238E27FC236}">
                <a16:creationId xmlns:a16="http://schemas.microsoft.com/office/drawing/2014/main" id="{6427B26D-5D72-4B87-B4AC-406E09A9E28B}"/>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 timeout is not a deadlock diagnosis.</a:t>
            </a:r>
          </a:p>
        </p:txBody>
      </p:sp>
    </p:spTree>
    <p:extLst>
      <p:ext uri="{BB962C8B-B14F-4D97-AF65-F5344CB8AC3E}">
        <p14:creationId xmlns:p14="http://schemas.microsoft.com/office/powerpoint/2010/main" val="75631642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215AC4C-1A5E-40A4-B6C1-74037E156DE8}"/>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Existing System: xv6 shared structures</a:t>
            </a:r>
          </a:p>
        </p:txBody>
      </p:sp>
      <p:sp>
        <p:nvSpPr>
          <p:cNvPr id="3" name="">
            <a:extLst xmlns:a="http://schemas.openxmlformats.org/drawingml/2006/main">
              <a:ext uri="{FF2B5EF4-FFF2-40B4-BE49-F238E27FC236}">
                <a16:creationId xmlns:a16="http://schemas.microsoft.com/office/drawing/2014/main" id="{0E7F4DD0-A2EA-4DB3-81B2-98D2AC09118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05</a:t>
            </a:r>
          </a:p>
        </p:txBody>
      </p:sp>
      <p:sp>
        <p:nvSpPr>
          <p:cNvPr id="4" name="">
            <a:extLst xmlns:a="http://schemas.openxmlformats.org/drawingml/2006/main">
              <a:ext uri="{FF2B5EF4-FFF2-40B4-BE49-F238E27FC236}">
                <a16:creationId xmlns:a16="http://schemas.microsoft.com/office/drawing/2014/main" id="{D4ADB33D-8C3B-4041-ACDB-C6662441A094}"/>
              </a:ext>
            </a:extLst>
          </p:cNvPr>
          <p:cNvSpPr>
            <a:spLocks xmlns:a="http://schemas.openxmlformats.org/drawingml/2006/main" noGrp="1"/>
          </p:cNvSpPr>
          <p:nvPr/>
        </p:nvSpPr>
        <p:spPr>
          <a:xfrm xmlns:a="http://schemas.openxmlformats.org/drawingml/2006/main">
            <a:off x="685800" y="1304925"/>
            <a:ext cx="108204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2. Shared kernel structures and their locks</a:t>
            </a:r>
          </a:p>
        </p:txBody>
      </p:sp>
      <p:graphicFrame>
        <p:nvGraphicFramePr>
          <p:cNvPr id="5" name="">
            <a:extLst xmlns:a="http://schemas.openxmlformats.org/drawingml/2006/main">
              <a:ext uri="{FF2B5EF4-FFF2-40B4-BE49-F238E27FC236}">
                <a16:creationId xmlns:a16="http://schemas.microsoft.com/office/drawing/2014/main" id="{30D5112A-4DB6-4B98-9F88-A466F4DE1FF8}"/>
              </a:ext>
            </a:extLst>
          </p:cNvPr>
          <p:cNvGraphicFramePr/>
          <p:nvPr/>
        </p:nvGraphicFramePr>
        <p:xfrm>
          <a:off xmlns:a="http://schemas.openxmlformats.org/drawingml/2006/main" x="685800" y="1724025"/>
          <a:ext xmlns:a="http://schemas.openxmlformats.org/drawingml/2006/main" cx="10820400" cy="3933825"/>
        </p:xfrm>
        <a:graphic xmlns:a="http://schemas.openxmlformats.org/drawingml/2006/main">
          <a:graphicData uri="http://schemas.openxmlformats.org/drawingml/2006/table">
            <a:tbl>
              <a:tblPr/>
              <a:tblGrid>
                <a:gridCol w="3381375"/>
                <a:gridCol w="7439025"/>
              </a:tblGrid>
              <a:tr h="561975">
                <a:tc>
                  <a:txBody>
                    <a:bodyPr lIns="85725" tIns="85725" rIns="85725" bIns="85725"/>
                    <a:lstStyle/>
                    <a:p>
                      <a:r>
                        <a:rPr sz="1800" b="1">
                          <a:solidFill>
                            <a:srgbClr val="17202A"/>
                          </a:solidFill>
                          <a:latin typeface="Arial"/>
                          <a:ea typeface="Arial"/>
                          <a:cs typeface="Arial"/>
                        </a:rPr>
                        <a:t>Shared structure</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Lock and purpose</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61975">
                <a:tc>
                  <a:txBody>
                    <a:bodyPr lIns="85725" tIns="85725" rIns="85725" bIns="85725"/>
                    <a:lstStyle/>
                    <a:p>
                      <a:r>
                        <a:rPr sz="1800" b="0">
                          <a:solidFill>
                            <a:srgbClr val="17202A"/>
                          </a:solidFill>
                          <a:latin typeface="Arial"/>
                          <a:ea typeface="Arial"/>
                          <a:cs typeface="Arial"/>
                        </a:rPr>
                        <a:t>Physical-page free list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kmem.lock — serializes kalloc() and kfree()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Process table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p-&gt;lock — protects per-process state</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PID allocator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pid_lock — coordinates PID assignment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Parent/child state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wait_lock — coordinates wait transitions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Buffer cache</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bcache.lock — protects shared metadata</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61975">
                <a:tc>
                  <a:txBody>
                    <a:bodyPr lIns="85725" tIns="85725" rIns="85725" bIns="85725"/>
                    <a:lstStyle/>
                    <a:p>
                      <a:r>
                        <a:rPr sz="1800" b="0">
                          <a:solidFill>
                            <a:srgbClr val="17202A"/>
                          </a:solidFill>
                          <a:latin typeface="Arial"/>
                          <a:ea typeface="Arial"/>
                          <a:cs typeface="Arial"/>
                        </a:rPr>
                        <a:t>Timer ticks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tickslock — protects the shared tick count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AB6B0572-B86A-416B-A0E5-0FDA1FBED59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One global kmem.lock can contend. Per-CPU lists need refill/steal; CAS needs ABA-safe reclamation. Neither was tested.</a:t>
            </a:r>
          </a:p>
        </p:txBody>
      </p:sp>
    </p:spTree>
    <p:extLst>
      <p:ext uri="{BB962C8B-B14F-4D97-AF65-F5344CB8AC3E}">
        <p14:creationId xmlns:p14="http://schemas.microsoft.com/office/powerpoint/2010/main" val="160186137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0963474-6AA7-4166-BF45-FBFBFE0A9C3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3. Proposed Solution</a:t>
            </a:r>
          </a:p>
        </p:txBody>
      </p:sp>
      <p:sp>
        <p:nvSpPr>
          <p:cNvPr id="3" name="">
            <a:extLst xmlns:a="http://schemas.openxmlformats.org/drawingml/2006/main">
              <a:ext uri="{FF2B5EF4-FFF2-40B4-BE49-F238E27FC236}">
                <a16:creationId xmlns:a16="http://schemas.microsoft.com/office/drawing/2014/main" id="{E6656C00-60F6-4AB7-95F8-126C7359E408}"/>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06</a:t>
            </a:r>
          </a:p>
        </p:txBody>
      </p:sp>
      <p:sp>
        <p:nvSpPr>
          <p:cNvPr id="4" name="">
            <a:extLst xmlns:a="http://schemas.openxmlformats.org/drawingml/2006/main">
              <a:ext uri="{FF2B5EF4-FFF2-40B4-BE49-F238E27FC236}">
                <a16:creationId xmlns:a16="http://schemas.microsoft.com/office/drawing/2014/main" id="{AB2228CB-F130-493B-8AE0-0C12BE180D6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kmem.lock around each free-list update.</a:t>
            </a:r>
          </a:p>
        </p:txBody>
      </p:sp>
      <p:sp>
        <p:nvSpPr>
          <p:cNvPr id="5" name="">
            <a:extLst xmlns:a="http://schemas.openxmlformats.org/drawingml/2006/main">
              <a:ext uri="{FF2B5EF4-FFF2-40B4-BE49-F238E27FC236}">
                <a16:creationId xmlns:a16="http://schemas.microsoft.com/office/drawing/2014/main" id="{DADF8EBD-65B1-4E65-A605-DE8815635913}"/>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Protect the complete read-and-update sequence.</a:t>
            </a:r>
          </a:p>
        </p:txBody>
      </p:sp>
      <p:sp>
        <p:nvSpPr>
          <p:cNvPr id="6" name="">
            <a:extLst xmlns:a="http://schemas.openxmlformats.org/drawingml/2006/main">
              <a:ext uri="{FF2B5EF4-FFF2-40B4-BE49-F238E27FC236}">
                <a16:creationId xmlns:a16="http://schemas.microsoft.com/office/drawing/2014/main" id="{B1E07357-C1C8-4D3B-BBDE-AE33CBF12579}"/>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Use atomic ownership with acquire/release ordering.</a:t>
            </a:r>
          </a:p>
        </p:txBody>
      </p:sp>
      <p:sp>
        <p:nvSpPr>
          <p:cNvPr id="7" name="">
            <a:extLst xmlns:a="http://schemas.openxmlformats.org/drawingml/2006/main">
              <a:ext uri="{FF2B5EF4-FFF2-40B4-BE49-F238E27FC236}">
                <a16:creationId xmlns:a16="http://schemas.microsoft.com/office/drawing/2014/main" id="{B1EBF793-FD28-4C1A-8F08-604BC644A4BE}"/>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Keep the critical section short.</a:t>
            </a:r>
          </a:p>
        </p:txBody>
      </p:sp>
      <p:sp>
        <p:nvSpPr>
          <p:cNvPr id="8" name="">
            <a:extLst xmlns:a="http://schemas.openxmlformats.org/drawingml/2006/main">
              <a:ext uri="{FF2B5EF4-FFF2-40B4-BE49-F238E27FC236}">
                <a16:creationId xmlns:a16="http://schemas.microsoft.com/office/drawing/2014/main" id="{E0716FFF-4028-4316-B08D-64F03182B9D3}"/>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experiment restores xv6’s existing allocator lock.</a:t>
            </a:r>
          </a:p>
        </p:txBody>
      </p:sp>
    </p:spTree>
    <p:extLst>
      <p:ext uri="{BB962C8B-B14F-4D97-AF65-F5344CB8AC3E}">
        <p14:creationId xmlns:p14="http://schemas.microsoft.com/office/powerpoint/2010/main" val="114134154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BBBE08D7-BB06-496C-A25E-9E82F7F62EF0}"/>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4. Synchronization and 5. Types</a:t>
            </a:r>
          </a:p>
        </p:txBody>
      </p:sp>
      <p:sp>
        <p:nvSpPr>
          <p:cNvPr id="3" name="">
            <a:extLst xmlns:a="http://schemas.openxmlformats.org/drawingml/2006/main">
              <a:ext uri="{FF2B5EF4-FFF2-40B4-BE49-F238E27FC236}">
                <a16:creationId xmlns:a16="http://schemas.microsoft.com/office/drawing/2014/main" id="{66E19EEF-5AF9-46E5-A6F4-F77A798F4F9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07</a:t>
            </a:r>
          </a:p>
        </p:txBody>
      </p:sp>
      <p:sp>
        <p:nvSpPr>
          <p:cNvPr id="4" name="">
            <a:extLst xmlns:a="http://schemas.openxmlformats.org/drawingml/2006/main">
              <a:ext uri="{FF2B5EF4-FFF2-40B4-BE49-F238E27FC236}">
                <a16:creationId xmlns:a16="http://schemas.microsoft.com/office/drawing/2014/main" id="{C909577E-84B1-42EB-A73F-D15786A5D5BE}"/>
              </a:ext>
            </a:extLst>
          </p:cNvPr>
          <p:cNvSpPr>
            <a:spLocks xmlns:a="http://schemas.openxmlformats.org/drawingml/2006/main" noGrp="1"/>
          </p:cNvSpPr>
          <p:nvPr/>
        </p:nvSpPr>
        <p:spPr>
          <a:xfrm xmlns:a="http://schemas.openxmlformats.org/drawingml/2006/main">
            <a:off x="685800" y="1581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Synchronization coordinates concurrent operations so shared state stays correct.</a:t>
            </a:r>
          </a:p>
        </p:txBody>
      </p:sp>
      <p:sp>
        <p:nvSpPr>
          <p:cNvPr id="5" name="">
            <a:extLst xmlns:a="http://schemas.openxmlformats.org/drawingml/2006/main">
              <a:ext uri="{FF2B5EF4-FFF2-40B4-BE49-F238E27FC236}">
                <a16:creationId xmlns:a16="http://schemas.microsoft.com/office/drawing/2014/main" id="{8CD26782-4834-4EBB-8808-786402413526}"/>
              </a:ext>
            </a:extLst>
          </p:cNvPr>
          <p:cNvSpPr>
            <a:spLocks xmlns:a="http://schemas.openxmlformats.org/drawingml/2006/main" noGrp="1"/>
          </p:cNvSpPr>
          <p:nvPr/>
        </p:nvSpPr>
        <p:spPr>
          <a:xfrm xmlns:a="http://schemas.openxmlformats.org/drawingml/2006/main">
            <a:off x="685800" y="258127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A critical section protects dependent reads and writes as one operation.</a:t>
            </a:r>
          </a:p>
        </p:txBody>
      </p:sp>
      <p:sp>
        <p:nvSpPr>
          <p:cNvPr id="6" name="">
            <a:extLst xmlns:a="http://schemas.openxmlformats.org/drawingml/2006/main">
              <a:ext uri="{FF2B5EF4-FFF2-40B4-BE49-F238E27FC236}">
                <a16:creationId xmlns:a16="http://schemas.microsoft.com/office/drawing/2014/main" id="{3EACF1AF-03B5-46A3-AEBE-CB69771B7586}"/>
              </a:ext>
            </a:extLst>
          </p:cNvPr>
          <p:cNvSpPr>
            <a:spLocks xmlns:a="http://schemas.openxmlformats.org/drawingml/2006/main" noGrp="1"/>
          </p:cNvSpPr>
          <p:nvPr/>
        </p:nvSpPr>
        <p:spPr>
          <a:xfrm xmlns:a="http://schemas.openxmlformats.org/drawingml/2006/main">
            <a:off x="685800" y="35814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7202A"/>
                </a:solidFill>
                <a:latin typeface="Arial"/>
                <a:ea typeface="Arial"/>
                <a:cs typeface="Arial"/>
              </a:defRPr>
            </a:defPPr>
            <a:lvl1pPr>
              <a:buNone/>
              <a:defRPr sz="2250" b="1">
                <a:solidFill>
                  <a:srgbClr val="17202A"/>
                </a:solidFill>
                <a:latin typeface="Arial"/>
                <a:ea typeface="Arial"/>
                <a:cs typeface="Arial"/>
              </a:defRPr>
            </a:lvl1pPr>
            <a:lvl2pPr>
              <a:buNone/>
              <a:defRPr sz="2250" b="1">
                <a:solidFill>
                  <a:srgbClr val="17202A"/>
                </a:solidFill>
                <a:latin typeface="Arial"/>
                <a:ea typeface="Arial"/>
                <a:cs typeface="Arial"/>
              </a:defRPr>
            </a:lvl2pPr>
            <a:lvl3pPr>
              <a:buNone/>
              <a:defRPr sz="2250" b="1">
                <a:solidFill>
                  <a:srgbClr val="17202A"/>
                </a:solidFill>
                <a:latin typeface="Arial"/>
                <a:ea typeface="Arial"/>
                <a:cs typeface="Arial"/>
              </a:defRPr>
            </a:lvl3pPr>
            <a:lvl4pPr>
              <a:buNone/>
              <a:defRPr sz="2250" b="1">
                <a:solidFill>
                  <a:srgbClr val="17202A"/>
                </a:solidFill>
                <a:latin typeface="Arial"/>
                <a:ea typeface="Arial"/>
                <a:cs typeface="Arial"/>
              </a:defRPr>
            </a:lvl4pPr>
            <a:lvl5pPr>
              <a:buNone/>
              <a:defRPr sz="2250" b="1">
                <a:solidFill>
                  <a:srgbClr val="17202A"/>
                </a:solidFill>
                <a:latin typeface="Arial"/>
                <a:ea typeface="Arial"/>
                <a:cs typeface="Arial"/>
              </a:defRPr>
            </a:lvl5pPr>
            <a:lvl6pPr>
              <a:buNone/>
              <a:defRPr sz="2250" b="1">
                <a:solidFill>
                  <a:srgbClr val="17202A"/>
                </a:solidFill>
                <a:latin typeface="Arial"/>
                <a:ea typeface="Arial"/>
                <a:cs typeface="Arial"/>
              </a:defRPr>
            </a:lvl6pPr>
            <a:lvl7pPr>
              <a:buNone/>
              <a:defRPr sz="2250" b="1">
                <a:solidFill>
                  <a:srgbClr val="17202A"/>
                </a:solidFill>
                <a:latin typeface="Arial"/>
                <a:ea typeface="Arial"/>
                <a:cs typeface="Arial"/>
              </a:defRPr>
            </a:lvl7pPr>
            <a:lvl8pPr>
              <a:buNone/>
              <a:defRPr sz="2250" b="1">
                <a:solidFill>
                  <a:srgbClr val="17202A"/>
                </a:solidFill>
                <a:latin typeface="Arial"/>
                <a:ea typeface="Arial"/>
                <a:cs typeface="Arial"/>
              </a:defRPr>
            </a:lvl8pPr>
            <a:lvl9pPr>
              <a:buNone/>
              <a:defRPr sz="2250" b="1">
                <a:solidFill>
                  <a:srgbClr val="17202A"/>
                </a:solidFill>
                <a:latin typeface="Arial"/>
                <a:ea typeface="Arial"/>
                <a:cs typeface="Arial"/>
              </a:defRPr>
            </a:lvl9pPr>
          </a:lstStyle>
          <a:p xmlns:a="http://schemas.openxmlformats.org/drawingml/2006/main">
            <a:pPr>
              <a:buNone/>
              <a:defRPr sz="2250" b="1">
                <a:solidFill>
                  <a:srgbClr val="17202A"/>
                </a:solidFill>
                <a:latin typeface="Arial"/>
                <a:ea typeface="Arial"/>
                <a:cs typeface="Arial"/>
              </a:defRPr>
            </a:pPr>
            <a:r>
              <a:rPr sz="2250" b="1">
                <a:solidFill>
                  <a:srgbClr val="17202A"/>
                </a:solidFill>
                <a:latin typeface="Arial"/>
                <a:ea typeface="Arial"/>
                <a:cs typeface="Arial"/>
              </a:rPr>
              <a:t>Types: mutex, spinlock, semaphore, condition variable, reader-writer lock, barrier, atomic.</a:t>
            </a:r>
          </a:p>
        </p:txBody>
      </p:sp>
      <p:sp>
        <p:nvSpPr>
          <p:cNvPr id="7" name="">
            <a:extLst xmlns:a="http://schemas.openxmlformats.org/drawingml/2006/main">
              <a:ext uri="{FF2B5EF4-FFF2-40B4-BE49-F238E27FC236}">
                <a16:creationId xmlns:a16="http://schemas.microsoft.com/office/drawing/2014/main" id="{27C6FD6C-805D-49A9-80C0-1F85C468450B}"/>
              </a:ext>
            </a:extLst>
          </p:cNvPr>
          <p:cNvSpPr>
            <a:spLocks xmlns:a="http://schemas.openxmlformats.org/drawingml/2006/main" noGrp="1"/>
          </p:cNvSpPr>
          <p:nvPr/>
        </p:nvSpPr>
        <p:spPr>
          <a:xfrm xmlns:a="http://schemas.openxmlformats.org/drawingml/2006/main">
            <a:off x="685800" y="4581525"/>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7202A"/>
                </a:solidFill>
                <a:latin typeface="Arial"/>
                <a:ea typeface="Arial"/>
                <a:cs typeface="Arial"/>
              </a:defRPr>
            </a:defPPr>
            <a:lvl1pPr>
              <a:buNone/>
              <a:defRPr sz="2250" b="0">
                <a:solidFill>
                  <a:srgbClr val="17202A"/>
                </a:solidFill>
                <a:latin typeface="Arial"/>
                <a:ea typeface="Arial"/>
                <a:cs typeface="Arial"/>
              </a:defRPr>
            </a:lvl1pPr>
            <a:lvl2pPr>
              <a:buNone/>
              <a:defRPr sz="2250" b="0">
                <a:solidFill>
                  <a:srgbClr val="17202A"/>
                </a:solidFill>
                <a:latin typeface="Arial"/>
                <a:ea typeface="Arial"/>
                <a:cs typeface="Arial"/>
              </a:defRPr>
            </a:lvl2pPr>
            <a:lvl3pPr>
              <a:buNone/>
              <a:defRPr sz="2250" b="0">
                <a:solidFill>
                  <a:srgbClr val="17202A"/>
                </a:solidFill>
                <a:latin typeface="Arial"/>
                <a:ea typeface="Arial"/>
                <a:cs typeface="Arial"/>
              </a:defRPr>
            </a:lvl3pPr>
            <a:lvl4pPr>
              <a:buNone/>
              <a:defRPr sz="2250" b="0">
                <a:solidFill>
                  <a:srgbClr val="17202A"/>
                </a:solidFill>
                <a:latin typeface="Arial"/>
                <a:ea typeface="Arial"/>
                <a:cs typeface="Arial"/>
              </a:defRPr>
            </a:lvl4pPr>
            <a:lvl5pPr>
              <a:buNone/>
              <a:defRPr sz="2250" b="0">
                <a:solidFill>
                  <a:srgbClr val="17202A"/>
                </a:solidFill>
                <a:latin typeface="Arial"/>
                <a:ea typeface="Arial"/>
                <a:cs typeface="Arial"/>
              </a:defRPr>
            </a:lvl5pPr>
            <a:lvl6pPr>
              <a:buNone/>
              <a:defRPr sz="2250" b="0">
                <a:solidFill>
                  <a:srgbClr val="17202A"/>
                </a:solidFill>
                <a:latin typeface="Arial"/>
                <a:ea typeface="Arial"/>
                <a:cs typeface="Arial"/>
              </a:defRPr>
            </a:lvl6pPr>
            <a:lvl7pPr>
              <a:buNone/>
              <a:defRPr sz="2250" b="0">
                <a:solidFill>
                  <a:srgbClr val="17202A"/>
                </a:solidFill>
                <a:latin typeface="Arial"/>
                <a:ea typeface="Arial"/>
                <a:cs typeface="Arial"/>
              </a:defRPr>
            </a:lvl7pPr>
            <a:lvl8pPr>
              <a:buNone/>
              <a:defRPr sz="2250" b="0">
                <a:solidFill>
                  <a:srgbClr val="17202A"/>
                </a:solidFill>
                <a:latin typeface="Arial"/>
                <a:ea typeface="Arial"/>
                <a:cs typeface="Arial"/>
              </a:defRPr>
            </a:lvl8pPr>
            <a:lvl9pPr>
              <a:buNone/>
              <a:defRPr sz="2250" b="0">
                <a:solidFill>
                  <a:srgbClr val="17202A"/>
                </a:solidFill>
                <a:latin typeface="Arial"/>
                <a:ea typeface="Arial"/>
                <a:cs typeface="Arial"/>
              </a:defRPr>
            </a:lvl9pPr>
          </a:lstStyle>
          <a:p xmlns:a="http://schemas.openxmlformats.org/drawingml/2006/main">
            <a:pPr>
              <a:buNone/>
              <a:defRPr sz="2250" b="0">
                <a:solidFill>
                  <a:srgbClr val="17202A"/>
                </a:solidFill>
                <a:latin typeface="Arial"/>
                <a:ea typeface="Arial"/>
                <a:cs typeface="Arial"/>
              </a:defRPr>
            </a:pPr>
            <a:r>
              <a:rPr sz="2250" b="0">
                <a:solidFill>
                  <a:srgbClr val="17202A"/>
                </a:solidFill>
                <a:latin typeface="Arial"/>
                <a:ea typeface="Arial"/>
                <a:cs typeface="Arial"/>
              </a:rPr>
              <a:t>xv6 uses a spinlock for the allocator; this study tests that lock.</a:t>
            </a:r>
          </a:p>
        </p:txBody>
      </p:sp>
      <p:sp>
        <p:nvSpPr>
          <p:cNvPr id="8" name="">
            <a:extLst xmlns:a="http://schemas.openxmlformats.org/drawingml/2006/main">
              <a:ext uri="{FF2B5EF4-FFF2-40B4-BE49-F238E27FC236}">
                <a16:creationId xmlns:a16="http://schemas.microsoft.com/office/drawing/2014/main" id="{53BDF668-543A-48A8-93A1-3B06576BF83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Atomic ownership excludes other CPUs; interrupt masking alone cannot.</a:t>
            </a:r>
          </a:p>
        </p:txBody>
      </p:sp>
    </p:spTree>
    <p:extLst>
      <p:ext uri="{BB962C8B-B14F-4D97-AF65-F5344CB8AC3E}">
        <p14:creationId xmlns:p14="http://schemas.microsoft.com/office/powerpoint/2010/main" val="136072334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1" name="">
            <a:extLst xmlns:a="http://schemas.openxmlformats.org/drawingml/2006/main">
              <a:ext uri="{FF2B5EF4-FFF2-40B4-BE49-F238E27FC236}">
                <a16:creationId xmlns:a16="http://schemas.microsoft.com/office/drawing/2014/main" id="{8EC7A09F-D6C6-4044-A9BB-7E5B635DF0A9}"/>
              </a:ext>
            </a:extLst>
          </p:cNvPr>
          <p:cNvCxnSpPr>
            <a:stCxn xmlns:a="http://schemas.openxmlformats.org/drawingml/2006/main" id="17" idx="3"/>
            <a:endCxn xmlns:a="http://schemas.openxmlformats.org/drawingml/2006/main" id="18" idx="1"/>
          </p:cNvCxnSpPr>
          <p:nvPr/>
        </p:nvCxnSpPr>
        <p:spPr>
          <a:xfrm xmlns:a="http://schemas.openxmlformats.org/drawingml/2006/main">
            <a:off x="87630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20" name="">
            <a:extLst xmlns:a="http://schemas.openxmlformats.org/drawingml/2006/main">
              <a:ext uri="{FF2B5EF4-FFF2-40B4-BE49-F238E27FC236}">
                <a16:creationId xmlns:a16="http://schemas.microsoft.com/office/drawing/2014/main" id="{1484B714-EFF8-4F69-914F-B1D1B31D5795}"/>
              </a:ext>
            </a:extLst>
          </p:cNvPr>
          <p:cNvCxnSpPr>
            <a:stCxn xmlns:a="http://schemas.openxmlformats.org/drawingml/2006/main" id="16" idx="3"/>
            <a:endCxn xmlns:a="http://schemas.openxmlformats.org/drawingml/2006/main" id="17" idx="1"/>
          </p:cNvCxnSpPr>
          <p:nvPr/>
        </p:nvCxnSpPr>
        <p:spPr>
          <a:xfrm xmlns:a="http://schemas.openxmlformats.org/drawingml/2006/main">
            <a:off x="592455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9" name="">
            <a:extLst xmlns:a="http://schemas.openxmlformats.org/drawingml/2006/main">
              <a:ext uri="{FF2B5EF4-FFF2-40B4-BE49-F238E27FC236}">
                <a16:creationId xmlns:a16="http://schemas.microsoft.com/office/drawing/2014/main" id="{D9E73AB8-6E61-499C-BFF5-4E9AA6E5586A}"/>
              </a:ext>
            </a:extLst>
          </p:cNvPr>
          <p:cNvCxnSpPr>
            <a:stCxn xmlns:a="http://schemas.openxmlformats.org/drawingml/2006/main" id="15" idx="3"/>
            <a:endCxn xmlns:a="http://schemas.openxmlformats.org/drawingml/2006/main" id="16" idx="1"/>
          </p:cNvCxnSpPr>
          <p:nvPr/>
        </p:nvCxnSpPr>
        <p:spPr>
          <a:xfrm xmlns:a="http://schemas.openxmlformats.org/drawingml/2006/main">
            <a:off x="3086100" y="3619500"/>
            <a:ext cx="4381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2" name="">
            <a:extLst xmlns:a="http://schemas.openxmlformats.org/drawingml/2006/main">
              <a:ext uri="{FF2B5EF4-FFF2-40B4-BE49-F238E27FC236}">
                <a16:creationId xmlns:a16="http://schemas.microsoft.com/office/drawing/2014/main" id="{A27CBC42-D0AF-4554-8A2F-8A9C0B39A7F4}"/>
              </a:ext>
            </a:extLst>
          </p:cNvPr>
          <p:cNvCxnSpPr>
            <a:stCxn xmlns:a="http://schemas.openxmlformats.org/drawingml/2006/main" id="7" idx="3"/>
            <a:endCxn xmlns:a="http://schemas.openxmlformats.org/drawingml/2006/main" id="8" idx="1"/>
          </p:cNvCxnSpPr>
          <p:nvPr/>
        </p:nvCxnSpPr>
        <p:spPr>
          <a:xfrm xmlns:a="http://schemas.openxmlformats.org/drawingml/2006/main">
            <a:off x="92392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1" name="">
            <a:extLst xmlns:a="http://schemas.openxmlformats.org/drawingml/2006/main">
              <a:ext uri="{FF2B5EF4-FFF2-40B4-BE49-F238E27FC236}">
                <a16:creationId xmlns:a16="http://schemas.microsoft.com/office/drawing/2014/main" id="{E055C5CF-4FB8-4B15-8E28-202F4A300C2B}"/>
              </a:ext>
            </a:extLst>
          </p:cNvPr>
          <p:cNvCxnSpPr>
            <a:stCxn xmlns:a="http://schemas.openxmlformats.org/drawingml/2006/main" id="6" idx="3"/>
            <a:endCxn xmlns:a="http://schemas.openxmlformats.org/drawingml/2006/main" id="7" idx="1"/>
          </p:cNvCxnSpPr>
          <p:nvPr/>
        </p:nvCxnSpPr>
        <p:spPr>
          <a:xfrm xmlns:a="http://schemas.openxmlformats.org/drawingml/2006/main">
            <a:off x="70104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10" name="">
            <a:extLst xmlns:a="http://schemas.openxmlformats.org/drawingml/2006/main">
              <a:ext uri="{FF2B5EF4-FFF2-40B4-BE49-F238E27FC236}">
                <a16:creationId xmlns:a16="http://schemas.microsoft.com/office/drawing/2014/main" id="{D78B4375-682E-4008-99B3-316737FABC8C}"/>
              </a:ext>
            </a:extLst>
          </p:cNvPr>
          <p:cNvCxnSpPr>
            <a:stCxn xmlns:a="http://schemas.openxmlformats.org/drawingml/2006/main" id="5" idx="3"/>
            <a:endCxn xmlns:a="http://schemas.openxmlformats.org/drawingml/2006/main" id="6" idx="1"/>
          </p:cNvCxnSpPr>
          <p:nvPr/>
        </p:nvCxnSpPr>
        <p:spPr>
          <a:xfrm xmlns:a="http://schemas.openxmlformats.org/drawingml/2006/main">
            <a:off x="478155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cxnSp>
        <p:nvCxnSpPr>
          <p:cNvPr id="9" name="">
            <a:extLst xmlns:a="http://schemas.openxmlformats.org/drawingml/2006/main">
              <a:ext uri="{FF2B5EF4-FFF2-40B4-BE49-F238E27FC236}">
                <a16:creationId xmlns:a16="http://schemas.microsoft.com/office/drawing/2014/main" id="{3D4979F6-0EC1-4B3E-AA63-ECDEE00FA4DF}"/>
              </a:ext>
            </a:extLst>
          </p:cNvPr>
          <p:cNvCxnSpPr>
            <a:stCxn xmlns:a="http://schemas.openxmlformats.org/drawingml/2006/main" id="4" idx="3"/>
            <a:endCxn xmlns:a="http://schemas.openxmlformats.org/drawingml/2006/main" id="5" idx="1"/>
          </p:cNvCxnSpPr>
          <p:nvPr/>
        </p:nvCxnSpPr>
        <p:spPr>
          <a:xfrm xmlns:a="http://schemas.openxmlformats.org/drawingml/2006/main">
            <a:off x="2552700" y="2066925"/>
            <a:ext cx="361950" cy="0"/>
          </a:xfrm>
          <a:prstGeom xmlns:a="http://schemas.openxmlformats.org/drawingml/2006/main" prst="straightConnector1">
            <a:avLst/>
          </a:prstGeom>
          <a:ln xmlns:a="http://schemas.openxmlformats.org/drawingml/2006/main" w="19050">
            <a:solidFill>
              <a:srgbClr val="607487"/>
            </a:solidFill>
            <a:prstDash val="solid"/>
            <a:tailEnd type="arrow" w="sm" len="sm"/>
          </a:ln>
        </p:spPr>
      </p:cxnSp>
      <p:sp>
        <p:nvSpPr>
          <p:cNvPr id="2" name="">
            <a:extLst xmlns:a="http://schemas.openxmlformats.org/drawingml/2006/main">
              <a:ext uri="{FF2B5EF4-FFF2-40B4-BE49-F238E27FC236}">
                <a16:creationId xmlns:a16="http://schemas.microsoft.com/office/drawing/2014/main" id="{FEE3A697-2B34-4313-8411-C6FA3652424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Working flow</a:t>
            </a:r>
          </a:p>
        </p:txBody>
      </p:sp>
      <p:sp>
        <p:nvSpPr>
          <p:cNvPr id="3" name="">
            <a:extLst xmlns:a="http://schemas.openxmlformats.org/drawingml/2006/main">
              <a:ext uri="{FF2B5EF4-FFF2-40B4-BE49-F238E27FC236}">
                <a16:creationId xmlns:a16="http://schemas.microsoft.com/office/drawing/2014/main" id="{AB683AAC-54D0-4443-BA11-04993ED261E9}"/>
              </a:ext>
            </a:extLst>
          </p:cNvPr>
          <p:cNvSpPr>
            <a:spLocks xmlns:a="http://schemas.openxmlformats.org/drawingml/2006/main" noGrp="1"/>
          </p:cNvSpPr>
          <p:nvPr/>
        </p:nvSpPr>
        <p:spPr>
          <a:xfrm xmlns:a="http://schemas.openxmlformats.org/drawingml/2006/main">
            <a:off x="685800" y="138112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GUEST ALLOCATION  |  4 children × 8 pages × 200 rounds</a:t>
            </a:r>
          </a:p>
        </p:txBody>
      </p:sp>
      <p:sp>
        <p:nvSpPr>
          <p:cNvPr id="4" name="guest-test">
            <a:extLst xmlns:a="http://schemas.openxmlformats.org/drawingml/2006/main">
              <a:ext uri="{FF2B5EF4-FFF2-40B4-BE49-F238E27FC236}">
                <a16:creationId xmlns:a16="http://schemas.microsoft.com/office/drawing/2014/main" id="{8418ACEA-4035-42A7-8299-E9C17C49B0C6}"/>
              </a:ext>
            </a:extLst>
          </p:cNvPr>
          <p:cNvSpPr>
            <a:spLocks xmlns:a="http://schemas.openxmlformats.org/drawingml/2006/main" noGrp="1"/>
          </p:cNvSpPr>
          <p:nvPr/>
        </p:nvSpPr>
        <p:spPr>
          <a:xfrm xmlns:a="http://schemas.openxmlformats.org/drawingml/2006/main">
            <a:off x="6858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race_test.c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4 forked workers</a:t>
            </a:r>
          </a:p>
        </p:txBody>
      </p:sp>
      <p:sp>
        <p:nvSpPr>
          <p:cNvPr id="5" name="sbrk-call">
            <a:extLst xmlns:a="http://schemas.openxmlformats.org/drawingml/2006/main">
              <a:ext uri="{FF2B5EF4-FFF2-40B4-BE49-F238E27FC236}">
                <a16:creationId xmlns:a16="http://schemas.microsoft.com/office/drawing/2014/main" id="{0364C35C-1BB1-4E6A-8773-8286E038E9BC}"/>
              </a:ext>
            </a:extLst>
          </p:cNvPr>
          <p:cNvSpPr>
            <a:spLocks xmlns:a="http://schemas.openxmlformats.org/drawingml/2006/main" noGrp="1"/>
          </p:cNvSpPr>
          <p:nvPr/>
        </p:nvSpPr>
        <p:spPr>
          <a:xfrm xmlns:a="http://schemas.openxmlformats.org/drawingml/2006/main">
            <a:off x="29146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sbrk(bytes)</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user/ulib.c</a:t>
            </a:r>
          </a:p>
        </p:txBody>
      </p:sp>
      <p:sp>
        <p:nvSpPr>
          <p:cNvPr id="6" name="system-call">
            <a:extLst xmlns:a="http://schemas.openxmlformats.org/drawingml/2006/main">
              <a:ext uri="{FF2B5EF4-FFF2-40B4-BE49-F238E27FC236}">
                <a16:creationId xmlns:a16="http://schemas.microsoft.com/office/drawing/2014/main" id="{727BB1C4-B097-47AE-AAD5-1BA2C4430989}"/>
              </a:ext>
            </a:extLst>
          </p:cNvPr>
          <p:cNvSpPr>
            <a:spLocks xmlns:a="http://schemas.openxmlformats.org/drawingml/2006/main" noGrp="1"/>
          </p:cNvSpPr>
          <p:nvPr/>
        </p:nvSpPr>
        <p:spPr>
          <a:xfrm xmlns:a="http://schemas.openxmlformats.org/drawingml/2006/main">
            <a:off x="51435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sys_sbrk()</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kernel/sysproc.c</a:t>
            </a:r>
          </a:p>
        </p:txBody>
      </p:sp>
      <p:sp>
        <p:nvSpPr>
          <p:cNvPr id="7" name="vm-growth">
            <a:extLst xmlns:a="http://schemas.openxmlformats.org/drawingml/2006/main">
              <a:ext uri="{FF2B5EF4-FFF2-40B4-BE49-F238E27FC236}">
                <a16:creationId xmlns:a16="http://schemas.microsoft.com/office/drawing/2014/main" id="{060A893F-2A90-42BE-8FAD-058041A59EEC}"/>
              </a:ext>
            </a:extLst>
          </p:cNvPr>
          <p:cNvSpPr>
            <a:spLocks xmlns:a="http://schemas.openxmlformats.org/drawingml/2006/main" noGrp="1"/>
          </p:cNvSpPr>
          <p:nvPr/>
        </p:nvSpPr>
        <p:spPr>
          <a:xfrm xmlns:a="http://schemas.openxmlformats.org/drawingml/2006/main">
            <a:off x="737235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growproc() → uvmalloc()</a:t>
            </a:r>
          </a:p>
        </p:txBody>
      </p:sp>
      <p:sp>
        <p:nvSpPr>
          <p:cNvPr id="8" name="allocator-lock">
            <a:extLst xmlns:a="http://schemas.openxmlformats.org/drawingml/2006/main">
              <a:ext uri="{FF2B5EF4-FFF2-40B4-BE49-F238E27FC236}">
                <a16:creationId xmlns:a16="http://schemas.microsoft.com/office/drawing/2014/main" id="{1933FFF9-3790-48F5-A0CB-0120D9243154}"/>
              </a:ext>
            </a:extLst>
          </p:cNvPr>
          <p:cNvSpPr>
            <a:spLocks xmlns:a="http://schemas.openxmlformats.org/drawingml/2006/main" noGrp="1"/>
          </p:cNvSpPr>
          <p:nvPr/>
        </p:nvSpPr>
        <p:spPr>
          <a:xfrm xmlns:a="http://schemas.openxmlformats.org/drawingml/2006/main">
            <a:off x="9601200" y="1714500"/>
            <a:ext cx="1866900" cy="70485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kalloc()</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kmem.lock</a:t>
            </a:r>
          </a:p>
        </p:txBody>
      </p:sp>
      <p:sp>
        <p:nvSpPr>
          <p:cNvPr id="13" name="">
            <a:extLst xmlns:a="http://schemas.openxmlformats.org/drawingml/2006/main">
              <a:ext uri="{FF2B5EF4-FFF2-40B4-BE49-F238E27FC236}">
                <a16:creationId xmlns:a16="http://schemas.microsoft.com/office/drawing/2014/main" id="{E170252D-C85A-42BE-8D7D-10FB27B8D4FB}"/>
              </a:ext>
            </a:extLst>
          </p:cNvPr>
          <p:cNvSpPr>
            <a:spLocks xmlns:a="http://schemas.openxmlformats.org/drawingml/2006/main" noGrp="1"/>
          </p:cNvSpPr>
          <p:nvPr/>
        </p:nvSpPr>
        <p:spPr>
          <a:xfrm xmlns:a="http://schemas.openxmlformats.org/drawingml/2006/main">
            <a:off x="685800" y="251460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53616E"/>
                </a:solidFill>
                <a:latin typeface="Arial"/>
                <a:ea typeface="Arial"/>
                <a:cs typeface="Arial"/>
              </a:defRPr>
            </a:defPPr>
            <a:lvl1pPr algn="l">
              <a:defRPr sz="1275">
                <a:solidFill>
                  <a:srgbClr val="53616E"/>
                </a:solidFill>
                <a:latin typeface="Arial"/>
                <a:ea typeface="Arial"/>
                <a:cs typeface="Arial"/>
              </a:defRPr>
            </a:lvl1pPr>
            <a:lvl2pPr algn="l">
              <a:defRPr sz="1275">
                <a:solidFill>
                  <a:srgbClr val="53616E"/>
                </a:solidFill>
                <a:latin typeface="Arial"/>
                <a:ea typeface="Arial"/>
                <a:cs typeface="Arial"/>
              </a:defRPr>
            </a:lvl2pPr>
            <a:lvl3pPr algn="l">
              <a:defRPr sz="1275">
                <a:solidFill>
                  <a:srgbClr val="53616E"/>
                </a:solidFill>
                <a:latin typeface="Arial"/>
                <a:ea typeface="Arial"/>
                <a:cs typeface="Arial"/>
              </a:defRPr>
            </a:lvl3pPr>
            <a:lvl4pPr algn="l">
              <a:defRPr sz="1275">
                <a:solidFill>
                  <a:srgbClr val="53616E"/>
                </a:solidFill>
                <a:latin typeface="Arial"/>
                <a:ea typeface="Arial"/>
                <a:cs typeface="Arial"/>
              </a:defRPr>
            </a:lvl4pPr>
            <a:lvl5pPr algn="l">
              <a:defRPr sz="1275">
                <a:solidFill>
                  <a:srgbClr val="53616E"/>
                </a:solidFill>
                <a:latin typeface="Arial"/>
                <a:ea typeface="Arial"/>
                <a:cs typeface="Arial"/>
              </a:defRPr>
            </a:lvl5pPr>
            <a:lvl6pPr algn="l">
              <a:defRPr sz="1275">
                <a:solidFill>
                  <a:srgbClr val="53616E"/>
                </a:solidFill>
                <a:latin typeface="Arial"/>
                <a:ea typeface="Arial"/>
                <a:cs typeface="Arial"/>
              </a:defRPr>
            </a:lvl6pPr>
            <a:lvl7pPr algn="l">
              <a:defRPr sz="1275">
                <a:solidFill>
                  <a:srgbClr val="53616E"/>
                </a:solidFill>
                <a:latin typeface="Arial"/>
                <a:ea typeface="Arial"/>
                <a:cs typeface="Arial"/>
              </a:defRPr>
            </a:lvl7pPr>
            <a:lvl8pPr algn="l">
              <a:defRPr sz="1275">
                <a:solidFill>
                  <a:srgbClr val="53616E"/>
                </a:solidFill>
                <a:latin typeface="Arial"/>
                <a:ea typeface="Arial"/>
                <a:cs typeface="Arial"/>
              </a:defRPr>
            </a:lvl8pPr>
            <a:lvl9pPr algn="l">
              <a:defRPr sz="1275">
                <a:solidFill>
                  <a:srgbClr val="53616E"/>
                </a:solidFill>
                <a:latin typeface="Arial"/>
                <a:ea typeface="Arial"/>
                <a:cs typeface="Arial"/>
              </a:defRPr>
            </a:lvl9pPr>
          </a:lstStyle>
          <a:p xmlns:a="http://schemas.openxmlformats.org/drawingml/2006/main">
            <a:pPr algn="l">
              <a:defRPr sz="1275">
                <a:solidFill>
                  <a:srgbClr val="53616E"/>
                </a:solidFill>
                <a:latin typeface="Arial"/>
                <a:ea typeface="Arial"/>
                <a:cs typeface="Arial"/>
              </a:defRPr>
            </a:pPr>
            <a:r>
              <a:rPr sz="1275">
                <a:solidFill>
                  <a:srgbClr val="53616E"/>
                </a:solidFill>
                <a:latin typeface="Arial"/>
                <a:ea typeface="Arial"/>
                <a:cs typeface="Arial"/>
              </a:rPr>
              <a:t>Release path: uvmdealloc() → uvmunmap() → kfree().</a:t>
            </a:r>
          </a:p>
        </p:txBody>
      </p:sp>
      <p:sp>
        <p:nvSpPr>
          <p:cNvPr id="14" name="">
            <a:extLst xmlns:a="http://schemas.openxmlformats.org/drawingml/2006/main">
              <a:ext uri="{FF2B5EF4-FFF2-40B4-BE49-F238E27FC236}">
                <a16:creationId xmlns:a16="http://schemas.microsoft.com/office/drawing/2014/main" id="{28EB72F8-EDD7-48BF-ADF3-FADF244F044B}"/>
              </a:ext>
            </a:extLst>
          </p:cNvPr>
          <p:cNvSpPr>
            <a:spLocks xmlns:a="http://schemas.openxmlformats.org/drawingml/2006/main" noGrp="1"/>
          </p:cNvSpPr>
          <p:nvPr/>
        </p:nvSpPr>
        <p:spPr>
          <a:xfrm xmlns:a="http://schemas.openxmlformats.org/drawingml/2006/main">
            <a:off x="685800" y="2952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425" b="1">
                <a:solidFill>
                  <a:srgbClr val="17202A"/>
                </a:solidFill>
                <a:latin typeface="Arial"/>
                <a:ea typeface="Arial"/>
                <a:cs typeface="Arial"/>
              </a:defRPr>
            </a:defPPr>
            <a:lvl1pPr algn="l">
              <a:defRPr sz="1425" b="1">
                <a:solidFill>
                  <a:srgbClr val="17202A"/>
                </a:solidFill>
                <a:latin typeface="Arial"/>
                <a:ea typeface="Arial"/>
                <a:cs typeface="Arial"/>
              </a:defRPr>
            </a:lvl1pPr>
            <a:lvl2pPr algn="l">
              <a:defRPr sz="1425" b="1">
                <a:solidFill>
                  <a:srgbClr val="17202A"/>
                </a:solidFill>
                <a:latin typeface="Arial"/>
                <a:ea typeface="Arial"/>
                <a:cs typeface="Arial"/>
              </a:defRPr>
            </a:lvl2pPr>
            <a:lvl3pPr algn="l">
              <a:defRPr sz="1425" b="1">
                <a:solidFill>
                  <a:srgbClr val="17202A"/>
                </a:solidFill>
                <a:latin typeface="Arial"/>
                <a:ea typeface="Arial"/>
                <a:cs typeface="Arial"/>
              </a:defRPr>
            </a:lvl3pPr>
            <a:lvl4pPr algn="l">
              <a:defRPr sz="1425" b="1">
                <a:solidFill>
                  <a:srgbClr val="17202A"/>
                </a:solidFill>
                <a:latin typeface="Arial"/>
                <a:ea typeface="Arial"/>
                <a:cs typeface="Arial"/>
              </a:defRPr>
            </a:lvl4pPr>
            <a:lvl5pPr algn="l">
              <a:defRPr sz="1425" b="1">
                <a:solidFill>
                  <a:srgbClr val="17202A"/>
                </a:solidFill>
                <a:latin typeface="Arial"/>
                <a:ea typeface="Arial"/>
                <a:cs typeface="Arial"/>
              </a:defRPr>
            </a:lvl5pPr>
            <a:lvl6pPr algn="l">
              <a:defRPr sz="1425" b="1">
                <a:solidFill>
                  <a:srgbClr val="17202A"/>
                </a:solidFill>
                <a:latin typeface="Arial"/>
                <a:ea typeface="Arial"/>
                <a:cs typeface="Arial"/>
              </a:defRPr>
            </a:lvl6pPr>
            <a:lvl7pPr algn="l">
              <a:defRPr sz="1425" b="1">
                <a:solidFill>
                  <a:srgbClr val="17202A"/>
                </a:solidFill>
                <a:latin typeface="Arial"/>
                <a:ea typeface="Arial"/>
                <a:cs typeface="Arial"/>
              </a:defRPr>
            </a:lvl7pPr>
            <a:lvl8pPr algn="l">
              <a:defRPr sz="1425" b="1">
                <a:solidFill>
                  <a:srgbClr val="17202A"/>
                </a:solidFill>
                <a:latin typeface="Arial"/>
                <a:ea typeface="Arial"/>
                <a:cs typeface="Arial"/>
              </a:defRPr>
            </a:lvl8pPr>
            <a:lvl9pPr algn="l">
              <a:defRPr sz="1425" b="1">
                <a:solidFill>
                  <a:srgbClr val="17202A"/>
                </a:solidFill>
                <a:latin typeface="Arial"/>
                <a:ea typeface="Arial"/>
                <a:cs typeface="Arial"/>
              </a:defRPr>
            </a:lvl9pPr>
          </a:lstStyle>
          <a:p xmlns:a="http://schemas.openxmlformats.org/drawingml/2006/main">
            <a:pPr algn="l">
              <a:defRPr sz="1425" b="1">
                <a:solidFill>
                  <a:srgbClr val="17202A"/>
                </a:solidFill>
                <a:latin typeface="Arial"/>
                <a:ea typeface="Arial"/>
                <a:cs typeface="Arial"/>
              </a:defRPr>
            </a:pPr>
            <a:r>
              <a:rPr sz="1425" b="1">
                <a:solidFill>
                  <a:srgbClr val="17202A"/>
                </a:solidFill>
                <a:latin typeface="Arial"/>
                <a:ea typeface="Arial"/>
                <a:cs typeface="Arial"/>
              </a:rPr>
              <a:t>HOST C RUNNER  |  controlled phases and restoration</a:t>
            </a:r>
          </a:p>
        </p:txBody>
      </p:sp>
      <p:sp>
        <p:nvSpPr>
          <p:cNvPr id="15" name="phase-locked">
            <a:extLst xmlns:a="http://schemas.openxmlformats.org/drawingml/2006/main">
              <a:ext uri="{FF2B5EF4-FFF2-40B4-BE49-F238E27FC236}">
                <a16:creationId xmlns:a16="http://schemas.microsoft.com/office/drawing/2014/main" id="{2149AF7D-97B4-4D66-A28A-408E83569029}"/>
              </a:ext>
            </a:extLst>
          </p:cNvPr>
          <p:cNvSpPr>
            <a:spLocks xmlns:a="http://schemas.openxmlformats.org/drawingml/2006/main" noGrp="1"/>
          </p:cNvSpPr>
          <p:nvPr/>
        </p:nvSpPr>
        <p:spPr>
          <a:xfrm xmlns:a="http://schemas.openxmlformats.org/drawingml/2006/main">
            <a:off x="6858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A: 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original allocator</a:t>
            </a:r>
          </a:p>
        </p:txBody>
      </p:sp>
      <p:sp>
        <p:nvSpPr>
          <p:cNvPr id="16" name="phase-unlocked">
            <a:extLst xmlns:a="http://schemas.openxmlformats.org/drawingml/2006/main">
              <a:ext uri="{FF2B5EF4-FFF2-40B4-BE49-F238E27FC236}">
                <a16:creationId xmlns:a16="http://schemas.microsoft.com/office/drawing/2014/main" id="{B2EAD035-67E6-4545-8643-E3E179AE6AEF}"/>
              </a:ext>
            </a:extLst>
          </p:cNvPr>
          <p:cNvSpPr>
            <a:spLocks xmlns:a="http://schemas.openxmlformats.org/drawingml/2006/main" noGrp="1"/>
          </p:cNvSpPr>
          <p:nvPr/>
        </p:nvSpPr>
        <p:spPr>
          <a:xfrm xmlns:a="http://schemas.openxmlformats.org/drawingml/2006/main">
            <a:off x="352425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B: UNLOCKED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remove four calls</a:t>
            </a:r>
          </a:p>
        </p:txBody>
      </p:sp>
      <p:sp>
        <p:nvSpPr>
          <p:cNvPr id="17" name="phase-restored">
            <a:extLst xmlns:a="http://schemas.openxmlformats.org/drawingml/2006/main">
              <a:ext uri="{FF2B5EF4-FFF2-40B4-BE49-F238E27FC236}">
                <a16:creationId xmlns:a16="http://schemas.microsoft.com/office/drawing/2014/main" id="{74432EF5-B007-40ED-BC79-6E2FB1D2742B}"/>
              </a:ext>
            </a:extLst>
          </p:cNvPr>
          <p:cNvSpPr>
            <a:spLocks xmlns:a="http://schemas.openxmlformats.org/drawingml/2006/main" noGrp="1"/>
          </p:cNvSpPr>
          <p:nvPr/>
        </p:nvSpPr>
        <p:spPr>
          <a:xfrm xmlns:a="http://schemas.openxmlformats.org/drawingml/2006/main">
            <a:off x="6362700" y="3276600"/>
            <a:ext cx="240030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C: RESTORED</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restore bytes, rebuild</a:t>
            </a:r>
          </a:p>
        </p:txBody>
      </p:sp>
      <p:sp>
        <p:nvSpPr>
          <p:cNvPr id="18" name="phase-verify">
            <a:extLst xmlns:a="http://schemas.openxmlformats.org/drawingml/2006/main">
              <a:ext uri="{FF2B5EF4-FFF2-40B4-BE49-F238E27FC236}">
                <a16:creationId xmlns:a16="http://schemas.microsoft.com/office/drawing/2014/main" id="{291DFC5B-9C24-483E-B220-84907CC72879}"/>
              </a:ext>
            </a:extLst>
          </p:cNvPr>
          <p:cNvSpPr>
            <a:spLocks xmlns:a="http://schemas.openxmlformats.org/drawingml/2006/main" noGrp="1"/>
          </p:cNvSpPr>
          <p:nvPr/>
        </p:nvSpPr>
        <p:spPr>
          <a:xfrm xmlns:a="http://schemas.openxmlformats.org/drawingml/2006/main">
            <a:off x="9201150" y="3276600"/>
            <a:ext cx="2266950" cy="685800"/>
          </a:xfrm>
          <a:prstGeom xmlns:a="http://schemas.openxmlformats.org/drawingml/2006/main" prst="rect">
            <a:avLst/>
          </a:prstGeom>
          <a:solidFill xmlns:a="http://schemas.openxmlformats.org/drawingml/2006/main">
            <a:srgbClr val="F1F3F5"/>
          </a:solidFill>
          <a:ln xmlns:a="http://schemas.openxmlformats.org/drawingml/2006/main" w="19050">
            <a:solidFill>
              <a:srgbClr val="607487"/>
            </a:solidFill>
            <a:prstDash val="solid"/>
          </a:ln>
        </p:spPr>
        <p:txBody>
          <a:bodyPr xmlns:a="http://schemas.openxmlformats.org/drawingml/2006/main" lIns="85725" tIns="57150" rIns="85725" bIns="57150"/>
          <a:lstStyle xmlns:a="http://schemas.openxmlformats.org/drawingml/2006/main">
            <a:defPPr algn="ctr">
              <a:defRPr sz="1425" b="1">
                <a:solidFill>
                  <a:srgbClr val="12304A"/>
                </a:solidFill>
                <a:latin typeface="Arial"/>
                <a:ea typeface="Arial"/>
                <a:cs typeface="Arial"/>
              </a:defRPr>
            </a:defPPr>
            <a:lvl1pPr algn="ctr">
              <a:defRPr sz="1425" b="1">
                <a:solidFill>
                  <a:srgbClr val="12304A"/>
                </a:solidFill>
                <a:latin typeface="Arial"/>
                <a:ea typeface="Arial"/>
                <a:cs typeface="Arial"/>
              </a:defRPr>
            </a:lvl1pPr>
            <a:lvl2pPr algn="ctr">
              <a:defRPr sz="1425" b="1">
                <a:solidFill>
                  <a:srgbClr val="12304A"/>
                </a:solidFill>
                <a:latin typeface="Arial"/>
                <a:ea typeface="Arial"/>
                <a:cs typeface="Arial"/>
              </a:defRPr>
            </a:lvl2pPr>
            <a:lvl3pPr algn="ctr">
              <a:defRPr sz="1425" b="1">
                <a:solidFill>
                  <a:srgbClr val="12304A"/>
                </a:solidFill>
                <a:latin typeface="Arial"/>
                <a:ea typeface="Arial"/>
                <a:cs typeface="Arial"/>
              </a:defRPr>
            </a:lvl3pPr>
            <a:lvl4pPr algn="ctr">
              <a:defRPr sz="1425" b="1">
                <a:solidFill>
                  <a:srgbClr val="12304A"/>
                </a:solidFill>
                <a:latin typeface="Arial"/>
                <a:ea typeface="Arial"/>
                <a:cs typeface="Arial"/>
              </a:defRPr>
            </a:lvl4pPr>
            <a:lvl5pPr algn="ctr">
              <a:defRPr sz="1425" b="1">
                <a:solidFill>
                  <a:srgbClr val="12304A"/>
                </a:solidFill>
                <a:latin typeface="Arial"/>
                <a:ea typeface="Arial"/>
                <a:cs typeface="Arial"/>
              </a:defRPr>
            </a:lvl5pPr>
            <a:lvl6pPr algn="ctr">
              <a:defRPr sz="1425" b="1">
                <a:solidFill>
                  <a:srgbClr val="12304A"/>
                </a:solidFill>
                <a:latin typeface="Arial"/>
                <a:ea typeface="Arial"/>
                <a:cs typeface="Arial"/>
              </a:defRPr>
            </a:lvl6pPr>
            <a:lvl7pPr algn="ctr">
              <a:defRPr sz="1425" b="1">
                <a:solidFill>
                  <a:srgbClr val="12304A"/>
                </a:solidFill>
                <a:latin typeface="Arial"/>
                <a:ea typeface="Arial"/>
                <a:cs typeface="Arial"/>
              </a:defRPr>
            </a:lvl7pPr>
            <a:lvl8pPr algn="ctr">
              <a:defRPr sz="1425" b="1">
                <a:solidFill>
                  <a:srgbClr val="12304A"/>
                </a:solidFill>
                <a:latin typeface="Arial"/>
                <a:ea typeface="Arial"/>
                <a:cs typeface="Arial"/>
              </a:defRPr>
            </a:lvl8pPr>
            <a:lvl9pPr algn="ctr">
              <a:defRPr sz="1425" b="1">
                <a:solidFill>
                  <a:srgbClr val="12304A"/>
                </a:solidFill>
                <a:latin typeface="Arial"/>
                <a:ea typeface="Arial"/>
                <a:cs typeface="Arial"/>
              </a:defRPr>
            </a:lvl9pPr>
          </a:lstStyle>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VERIFY</a:t>
            </a:r>
          </a:p>
          <a:p xmlns:a="http://schemas.openxmlformats.org/drawingml/2006/main">
            <a:pPr algn="ctr">
              <a:defRPr sz="1425" b="1">
                <a:solidFill>
                  <a:srgbClr val="12304A"/>
                </a:solidFill>
                <a:latin typeface="Arial"/>
                <a:ea typeface="Arial"/>
                <a:cs typeface="Arial"/>
              </a:defRPr>
            </a:pPr>
            <a:r>
              <a:rPr sz="1425" b="1">
                <a:solidFill>
                  <a:srgbClr val="12304A"/>
                </a:solidFill>
                <a:latin typeface="Arial"/>
                <a:ea typeface="Arial"/>
                <a:cs typeface="Arial"/>
              </a:rPr>
              <a:t>hash + diff + results.csv</a:t>
            </a:r>
          </a:p>
        </p:txBody>
      </p:sp>
      <p:sp>
        <p:nvSpPr>
          <p:cNvPr id="22" name="">
            <a:extLst xmlns:a="http://schemas.openxmlformats.org/drawingml/2006/main">
              <a:ext uri="{FF2B5EF4-FFF2-40B4-BE49-F238E27FC236}">
                <a16:creationId xmlns:a16="http://schemas.microsoft.com/office/drawing/2014/main" id="{FCEB3A03-7F75-4E42-8A50-C9A473196AE0}"/>
              </a:ext>
            </a:extLst>
          </p:cNvPr>
          <p:cNvSpPr>
            <a:spLocks xmlns:a="http://schemas.openxmlformats.org/drawingml/2006/main" noGrp="1"/>
          </p:cNvSpPr>
          <p:nvPr/>
        </p:nvSpPr>
        <p:spPr>
          <a:xfrm xmlns:a="http://schemas.openxmlformats.org/drawingml/2006/main">
            <a:off x="685800" y="4248150"/>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350">
                <a:solidFill>
                  <a:srgbClr val="17202A"/>
                </a:solidFill>
                <a:latin typeface="Arial"/>
                <a:ea typeface="Arial"/>
                <a:cs typeface="Arial"/>
              </a:defRPr>
            </a:defPPr>
            <a:lvl1pPr algn="l">
              <a:defRPr sz="1350">
                <a:solidFill>
                  <a:srgbClr val="17202A"/>
                </a:solidFill>
                <a:latin typeface="Arial"/>
                <a:ea typeface="Arial"/>
                <a:cs typeface="Arial"/>
              </a:defRPr>
            </a:lvl1pPr>
            <a:lvl2pPr algn="l">
              <a:defRPr sz="1350">
                <a:solidFill>
                  <a:srgbClr val="17202A"/>
                </a:solidFill>
                <a:latin typeface="Arial"/>
                <a:ea typeface="Arial"/>
                <a:cs typeface="Arial"/>
              </a:defRPr>
            </a:lvl2pPr>
            <a:lvl3pPr algn="l">
              <a:defRPr sz="1350">
                <a:solidFill>
                  <a:srgbClr val="17202A"/>
                </a:solidFill>
                <a:latin typeface="Arial"/>
                <a:ea typeface="Arial"/>
                <a:cs typeface="Arial"/>
              </a:defRPr>
            </a:lvl3pPr>
            <a:lvl4pPr algn="l">
              <a:defRPr sz="1350">
                <a:solidFill>
                  <a:srgbClr val="17202A"/>
                </a:solidFill>
                <a:latin typeface="Arial"/>
                <a:ea typeface="Arial"/>
                <a:cs typeface="Arial"/>
              </a:defRPr>
            </a:lvl4pPr>
            <a:lvl5pPr algn="l">
              <a:defRPr sz="1350">
                <a:solidFill>
                  <a:srgbClr val="17202A"/>
                </a:solidFill>
                <a:latin typeface="Arial"/>
                <a:ea typeface="Arial"/>
                <a:cs typeface="Arial"/>
              </a:defRPr>
            </a:lvl5pPr>
            <a:lvl6pPr algn="l">
              <a:defRPr sz="1350">
                <a:solidFill>
                  <a:srgbClr val="17202A"/>
                </a:solidFill>
                <a:latin typeface="Arial"/>
                <a:ea typeface="Arial"/>
                <a:cs typeface="Arial"/>
              </a:defRPr>
            </a:lvl6pPr>
            <a:lvl7pPr algn="l">
              <a:defRPr sz="1350">
                <a:solidFill>
                  <a:srgbClr val="17202A"/>
                </a:solidFill>
                <a:latin typeface="Arial"/>
                <a:ea typeface="Arial"/>
                <a:cs typeface="Arial"/>
              </a:defRPr>
            </a:lvl7pPr>
            <a:lvl8pPr algn="l">
              <a:defRPr sz="1350">
                <a:solidFill>
                  <a:srgbClr val="17202A"/>
                </a:solidFill>
                <a:latin typeface="Arial"/>
                <a:ea typeface="Arial"/>
                <a:cs typeface="Arial"/>
              </a:defRPr>
            </a:lvl8pPr>
            <a:lvl9pPr algn="l">
              <a:defRPr sz="1350">
                <a:solidFill>
                  <a:srgbClr val="17202A"/>
                </a:solidFill>
                <a:latin typeface="Arial"/>
                <a:ea typeface="Arial"/>
                <a:cs typeface="Arial"/>
              </a:defRPr>
            </a:lvl9pPr>
          </a:lstStyle>
          <a:p xmlns:a="http://schemas.openxmlformats.org/drawingml/2006/main">
            <a:pPr algn="l">
              <a:defRPr sz="1350">
                <a:solidFill>
                  <a:srgbClr val="17202A"/>
                </a:solidFill>
                <a:latin typeface="Arial"/>
                <a:ea typeface="Arial"/>
                <a:cs typeface="Arial"/>
              </a:defRPr>
            </a:pPr>
            <a:r>
              <a:rPr sz="1350">
                <a:solidFill>
                  <a:srgbClr val="17202A"/>
                </a:solidFill>
                <a:latin typeface="Arial"/>
                <a:ea typeface="Arial"/>
                <a:cs typeface="Arial"/>
              </a:rPr>
              <a:t>Fresh QEMU boot per attempt; save console output and one result row.</a:t>
            </a:r>
          </a:p>
        </p:txBody>
      </p:sp>
      <p:sp>
        <p:nvSpPr>
          <p:cNvPr id="23" name="">
            <a:extLst xmlns:a="http://schemas.openxmlformats.org/drawingml/2006/main">
              <a:ext uri="{FF2B5EF4-FFF2-40B4-BE49-F238E27FC236}">
                <a16:creationId xmlns:a16="http://schemas.microsoft.com/office/drawing/2014/main" id="{6EAF0024-647B-4573-9DAC-F981B5EA8C1C}"/>
              </a:ext>
            </a:extLst>
          </p:cNvPr>
          <p:cNvSpPr>
            <a:spLocks xmlns:a="http://schemas.openxmlformats.org/drawingml/2006/main" noGrp="1"/>
          </p:cNvSpPr>
          <p:nvPr/>
        </p:nvSpPr>
        <p:spPr>
          <a:xfrm xmlns:a="http://schemas.openxmlformats.org/drawingml/2006/main">
            <a:off x="685800" y="4857750"/>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200" i="1">
                <a:solidFill>
                  <a:srgbClr val="53616E"/>
                </a:solidFill>
                <a:latin typeface="Arial"/>
                <a:ea typeface="Arial"/>
                <a:cs typeface="Arial"/>
              </a:defRPr>
            </a:defPPr>
            <a:lvl1pPr algn="ctr">
              <a:defRPr sz="1200" i="1">
                <a:solidFill>
                  <a:srgbClr val="53616E"/>
                </a:solidFill>
                <a:latin typeface="Arial"/>
                <a:ea typeface="Arial"/>
                <a:cs typeface="Arial"/>
              </a:defRPr>
            </a:lvl1pPr>
            <a:lvl2pPr algn="ctr">
              <a:defRPr sz="1200" i="1">
                <a:solidFill>
                  <a:srgbClr val="53616E"/>
                </a:solidFill>
                <a:latin typeface="Arial"/>
                <a:ea typeface="Arial"/>
                <a:cs typeface="Arial"/>
              </a:defRPr>
            </a:lvl2pPr>
            <a:lvl3pPr algn="ctr">
              <a:defRPr sz="1200" i="1">
                <a:solidFill>
                  <a:srgbClr val="53616E"/>
                </a:solidFill>
                <a:latin typeface="Arial"/>
                <a:ea typeface="Arial"/>
                <a:cs typeface="Arial"/>
              </a:defRPr>
            </a:lvl3pPr>
            <a:lvl4pPr algn="ctr">
              <a:defRPr sz="1200" i="1">
                <a:solidFill>
                  <a:srgbClr val="53616E"/>
                </a:solidFill>
                <a:latin typeface="Arial"/>
                <a:ea typeface="Arial"/>
                <a:cs typeface="Arial"/>
              </a:defRPr>
            </a:lvl4pPr>
            <a:lvl5pPr algn="ctr">
              <a:defRPr sz="1200" i="1">
                <a:solidFill>
                  <a:srgbClr val="53616E"/>
                </a:solidFill>
                <a:latin typeface="Arial"/>
                <a:ea typeface="Arial"/>
                <a:cs typeface="Arial"/>
              </a:defRPr>
            </a:lvl5pPr>
            <a:lvl6pPr algn="ctr">
              <a:defRPr sz="1200" i="1">
                <a:solidFill>
                  <a:srgbClr val="53616E"/>
                </a:solidFill>
                <a:latin typeface="Arial"/>
                <a:ea typeface="Arial"/>
                <a:cs typeface="Arial"/>
              </a:defRPr>
            </a:lvl6pPr>
            <a:lvl7pPr algn="ctr">
              <a:defRPr sz="1200" i="1">
                <a:solidFill>
                  <a:srgbClr val="53616E"/>
                </a:solidFill>
                <a:latin typeface="Arial"/>
                <a:ea typeface="Arial"/>
                <a:cs typeface="Arial"/>
              </a:defRPr>
            </a:lvl7pPr>
            <a:lvl8pPr algn="ctr">
              <a:defRPr sz="1200" i="1">
                <a:solidFill>
                  <a:srgbClr val="53616E"/>
                </a:solidFill>
                <a:latin typeface="Arial"/>
                <a:ea typeface="Arial"/>
                <a:cs typeface="Arial"/>
              </a:defRPr>
            </a:lvl8pPr>
            <a:lvl9pPr algn="ctr">
              <a:defRPr sz="1200" i="1">
                <a:solidFill>
                  <a:srgbClr val="53616E"/>
                </a:solidFill>
                <a:latin typeface="Arial"/>
                <a:ea typeface="Arial"/>
                <a:cs typeface="Arial"/>
              </a:defRPr>
            </a:lvl9pPr>
          </a:lstStyle>
          <a:p xmlns:a="http://schemas.openxmlformats.org/drawingml/2006/main">
            <a:pPr algn="ctr">
              <a:defRPr sz="1200" i="1">
                <a:solidFill>
                  <a:srgbClr val="53616E"/>
                </a:solidFill>
                <a:latin typeface="Arial"/>
                <a:ea typeface="Arial"/>
                <a:cs typeface="Arial"/>
              </a:defRPr>
            </a:pPr>
            <a:r>
              <a:rPr sz="1200" i="1">
                <a:solidFill>
                  <a:srgbClr val="53616E"/>
                </a:solidFill>
                <a:latin typeface="Arial"/>
                <a:ea typeface="Arial"/>
                <a:cs typeface="Arial"/>
              </a:rPr>
              <a:t>Figure 1. Guest allocation path and locked → unlocked → restored experiment workflow.</a:t>
            </a:r>
          </a:p>
        </p:txBody>
      </p:sp>
      <p:sp>
        <p:nvSpPr>
          <p:cNvPr id="24" name="slide-number-placeholder">
            <a:extLst xmlns:a="http://schemas.openxmlformats.org/drawingml/2006/main">
              <a:ext uri="{FF2B5EF4-FFF2-40B4-BE49-F238E27FC236}">
                <a16:creationId xmlns:a16="http://schemas.microsoft.com/office/drawing/2014/main" id="{AAA5F376-FF28-40C6-8AA5-288756E558A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a:solidFill>
                  <a:srgbClr val="66727E"/>
                </a:solidFill>
                <a:latin typeface="Arial"/>
                <a:ea typeface="Arial"/>
                <a:cs typeface="Arial"/>
              </a:defRPr>
            </a:defPPr>
            <a:lvl1pPr algn="l">
              <a:defRPr sz="1275">
                <a:solidFill>
                  <a:srgbClr val="66727E"/>
                </a:solidFill>
                <a:latin typeface="Arial"/>
                <a:ea typeface="Arial"/>
                <a:cs typeface="Arial"/>
              </a:defRPr>
            </a:lvl1pPr>
            <a:lvl2pPr algn="l">
              <a:defRPr sz="1275">
                <a:solidFill>
                  <a:srgbClr val="66727E"/>
                </a:solidFill>
                <a:latin typeface="Arial"/>
                <a:ea typeface="Arial"/>
                <a:cs typeface="Arial"/>
              </a:defRPr>
            </a:lvl2pPr>
            <a:lvl3pPr algn="l">
              <a:defRPr sz="1275">
                <a:solidFill>
                  <a:srgbClr val="66727E"/>
                </a:solidFill>
                <a:latin typeface="Arial"/>
                <a:ea typeface="Arial"/>
                <a:cs typeface="Arial"/>
              </a:defRPr>
            </a:lvl3pPr>
            <a:lvl4pPr algn="l">
              <a:defRPr sz="1275">
                <a:solidFill>
                  <a:srgbClr val="66727E"/>
                </a:solidFill>
                <a:latin typeface="Arial"/>
                <a:ea typeface="Arial"/>
                <a:cs typeface="Arial"/>
              </a:defRPr>
            </a:lvl4pPr>
            <a:lvl5pPr algn="l">
              <a:defRPr sz="1275">
                <a:solidFill>
                  <a:srgbClr val="66727E"/>
                </a:solidFill>
                <a:latin typeface="Arial"/>
                <a:ea typeface="Arial"/>
                <a:cs typeface="Arial"/>
              </a:defRPr>
            </a:lvl5pPr>
            <a:lvl6pPr algn="l">
              <a:defRPr sz="1275">
                <a:solidFill>
                  <a:srgbClr val="66727E"/>
                </a:solidFill>
                <a:latin typeface="Arial"/>
                <a:ea typeface="Arial"/>
                <a:cs typeface="Arial"/>
              </a:defRPr>
            </a:lvl6pPr>
            <a:lvl7pPr algn="l">
              <a:defRPr sz="1275">
                <a:solidFill>
                  <a:srgbClr val="66727E"/>
                </a:solidFill>
                <a:latin typeface="Arial"/>
                <a:ea typeface="Arial"/>
                <a:cs typeface="Arial"/>
              </a:defRPr>
            </a:lvl7pPr>
            <a:lvl8pPr algn="l">
              <a:defRPr sz="1275">
                <a:solidFill>
                  <a:srgbClr val="66727E"/>
                </a:solidFill>
                <a:latin typeface="Arial"/>
                <a:ea typeface="Arial"/>
                <a:cs typeface="Arial"/>
              </a:defRPr>
            </a:lvl8pPr>
            <a:lvl9pPr algn="l">
              <a:defRPr sz="1275">
                <a:solidFill>
                  <a:srgbClr val="66727E"/>
                </a:solidFill>
                <a:latin typeface="Arial"/>
                <a:ea typeface="Arial"/>
                <a:cs typeface="Arial"/>
              </a:defRPr>
            </a:lvl9pPr>
          </a:lstStyle>
          <a:p xmlns:a="http://schemas.openxmlformats.org/drawingml/2006/main">
            <a:pPr algn="l">
              <a:defRPr sz="1275">
                <a:solidFill>
                  <a:srgbClr val="66727E"/>
                </a:solidFill>
                <a:latin typeface="Arial"/>
                <a:ea typeface="Arial"/>
                <a:cs typeface="Arial"/>
              </a:defRPr>
            </a:pPr>
            <a:r>
              <a:rPr sz="1275">
                <a:solidFill>
                  <a:srgbClr val="66727E"/>
                </a:solidFill>
                <a:latin typeface="Arial"/>
                <a:ea typeface="Arial"/>
                <a:cs typeface="Arial"/>
              </a:rPr>
              <a:t>08</a:t>
            </a:r>
          </a:p>
        </p:txBody>
      </p:sp>
    </p:spTree>
    <p:extLst>
      <p:ext uri="{BB962C8B-B14F-4D97-AF65-F5344CB8AC3E}">
        <p14:creationId xmlns:p14="http://schemas.microsoft.com/office/powerpoint/2010/main" val="5832339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10E8B9F-5605-46CC-BC25-0A973CF362C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6. How xv6 protects the shared free list</a:t>
            </a:r>
          </a:p>
        </p:txBody>
      </p:sp>
      <p:sp>
        <p:nvSpPr>
          <p:cNvPr id="3" name="">
            <a:extLst xmlns:a="http://schemas.openxmlformats.org/drawingml/2006/main">
              <a:ext uri="{FF2B5EF4-FFF2-40B4-BE49-F238E27FC236}">
                <a16:creationId xmlns:a16="http://schemas.microsoft.com/office/drawing/2014/main" id="{CF0F3F40-6157-4D09-BC84-9814CF8A22E5}"/>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09</a:t>
            </a:r>
          </a:p>
        </p:txBody>
      </p:sp>
      <p:sp>
        <p:nvSpPr>
          <p:cNvPr id="4" name="">
            <a:extLst xmlns:a="http://schemas.openxmlformats.org/drawingml/2006/main">
              <a:ext uri="{FF2B5EF4-FFF2-40B4-BE49-F238E27FC236}">
                <a16:creationId xmlns:a16="http://schemas.microsoft.com/office/drawing/2014/main" id="{F515DF6D-A7CD-41F7-8656-D40E13DDD015}"/>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kalloc(): remove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if (r) kmem.freelist = r-&gt;next;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a:p xmlns:a="http://schemas.openxmlformats.org/drawingml/2006/main">
            <a:r>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 kfree(): add one free page */</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acquire(&amp;kmem.lock);</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r-&gt;next = kmem.freelist;</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kmem.freelist = r;</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release(&amp;kmem.lock);</a:t>
            </a:r>
          </a:p>
        </p:txBody>
      </p:sp>
      <p:sp>
        <p:nvSpPr>
          <p:cNvPr id="5" name="">
            <a:extLst xmlns:a="http://schemas.openxmlformats.org/drawingml/2006/main">
              <a:ext uri="{FF2B5EF4-FFF2-40B4-BE49-F238E27FC236}">
                <a16:creationId xmlns:a16="http://schemas.microsoft.com/office/drawing/2014/main" id="{C6A14EFA-FA7E-459E-B3FA-DEE8BFADE86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2. kalloc() and kfree() update the free list inside kmem.lock.</a:t>
            </a:r>
          </a:p>
        </p:txBody>
      </p:sp>
    </p:spTree>
    <p:extLst>
      <p:ext uri="{BB962C8B-B14F-4D97-AF65-F5344CB8AC3E}">
        <p14:creationId xmlns:p14="http://schemas.microsoft.com/office/powerpoint/2010/main" val="87166708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611905B4-B3C3-423E-B820-FBFC1082921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user/race_test.c</a:t>
            </a:r>
          </a:p>
        </p:txBody>
      </p:sp>
      <p:sp>
        <p:nvSpPr>
          <p:cNvPr id="3" name="">
            <a:extLst xmlns:a="http://schemas.openxmlformats.org/drawingml/2006/main">
              <a:ext uri="{FF2B5EF4-FFF2-40B4-BE49-F238E27FC236}">
                <a16:creationId xmlns:a16="http://schemas.microsoft.com/office/drawing/2014/main" id="{02714CCE-A244-4431-91A6-E506FCB9B01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10</a:t>
            </a:r>
          </a:p>
        </p:txBody>
      </p:sp>
      <p:sp>
        <p:nvSpPr>
          <p:cNvPr id="4" name="">
            <a:extLst xmlns:a="http://schemas.openxmlformats.org/drawingml/2006/main">
              <a:ext uri="{FF2B5EF4-FFF2-40B4-BE49-F238E27FC236}">
                <a16:creationId xmlns:a16="http://schemas.microsoft.com/office/drawing/2014/main" id="{949B6098-8614-49BD-B7DC-A787ECD635A3}"/>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parent forks four workers, waits for all four, then writes one gate token per child.</a:t>
            </a:r>
          </a:p>
        </p:txBody>
      </p:sp>
      <p:sp>
        <p:nvSpPr>
          <p:cNvPr id="5" name="">
            <a:extLst xmlns:a="http://schemas.openxmlformats.org/drawingml/2006/main">
              <a:ext uri="{FF2B5EF4-FFF2-40B4-BE49-F238E27FC236}">
                <a16:creationId xmlns:a16="http://schemas.microsoft.com/office/drawing/2014/main" id="{7F4A9516-6568-480D-89D7-9D2FB6E1E9C2}"/>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Each worker requests eight pages, fills a child-specific tag, rereads 32 KiB, then shrinks.</a:t>
            </a:r>
          </a:p>
        </p:txBody>
      </p:sp>
      <p:sp>
        <p:nvSpPr>
          <p:cNvPr id="6" name="">
            <a:extLst xmlns:a="http://schemas.openxmlformats.org/drawingml/2006/main">
              <a:ext uri="{FF2B5EF4-FFF2-40B4-BE49-F238E27FC236}">
                <a16:creationId xmlns:a16="http://schemas.microsoft.com/office/drawing/2014/main" id="{AB781359-7C47-4037-B122-585A3CAFEFF2}"/>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325" b="0">
                <a:solidFill>
                  <a:srgbClr val="17202A"/>
                </a:solidFill>
                <a:latin typeface="Arial"/>
                <a:ea typeface="Arial"/>
                <a:cs typeface="Arial"/>
              </a:defRPr>
            </a:lvl1pPr>
            <a:lvl2pPr algn="l">
              <a:buNone/>
              <a:defRPr sz="2325" b="0">
                <a:solidFill>
                  <a:srgbClr val="17202A"/>
                </a:solidFill>
                <a:latin typeface="Arial"/>
                <a:ea typeface="Arial"/>
                <a:cs typeface="Arial"/>
              </a:defRPr>
            </a:lvl2pPr>
            <a:lvl3pPr algn="l">
              <a:buNone/>
              <a:defRPr sz="2325" b="0">
                <a:solidFill>
                  <a:srgbClr val="17202A"/>
                </a:solidFill>
                <a:latin typeface="Arial"/>
                <a:ea typeface="Arial"/>
                <a:cs typeface="Arial"/>
              </a:defRPr>
            </a:lvl3pPr>
            <a:lvl4pPr algn="l">
              <a:buNone/>
              <a:defRPr sz="2325" b="0">
                <a:solidFill>
                  <a:srgbClr val="17202A"/>
                </a:solidFill>
                <a:latin typeface="Arial"/>
                <a:ea typeface="Arial"/>
                <a:cs typeface="Arial"/>
              </a:defRPr>
            </a:lvl4pPr>
            <a:lvl5pPr algn="l">
              <a:buNone/>
              <a:defRPr sz="2325" b="0">
                <a:solidFill>
                  <a:srgbClr val="17202A"/>
                </a:solidFill>
                <a:latin typeface="Arial"/>
                <a:ea typeface="Arial"/>
                <a:cs typeface="Arial"/>
              </a:defRPr>
            </a:lvl5pPr>
            <a:lvl6pPr algn="l">
              <a:buNone/>
              <a:defRPr sz="2325" b="0">
                <a:solidFill>
                  <a:srgbClr val="17202A"/>
                </a:solidFill>
                <a:latin typeface="Arial"/>
                <a:ea typeface="Arial"/>
                <a:cs typeface="Arial"/>
              </a:defRPr>
            </a:lvl6pPr>
            <a:lvl7pPr algn="l">
              <a:buNone/>
              <a:defRPr sz="2325" b="0">
                <a:solidFill>
                  <a:srgbClr val="17202A"/>
                </a:solidFill>
                <a:latin typeface="Arial"/>
                <a:ea typeface="Arial"/>
                <a:cs typeface="Arial"/>
              </a:defRPr>
            </a:lvl7pPr>
            <a:lvl8pPr algn="l">
              <a:buNone/>
              <a:defRPr sz="2325" b="0">
                <a:solidFill>
                  <a:srgbClr val="17202A"/>
                </a:solidFill>
                <a:latin typeface="Arial"/>
                <a:ea typeface="Arial"/>
                <a:cs typeface="Arial"/>
              </a:defRPr>
            </a:lvl8pPr>
            <a:lvl9pPr algn="l">
              <a:buNone/>
              <a:defRPr sz="2325"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volatile uchar *memory = (volatile uchar *)allocation;</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for (int offset = 0; offset &lt; bytes; offset++)</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memory[offset] = tag;</a:t>
            </a:r>
          </a:p>
        </p:txBody>
      </p:sp>
      <p:sp>
        <p:nvSpPr>
          <p:cNvPr id="7" name="">
            <a:extLst xmlns:a="http://schemas.openxmlformats.org/drawingml/2006/main">
              <a:ext uri="{FF2B5EF4-FFF2-40B4-BE49-F238E27FC236}">
                <a16:creationId xmlns:a16="http://schemas.microsoft.com/office/drawing/2014/main" id="{A20ABF56-A648-461A-9418-FD623117C1BA}"/>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Any pipe/fork error or non-zero wait() status makes the run fail.</a:t>
            </a:r>
          </a:p>
        </p:txBody>
      </p:sp>
      <p:sp>
        <p:nvSpPr>
          <p:cNvPr id="8" name="">
            <a:extLst xmlns:a="http://schemas.openxmlformats.org/drawingml/2006/main">
              <a:ext uri="{FF2B5EF4-FFF2-40B4-BE49-F238E27FC236}">
                <a16:creationId xmlns:a16="http://schemas.microsoft.com/office/drawing/2014/main" id="{75EC1BAB-D033-4EDA-A2B6-D3C1A94FC05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worker repeats this allocate-write-check-free cycle for 200 rounds.</a:t>
            </a:r>
          </a:p>
        </p:txBody>
      </p:sp>
    </p:spTree>
    <p:extLst>
      <p:ext uri="{BB962C8B-B14F-4D97-AF65-F5344CB8AC3E}">
        <p14:creationId xmlns:p14="http://schemas.microsoft.com/office/powerpoint/2010/main" val="6214101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C430EA5-715A-4F0F-99EE-B0D26A6AD3D5}"/>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7. C file: member1_tools.c and WSL commands</a:t>
            </a:r>
          </a:p>
        </p:txBody>
      </p:sp>
      <p:sp>
        <p:nvSpPr>
          <p:cNvPr id="3" name="">
            <a:extLst xmlns:a="http://schemas.openxmlformats.org/drawingml/2006/main">
              <a:ext uri="{FF2B5EF4-FFF2-40B4-BE49-F238E27FC236}">
                <a16:creationId xmlns:a16="http://schemas.microsoft.com/office/drawing/2014/main" id="{EC186072-68E2-476A-8827-0A3E077E8F0A}"/>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11</a:t>
            </a:r>
          </a:p>
        </p:txBody>
      </p:sp>
      <p:sp>
        <p:nvSpPr>
          <p:cNvPr id="4" name="">
            <a:extLst xmlns:a="http://schemas.openxmlformats.org/drawingml/2006/main">
              <a:ext uri="{FF2B5EF4-FFF2-40B4-BE49-F238E27FC236}">
                <a16:creationId xmlns:a16="http://schemas.microsoft.com/office/drawing/2014/main" id="{B1F41235-12E1-4015-8C4B-F9FEB225395C}"/>
              </a:ext>
            </a:extLst>
          </p:cNvPr>
          <p:cNvSpPr>
            <a:spLocks xmlns:a="http://schemas.openxmlformats.org/drawingml/2006/main" noGrp="1"/>
          </p:cNvSpPr>
          <p:nvPr/>
        </p:nvSpPr>
        <p:spPr>
          <a:xfrm xmlns:a="http://schemas.openxmlformats.org/drawingml/2006/main">
            <a:off x="685800" y="14287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17202A"/>
                </a:solidFill>
                <a:latin typeface="Arial"/>
                <a:ea typeface="Arial"/>
                <a:cs typeface="Arial"/>
              </a:defRPr>
            </a:defPPr>
            <a:lvl1pPr>
              <a:buNone/>
              <a:defRPr sz="2025" b="1">
                <a:solidFill>
                  <a:srgbClr val="17202A"/>
                </a:solidFill>
                <a:latin typeface="Arial"/>
                <a:ea typeface="Arial"/>
                <a:cs typeface="Arial"/>
              </a:defRPr>
            </a:lvl1pPr>
            <a:lvl2pPr>
              <a:buNone/>
              <a:defRPr sz="2025" b="1">
                <a:solidFill>
                  <a:srgbClr val="17202A"/>
                </a:solidFill>
                <a:latin typeface="Arial"/>
                <a:ea typeface="Arial"/>
                <a:cs typeface="Arial"/>
              </a:defRPr>
            </a:lvl2pPr>
            <a:lvl3pPr>
              <a:buNone/>
              <a:defRPr sz="2025" b="1">
                <a:solidFill>
                  <a:srgbClr val="17202A"/>
                </a:solidFill>
                <a:latin typeface="Arial"/>
                <a:ea typeface="Arial"/>
                <a:cs typeface="Arial"/>
              </a:defRPr>
            </a:lvl3pPr>
            <a:lvl4pPr>
              <a:buNone/>
              <a:defRPr sz="2025" b="1">
                <a:solidFill>
                  <a:srgbClr val="17202A"/>
                </a:solidFill>
                <a:latin typeface="Arial"/>
                <a:ea typeface="Arial"/>
                <a:cs typeface="Arial"/>
              </a:defRPr>
            </a:lvl4pPr>
            <a:lvl5pPr>
              <a:buNone/>
              <a:defRPr sz="2025" b="1">
                <a:solidFill>
                  <a:srgbClr val="17202A"/>
                </a:solidFill>
                <a:latin typeface="Arial"/>
                <a:ea typeface="Arial"/>
                <a:cs typeface="Arial"/>
              </a:defRPr>
            </a:lvl5pPr>
            <a:lvl6pPr>
              <a:buNone/>
              <a:defRPr sz="2025" b="1">
                <a:solidFill>
                  <a:srgbClr val="17202A"/>
                </a:solidFill>
                <a:latin typeface="Arial"/>
                <a:ea typeface="Arial"/>
                <a:cs typeface="Arial"/>
              </a:defRPr>
            </a:lvl6pPr>
            <a:lvl7pPr>
              <a:buNone/>
              <a:defRPr sz="2025" b="1">
                <a:solidFill>
                  <a:srgbClr val="17202A"/>
                </a:solidFill>
                <a:latin typeface="Arial"/>
                <a:ea typeface="Arial"/>
                <a:cs typeface="Arial"/>
              </a:defRPr>
            </a:lvl7pPr>
            <a:lvl8pPr>
              <a:buNone/>
              <a:defRPr sz="2025" b="1">
                <a:solidFill>
                  <a:srgbClr val="17202A"/>
                </a:solidFill>
                <a:latin typeface="Arial"/>
                <a:ea typeface="Arial"/>
                <a:cs typeface="Arial"/>
              </a:defRPr>
            </a:lvl8pPr>
            <a:lvl9pPr>
              <a:buNone/>
              <a:defRPr sz="2025" b="1">
                <a:solidFill>
                  <a:srgbClr val="17202A"/>
                </a:solidFill>
                <a:latin typeface="Arial"/>
                <a:ea typeface="Arial"/>
                <a:cs typeface="Arial"/>
              </a:defRPr>
            </a:lvl9pPr>
          </a:lstStyle>
          <a:p xmlns:a="http://schemas.openxmlformats.org/drawingml/2006/main">
            <a:pPr>
              <a:buNone/>
              <a:defRPr sz="2025" b="1">
                <a:solidFill>
                  <a:srgbClr val="17202A"/>
                </a:solidFill>
                <a:latin typeface="Arial"/>
                <a:ea typeface="Arial"/>
                <a:cs typeface="Arial"/>
              </a:defRPr>
            </a:pPr>
            <a:r>
              <a:rPr sz="2025" b="1">
                <a:solidFill>
                  <a:srgbClr val="17202A"/>
                </a:solidFill>
                <a:latin typeface="Arial"/>
                <a:ea typeface="Arial"/>
                <a:cs typeface="Arial"/>
              </a:rPr>
              <a:t>Host C helper builds xv6, launches QEMU, records each attempt, and restores kalloc.c.</a:t>
            </a:r>
          </a:p>
        </p:txBody>
      </p:sp>
      <p:sp>
        <p:nvSpPr>
          <p:cNvPr id="5" name="">
            <a:extLst xmlns:a="http://schemas.openxmlformats.org/drawingml/2006/main">
              <a:ext uri="{FF2B5EF4-FFF2-40B4-BE49-F238E27FC236}">
                <a16:creationId xmlns:a16="http://schemas.microsoft.com/office/drawing/2014/main" id="{7B513B1B-B9F7-483D-B34E-3399508197B7}"/>
              </a:ext>
            </a:extLst>
          </p:cNvPr>
          <p:cNvSpPr>
            <a:spLocks xmlns:a="http://schemas.openxmlformats.org/drawingml/2006/main" noGrp="1"/>
          </p:cNvSpPr>
          <p:nvPr/>
        </p:nvSpPr>
        <p:spPr>
          <a:xfrm xmlns:a="http://schemas.openxmlformats.org/drawingml/2006/main">
            <a:off x="685800" y="2266950"/>
            <a:ext cx="108204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Its run, package, and replay modes validate, summarize, and replay saved evidence.</a:t>
            </a:r>
          </a:p>
        </p:txBody>
      </p:sp>
      <p:sp>
        <p:nvSpPr>
          <p:cNvPr id="6" name="">
            <a:extLst xmlns:a="http://schemas.openxmlformats.org/drawingml/2006/main">
              <a:ext uri="{FF2B5EF4-FFF2-40B4-BE49-F238E27FC236}">
                <a16:creationId xmlns:a16="http://schemas.microsoft.com/office/drawing/2014/main" id="{7811821A-A100-4926-A89D-289BF442C894}"/>
              </a:ext>
            </a:extLst>
          </p:cNvPr>
          <p:cNvSpPr>
            <a:spLocks xmlns:a="http://schemas.openxmlformats.org/drawingml/2006/main" noGrp="1"/>
          </p:cNvSpPr>
          <p:nvPr/>
        </p:nvSpPr>
        <p:spPr>
          <a:xfrm xmlns:a="http://schemas.openxmlformats.org/drawingml/2006/main">
            <a:off x="781050" y="3476625"/>
            <a:ext cx="106680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PowerShell: wsl -d Ubuntu-24.04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cd ~/xv6-member1</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git rev-parse HEAD</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-j4 kernel/kernel fs.img</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make qemu CPUS=4</a:t>
            </a:r>
          </a:p>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xv6 shell: echo hello xv6; usertests -q; race_test</a:t>
            </a:r>
          </a:p>
        </p:txBody>
      </p:sp>
      <p:sp>
        <p:nvSpPr>
          <p:cNvPr id="7" name="">
            <a:extLst xmlns:a="http://schemas.openxmlformats.org/drawingml/2006/main">
              <a:ext uri="{FF2B5EF4-FFF2-40B4-BE49-F238E27FC236}">
                <a16:creationId xmlns:a16="http://schemas.microsoft.com/office/drawing/2014/main" id="{2AAB5A7A-4EEA-4E3E-AAAF-396F2E85E23C}"/>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The allocation path ends in kalloc(); shrink reaches kfree().</a:t>
            </a:r>
          </a:p>
        </p:txBody>
      </p:sp>
    </p:spTree>
    <p:extLst>
      <p:ext uri="{BB962C8B-B14F-4D97-AF65-F5344CB8AC3E}">
        <p14:creationId xmlns:p14="http://schemas.microsoft.com/office/powerpoint/2010/main" val="39239142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7A4C5DE6-5321-4CA9-B38D-3A7C00BD5541}"/>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Experiment environment and fixed protocol</a:t>
            </a:r>
          </a:p>
        </p:txBody>
      </p:sp>
      <p:sp>
        <p:nvSpPr>
          <p:cNvPr id="3" name="">
            <a:extLst xmlns:a="http://schemas.openxmlformats.org/drawingml/2006/main">
              <a:ext uri="{FF2B5EF4-FFF2-40B4-BE49-F238E27FC236}">
                <a16:creationId xmlns:a16="http://schemas.microsoft.com/office/drawing/2014/main" id="{0F3889D8-2709-47A6-954C-E7DC828742BB}"/>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12</a:t>
            </a:r>
          </a:p>
        </p:txBody>
      </p:sp>
      <p:sp>
        <p:nvSpPr>
          <p:cNvPr id="4" name="">
            <a:extLst xmlns:a="http://schemas.openxmlformats.org/drawingml/2006/main">
              <a:ext uri="{FF2B5EF4-FFF2-40B4-BE49-F238E27FC236}">
                <a16:creationId xmlns:a16="http://schemas.microsoft.com/office/drawing/2014/main" id="{10F71943-8CB7-4150-B24A-4365FEA6D06D}"/>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3. Recorded environment and run controls</a:t>
            </a:r>
          </a:p>
        </p:txBody>
      </p:sp>
      <p:graphicFrame>
        <p:nvGraphicFramePr>
          <p:cNvPr id="5" name="">
            <a:extLst xmlns:a="http://schemas.openxmlformats.org/drawingml/2006/main">
              <a:ext uri="{FF2B5EF4-FFF2-40B4-BE49-F238E27FC236}">
                <a16:creationId xmlns:a16="http://schemas.microsoft.com/office/drawing/2014/main" id="{6E57CE4C-4246-4A35-94EC-3726AD93DB57}"/>
              </a:ext>
            </a:extLst>
          </p:cNvPr>
          <p:cNvGraphicFramePr/>
          <p:nvPr/>
        </p:nvGraphicFramePr>
        <p:xfrm>
          <a:off xmlns:a="http://schemas.openxmlformats.org/drawingml/2006/main" x="685800" y="1895475"/>
          <a:ext xmlns:a="http://schemas.openxmlformats.org/drawingml/2006/main" cx="10820400" cy="3667125"/>
        </p:xfrm>
        <a:graphic xmlns:a="http://schemas.openxmlformats.org/drawingml/2006/main">
          <a:graphicData uri="http://schemas.openxmlformats.org/drawingml/2006/table">
            <a:tbl>
              <a:tblPr/>
              <a:tblGrid>
                <a:gridCol w="3238500"/>
                <a:gridCol w="7581900"/>
              </a:tblGrid>
              <a:tr h="523875">
                <a:tc>
                  <a:txBody>
                    <a:bodyPr lIns="85725" tIns="85725" rIns="85725" bIns="85725"/>
                    <a:lstStyle/>
                    <a:p>
                      <a:r>
                        <a:rPr sz="1800" b="1">
                          <a:solidFill>
                            <a:srgbClr val="17202A"/>
                          </a:solidFill>
                          <a:latin typeface="Arial"/>
                          <a:ea typeface="Arial"/>
                          <a:cs typeface="Arial"/>
                        </a:rPr>
                        <a:t>Setting</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Recorded configuration</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23875">
                <a:tc>
                  <a:txBody>
                    <a:bodyPr lIns="85725" tIns="85725" rIns="85725" bIns="85725"/>
                    <a:lstStyle/>
                    <a:p>
                      <a:r>
                        <a:rPr sz="1800" b="0">
                          <a:solidFill>
                            <a:srgbClr val="17202A"/>
                          </a:solidFill>
                          <a:latin typeface="Arial"/>
                          <a:ea typeface="Arial"/>
                          <a:cs typeface="Arial"/>
                        </a:rPr>
                        <a:t>Guest / host</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RISC-V xv6 / Ubuntu 24.04 under WSL2</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Emulator / compiler</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QEMU 8.2.2 / RISC-V GCC 13.3.0</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Resources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CPUs; 128 MiB RAM</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Workload</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4 children; 8 pages each; 200 rounds</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Attempts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10 per phase; fresh guest per attempt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23875">
                <a:tc>
                  <a:txBody>
                    <a:bodyPr lIns="85725" tIns="85725" rIns="85725" bIns="85725"/>
                    <a:lstStyle/>
                    <a:p>
                      <a:r>
                        <a:rPr sz="1800" b="0">
                          <a:solidFill>
                            <a:srgbClr val="17202A"/>
                          </a:solidFill>
                          <a:latin typeface="Arial"/>
                          <a:ea typeface="Arial"/>
                          <a:cs typeface="Arial"/>
                        </a:rPr>
                        <a:t>Limits</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30 s to shell; 60 s after stress command</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4BF39D5A-5E84-497F-8A9C-2EBC938B79C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Two separate 30-attempt sets; no artificial kernel delay.</a:t>
            </a:r>
          </a:p>
        </p:txBody>
      </p:sp>
    </p:spTree>
    <p:extLst>
      <p:ext uri="{BB962C8B-B14F-4D97-AF65-F5344CB8AC3E}">
        <p14:creationId xmlns:p14="http://schemas.microsoft.com/office/powerpoint/2010/main" val="6671066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15520F82-F9DA-40F8-A69A-A752C84B20C2}"/>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8. What the lock prevents: two-CPU examples</a:t>
            </a:r>
          </a:p>
        </p:txBody>
      </p:sp>
      <p:sp>
        <p:nvSpPr>
          <p:cNvPr id="3" name="">
            <a:extLst xmlns:a="http://schemas.openxmlformats.org/drawingml/2006/main">
              <a:ext uri="{FF2B5EF4-FFF2-40B4-BE49-F238E27FC236}">
                <a16:creationId xmlns:a16="http://schemas.microsoft.com/office/drawing/2014/main" id="{918A2D4D-66EA-4EED-829E-496175CBDDF2}"/>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13</a:t>
            </a:r>
          </a:p>
        </p:txBody>
      </p:sp>
      <p:sp>
        <p:nvSpPr>
          <p:cNvPr id="4" name="">
            <a:extLst xmlns:a="http://schemas.openxmlformats.org/drawingml/2006/main">
              <a:ext uri="{FF2B5EF4-FFF2-40B4-BE49-F238E27FC236}">
                <a16:creationId xmlns:a16="http://schemas.microsoft.com/office/drawing/2014/main" id="{05A8582A-59BB-4FEA-9787-F13A36FAEF96}"/>
              </a:ext>
            </a:extLst>
          </p:cNvPr>
          <p:cNvSpPr>
            <a:spLocks xmlns:a="http://schemas.openxmlformats.org/drawingml/2006/main" noGrp="1"/>
          </p:cNvSpPr>
          <p:nvPr/>
        </p:nvSpPr>
        <p:spPr>
          <a:xfrm xmlns:a="http://schemas.openxmlformats.org/drawingml/2006/main">
            <a:off x="685800" y="1362075"/>
            <a:ext cx="10820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1">
                <a:solidFill>
                  <a:srgbClr val="17202A"/>
                </a:solidFill>
                <a:latin typeface="Arial"/>
                <a:ea typeface="Arial"/>
                <a:cs typeface="Arial"/>
              </a:defRPr>
            </a:defPPr>
            <a:lvl1pPr>
              <a:buNone/>
              <a:defRPr sz="1800" b="1">
                <a:solidFill>
                  <a:srgbClr val="17202A"/>
                </a:solidFill>
                <a:latin typeface="Arial"/>
                <a:ea typeface="Arial"/>
                <a:cs typeface="Arial"/>
              </a:defRPr>
            </a:lvl1pPr>
            <a:lvl2pPr>
              <a:buNone/>
              <a:defRPr sz="1800" b="1">
                <a:solidFill>
                  <a:srgbClr val="17202A"/>
                </a:solidFill>
                <a:latin typeface="Arial"/>
                <a:ea typeface="Arial"/>
                <a:cs typeface="Arial"/>
              </a:defRPr>
            </a:lvl2pPr>
            <a:lvl3pPr>
              <a:buNone/>
              <a:defRPr sz="1800" b="1">
                <a:solidFill>
                  <a:srgbClr val="17202A"/>
                </a:solidFill>
                <a:latin typeface="Arial"/>
                <a:ea typeface="Arial"/>
                <a:cs typeface="Arial"/>
              </a:defRPr>
            </a:lvl3pPr>
            <a:lvl4pPr>
              <a:buNone/>
              <a:defRPr sz="1800" b="1">
                <a:solidFill>
                  <a:srgbClr val="17202A"/>
                </a:solidFill>
                <a:latin typeface="Arial"/>
                <a:ea typeface="Arial"/>
                <a:cs typeface="Arial"/>
              </a:defRPr>
            </a:lvl4pPr>
            <a:lvl5pPr>
              <a:buNone/>
              <a:defRPr sz="1800" b="1">
                <a:solidFill>
                  <a:srgbClr val="17202A"/>
                </a:solidFill>
                <a:latin typeface="Arial"/>
                <a:ea typeface="Arial"/>
                <a:cs typeface="Arial"/>
              </a:defRPr>
            </a:lvl5pPr>
            <a:lvl6pPr>
              <a:buNone/>
              <a:defRPr sz="1800" b="1">
                <a:solidFill>
                  <a:srgbClr val="17202A"/>
                </a:solidFill>
                <a:latin typeface="Arial"/>
                <a:ea typeface="Arial"/>
                <a:cs typeface="Arial"/>
              </a:defRPr>
            </a:lvl6pPr>
            <a:lvl7pPr>
              <a:buNone/>
              <a:defRPr sz="1800" b="1">
                <a:solidFill>
                  <a:srgbClr val="17202A"/>
                </a:solidFill>
                <a:latin typeface="Arial"/>
                <a:ea typeface="Arial"/>
                <a:cs typeface="Arial"/>
              </a:defRPr>
            </a:lvl7pPr>
            <a:lvl8pPr>
              <a:buNone/>
              <a:defRPr sz="1800" b="1">
                <a:solidFill>
                  <a:srgbClr val="17202A"/>
                </a:solidFill>
                <a:latin typeface="Arial"/>
                <a:ea typeface="Arial"/>
                <a:cs typeface="Arial"/>
              </a:defRPr>
            </a:lvl8pPr>
            <a:lvl9pPr>
              <a:buNone/>
              <a:defRPr sz="1800" b="1">
                <a:solidFill>
                  <a:srgbClr val="17202A"/>
                </a:solidFill>
                <a:latin typeface="Arial"/>
                <a:ea typeface="Arial"/>
                <a:cs typeface="Arial"/>
              </a:defRPr>
            </a:lvl9pPr>
          </a:lstStyle>
          <a:p xmlns:a="http://schemas.openxmlformats.org/drawingml/2006/main">
            <a:pPr>
              <a:buNone/>
              <a:defRPr sz="1800" b="1">
                <a:solidFill>
                  <a:srgbClr val="17202A"/>
                </a:solidFill>
                <a:latin typeface="Arial"/>
                <a:ea typeface="Arial"/>
                <a:cs typeface="Arial"/>
              </a:defRPr>
            </a:pPr>
            <a:r>
              <a:rPr sz="1800" b="1">
                <a:solidFill>
                  <a:srgbClr val="17202A"/>
                </a:solidFill>
                <a:latin typeface="Arial"/>
                <a:ea typeface="Arial"/>
                <a:cs typeface="Arial"/>
              </a:rPr>
              <a:t>Table 4. Possible kalloc() schedule without kmem.lock</a:t>
            </a:r>
          </a:p>
        </p:txBody>
      </p:sp>
      <p:graphicFrame>
        <p:nvGraphicFramePr>
          <p:cNvPr id="5" name="">
            <a:extLst xmlns:a="http://schemas.openxmlformats.org/drawingml/2006/main">
              <a:ext uri="{FF2B5EF4-FFF2-40B4-BE49-F238E27FC236}">
                <a16:creationId xmlns:a16="http://schemas.microsoft.com/office/drawing/2014/main" id="{7DCB9D98-DB43-478C-87CD-91B3962E2736}"/>
              </a:ext>
            </a:extLst>
          </p:cNvPr>
          <p:cNvGraphicFramePr/>
          <p:nvPr/>
        </p:nvGraphicFramePr>
        <p:xfrm>
          <a:off xmlns:a="http://schemas.openxmlformats.org/drawingml/2006/main" x="685800" y="1895475"/>
          <a:ext xmlns:a="http://schemas.openxmlformats.org/drawingml/2006/main" cx="10820400" cy="3286125"/>
        </p:xfrm>
        <a:graphic xmlns:a="http://schemas.openxmlformats.org/drawingml/2006/main">
          <a:graphicData uri="http://schemas.openxmlformats.org/drawingml/2006/table">
            <a:tbl>
              <a:tblPr/>
              <a:tblGrid>
                <a:gridCol w="1238250"/>
                <a:gridCol w="4791075"/>
                <a:gridCol w="4791075"/>
              </a:tblGrid>
              <a:tr h="547688">
                <a:tc>
                  <a:txBody>
                    <a:bodyPr lIns="85725" tIns="85725" rIns="85725" bIns="85725"/>
                    <a:lstStyle/>
                    <a:p>
                      <a:r>
                        <a:rPr sz="1800" b="1">
                          <a:solidFill>
                            <a:srgbClr val="17202A"/>
                          </a:solidFill>
                          <a:latin typeface="Arial"/>
                          <a:ea typeface="Arial"/>
                          <a:cs typeface="Arial"/>
                        </a:rPr>
                        <a:t>Step</a:t>
                      </a:r>
                    </a:p>
                  </a:txBody>
                  <a:tcPr marL="91440" marR="91440" marT="45720" marB="45720" anchor="ctr">
                    <a:lnL w="6668">
                      <a:solidFill>
                        <a:srgbClr val="CAD2DA"/>
                      </a:solidFill>
                      <a:prstDash val="solid"/>
                    </a:lnL>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0</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c>
                  <a:txBody>
                    <a:bodyPr lIns="85725" tIns="85725" rIns="85725" bIns="85725"/>
                    <a:lstStyle/>
                    <a:p>
                      <a:r>
                        <a:rPr sz="1800" b="1">
                          <a:solidFill>
                            <a:srgbClr val="17202A"/>
                          </a:solidFill>
                          <a:latin typeface="Arial"/>
                          <a:ea typeface="Arial"/>
                          <a:cs typeface="Arial"/>
                        </a:rPr>
                        <a:t>CPU 1</a:t>
                      </a:r>
                    </a:p>
                  </a:txBody>
                  <a:tcPr marL="91440" marR="91440" marT="45720" marB="45720" anchor="ctr">
                    <a:lnR w="6668">
                      <a:solidFill>
                        <a:srgbClr val="CAD2DA"/>
                      </a:solidFill>
                      <a:prstDash val="solid"/>
                    </a:lnR>
                    <a:lnT w="6668">
                      <a:solidFill>
                        <a:srgbClr val="CAD2DA"/>
                      </a:solidFill>
                      <a:prstDash val="solid"/>
                    </a:lnT>
                    <a:lnB w="6668">
                      <a:solidFill>
                        <a:srgbClr val="CAD2DA"/>
                      </a:solidFill>
                      <a:prstDash val="solid"/>
                    </a:lnB>
                    <a:solidFill>
                      <a:srgbClr val="EDF1F5"/>
                    </a:solidFill>
                  </a:tcPr>
                </a:tc>
              </a:tr>
              <a:tr h="547688">
                <a:tc>
                  <a:txBody>
                    <a:bodyPr lIns="85725" tIns="85725" rIns="85725" bIns="85725"/>
                    <a:lstStyle/>
                    <a:p>
                      <a:r>
                        <a:rPr sz="1800" b="0">
                          <a:solidFill>
                            <a:srgbClr val="17202A"/>
                          </a:solidFill>
                          <a:latin typeface="Arial"/>
                          <a:ea typeface="Arial"/>
                          <a:cs typeface="Arial"/>
                        </a:rPr>
                        <a:t>1</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2</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Read head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3</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4</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Set head to P.next</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r h="547688">
                <a:tc>
                  <a:txBody>
                    <a:bodyPr lIns="85725" tIns="85725" rIns="85725" bIns="85725"/>
                    <a:lstStyle/>
                    <a:p>
                      <a:r>
                        <a:rPr sz="1800" b="0">
                          <a:solidFill>
                            <a:srgbClr val="17202A"/>
                          </a:solidFill>
                          <a:latin typeface="Arial"/>
                          <a:ea typeface="Arial"/>
                          <a:cs typeface="Arial"/>
                        </a:rPr>
                        <a:t>5</a:t>
                      </a:r>
                    </a:p>
                  </a:txBody>
                  <a:tcPr marL="91440" marR="91440" marT="45720" marB="45720" anchor="ctr">
                    <a:lnL w="6668">
                      <a:solidFill>
                        <a:srgbClr val="CAD2DA"/>
                      </a:solidFill>
                      <a:prstDash val="solid"/>
                    </a:lnL>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c>
                  <a:txBody>
                    <a:bodyPr lIns="85725" tIns="85725" rIns="85725" bIns="85725"/>
                    <a:lstStyle/>
                    <a:p>
                      <a:r>
                        <a:rPr sz="1800" b="0">
                          <a:solidFill>
                            <a:srgbClr val="17202A"/>
                          </a:solidFill>
                          <a:latin typeface="Arial"/>
                          <a:ea typeface="Arial"/>
                          <a:cs typeface="Arial"/>
                        </a:rPr>
                        <a:t>Return P</a:t>
                      </a:r>
                    </a:p>
                  </a:txBody>
                  <a:tcPr marL="91440" marR="91440" marT="45720" marB="45720" anchor="ctr">
                    <a:lnR w="6668">
                      <a:solidFill>
                        <a:srgbClr val="CAD2DA"/>
                      </a:solidFill>
                      <a:prstDash val="solid"/>
                    </a:lnR>
                    <a:lnB w="6668">
                      <a:solidFill>
                        <a:srgbClr val="CAD2D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51A83EFF-ED0E-4D52-814A-9098992ECD96}"/>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A matching kfree() lost-head update can make a returned page unreachable. These are possible schedules, not recorded instruction traces.</a:t>
            </a:r>
          </a:p>
        </p:txBody>
      </p:sp>
    </p:spTree>
    <p:extLst>
      <p:ext uri="{BB962C8B-B14F-4D97-AF65-F5344CB8AC3E}">
        <p14:creationId xmlns:p14="http://schemas.microsoft.com/office/powerpoint/2010/main" val="31473132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163C49D-60CB-42F4-A99C-C9049BD2A053}"/>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Locked baseline: saved terminal run A01</a:t>
            </a:r>
          </a:p>
        </p:txBody>
      </p:sp>
      <p:sp>
        <p:nvSpPr>
          <p:cNvPr id="3" name="">
            <a:extLst xmlns:a="http://schemas.openxmlformats.org/drawingml/2006/main">
              <a:ext uri="{FF2B5EF4-FFF2-40B4-BE49-F238E27FC236}">
                <a16:creationId xmlns:a16="http://schemas.microsoft.com/office/drawing/2014/main" id="{AF6DCC34-9CA9-44EF-B845-140851A3F19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14</a:t>
            </a:r>
          </a:p>
        </p:txBody>
      </p:sp>
      <p:sp>
        <p:nvSpPr>
          <p:cNvPr id="4" name="">
            <a:extLst xmlns:a="http://schemas.openxmlformats.org/drawingml/2006/main">
              <a:ext uri="{FF2B5EF4-FFF2-40B4-BE49-F238E27FC236}">
                <a16:creationId xmlns:a16="http://schemas.microsoft.com/office/drawing/2014/main" id="{5CEDB8D6-4869-4781-80B1-16A70762EEFD}"/>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7202A"/>
                </a:solidFill>
                <a:latin typeface="Arial"/>
                <a:ea typeface="Arial"/>
                <a:cs typeface="Arial"/>
              </a:defRPr>
            </a:defPPr>
            <a:lvl1pPr>
              <a:buNone/>
              <a:defRPr sz="2175" b="0">
                <a:solidFill>
                  <a:srgbClr val="17202A"/>
                </a:solidFill>
                <a:latin typeface="Arial"/>
                <a:ea typeface="Arial"/>
                <a:cs typeface="Arial"/>
              </a:defRPr>
            </a:lvl1pPr>
            <a:lvl2pPr>
              <a:buNone/>
              <a:defRPr sz="2175" b="0">
                <a:solidFill>
                  <a:srgbClr val="17202A"/>
                </a:solidFill>
                <a:latin typeface="Arial"/>
                <a:ea typeface="Arial"/>
                <a:cs typeface="Arial"/>
              </a:defRPr>
            </a:lvl2pPr>
            <a:lvl3pPr>
              <a:buNone/>
              <a:defRPr sz="2175" b="0">
                <a:solidFill>
                  <a:srgbClr val="17202A"/>
                </a:solidFill>
                <a:latin typeface="Arial"/>
                <a:ea typeface="Arial"/>
                <a:cs typeface="Arial"/>
              </a:defRPr>
            </a:lvl3pPr>
            <a:lvl4pPr>
              <a:buNone/>
              <a:defRPr sz="2175" b="0">
                <a:solidFill>
                  <a:srgbClr val="17202A"/>
                </a:solidFill>
                <a:latin typeface="Arial"/>
                <a:ea typeface="Arial"/>
                <a:cs typeface="Arial"/>
              </a:defRPr>
            </a:lvl4pPr>
            <a:lvl5pPr>
              <a:buNone/>
              <a:defRPr sz="2175" b="0">
                <a:solidFill>
                  <a:srgbClr val="17202A"/>
                </a:solidFill>
                <a:latin typeface="Arial"/>
                <a:ea typeface="Arial"/>
                <a:cs typeface="Arial"/>
              </a:defRPr>
            </a:lvl5pPr>
            <a:lvl6pPr>
              <a:buNone/>
              <a:defRPr sz="2175" b="0">
                <a:solidFill>
                  <a:srgbClr val="17202A"/>
                </a:solidFill>
                <a:latin typeface="Arial"/>
                <a:ea typeface="Arial"/>
                <a:cs typeface="Arial"/>
              </a:defRPr>
            </a:lvl6pPr>
            <a:lvl7pPr>
              <a:buNone/>
              <a:defRPr sz="2175" b="0">
                <a:solidFill>
                  <a:srgbClr val="17202A"/>
                </a:solidFill>
                <a:latin typeface="Arial"/>
                <a:ea typeface="Arial"/>
                <a:cs typeface="Arial"/>
              </a:defRPr>
            </a:lvl7pPr>
            <a:lvl8pPr>
              <a:buNone/>
              <a:defRPr sz="2175" b="0">
                <a:solidFill>
                  <a:srgbClr val="17202A"/>
                </a:solidFill>
                <a:latin typeface="Arial"/>
                <a:ea typeface="Arial"/>
                <a:cs typeface="Arial"/>
              </a:defRPr>
            </a:lvl8pPr>
            <a:lvl9pPr>
              <a:buNone/>
              <a:defRPr sz="2175" b="0">
                <a:solidFill>
                  <a:srgbClr val="17202A"/>
                </a:solidFill>
                <a:latin typeface="Arial"/>
                <a:ea typeface="Arial"/>
                <a:cs typeface="Arial"/>
              </a:defRPr>
            </a:lvl9pPr>
          </a:lstStyle>
          <a:p xmlns:a="http://schemas.openxmlformats.org/drawingml/2006/main">
            <a:pPr>
              <a:buNone/>
              <a:defRPr sz="2175" b="0">
                <a:solidFill>
                  <a:srgbClr val="17202A"/>
                </a:solidFill>
                <a:latin typeface="Arial"/>
                <a:ea typeface="Arial"/>
                <a:cs typeface="Arial"/>
              </a:defRPr>
            </a:pPr>
            <a:r>
              <a:rPr sz="217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3A1C4269-1CFC-426F-B3A0-41A635165DE9}"/>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3. Static terminal still reconstructed from saved A01 recording; PASS.</a:t>
            </a:r>
          </a:p>
        </p:txBody>
      </p:sp>
      <p:pic>
        <p:nvPicPr>
          <p:cNvPr id="6" name="">
            <a:extLst xmlns:a="http://schemas.openxmlformats.org/drawingml/2006/main">
              <a:ext uri="{FF2B5EF4-FFF2-40B4-BE49-F238E27FC236}">
                <a16:creationId xmlns:a16="http://schemas.microsoft.com/office/drawing/2014/main" id="{0D79B986-3978-458D-8A3F-834B9A70AEBB}"/>
              </a:ext>
            </a:extLst>
          </p:cNvPr>
          <p:cNvPicPr>
            <a:picLocks xmlns:a="http://schemas.openxmlformats.org/drawingml/2006/main" noChangeAspect="1"/>
          </p:cNvPicPr>
          <p:nvPr/>
        </p:nvPicPr>
        <p:blipFill>
          <a:blip xmlns:r="http://schemas.openxmlformats.org/officeDocument/2006/relationships" xmlns:a="http://schemas.openxmlformats.org/drawingml/2006/main" r:embed="Rda0abbf60a7b4f0c"/>
          <a:stretch xmlns:a="http://schemas.openxmlformats.org/drawingml/2006/main"/>
        </p:blipFill>
        <p:spPr>
          <a:xfrm xmlns:a="http://schemas.openxmlformats.org/drawingml/2006/main">
            <a:off x="1809750" y="2028031"/>
            <a:ext cx="8286750" cy="2992438"/>
          </a:xfrm>
          <a:prstGeom xmlns:a="http://schemas.openxmlformats.org/drawingml/2006/main" prst="rect">
            <a:avLst/>
          </a:prstGeom>
        </p:spPr>
      </p:pic>
    </p:spTree>
    <p:extLst>
      <p:ext uri="{BB962C8B-B14F-4D97-AF65-F5344CB8AC3E}">
        <p14:creationId xmlns:p14="http://schemas.microsoft.com/office/powerpoint/2010/main" val="199916925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2DDA47A3-88BE-4E59-9A2F-4A77B15F08AC}"/>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Controlled removal of allocator locking</a:t>
            </a:r>
          </a:p>
        </p:txBody>
      </p:sp>
      <p:sp>
        <p:nvSpPr>
          <p:cNvPr id="3" name="">
            <a:extLst xmlns:a="http://schemas.openxmlformats.org/drawingml/2006/main">
              <a:ext uri="{FF2B5EF4-FFF2-40B4-BE49-F238E27FC236}">
                <a16:creationId xmlns:a16="http://schemas.microsoft.com/office/drawing/2014/main" id="{03F65D92-3CF0-41BB-8DB4-3DC69F207327}"/>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15</a:t>
            </a:r>
          </a:p>
        </p:txBody>
      </p:sp>
      <p:sp>
        <p:nvSpPr>
          <p:cNvPr id="4" name="">
            <a:extLst xmlns:a="http://schemas.openxmlformats.org/drawingml/2006/main">
              <a:ext uri="{FF2B5EF4-FFF2-40B4-BE49-F238E27FC236}">
                <a16:creationId xmlns:a16="http://schemas.microsoft.com/office/drawing/2014/main" id="{F2409013-BBEA-4DE1-BF66-E1CBF45F56A3}"/>
              </a:ext>
            </a:extLst>
          </p:cNvPr>
          <p:cNvSpPr>
            <a:spLocks xmlns:a="http://schemas.openxmlformats.org/drawingml/2006/main" noGrp="1"/>
          </p:cNvSpPr>
          <p:nvPr/>
        </p:nvSpPr>
        <p:spPr>
          <a:xfrm xmlns:a="http://schemas.openxmlformats.org/drawingml/2006/main">
            <a:off x="781050" y="1562100"/>
            <a:ext cx="10668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7202A"/>
                </a:solidFill>
                <a:latin typeface="Arial"/>
                <a:ea typeface="Arial"/>
                <a:cs typeface="Arial"/>
              </a:defRPr>
            </a:defPPr>
            <a:lvl1pPr algn="l">
              <a:buNone/>
              <a:defRPr sz="2100" b="0">
                <a:solidFill>
                  <a:srgbClr val="17202A"/>
                </a:solidFill>
                <a:latin typeface="Arial"/>
                <a:ea typeface="Arial"/>
                <a:cs typeface="Arial"/>
              </a:defRPr>
            </a:lvl1pPr>
            <a:lvl2pPr algn="l">
              <a:buNone/>
              <a:defRPr sz="2100" b="0">
                <a:solidFill>
                  <a:srgbClr val="17202A"/>
                </a:solidFill>
                <a:latin typeface="Arial"/>
                <a:ea typeface="Arial"/>
                <a:cs typeface="Arial"/>
              </a:defRPr>
            </a:lvl2pPr>
            <a:lvl3pPr algn="l">
              <a:buNone/>
              <a:defRPr sz="2100" b="0">
                <a:solidFill>
                  <a:srgbClr val="17202A"/>
                </a:solidFill>
                <a:latin typeface="Arial"/>
                <a:ea typeface="Arial"/>
                <a:cs typeface="Arial"/>
              </a:defRPr>
            </a:lvl3pPr>
            <a:lvl4pPr algn="l">
              <a:buNone/>
              <a:defRPr sz="2100" b="0">
                <a:solidFill>
                  <a:srgbClr val="17202A"/>
                </a:solidFill>
                <a:latin typeface="Arial"/>
                <a:ea typeface="Arial"/>
                <a:cs typeface="Arial"/>
              </a:defRPr>
            </a:lvl4pPr>
            <a:lvl5pPr algn="l">
              <a:buNone/>
              <a:defRPr sz="2100" b="0">
                <a:solidFill>
                  <a:srgbClr val="17202A"/>
                </a:solidFill>
                <a:latin typeface="Arial"/>
                <a:ea typeface="Arial"/>
                <a:cs typeface="Arial"/>
              </a:defRPr>
            </a:lvl5pPr>
            <a:lvl6pPr algn="l">
              <a:buNone/>
              <a:defRPr sz="2100" b="0">
                <a:solidFill>
                  <a:srgbClr val="17202A"/>
                </a:solidFill>
                <a:latin typeface="Arial"/>
                <a:ea typeface="Arial"/>
                <a:cs typeface="Arial"/>
              </a:defRPr>
            </a:lvl6pPr>
            <a:lvl7pPr algn="l">
              <a:buNone/>
              <a:defRPr sz="2100" b="0">
                <a:solidFill>
                  <a:srgbClr val="17202A"/>
                </a:solidFill>
                <a:latin typeface="Arial"/>
                <a:ea typeface="Arial"/>
                <a:cs typeface="Arial"/>
              </a:defRPr>
            </a:lvl7pPr>
            <a:lvl8pPr algn="l">
              <a:buNone/>
              <a:defRPr sz="2100" b="0">
                <a:solidFill>
                  <a:srgbClr val="17202A"/>
                </a:solidFill>
                <a:latin typeface="Arial"/>
                <a:ea typeface="Arial"/>
                <a:cs typeface="Arial"/>
              </a:defRPr>
            </a:lvl8pPr>
            <a:lvl9pPr algn="l">
              <a:buNone/>
              <a:defRPr sz="2100" b="0">
                <a:solidFill>
                  <a:srgbClr val="17202A"/>
                </a:solidFill>
                <a:latin typeface="Arial"/>
                <a:ea typeface="Arial"/>
                <a:cs typeface="Arial"/>
              </a:defRPr>
            </a:lvl9pPr>
          </a:lstStyle>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kalloc():  - acquire(&amp;kmem.lock);  + // acquire(&amp;kmem.lock);</a:t>
            </a:r>
          </a:p>
          <a:p xmlns:a="http://schemas.openxmlformats.org/drawingml/2006/main">
            <a:pPr algn="l">
              <a:defRPr sz="1425">
                <a:solidFill>
                  <a:srgbClr val="17202A"/>
                </a:solidFill>
                <a:latin typeface="Arial"/>
                <a:ea typeface="Arial"/>
                <a:cs typeface="Arial"/>
              </a:defRPr>
            </a:pPr>
            <a:r>
              <a:rPr sz="1425">
                <a:solidFill>
                  <a:srgbClr val="17202A"/>
                </a:solidFill>
                <a:latin typeface="Arial"/>
                <a:ea typeface="Arial"/>
                <a:cs typeface="Arial"/>
              </a:rPr>
              <a:t>          - release(&amp;kmem.lock);  + // release(&amp;kmem.lock);</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kfree():   - acquire(&amp;kmem.lock);  + // acquire(&amp;kmem.lock);</a:t>
            </a:r>
          </a:p>
          <a:p xmlns:a="http://schemas.openxmlformats.org/drawingml/2006/main">
            <a:pPr algn="l">
              <a:buNone/>
              <a:defRPr sz="1425" b="0">
                <a:solidFill>
                  <a:srgbClr val="17202A"/>
                </a:solidFill>
                <a:latin typeface="Arial"/>
                <a:ea typeface="Arial"/>
                <a:cs typeface="Arial"/>
              </a:defRPr>
            </a:pPr>
            <a:r>
              <a:rPr sz="1425" b="0">
                <a:solidFill>
                  <a:srgbClr val="17202A"/>
                </a:solidFill>
                <a:latin typeface="Arial"/>
                <a:ea typeface="Arial"/>
                <a:cs typeface="Arial"/>
              </a:rPr>
              <a:t>          - release(&amp;kmem.lock);  + // release(&amp;kmem.lock);</a:t>
            </a:r>
          </a:p>
        </p:txBody>
      </p:sp>
      <p:sp>
        <p:nvSpPr>
          <p:cNvPr id="5" name="">
            <a:extLst xmlns:a="http://schemas.openxmlformats.org/drawingml/2006/main">
              <a:ext uri="{FF2B5EF4-FFF2-40B4-BE49-F238E27FC236}">
                <a16:creationId xmlns:a16="http://schemas.microsoft.com/office/drawing/2014/main" id="{0D7BBB4A-3A64-4A30-A444-7D80F30D603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4. Source excerpt: four lock calls removed; workload unchanged.</a:t>
            </a:r>
          </a:p>
        </p:txBody>
      </p:sp>
    </p:spTree>
    <p:extLst>
      <p:ext uri="{BB962C8B-B14F-4D97-AF65-F5344CB8AC3E}">
        <p14:creationId xmlns:p14="http://schemas.microsoft.com/office/powerpoint/2010/main" val="11346605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9738CC0E-1BC4-4E72-A20A-B374CE6259A9}"/>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Unlocked run B02: corruption, then kerneltrap</a:t>
            </a:r>
          </a:p>
        </p:txBody>
      </p:sp>
      <p:sp>
        <p:nvSpPr>
          <p:cNvPr id="3" name="">
            <a:extLst xmlns:a="http://schemas.openxmlformats.org/drawingml/2006/main">
              <a:ext uri="{FF2B5EF4-FFF2-40B4-BE49-F238E27FC236}">
                <a16:creationId xmlns:a16="http://schemas.microsoft.com/office/drawing/2014/main" id="{A9BDA818-0392-423B-B865-11B8ACD3CE71}"/>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16</a:t>
            </a:r>
          </a:p>
        </p:txBody>
      </p:sp>
      <p:sp>
        <p:nvSpPr>
          <p:cNvPr id="4" name="">
            <a:extLst xmlns:a="http://schemas.openxmlformats.org/drawingml/2006/main">
              <a:ext uri="{FF2B5EF4-FFF2-40B4-BE49-F238E27FC236}">
                <a16:creationId xmlns:a16="http://schemas.microsoft.com/office/drawing/2014/main" id="{1CA1E03B-3D20-44C8-88F3-19E39CA4F404}"/>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16C73A5A-3458-4084-ABF8-87D9DC998DD3}"/>
              </a:ext>
            </a:extLst>
          </p:cNvPr>
          <p:cNvSpPr>
            <a:spLocks xmlns:a="http://schemas.openxmlformats.org/drawingml/2006/main" noGrp="1"/>
          </p:cNvSpPr>
          <p:nvPr/>
        </p:nvSpPr>
        <p:spPr>
          <a:xfrm xmlns:a="http://schemas.openxmlformats.org/drawingml/2006/main">
            <a:off x="685800" y="5000625"/>
            <a:ext cx="10820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7202A"/>
                </a:solidFill>
                <a:latin typeface="Arial"/>
                <a:ea typeface="Arial"/>
                <a:cs typeface="Arial"/>
              </a:defRPr>
            </a:defPPr>
            <a:lvl1pPr>
              <a:buNone/>
              <a:defRPr sz="1950" b="0">
                <a:solidFill>
                  <a:srgbClr val="17202A"/>
                </a:solidFill>
                <a:latin typeface="Arial"/>
                <a:ea typeface="Arial"/>
                <a:cs typeface="Arial"/>
              </a:defRPr>
            </a:lvl1pPr>
            <a:lvl2pPr>
              <a:buNone/>
              <a:defRPr sz="1950" b="0">
                <a:solidFill>
                  <a:srgbClr val="17202A"/>
                </a:solidFill>
                <a:latin typeface="Arial"/>
                <a:ea typeface="Arial"/>
                <a:cs typeface="Arial"/>
              </a:defRPr>
            </a:lvl2pPr>
            <a:lvl3pPr>
              <a:buNone/>
              <a:defRPr sz="1950" b="0">
                <a:solidFill>
                  <a:srgbClr val="17202A"/>
                </a:solidFill>
                <a:latin typeface="Arial"/>
                <a:ea typeface="Arial"/>
                <a:cs typeface="Arial"/>
              </a:defRPr>
            </a:lvl3pPr>
            <a:lvl4pPr>
              <a:buNone/>
              <a:defRPr sz="1950" b="0">
                <a:solidFill>
                  <a:srgbClr val="17202A"/>
                </a:solidFill>
                <a:latin typeface="Arial"/>
                <a:ea typeface="Arial"/>
                <a:cs typeface="Arial"/>
              </a:defRPr>
            </a:lvl4pPr>
            <a:lvl5pPr>
              <a:buNone/>
              <a:defRPr sz="1950" b="0">
                <a:solidFill>
                  <a:srgbClr val="17202A"/>
                </a:solidFill>
                <a:latin typeface="Arial"/>
                <a:ea typeface="Arial"/>
                <a:cs typeface="Arial"/>
              </a:defRPr>
            </a:lvl5pPr>
            <a:lvl6pPr>
              <a:buNone/>
              <a:defRPr sz="1950" b="0">
                <a:solidFill>
                  <a:srgbClr val="17202A"/>
                </a:solidFill>
                <a:latin typeface="Arial"/>
                <a:ea typeface="Arial"/>
                <a:cs typeface="Arial"/>
              </a:defRPr>
            </a:lvl6pPr>
            <a:lvl7pPr>
              <a:buNone/>
              <a:defRPr sz="1950" b="0">
                <a:solidFill>
                  <a:srgbClr val="17202A"/>
                </a:solidFill>
                <a:latin typeface="Arial"/>
                <a:ea typeface="Arial"/>
                <a:cs typeface="Arial"/>
              </a:defRPr>
            </a:lvl7pPr>
            <a:lvl8pPr>
              <a:buNone/>
              <a:defRPr sz="1950" b="0">
                <a:solidFill>
                  <a:srgbClr val="17202A"/>
                </a:solidFill>
                <a:latin typeface="Arial"/>
                <a:ea typeface="Arial"/>
                <a:cs typeface="Arial"/>
              </a:defRPr>
            </a:lvl8pPr>
            <a:lvl9pPr>
              <a:buNone/>
              <a:defRPr sz="1950" b="0">
                <a:solidFill>
                  <a:srgbClr val="17202A"/>
                </a:solidFill>
                <a:latin typeface="Arial"/>
                <a:ea typeface="Arial"/>
                <a:cs typeface="Arial"/>
              </a:defRPr>
            </a:lvl9pPr>
          </a:lstStyle>
          <a:p xmlns:a="http://schemas.openxmlformats.org/drawingml/2006/main">
            <a:pPr>
              <a:buNone/>
              <a:defRPr sz="1950" b="0">
                <a:solidFill>
                  <a:srgbClr val="17202A"/>
                </a:solidFill>
                <a:latin typeface="Arial"/>
                <a:ea typeface="Arial"/>
                <a:cs typeface="Arial"/>
              </a:defRPr>
            </a:pPr>
            <a:r>
              <a:rPr sz="1950" b="0">
                <a:solidFill>
                  <a:srgbClr val="17202A"/>
                </a:solidFill>
                <a:latin typeface="Arial"/>
                <a:ea typeface="Arial"/>
                <a:cs typeface="Arial"/>
              </a:rPr>
              <a:t>The primary classification is CORRUPTION; the later panic remains visible.</a:t>
            </a:r>
          </a:p>
        </p:txBody>
      </p:sp>
      <p:sp>
        <p:nvSpPr>
          <p:cNvPr id="6" name="">
            <a:extLst xmlns:a="http://schemas.openxmlformats.org/drawingml/2006/main">
              <a:ext uri="{FF2B5EF4-FFF2-40B4-BE49-F238E27FC236}">
                <a16:creationId xmlns:a16="http://schemas.microsoft.com/office/drawing/2014/main" id="{74B01B9C-BCD4-4F1F-84D2-63AFC0D8A7AF}"/>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5. Static terminal still reconstructed from saved B02 recording.</a:t>
            </a:r>
          </a:p>
        </p:txBody>
      </p:sp>
      <p:pic>
        <p:nvPicPr>
          <p:cNvPr id="7" name="">
            <a:extLst xmlns:a="http://schemas.openxmlformats.org/drawingml/2006/main">
              <a:ext uri="{FF2B5EF4-FFF2-40B4-BE49-F238E27FC236}">
                <a16:creationId xmlns:a16="http://schemas.microsoft.com/office/drawing/2014/main" id="{DA47D94D-70D6-4437-B595-DB58C62F04D6}"/>
              </a:ext>
            </a:extLst>
          </p:cNvPr>
          <p:cNvPicPr>
            <a:picLocks xmlns:a="http://schemas.openxmlformats.org/drawingml/2006/main" noChangeAspect="1"/>
          </p:cNvPicPr>
          <p:nvPr/>
        </p:nvPicPr>
        <p:blipFill>
          <a:blip xmlns:r="http://schemas.openxmlformats.org/officeDocument/2006/relationships" xmlns:a="http://schemas.openxmlformats.org/drawingml/2006/main" r:embed="R483d5effccb64d3a"/>
          <a:stretch xmlns:a="http://schemas.openxmlformats.org/drawingml/2006/main"/>
        </p:blipFill>
        <p:spPr>
          <a:xfrm xmlns:a="http://schemas.openxmlformats.org/drawingml/2006/main">
            <a:off x="1809750" y="2028031"/>
            <a:ext cx="8286750" cy="2992438"/>
          </a:xfrm>
          <a:prstGeom xmlns:a="http://schemas.openxmlformats.org/drawingml/2006/main" prst="rect">
            <a:avLst/>
          </a:prstGeom>
        </p:spPr>
      </p:pic>
    </p:spTree>
    <p:extLst>
      <p:ext uri="{BB962C8B-B14F-4D97-AF65-F5344CB8AC3E}">
        <p14:creationId xmlns:p14="http://schemas.microsoft.com/office/powerpoint/2010/main" val="74907538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038F995E-4BB6-4BEE-96D2-DEDB38301B8F}"/>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Locks restored and verified: saved terminal run C01</a:t>
            </a:r>
          </a:p>
        </p:txBody>
      </p:sp>
      <p:sp>
        <p:nvSpPr>
          <p:cNvPr id="3" name="">
            <a:extLst xmlns:a="http://schemas.openxmlformats.org/drawingml/2006/main">
              <a:ext uri="{FF2B5EF4-FFF2-40B4-BE49-F238E27FC236}">
                <a16:creationId xmlns:a16="http://schemas.microsoft.com/office/drawing/2014/main" id="{F6D2FE2E-AC28-44A4-A64D-9127EE9A0B14}"/>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17</a:t>
            </a:r>
          </a:p>
        </p:txBody>
      </p:sp>
      <p:sp>
        <p:nvSpPr>
          <p:cNvPr id="4" name="">
            <a:extLst xmlns:a="http://schemas.openxmlformats.org/drawingml/2006/main">
              <a:ext uri="{FF2B5EF4-FFF2-40B4-BE49-F238E27FC236}">
                <a16:creationId xmlns:a16="http://schemas.microsoft.com/office/drawing/2014/main" id="{858BC42B-8B27-4A2D-8F33-8D76114D1196}"/>
              </a:ext>
            </a:extLst>
          </p:cNvPr>
          <p:cNvSpPr>
            <a:spLocks xmlns:a="http://schemas.openxmlformats.org/drawingml/2006/main" noGrp="1"/>
          </p:cNvSpPr>
          <p:nvPr/>
        </p:nvSpPr>
        <p:spPr>
          <a:xfrm xmlns:a="http://schemas.openxmlformats.org/drawingml/2006/main">
            <a:off x="781050" y="1562100"/>
            <a:ext cx="106680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17202A"/>
                </a:solidFill>
                <a:latin typeface="Arial"/>
                <a:ea typeface="Arial"/>
                <a:cs typeface="Arial"/>
              </a:defRPr>
            </a:defPPr>
            <a:lvl1pPr>
              <a:buNone/>
              <a:defRPr sz="2100" b="0">
                <a:solidFill>
                  <a:srgbClr val="17202A"/>
                </a:solidFill>
                <a:latin typeface="Arial"/>
                <a:ea typeface="Arial"/>
                <a:cs typeface="Arial"/>
              </a:defRPr>
            </a:lvl1pPr>
            <a:lvl2pPr>
              <a:buNone/>
              <a:defRPr sz="2100" b="0">
                <a:solidFill>
                  <a:srgbClr val="17202A"/>
                </a:solidFill>
                <a:latin typeface="Arial"/>
                <a:ea typeface="Arial"/>
                <a:cs typeface="Arial"/>
              </a:defRPr>
            </a:lvl2pPr>
            <a:lvl3pPr>
              <a:buNone/>
              <a:defRPr sz="2100" b="0">
                <a:solidFill>
                  <a:srgbClr val="17202A"/>
                </a:solidFill>
                <a:latin typeface="Arial"/>
                <a:ea typeface="Arial"/>
                <a:cs typeface="Arial"/>
              </a:defRPr>
            </a:lvl3pPr>
            <a:lvl4pPr>
              <a:buNone/>
              <a:defRPr sz="2100" b="0">
                <a:solidFill>
                  <a:srgbClr val="17202A"/>
                </a:solidFill>
                <a:latin typeface="Arial"/>
                <a:ea typeface="Arial"/>
                <a:cs typeface="Arial"/>
              </a:defRPr>
            </a:lvl4pPr>
            <a:lvl5pPr>
              <a:buNone/>
              <a:defRPr sz="2100" b="0">
                <a:solidFill>
                  <a:srgbClr val="17202A"/>
                </a:solidFill>
                <a:latin typeface="Arial"/>
                <a:ea typeface="Arial"/>
                <a:cs typeface="Arial"/>
              </a:defRPr>
            </a:lvl5pPr>
            <a:lvl6pPr>
              <a:buNone/>
              <a:defRPr sz="2100" b="0">
                <a:solidFill>
                  <a:srgbClr val="17202A"/>
                </a:solidFill>
                <a:latin typeface="Arial"/>
                <a:ea typeface="Arial"/>
                <a:cs typeface="Arial"/>
              </a:defRPr>
            </a:lvl6pPr>
            <a:lvl7pPr>
              <a:buNone/>
              <a:defRPr sz="2100" b="0">
                <a:solidFill>
                  <a:srgbClr val="17202A"/>
                </a:solidFill>
                <a:latin typeface="Arial"/>
                <a:ea typeface="Arial"/>
                <a:cs typeface="Arial"/>
              </a:defRPr>
            </a:lvl7pPr>
            <a:lvl8pPr>
              <a:buNone/>
              <a:defRPr sz="2100" b="0">
                <a:solidFill>
                  <a:srgbClr val="17202A"/>
                </a:solidFill>
                <a:latin typeface="Arial"/>
                <a:ea typeface="Arial"/>
                <a:cs typeface="Arial"/>
              </a:defRPr>
            </a:lvl8pPr>
            <a:lvl9pPr>
              <a:buNone/>
              <a:defRPr sz="2100" b="0">
                <a:solidFill>
                  <a:srgbClr val="17202A"/>
                </a:solidFill>
                <a:latin typeface="Arial"/>
                <a:ea typeface="Arial"/>
                <a:cs typeface="Arial"/>
              </a:defRPr>
            </a:lvl9pPr>
          </a:lstStyle>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Source hash: verified</a:t>
            </a:r>
          </a:p>
          <a:p xmlns:a="http://schemas.openxmlformats.org/drawingml/2006/main">
            <a:r>
              <a:t>Final allocator diff: empty</a:t>
            </a:r>
          </a:p>
          <a:p xmlns:a="http://schemas.openxmlformats.org/drawingml/2006/main">
            <a:pPr>
              <a:buNone/>
              <a:defRPr sz="2100" b="0">
                <a:solidFill>
                  <a:srgbClr val="17202A"/>
                </a:solidFill>
                <a:latin typeface="Arial"/>
                <a:ea typeface="Arial"/>
                <a:cs typeface="Arial"/>
              </a:defRPr>
            </a:pPr>
            <a:r>
              <a:rPr sz="2100" b="0">
                <a:solidFill>
                  <a:srgbClr val="17202A"/>
                </a:solidFill>
                <a:latin typeface="Arial"/>
                <a:ea typeface="Arial"/>
                <a:cs typeface="Arial"/>
              </a:rPr>
              <a:t>C01 race_test: PASS</a:t>
            </a:r>
          </a:p>
        </p:txBody>
      </p:sp>
      <p:sp>
        <p:nvSpPr>
          <p:cNvPr id="5" name="">
            <a:extLst xmlns:a="http://schemas.openxmlformats.org/drawingml/2006/main">
              <a:ext uri="{FF2B5EF4-FFF2-40B4-BE49-F238E27FC236}">
                <a16:creationId xmlns:a16="http://schemas.microsoft.com/office/drawing/2014/main" id="{7B101571-4C6F-4296-B784-F7EC5B293FD1}"/>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Figure 6. Static terminal still reconstructed from saved C01 recording; PASS.</a:t>
            </a:r>
          </a:p>
        </p:txBody>
      </p:sp>
      <p:pic>
        <p:nvPicPr>
          <p:cNvPr id="6" name="">
            <a:extLst xmlns:a="http://schemas.openxmlformats.org/drawingml/2006/main">
              <a:ext uri="{FF2B5EF4-FFF2-40B4-BE49-F238E27FC236}">
                <a16:creationId xmlns:a16="http://schemas.microsoft.com/office/drawing/2014/main" id="{E5DFE0ED-B436-4AFC-8051-2AF774D28AED}"/>
              </a:ext>
            </a:extLst>
          </p:cNvPr>
          <p:cNvPicPr>
            <a:picLocks xmlns:a="http://schemas.openxmlformats.org/drawingml/2006/main" noChangeAspect="1"/>
          </p:cNvPicPr>
          <p:nvPr/>
        </p:nvPicPr>
        <p:blipFill>
          <a:blip xmlns:r="http://schemas.openxmlformats.org/officeDocument/2006/relationships" xmlns:a="http://schemas.openxmlformats.org/drawingml/2006/main" r:embed="R1822c812c9f84b4a"/>
          <a:stretch xmlns:a="http://schemas.openxmlformats.org/drawingml/2006/main"/>
        </p:blipFill>
        <p:spPr>
          <a:xfrm xmlns:a="http://schemas.openxmlformats.org/drawingml/2006/main">
            <a:off x="1809750" y="2028031"/>
            <a:ext cx="8286750" cy="2992438"/>
          </a:xfrm>
          <a:prstGeom xmlns:a="http://schemas.openxmlformats.org/drawingml/2006/main" prst="rect">
            <a:avLst/>
          </a:prstGeom>
        </p:spPr>
      </p:pic>
    </p:spTree>
    <p:extLst>
      <p:ext uri="{BB962C8B-B14F-4D97-AF65-F5344CB8AC3E}">
        <p14:creationId xmlns:p14="http://schemas.microsoft.com/office/powerpoint/2010/main" val="146862105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C9156B6E-2F00-4D55-AFBE-A34EB1C5D5BA}"/>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9. Results comparison and limits</a:t>
            </a:r>
          </a:p>
        </p:txBody>
      </p:sp>
      <p:sp>
        <p:nvSpPr>
          <p:cNvPr id="3" name="">
            <a:extLst xmlns:a="http://schemas.openxmlformats.org/drawingml/2006/main">
              <a:ext uri="{FF2B5EF4-FFF2-40B4-BE49-F238E27FC236}">
                <a16:creationId xmlns:a16="http://schemas.microsoft.com/office/drawing/2014/main" id="{6891C8EC-2557-475B-87F3-975E1E497DC3}"/>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18</a:t>
            </a:r>
          </a:p>
        </p:txBody>
      </p:sp>
      <p:sp>
        <p:nvSpPr>
          <p:cNvPr id="4" name="">
            <a:extLst xmlns:a="http://schemas.openxmlformats.org/drawingml/2006/main">
              <a:ext uri="{FF2B5EF4-FFF2-40B4-BE49-F238E27FC236}">
                <a16:creationId xmlns:a16="http://schemas.microsoft.com/office/drawing/2014/main" id="{D31D1FE2-22AB-4533-B522-777F13698703}"/>
              </a:ext>
            </a:extLst>
          </p:cNvPr>
          <p:cNvSpPr>
            <a:spLocks xmlns:a="http://schemas.openxmlformats.org/drawingml/2006/main" noGrp="1"/>
          </p:cNvSpPr>
          <p:nvPr/>
        </p:nvSpPr>
        <p:spPr>
          <a:xfrm xmlns:a="http://schemas.openxmlformats.org/drawingml/2006/main">
            <a:off x="685800" y="1362075"/>
            <a:ext cx="4857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1">
                <a:solidFill>
                  <a:srgbClr val="17202A"/>
                </a:solidFill>
                <a:latin typeface="Arial"/>
                <a:ea typeface="Arial"/>
                <a:cs typeface="Arial"/>
              </a:defRPr>
            </a:defPPr>
            <a:lvl1pPr>
              <a:buNone/>
              <a:defRPr sz="1725" b="1">
                <a:solidFill>
                  <a:srgbClr val="17202A"/>
                </a:solidFill>
                <a:latin typeface="Arial"/>
                <a:ea typeface="Arial"/>
                <a:cs typeface="Arial"/>
              </a:defRPr>
            </a:lvl1pPr>
            <a:lvl2pPr>
              <a:buNone/>
              <a:defRPr sz="1725" b="1">
                <a:solidFill>
                  <a:srgbClr val="17202A"/>
                </a:solidFill>
                <a:latin typeface="Arial"/>
                <a:ea typeface="Arial"/>
                <a:cs typeface="Arial"/>
              </a:defRPr>
            </a:lvl2pPr>
            <a:lvl3pPr>
              <a:buNone/>
              <a:defRPr sz="1725" b="1">
                <a:solidFill>
                  <a:srgbClr val="17202A"/>
                </a:solidFill>
                <a:latin typeface="Arial"/>
                <a:ea typeface="Arial"/>
                <a:cs typeface="Arial"/>
              </a:defRPr>
            </a:lvl3pPr>
            <a:lvl4pPr>
              <a:buNone/>
              <a:defRPr sz="1725" b="1">
                <a:solidFill>
                  <a:srgbClr val="17202A"/>
                </a:solidFill>
                <a:latin typeface="Arial"/>
                <a:ea typeface="Arial"/>
                <a:cs typeface="Arial"/>
              </a:defRPr>
            </a:lvl4pPr>
            <a:lvl5pPr>
              <a:buNone/>
              <a:defRPr sz="1725" b="1">
                <a:solidFill>
                  <a:srgbClr val="17202A"/>
                </a:solidFill>
                <a:latin typeface="Arial"/>
                <a:ea typeface="Arial"/>
                <a:cs typeface="Arial"/>
              </a:defRPr>
            </a:lvl5pPr>
            <a:lvl6pPr>
              <a:buNone/>
              <a:defRPr sz="1725" b="1">
                <a:solidFill>
                  <a:srgbClr val="17202A"/>
                </a:solidFill>
                <a:latin typeface="Arial"/>
                <a:ea typeface="Arial"/>
                <a:cs typeface="Arial"/>
              </a:defRPr>
            </a:lvl6pPr>
            <a:lvl7pPr>
              <a:buNone/>
              <a:defRPr sz="1725" b="1">
                <a:solidFill>
                  <a:srgbClr val="17202A"/>
                </a:solidFill>
                <a:latin typeface="Arial"/>
                <a:ea typeface="Arial"/>
                <a:cs typeface="Arial"/>
              </a:defRPr>
            </a:lvl7pPr>
            <a:lvl8pPr>
              <a:buNone/>
              <a:defRPr sz="1725" b="1">
                <a:solidFill>
                  <a:srgbClr val="17202A"/>
                </a:solidFill>
                <a:latin typeface="Arial"/>
                <a:ea typeface="Arial"/>
                <a:cs typeface="Arial"/>
              </a:defRPr>
            </a:lvl8pPr>
            <a:lvl9pPr>
              <a:buNone/>
              <a:defRPr sz="1725" b="1">
                <a:solidFill>
                  <a:srgbClr val="17202A"/>
                </a:solidFill>
                <a:latin typeface="Arial"/>
                <a:ea typeface="Arial"/>
                <a:cs typeface="Arial"/>
              </a:defRPr>
            </a:lvl9pPr>
          </a:lstStyle>
          <a:p xmlns:a="http://schemas.openxmlformats.org/drawingml/2006/main">
            <a:pPr>
              <a:buNone/>
              <a:defRPr sz="1725" b="1">
                <a:solidFill>
                  <a:srgbClr val="17202A"/>
                </a:solidFill>
                <a:latin typeface="Arial"/>
                <a:ea typeface="Arial"/>
                <a:cs typeface="Arial"/>
              </a:defRPr>
            </a:pPr>
            <a:r>
              <a:rPr sz="1725" b="1">
                <a:solidFill>
                  <a:srgbClr val="17202A"/>
                </a:solidFill>
                <a:latin typeface="Arial"/>
                <a:ea typeface="Arial"/>
                <a:cs typeface="Arial"/>
              </a:rPr>
              <a:t>Table 5. Primary outcome comparison by phase</a:t>
            </a:r>
          </a:p>
        </p:txBody>
      </p:sp>
      <p:graphicFrame>
        <p:nvGraphicFramePr>
          <p:cNvPr id="5" name="">
            <a:extLst xmlns:a="http://schemas.openxmlformats.org/drawingml/2006/main">
              <a:ext uri="{FF2B5EF4-FFF2-40B4-BE49-F238E27FC236}">
                <a16:creationId xmlns:a16="http://schemas.microsoft.com/office/drawing/2014/main" id="{51FE270A-FC3A-40D0-ACCE-3D8BFDAAD256}"/>
              </a:ext>
            </a:extLst>
          </p:cNvPr>
          <p:cNvGraphicFramePr/>
          <p:nvPr/>
        </p:nvGraphicFramePr>
        <p:xfrm>
          <a:off xmlns:a="http://schemas.openxmlformats.org/drawingml/2006/main" x="685800" y="1828800"/>
          <a:ext xmlns:a="http://schemas.openxmlformats.org/drawingml/2006/main" cx="4572000" cy="2095500"/>
        </p:xfrm>
        <a:graphic xmlns:a="http://schemas.openxmlformats.org/drawingml/2006/main">
          <a:graphicData uri="http://schemas.openxmlformats.org/drawingml/2006/table">
            <a:tbl>
              <a:tblPr/>
              <a:tblGrid>
                <a:gridCol w="2286000"/>
                <a:gridCol w="1143000"/>
                <a:gridCol w="1143000"/>
              </a:tblGrid>
              <a:tr h="523875">
                <a:tc>
                  <a:txBody>
                    <a:bodyPr lIns="95250" tIns="95250" rIns="95250" bIns="95250"/>
                    <a:lstStyle/>
                    <a:p>
                      <a:r>
                        <a:rPr sz="1875" b="1">
                          <a:solidFill>
                            <a:srgbClr val="17202A"/>
                          </a:solidFill>
                          <a:latin typeface="Arial"/>
                          <a:ea typeface="Arial"/>
                          <a:cs typeface="Arial"/>
                        </a:rPr>
                        <a:t>Phase</a:t>
                      </a:r>
                    </a:p>
                  </a:txBody>
                  <a:tcPr marL="91440" marR="91440" marT="45720" marB="45720">
                    <a:lnL w="9525">
                      <a:solidFill>
                        <a:srgbClr val="CAD2DA"/>
                      </a:solidFill>
                      <a:prstDash val="solid"/>
                    </a:lnL>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Original</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c>
                  <a:txBody>
                    <a:bodyPr lIns="95250" tIns="95250" rIns="95250" bIns="95250"/>
                    <a:lstStyle/>
                    <a:p>
                      <a:r>
                        <a:rPr sz="1875" b="1">
                          <a:solidFill>
                            <a:srgbClr val="17202A"/>
                          </a:solidFill>
                          <a:latin typeface="Arial"/>
                          <a:ea typeface="Arial"/>
                          <a:cs typeface="Arial"/>
                        </a:rPr>
                        <a:t>C-runner</a:t>
                      </a:r>
                    </a:p>
                  </a:txBody>
                  <a:tcPr marL="91440" marR="91440" marT="45720" marB="45720">
                    <a:lnR w="9525">
                      <a:solidFill>
                        <a:srgbClr val="CAD2DA"/>
                      </a:solidFill>
                      <a:prstDash val="solid"/>
                    </a:lnR>
                    <a:lnT w="9525">
                      <a:solidFill>
                        <a:srgbClr val="CAD2DA"/>
                      </a:solidFill>
                      <a:prstDash val="solid"/>
                    </a:lnT>
                    <a:lnB w="9525">
                      <a:solidFill>
                        <a:srgbClr val="CAD2DA"/>
                      </a:solidFill>
                      <a:prstDash val="solid"/>
                    </a:lnB>
                    <a:solidFill>
                      <a:srgbClr val="EDF1F5"/>
                    </a:solidFill>
                  </a:tcPr>
                </a:tc>
              </a:tr>
              <a:tr h="523875">
                <a:tc>
                  <a:txBody>
                    <a:bodyPr lIns="95250" tIns="95250" rIns="95250" bIns="95250"/>
                    <a:lstStyle/>
                    <a:p>
                      <a:r>
                        <a:rPr sz="1875" b="0">
                          <a:solidFill>
                            <a:srgbClr val="17202A"/>
                          </a:solidFill>
                          <a:latin typeface="Arial"/>
                          <a:ea typeface="Arial"/>
                          <a:cs typeface="Arial"/>
                        </a:rPr>
                        <a:t>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Unlocked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3C / 4P / 2F / 1T</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1C / 6P / 2F / 1T</a:t>
                      </a:r>
                    </a:p>
                  </a:txBody>
                  <a:tcPr marL="91440" marR="91440" marT="45720" marB="45720">
                    <a:lnR w="9525">
                      <a:solidFill>
                        <a:srgbClr val="CAD2DA"/>
                      </a:solidFill>
                      <a:prstDash val="solid"/>
                    </a:lnR>
                    <a:lnB w="9525">
                      <a:solidFill>
                        <a:srgbClr val="CAD2DA"/>
                      </a:solidFill>
                      <a:prstDash val="solid"/>
                    </a:lnB>
                    <a:solidFill>
                      <a:srgbClr val="FFFFFF"/>
                    </a:solidFill>
                  </a:tcPr>
                </a:tc>
              </a:tr>
              <a:tr h="523875">
                <a:tc>
                  <a:txBody>
                    <a:bodyPr lIns="95250" tIns="95250" rIns="95250" bIns="95250"/>
                    <a:lstStyle/>
                    <a:p>
                      <a:r>
                        <a:rPr sz="1875" b="0">
                          <a:solidFill>
                            <a:srgbClr val="17202A"/>
                          </a:solidFill>
                          <a:latin typeface="Arial"/>
                          <a:ea typeface="Arial"/>
                          <a:cs typeface="Arial"/>
                        </a:rPr>
                        <a:t>Restored</a:t>
                      </a:r>
                    </a:p>
                  </a:txBody>
                  <a:tcPr marL="91440" marR="91440" marT="45720" marB="45720">
                    <a:lnL w="9525">
                      <a:solidFill>
                        <a:srgbClr val="CAD2DA"/>
                      </a:solidFill>
                      <a:prstDash val="solid"/>
                    </a:lnL>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c>
                  <a:txBody>
                    <a:bodyPr lIns="95250" tIns="95250" rIns="95250" bIns="95250"/>
                    <a:lstStyle/>
                    <a:p>
                      <a:r>
                        <a:rPr sz="1875" b="0">
                          <a:solidFill>
                            <a:srgbClr val="17202A"/>
                          </a:solidFill>
                          <a:latin typeface="Arial"/>
                          <a:ea typeface="Arial"/>
                          <a:cs typeface="Arial"/>
                        </a:rPr>
                        <a:t>10/10 PASS</a:t>
                      </a:r>
                    </a:p>
                  </a:txBody>
                  <a:tcPr marL="91440" marR="91440" marT="45720" marB="45720">
                    <a:lnR w="9525">
                      <a:solidFill>
                        <a:srgbClr val="CAD2DA"/>
                      </a:solidFill>
                      <a:prstDash val="solid"/>
                    </a:lnR>
                    <a:lnB w="9525">
                      <a:solidFill>
                        <a:srgbClr val="CAD2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4273876F-D5D3-49F4-8899-A1185A8303C2}"/>
              </a:ext>
            </a:extLst>
          </p:cNvPr>
          <p:cNvSpPr>
            <a:spLocks xmlns:a="http://schemas.openxmlformats.org/drawingml/2006/main" noGrp="1"/>
          </p:cNvSpPr>
          <p:nvPr/>
        </p:nvSpPr>
        <p:spPr>
          <a:xfrm xmlns:a="http://schemas.openxmlformats.org/drawingml/2006/main">
            <a:off x="685800" y="4762500"/>
            <a:ext cx="1082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7202A"/>
                </a:solidFill>
                <a:latin typeface="Arial"/>
                <a:ea typeface="Arial"/>
                <a:cs typeface="Arial"/>
              </a:defRPr>
            </a:defPPr>
            <a:lvl1pPr>
              <a:buNone/>
              <a:defRPr sz="2025" b="0">
                <a:solidFill>
                  <a:srgbClr val="17202A"/>
                </a:solidFill>
                <a:latin typeface="Arial"/>
                <a:ea typeface="Arial"/>
                <a:cs typeface="Arial"/>
              </a:defRPr>
            </a:lvl1pPr>
            <a:lvl2pPr>
              <a:buNone/>
              <a:defRPr sz="2025" b="0">
                <a:solidFill>
                  <a:srgbClr val="17202A"/>
                </a:solidFill>
                <a:latin typeface="Arial"/>
                <a:ea typeface="Arial"/>
                <a:cs typeface="Arial"/>
              </a:defRPr>
            </a:lvl2pPr>
            <a:lvl3pPr>
              <a:buNone/>
              <a:defRPr sz="2025" b="0">
                <a:solidFill>
                  <a:srgbClr val="17202A"/>
                </a:solidFill>
                <a:latin typeface="Arial"/>
                <a:ea typeface="Arial"/>
                <a:cs typeface="Arial"/>
              </a:defRPr>
            </a:lvl3pPr>
            <a:lvl4pPr>
              <a:buNone/>
              <a:defRPr sz="2025" b="0">
                <a:solidFill>
                  <a:srgbClr val="17202A"/>
                </a:solidFill>
                <a:latin typeface="Arial"/>
                <a:ea typeface="Arial"/>
                <a:cs typeface="Arial"/>
              </a:defRPr>
            </a:lvl4pPr>
            <a:lvl5pPr>
              <a:buNone/>
              <a:defRPr sz="2025" b="0">
                <a:solidFill>
                  <a:srgbClr val="17202A"/>
                </a:solidFill>
                <a:latin typeface="Arial"/>
                <a:ea typeface="Arial"/>
                <a:cs typeface="Arial"/>
              </a:defRPr>
            </a:lvl5pPr>
            <a:lvl6pPr>
              <a:buNone/>
              <a:defRPr sz="2025" b="0">
                <a:solidFill>
                  <a:srgbClr val="17202A"/>
                </a:solidFill>
                <a:latin typeface="Arial"/>
                <a:ea typeface="Arial"/>
                <a:cs typeface="Arial"/>
              </a:defRPr>
            </a:lvl6pPr>
            <a:lvl7pPr>
              <a:buNone/>
              <a:defRPr sz="2025" b="0">
                <a:solidFill>
                  <a:srgbClr val="17202A"/>
                </a:solidFill>
                <a:latin typeface="Arial"/>
                <a:ea typeface="Arial"/>
                <a:cs typeface="Arial"/>
              </a:defRPr>
            </a:lvl7pPr>
            <a:lvl8pPr>
              <a:buNone/>
              <a:defRPr sz="2025" b="0">
                <a:solidFill>
                  <a:srgbClr val="17202A"/>
                </a:solidFill>
                <a:latin typeface="Arial"/>
                <a:ea typeface="Arial"/>
                <a:cs typeface="Arial"/>
              </a:defRPr>
            </a:lvl8pPr>
            <a:lvl9pPr>
              <a:buNone/>
              <a:defRPr sz="2025" b="0">
                <a:solidFill>
                  <a:srgbClr val="17202A"/>
                </a:solidFill>
                <a:latin typeface="Arial"/>
                <a:ea typeface="Arial"/>
                <a:cs typeface="Arial"/>
              </a:defRPr>
            </a:lvl9pPr>
          </a:lstStyle>
          <a:p xmlns:a="http://schemas.openxmlformats.org/drawingml/2006/main">
            <a:pPr>
              <a:buNone/>
              <a:defRPr sz="2025" b="0">
                <a:solidFill>
                  <a:srgbClr val="17202A"/>
                </a:solidFill>
                <a:latin typeface="Arial"/>
                <a:ea typeface="Arial"/>
                <a:cs typeface="Arial"/>
              </a:defRPr>
            </a:pPr>
            <a:r>
              <a:rPr sz="2025" b="0">
                <a:solidFill>
                  <a:srgbClr val="17202A"/>
                </a:solidFill>
                <a:latin typeface="Arial"/>
                <a:ea typeface="Arial"/>
                <a:cs typeface="Arial"/>
              </a:rPr>
              <a:t>Figure 7. Two independent unlocked-phase outcome distributions.</a:t>
            </a:r>
          </a:p>
        </p:txBody>
      </p:sp>
      <p:sp>
        <p:nvSpPr>
          <p:cNvPr id="8" name="">
            <a:extLst xmlns:a="http://schemas.openxmlformats.org/drawingml/2006/main">
              <a:ext uri="{FF2B5EF4-FFF2-40B4-BE49-F238E27FC236}">
                <a16:creationId xmlns:a16="http://schemas.microsoft.com/office/drawing/2014/main" id="{E3ADDC4B-D227-4433-9DE5-A41F06D0502A}"/>
              </a:ext>
            </a:extLst>
          </p:cNvPr>
          <p:cNvSpPr>
            <a:spLocks xmlns:a="http://schemas.openxmlformats.org/drawingml/2006/main" noGrp="1"/>
          </p:cNvSpPr>
          <p:nvPr/>
        </p:nvSpPr>
        <p:spPr>
          <a:xfrm xmlns:a="http://schemas.openxmlformats.org/drawingml/2006/main">
            <a:off x="685800" y="52863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7202A"/>
                </a:solidFill>
                <a:latin typeface="Arial"/>
                <a:ea typeface="Arial"/>
                <a:cs typeface="Arial"/>
              </a:defRPr>
            </a:defPPr>
            <a:lvl1pPr>
              <a:buNone/>
              <a:defRPr sz="1875" b="0">
                <a:solidFill>
                  <a:srgbClr val="17202A"/>
                </a:solidFill>
                <a:latin typeface="Arial"/>
                <a:ea typeface="Arial"/>
                <a:cs typeface="Arial"/>
              </a:defRPr>
            </a:lvl1pPr>
            <a:lvl2pPr>
              <a:buNone/>
              <a:defRPr sz="1875" b="0">
                <a:solidFill>
                  <a:srgbClr val="17202A"/>
                </a:solidFill>
                <a:latin typeface="Arial"/>
                <a:ea typeface="Arial"/>
                <a:cs typeface="Arial"/>
              </a:defRPr>
            </a:lvl2pPr>
            <a:lvl3pPr>
              <a:buNone/>
              <a:defRPr sz="1875" b="0">
                <a:solidFill>
                  <a:srgbClr val="17202A"/>
                </a:solidFill>
                <a:latin typeface="Arial"/>
                <a:ea typeface="Arial"/>
                <a:cs typeface="Arial"/>
              </a:defRPr>
            </a:lvl3pPr>
            <a:lvl4pPr>
              <a:buNone/>
              <a:defRPr sz="1875" b="0">
                <a:solidFill>
                  <a:srgbClr val="17202A"/>
                </a:solidFill>
                <a:latin typeface="Arial"/>
                <a:ea typeface="Arial"/>
                <a:cs typeface="Arial"/>
              </a:defRPr>
            </a:lvl4pPr>
            <a:lvl5pPr>
              <a:buNone/>
              <a:defRPr sz="1875" b="0">
                <a:solidFill>
                  <a:srgbClr val="17202A"/>
                </a:solidFill>
                <a:latin typeface="Arial"/>
                <a:ea typeface="Arial"/>
                <a:cs typeface="Arial"/>
              </a:defRPr>
            </a:lvl5pPr>
            <a:lvl6pPr>
              <a:buNone/>
              <a:defRPr sz="1875" b="0">
                <a:solidFill>
                  <a:srgbClr val="17202A"/>
                </a:solidFill>
                <a:latin typeface="Arial"/>
                <a:ea typeface="Arial"/>
                <a:cs typeface="Arial"/>
              </a:defRPr>
            </a:lvl6pPr>
            <a:lvl7pPr>
              <a:buNone/>
              <a:defRPr sz="1875" b="0">
                <a:solidFill>
                  <a:srgbClr val="17202A"/>
                </a:solidFill>
                <a:latin typeface="Arial"/>
                <a:ea typeface="Arial"/>
                <a:cs typeface="Arial"/>
              </a:defRPr>
            </a:lvl7pPr>
            <a:lvl8pPr>
              <a:buNone/>
              <a:defRPr sz="1875" b="0">
                <a:solidFill>
                  <a:srgbClr val="17202A"/>
                </a:solidFill>
                <a:latin typeface="Arial"/>
                <a:ea typeface="Arial"/>
                <a:cs typeface="Arial"/>
              </a:defRPr>
            </a:lvl8pPr>
            <a:lvl9pPr>
              <a:buNone/>
              <a:defRPr sz="1875" b="0">
                <a:solidFill>
                  <a:srgbClr val="17202A"/>
                </a:solidFill>
                <a:latin typeface="Arial"/>
                <a:ea typeface="Arial"/>
                <a:cs typeface="Arial"/>
              </a:defRPr>
            </a:lvl9pPr>
          </a:lstStyle>
          <a:p xmlns:a="http://schemas.openxmlformats.org/drawingml/2006/main">
            <a:pPr>
              <a:buNone/>
              <a:defRPr sz="1875" b="0">
                <a:solidFill>
                  <a:srgbClr val="17202A"/>
                </a:solidFill>
                <a:latin typeface="Arial"/>
                <a:ea typeface="Arial"/>
                <a:cs typeface="Arial"/>
              </a:defRPr>
            </a:pPr>
            <a:r>
              <a:rPr sz="1875" b="0">
                <a:solidFill>
                  <a:srgbClr val="17202A"/>
                </a:solidFill>
                <a:latin typeface="Arial"/>
                <a:ea typeface="Arial"/>
                <a:cs typeface="Arial"/>
              </a:rPr>
              <a:t>Seconds start at shell prompt, before race_test is sent; collection time is included.</a:t>
            </a:r>
          </a:p>
        </p:txBody>
      </p:sp>
      <p:sp>
        <p:nvSpPr>
          <p:cNvPr id="9" name="">
            <a:extLst xmlns:a="http://schemas.openxmlformats.org/drawingml/2006/main">
              <a:ext uri="{FF2B5EF4-FFF2-40B4-BE49-F238E27FC236}">
                <a16:creationId xmlns:a16="http://schemas.microsoft.com/office/drawing/2014/main" id="{8085193E-48F2-49D7-BCB8-EF32BA126E34}"/>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Pass is evidence for this workload, not proof of safety. Timeout is not a deadlock diagnosis.</a:t>
            </a:r>
          </a:p>
        </p:txBody>
      </p:sp>
      <p:pic>
        <p:nvPicPr>
          <p:cNvPr id="10" name="">
            <a:extLst xmlns:a="http://schemas.openxmlformats.org/drawingml/2006/main">
              <a:ext uri="{FF2B5EF4-FFF2-40B4-BE49-F238E27FC236}">
                <a16:creationId xmlns:a16="http://schemas.microsoft.com/office/drawing/2014/main" id="{5E91BA0E-67FF-46F6-B85F-D54436DB0756}"/>
              </a:ext>
            </a:extLst>
          </p:cNvPr>
          <p:cNvPicPr>
            <a:picLocks xmlns:a="http://schemas.openxmlformats.org/drawingml/2006/main" noChangeAspect="1"/>
          </p:cNvPicPr>
          <p:nvPr/>
        </p:nvPicPr>
        <p:blipFill>
          <a:blip xmlns:r="http://schemas.openxmlformats.org/officeDocument/2006/relationships" xmlns:a="http://schemas.openxmlformats.org/drawingml/2006/main" r:embed="R544c22b9a1404327"/>
          <a:stretch xmlns:a="http://schemas.openxmlformats.org/drawingml/2006/main"/>
        </p:blipFill>
        <p:spPr>
          <a:xfrm xmlns:a="http://schemas.openxmlformats.org/drawingml/2006/main">
            <a:off x="4857750" y="1512094"/>
            <a:ext cx="6334125" cy="3167063"/>
          </a:xfrm>
          <a:prstGeom xmlns:a="http://schemas.openxmlformats.org/drawingml/2006/main" prst="rect">
            <a:avLst/>
          </a:prstGeom>
        </p:spPr>
      </p:pic>
    </p:spTree>
    <p:extLst>
      <p:ext uri="{BB962C8B-B14F-4D97-AF65-F5344CB8AC3E}">
        <p14:creationId xmlns:p14="http://schemas.microsoft.com/office/powerpoint/2010/main" val="132798859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589221DF-4D17-4502-B62E-A9420549692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10. Conclusion, applications and future scope</a:t>
            </a:r>
          </a:p>
        </p:txBody>
      </p:sp>
      <p:sp>
        <p:nvSpPr>
          <p:cNvPr id="3" name="">
            <a:extLst xmlns:a="http://schemas.openxmlformats.org/drawingml/2006/main">
              <a:ext uri="{FF2B5EF4-FFF2-40B4-BE49-F238E27FC236}">
                <a16:creationId xmlns:a16="http://schemas.microsoft.com/office/drawing/2014/main" id="{26F9DDB2-7BB9-419A-903C-42244815CA8E}"/>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19</a:t>
            </a:r>
          </a:p>
        </p:txBody>
      </p:sp>
      <p:sp>
        <p:nvSpPr>
          <p:cNvPr id="4" name="">
            <a:extLst xmlns:a="http://schemas.openxmlformats.org/drawingml/2006/main">
              <a:ext uri="{FF2B5EF4-FFF2-40B4-BE49-F238E27FC236}">
                <a16:creationId xmlns:a16="http://schemas.microsoft.com/office/drawing/2014/main" id="{A21D11DA-EC13-4F0E-ADEF-660D92854FCB}"/>
              </a:ext>
            </a:extLst>
          </p:cNvPr>
          <p:cNvSpPr>
            <a:spLocks xmlns:a="http://schemas.openxmlformats.org/drawingml/2006/main" noGrp="1"/>
          </p:cNvSpPr>
          <p:nvPr/>
        </p:nvSpPr>
        <p:spPr>
          <a:xfrm xmlns:a="http://schemas.openxmlformats.org/drawingml/2006/main">
            <a:off x="685800" y="157162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Learning: a lock must cover the full read and update that preserves an invariant.</a:t>
            </a:r>
          </a:p>
        </p:txBody>
      </p:sp>
      <p:sp>
        <p:nvSpPr>
          <p:cNvPr id="5" name="">
            <a:extLst xmlns:a="http://schemas.openxmlformats.org/drawingml/2006/main">
              <a:ext uri="{FF2B5EF4-FFF2-40B4-BE49-F238E27FC236}">
                <a16:creationId xmlns:a16="http://schemas.microsoft.com/office/drawing/2014/main" id="{A4A266BD-DC8D-4448-A8BE-C1684D4D39CA}"/>
              </a:ext>
            </a:extLst>
          </p:cNvPr>
          <p:cNvSpPr>
            <a:spLocks xmlns:a="http://schemas.openxmlformats.org/drawingml/2006/main" noGrp="1"/>
          </p:cNvSpPr>
          <p:nvPr/>
        </p:nvSpPr>
        <p:spPr>
          <a:xfrm xmlns:a="http://schemas.openxmlformats.org/drawingml/2006/main">
            <a:off x="685800" y="255270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Finding: all locked and restored attempts passed; unlocked attempts recorded failures.</a:t>
            </a:r>
          </a:p>
        </p:txBody>
      </p:sp>
      <p:sp>
        <p:nvSpPr>
          <p:cNvPr id="6" name="">
            <a:extLst xmlns:a="http://schemas.openxmlformats.org/drawingml/2006/main">
              <a:ext uri="{FF2B5EF4-FFF2-40B4-BE49-F238E27FC236}">
                <a16:creationId xmlns:a16="http://schemas.microsoft.com/office/drawing/2014/main" id="{41BB5DBF-1B16-48D7-8DB7-B1E91355E6A5}"/>
              </a:ext>
            </a:extLst>
          </p:cNvPr>
          <p:cNvSpPr>
            <a:spLocks xmlns:a="http://schemas.openxmlformats.org/drawingml/2006/main" noGrp="1"/>
          </p:cNvSpPr>
          <p:nvPr/>
        </p:nvSpPr>
        <p:spPr>
          <a:xfrm xmlns:a="http://schemas.openxmlformats.org/drawingml/2006/main">
            <a:off x="685800" y="3533775"/>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The same reasoning applies to kernel queues, caches, process data, and shared application state.</a:t>
            </a:r>
          </a:p>
        </p:txBody>
      </p:sp>
      <p:sp>
        <p:nvSpPr>
          <p:cNvPr id="7" name="">
            <a:extLst xmlns:a="http://schemas.openxmlformats.org/drawingml/2006/main">
              <a:ext uri="{FF2B5EF4-FFF2-40B4-BE49-F238E27FC236}">
                <a16:creationId xmlns:a16="http://schemas.microsoft.com/office/drawing/2014/main" id="{08B3C5EA-85D8-471A-AA97-479046D35CDB}"/>
              </a:ext>
            </a:extLst>
          </p:cNvPr>
          <p:cNvSpPr>
            <a:spLocks xmlns:a="http://schemas.openxmlformats.org/drawingml/2006/main" noGrp="1"/>
          </p:cNvSpPr>
          <p:nvPr/>
        </p:nvSpPr>
        <p:spPr>
          <a:xfrm xmlns:a="http://schemas.openxmlformats.org/drawingml/2006/main">
            <a:off x="685800" y="4514850"/>
            <a:ext cx="108204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7202A"/>
                </a:solidFill>
                <a:latin typeface="Arial"/>
                <a:ea typeface="Arial"/>
                <a:cs typeface="Arial"/>
              </a:defRPr>
            </a:defPPr>
            <a:lvl1pPr>
              <a:buNone/>
              <a:defRPr sz="2325" b="0">
                <a:solidFill>
                  <a:srgbClr val="17202A"/>
                </a:solidFill>
                <a:latin typeface="Arial"/>
                <a:ea typeface="Arial"/>
                <a:cs typeface="Arial"/>
              </a:defRPr>
            </a:lvl1pPr>
            <a:lvl2pPr>
              <a:buNone/>
              <a:defRPr sz="2325" b="0">
                <a:solidFill>
                  <a:srgbClr val="17202A"/>
                </a:solidFill>
                <a:latin typeface="Arial"/>
                <a:ea typeface="Arial"/>
                <a:cs typeface="Arial"/>
              </a:defRPr>
            </a:lvl2pPr>
            <a:lvl3pPr>
              <a:buNone/>
              <a:defRPr sz="2325" b="0">
                <a:solidFill>
                  <a:srgbClr val="17202A"/>
                </a:solidFill>
                <a:latin typeface="Arial"/>
                <a:ea typeface="Arial"/>
                <a:cs typeface="Arial"/>
              </a:defRPr>
            </a:lvl3pPr>
            <a:lvl4pPr>
              <a:buNone/>
              <a:defRPr sz="2325" b="0">
                <a:solidFill>
                  <a:srgbClr val="17202A"/>
                </a:solidFill>
                <a:latin typeface="Arial"/>
                <a:ea typeface="Arial"/>
                <a:cs typeface="Arial"/>
              </a:defRPr>
            </a:lvl4pPr>
            <a:lvl5pPr>
              <a:buNone/>
              <a:defRPr sz="2325" b="0">
                <a:solidFill>
                  <a:srgbClr val="17202A"/>
                </a:solidFill>
                <a:latin typeface="Arial"/>
                <a:ea typeface="Arial"/>
                <a:cs typeface="Arial"/>
              </a:defRPr>
            </a:lvl5pPr>
            <a:lvl6pPr>
              <a:buNone/>
              <a:defRPr sz="2325" b="0">
                <a:solidFill>
                  <a:srgbClr val="17202A"/>
                </a:solidFill>
                <a:latin typeface="Arial"/>
                <a:ea typeface="Arial"/>
                <a:cs typeface="Arial"/>
              </a:defRPr>
            </a:lvl6pPr>
            <a:lvl7pPr>
              <a:buNone/>
              <a:defRPr sz="2325" b="0">
                <a:solidFill>
                  <a:srgbClr val="17202A"/>
                </a:solidFill>
                <a:latin typeface="Arial"/>
                <a:ea typeface="Arial"/>
                <a:cs typeface="Arial"/>
              </a:defRPr>
            </a:lvl7pPr>
            <a:lvl8pPr>
              <a:buNone/>
              <a:defRPr sz="2325" b="0">
                <a:solidFill>
                  <a:srgbClr val="17202A"/>
                </a:solidFill>
                <a:latin typeface="Arial"/>
                <a:ea typeface="Arial"/>
                <a:cs typeface="Arial"/>
              </a:defRPr>
            </a:lvl8pPr>
            <a:lvl9pPr>
              <a:buNone/>
              <a:defRPr sz="2325" b="0">
                <a:solidFill>
                  <a:srgbClr val="17202A"/>
                </a:solidFill>
                <a:latin typeface="Arial"/>
                <a:ea typeface="Arial"/>
                <a:cs typeface="Arial"/>
              </a:defRPr>
            </a:lvl9pPr>
          </a:lstStyle>
          <a:p xmlns:a="http://schemas.openxmlformats.org/drawingml/2006/main">
            <a:pPr>
              <a:buNone/>
              <a:defRPr sz="2325" b="0">
                <a:solidFill>
                  <a:srgbClr val="17202A"/>
                </a:solidFill>
                <a:latin typeface="Arial"/>
                <a:ea typeface="Arial"/>
                <a:cs typeface="Arial"/>
              </a:defRPr>
            </a:pPr>
            <a:r>
              <a:rPr sz="2325" b="0">
                <a:solidFill>
                  <a:srgbClr val="17202A"/>
                </a:solidFill>
                <a:latin typeface="Arial"/>
                <a:ea typeface="Arial"/>
                <a:cs typeface="Arial"/>
              </a:rPr>
              <a:t>Future work: test more CPU counts, detect lost pages, and measure lock contention.</a:t>
            </a:r>
          </a:p>
        </p:txBody>
      </p:sp>
      <p:sp>
        <p:nvSpPr>
          <p:cNvPr id="8" name="">
            <a:extLst xmlns:a="http://schemas.openxmlformats.org/drawingml/2006/main">
              <a:ext uri="{FF2B5EF4-FFF2-40B4-BE49-F238E27FC236}">
                <a16:creationId xmlns:a16="http://schemas.microsoft.com/office/drawing/2014/main" id="{F71FF5A1-0605-4907-9E59-DCEF5027F8C5}"/>
              </a:ext>
            </a:extLst>
          </p:cNvPr>
          <p:cNvSpPr>
            <a:spLocks xmlns:a="http://schemas.openxmlformats.org/drawingml/2006/main" noGrp="1"/>
          </p:cNvSpPr>
          <p:nvPr/>
        </p:nvSpPr>
        <p:spPr>
          <a:xfrm xmlns:a="http://schemas.openxmlformats.org/drawingml/2006/main">
            <a:off x="685800" y="6038850"/>
            <a:ext cx="9715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16E"/>
                </a:solidFill>
                <a:latin typeface="Arial"/>
                <a:ea typeface="Arial"/>
                <a:cs typeface="Arial"/>
              </a:defRPr>
            </a:defPPr>
            <a:lvl1pPr>
              <a:buNone/>
              <a:defRPr sz="1500" b="0">
                <a:solidFill>
                  <a:srgbClr val="53616E"/>
                </a:solidFill>
                <a:latin typeface="Arial"/>
                <a:ea typeface="Arial"/>
                <a:cs typeface="Arial"/>
              </a:defRPr>
            </a:lvl1pPr>
            <a:lvl2pPr>
              <a:buNone/>
              <a:defRPr sz="1500" b="0">
                <a:solidFill>
                  <a:srgbClr val="53616E"/>
                </a:solidFill>
                <a:latin typeface="Arial"/>
                <a:ea typeface="Arial"/>
                <a:cs typeface="Arial"/>
              </a:defRPr>
            </a:lvl2pPr>
            <a:lvl3pPr>
              <a:buNone/>
              <a:defRPr sz="1500" b="0">
                <a:solidFill>
                  <a:srgbClr val="53616E"/>
                </a:solidFill>
                <a:latin typeface="Arial"/>
                <a:ea typeface="Arial"/>
                <a:cs typeface="Arial"/>
              </a:defRPr>
            </a:lvl3pPr>
            <a:lvl4pPr>
              <a:buNone/>
              <a:defRPr sz="1500" b="0">
                <a:solidFill>
                  <a:srgbClr val="53616E"/>
                </a:solidFill>
                <a:latin typeface="Arial"/>
                <a:ea typeface="Arial"/>
                <a:cs typeface="Arial"/>
              </a:defRPr>
            </a:lvl4pPr>
            <a:lvl5pPr>
              <a:buNone/>
              <a:defRPr sz="1500" b="0">
                <a:solidFill>
                  <a:srgbClr val="53616E"/>
                </a:solidFill>
                <a:latin typeface="Arial"/>
                <a:ea typeface="Arial"/>
                <a:cs typeface="Arial"/>
              </a:defRPr>
            </a:lvl5pPr>
            <a:lvl6pPr>
              <a:buNone/>
              <a:defRPr sz="1500" b="0">
                <a:solidFill>
                  <a:srgbClr val="53616E"/>
                </a:solidFill>
                <a:latin typeface="Arial"/>
                <a:ea typeface="Arial"/>
                <a:cs typeface="Arial"/>
              </a:defRPr>
            </a:lvl6pPr>
            <a:lvl7pPr>
              <a:buNone/>
              <a:defRPr sz="1500" b="0">
                <a:solidFill>
                  <a:srgbClr val="53616E"/>
                </a:solidFill>
                <a:latin typeface="Arial"/>
                <a:ea typeface="Arial"/>
                <a:cs typeface="Arial"/>
              </a:defRPr>
            </a:lvl7pPr>
            <a:lvl8pPr>
              <a:buNone/>
              <a:defRPr sz="1500" b="0">
                <a:solidFill>
                  <a:srgbClr val="53616E"/>
                </a:solidFill>
                <a:latin typeface="Arial"/>
                <a:ea typeface="Arial"/>
                <a:cs typeface="Arial"/>
              </a:defRPr>
            </a:lvl8pPr>
            <a:lvl9pPr>
              <a:buNone/>
              <a:defRPr sz="1500" b="0">
                <a:solidFill>
                  <a:srgbClr val="53616E"/>
                </a:solidFill>
                <a:latin typeface="Arial"/>
                <a:ea typeface="Arial"/>
                <a:cs typeface="Arial"/>
              </a:defRPr>
            </a:lvl9pPr>
          </a:lstStyle>
          <a:p xmlns:a="http://schemas.openxmlformats.org/drawingml/2006/main">
            <a:pPr>
              <a:buNone/>
              <a:defRPr sz="1500" b="0">
                <a:solidFill>
                  <a:srgbClr val="53616E"/>
                </a:solidFill>
                <a:latin typeface="Arial"/>
                <a:ea typeface="Arial"/>
                <a:cs typeface="Arial"/>
              </a:defRPr>
            </a:pPr>
            <a:r>
              <a:rPr sz="1500" b="0">
                <a:solidFill>
                  <a:srgbClr val="53616E"/>
                </a:solidFill>
                <a:latin typeface="Arial"/>
                <a:ea typeface="Arial"/>
                <a:cs typeface="Arial"/>
              </a:rPr>
              <a:t>Only the xv6 allocator spinlock was measured; other primitives and structures remain untested.</a:t>
            </a:r>
          </a:p>
        </p:txBody>
      </p:sp>
    </p:spTree>
    <p:extLst>
      <p:ext uri="{BB962C8B-B14F-4D97-AF65-F5344CB8AC3E}">
        <p14:creationId xmlns:p14="http://schemas.microsoft.com/office/powerpoint/2010/main" val="603045275"/>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
            <a:extLst xmlns:a="http://schemas.openxmlformats.org/drawingml/2006/main">
              <a:ext uri="{FF2B5EF4-FFF2-40B4-BE49-F238E27FC236}">
                <a16:creationId xmlns:a16="http://schemas.microsoft.com/office/drawing/2014/main" id="{E6C14B4C-19BB-4C2D-AF5C-104074CFB97D}"/>
              </a:ext>
            </a:extLst>
          </p:cNvPr>
          <p:cNvSpPr>
            <a:spLocks xmlns:a="http://schemas.openxmlformats.org/drawingml/2006/main" noGrp="1"/>
          </p:cNvSpPr>
          <p:nvPr/>
        </p:nvSpPr>
        <p:spPr>
          <a:xfrm xmlns:a="http://schemas.openxmlformats.org/drawingml/2006/main">
            <a:off x="685800" y="400050"/>
            <a:ext cx="108204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12304A"/>
                </a:solidFill>
                <a:latin typeface="Arial"/>
                <a:ea typeface="Arial"/>
                <a:cs typeface="Arial"/>
              </a:defRPr>
            </a:defPPr>
            <a:lvl1pPr>
              <a:buNone/>
              <a:defRPr sz="3150" b="1">
                <a:solidFill>
                  <a:srgbClr val="12304A"/>
                </a:solidFill>
                <a:latin typeface="Arial"/>
                <a:ea typeface="Arial"/>
                <a:cs typeface="Arial"/>
              </a:defRPr>
            </a:lvl1pPr>
            <a:lvl2pPr>
              <a:buNone/>
              <a:defRPr sz="3150" b="1">
                <a:solidFill>
                  <a:srgbClr val="12304A"/>
                </a:solidFill>
                <a:latin typeface="Arial"/>
                <a:ea typeface="Arial"/>
                <a:cs typeface="Arial"/>
              </a:defRPr>
            </a:lvl2pPr>
            <a:lvl3pPr>
              <a:buNone/>
              <a:defRPr sz="3150" b="1">
                <a:solidFill>
                  <a:srgbClr val="12304A"/>
                </a:solidFill>
                <a:latin typeface="Arial"/>
                <a:ea typeface="Arial"/>
                <a:cs typeface="Arial"/>
              </a:defRPr>
            </a:lvl3pPr>
            <a:lvl4pPr>
              <a:buNone/>
              <a:defRPr sz="3150" b="1">
                <a:solidFill>
                  <a:srgbClr val="12304A"/>
                </a:solidFill>
                <a:latin typeface="Arial"/>
                <a:ea typeface="Arial"/>
                <a:cs typeface="Arial"/>
              </a:defRPr>
            </a:lvl4pPr>
            <a:lvl5pPr>
              <a:buNone/>
              <a:defRPr sz="3150" b="1">
                <a:solidFill>
                  <a:srgbClr val="12304A"/>
                </a:solidFill>
                <a:latin typeface="Arial"/>
                <a:ea typeface="Arial"/>
                <a:cs typeface="Arial"/>
              </a:defRPr>
            </a:lvl5pPr>
            <a:lvl6pPr>
              <a:buNone/>
              <a:defRPr sz="3150" b="1">
                <a:solidFill>
                  <a:srgbClr val="12304A"/>
                </a:solidFill>
                <a:latin typeface="Arial"/>
                <a:ea typeface="Arial"/>
                <a:cs typeface="Arial"/>
              </a:defRPr>
            </a:lvl6pPr>
            <a:lvl7pPr>
              <a:buNone/>
              <a:defRPr sz="3150" b="1">
                <a:solidFill>
                  <a:srgbClr val="12304A"/>
                </a:solidFill>
                <a:latin typeface="Arial"/>
                <a:ea typeface="Arial"/>
                <a:cs typeface="Arial"/>
              </a:defRPr>
            </a:lvl7pPr>
            <a:lvl8pPr>
              <a:buNone/>
              <a:defRPr sz="3150" b="1">
                <a:solidFill>
                  <a:srgbClr val="12304A"/>
                </a:solidFill>
                <a:latin typeface="Arial"/>
                <a:ea typeface="Arial"/>
                <a:cs typeface="Arial"/>
              </a:defRPr>
            </a:lvl8pPr>
            <a:lvl9pPr>
              <a:buNone/>
              <a:defRPr sz="3150" b="1">
                <a:solidFill>
                  <a:srgbClr val="12304A"/>
                </a:solidFill>
                <a:latin typeface="Arial"/>
                <a:ea typeface="Arial"/>
                <a:cs typeface="Arial"/>
              </a:defRPr>
            </a:lvl9pPr>
          </a:lstStyle>
          <a:p xmlns:a="http://schemas.openxmlformats.org/drawingml/2006/main">
            <a:pPr>
              <a:buNone/>
              <a:defRPr sz="3150" b="1">
                <a:solidFill>
                  <a:srgbClr val="12304A"/>
                </a:solidFill>
                <a:latin typeface="Arial"/>
                <a:ea typeface="Arial"/>
                <a:cs typeface="Arial"/>
              </a:defRPr>
            </a:pPr>
            <a:r>
              <a:rPr sz="3150" b="1">
                <a:solidFill>
                  <a:srgbClr val="12304A"/>
                </a:solidFill>
                <a:latin typeface="Arial"/>
                <a:ea typeface="Arial"/>
                <a:cs typeface="Arial"/>
              </a:rPr>
              <a:t>References</a:t>
            </a:r>
          </a:p>
        </p:txBody>
      </p:sp>
      <p:sp>
        <p:nvSpPr>
          <p:cNvPr id="3" name="">
            <a:extLst xmlns:a="http://schemas.openxmlformats.org/drawingml/2006/main">
              <a:ext uri="{FF2B5EF4-FFF2-40B4-BE49-F238E27FC236}">
                <a16:creationId xmlns:a16="http://schemas.microsoft.com/office/drawing/2014/main" id="{54C682DC-8C3A-4B99-95F5-82136C6049BF}"/>
              </a:ext>
            </a:extLst>
          </p:cNvPr>
          <p:cNvSpPr>
            <a:spLocks xmlns:a="http://schemas.openxmlformats.org/drawingml/2006/main" noGrp="1"/>
          </p:cNvSpPr>
          <p:nvPr/>
        </p:nvSpPr>
        <p:spPr>
          <a:xfrm xmlns:a="http://schemas.openxmlformats.org/drawingml/2006/main">
            <a:off x="10972800" y="6410325"/>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75" b="0">
                <a:solidFill>
                  <a:srgbClr val="66727E"/>
                </a:solidFill>
                <a:latin typeface="Arial"/>
                <a:ea typeface="Arial"/>
                <a:cs typeface="Arial"/>
              </a:defRPr>
            </a:defPPr>
            <a:lvl1pPr>
              <a:buNone/>
              <a:defRPr sz="1275" b="0">
                <a:solidFill>
                  <a:srgbClr val="66727E"/>
                </a:solidFill>
                <a:latin typeface="Arial"/>
                <a:ea typeface="Arial"/>
                <a:cs typeface="Arial"/>
              </a:defRPr>
            </a:lvl1pPr>
            <a:lvl2pPr>
              <a:buNone/>
              <a:defRPr sz="1275" b="0">
                <a:solidFill>
                  <a:srgbClr val="66727E"/>
                </a:solidFill>
                <a:latin typeface="Arial"/>
                <a:ea typeface="Arial"/>
                <a:cs typeface="Arial"/>
              </a:defRPr>
            </a:lvl2pPr>
            <a:lvl3pPr>
              <a:buNone/>
              <a:defRPr sz="1275" b="0">
                <a:solidFill>
                  <a:srgbClr val="66727E"/>
                </a:solidFill>
                <a:latin typeface="Arial"/>
                <a:ea typeface="Arial"/>
                <a:cs typeface="Arial"/>
              </a:defRPr>
            </a:lvl3pPr>
            <a:lvl4pPr>
              <a:buNone/>
              <a:defRPr sz="1275" b="0">
                <a:solidFill>
                  <a:srgbClr val="66727E"/>
                </a:solidFill>
                <a:latin typeface="Arial"/>
                <a:ea typeface="Arial"/>
                <a:cs typeface="Arial"/>
              </a:defRPr>
            </a:lvl4pPr>
            <a:lvl5pPr>
              <a:buNone/>
              <a:defRPr sz="1275" b="0">
                <a:solidFill>
                  <a:srgbClr val="66727E"/>
                </a:solidFill>
                <a:latin typeface="Arial"/>
                <a:ea typeface="Arial"/>
                <a:cs typeface="Arial"/>
              </a:defRPr>
            </a:lvl5pPr>
            <a:lvl6pPr>
              <a:buNone/>
              <a:defRPr sz="1275" b="0">
                <a:solidFill>
                  <a:srgbClr val="66727E"/>
                </a:solidFill>
                <a:latin typeface="Arial"/>
                <a:ea typeface="Arial"/>
                <a:cs typeface="Arial"/>
              </a:defRPr>
            </a:lvl6pPr>
            <a:lvl7pPr>
              <a:buNone/>
              <a:defRPr sz="1275" b="0">
                <a:solidFill>
                  <a:srgbClr val="66727E"/>
                </a:solidFill>
                <a:latin typeface="Arial"/>
                <a:ea typeface="Arial"/>
                <a:cs typeface="Arial"/>
              </a:defRPr>
            </a:lvl7pPr>
            <a:lvl8pPr>
              <a:buNone/>
              <a:defRPr sz="1275" b="0">
                <a:solidFill>
                  <a:srgbClr val="66727E"/>
                </a:solidFill>
                <a:latin typeface="Arial"/>
                <a:ea typeface="Arial"/>
                <a:cs typeface="Arial"/>
              </a:defRPr>
            </a:lvl8pPr>
            <a:lvl9pPr>
              <a:buNone/>
              <a:defRPr sz="1275" b="0">
                <a:solidFill>
                  <a:srgbClr val="66727E"/>
                </a:solidFill>
                <a:latin typeface="Arial"/>
                <a:ea typeface="Arial"/>
                <a:cs typeface="Arial"/>
              </a:defRPr>
            </a:lvl9pPr>
          </a:lstStyle>
          <a:p xmlns:a="http://schemas.openxmlformats.org/drawingml/2006/main">
            <a:pPr>
              <a:buNone/>
              <a:defRPr sz="1275" b="0">
                <a:solidFill>
                  <a:srgbClr val="66727E"/>
                </a:solidFill>
                <a:latin typeface="Arial"/>
                <a:ea typeface="Arial"/>
                <a:cs typeface="Arial"/>
              </a:defRPr>
            </a:pPr>
            <a:r>
              <a:rPr sz="1275" b="0">
                <a:solidFill>
                  <a:srgbClr val="66727E"/>
                </a:solidFill>
                <a:latin typeface="Arial"/>
                <a:ea typeface="Arial"/>
                <a:cs typeface="Arial"/>
              </a:rPr>
              <a:t>20</a:t>
            </a:r>
          </a:p>
        </p:txBody>
      </p:sp>
      <p:sp>
        <p:nvSpPr>
          <p:cNvPr id="4" name="">
            <a:extLst xmlns:a="http://schemas.openxmlformats.org/drawingml/2006/main">
              <a:ext uri="{FF2B5EF4-FFF2-40B4-BE49-F238E27FC236}">
                <a16:creationId xmlns:a16="http://schemas.microsoft.com/office/drawing/2014/main" id="{EB39D45E-484E-4F29-B4BF-0FCD9669D48A}"/>
              </a:ext>
            </a:extLst>
          </p:cNvPr>
          <p:cNvSpPr>
            <a:spLocks xmlns:a="http://schemas.openxmlformats.org/drawingml/2006/main" noGrp="1"/>
          </p:cNvSpPr>
          <p:nvPr/>
        </p:nvSpPr>
        <p:spPr>
          <a:xfrm xmlns:a="http://schemas.openxmlformats.org/drawingml/2006/main">
            <a:off x="685800" y="15240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1725" b="0">
                <a:solidFill>
                  <a:srgbClr val="17202A"/>
                </a:solidFill>
                <a:latin typeface="Arial"/>
                <a:ea typeface="Arial"/>
                <a:cs typeface="Arial"/>
              </a:defRPr>
            </a:lvl1pPr>
            <a:lvl2pPr algn="l">
              <a:buNone/>
              <a:defRPr sz="1725" b="0">
                <a:solidFill>
                  <a:srgbClr val="17202A"/>
                </a:solidFill>
                <a:latin typeface="Arial"/>
                <a:ea typeface="Arial"/>
                <a:cs typeface="Arial"/>
              </a:defRPr>
            </a:lvl2pPr>
            <a:lvl3pPr algn="l">
              <a:buNone/>
              <a:defRPr sz="1725" b="0">
                <a:solidFill>
                  <a:srgbClr val="17202A"/>
                </a:solidFill>
                <a:latin typeface="Arial"/>
                <a:ea typeface="Arial"/>
                <a:cs typeface="Arial"/>
              </a:defRPr>
            </a:lvl3pPr>
            <a:lvl4pPr algn="l">
              <a:buNone/>
              <a:defRPr sz="1725" b="0">
                <a:solidFill>
                  <a:srgbClr val="17202A"/>
                </a:solidFill>
                <a:latin typeface="Arial"/>
                <a:ea typeface="Arial"/>
                <a:cs typeface="Arial"/>
              </a:defRPr>
            </a:lvl4pPr>
            <a:lvl5pPr algn="l">
              <a:buNone/>
              <a:defRPr sz="1725" b="0">
                <a:solidFill>
                  <a:srgbClr val="17202A"/>
                </a:solidFill>
                <a:latin typeface="Arial"/>
                <a:ea typeface="Arial"/>
                <a:cs typeface="Arial"/>
              </a:defRPr>
            </a:lvl5pPr>
            <a:lvl6pPr algn="l">
              <a:buNone/>
              <a:defRPr sz="1725" b="0">
                <a:solidFill>
                  <a:srgbClr val="17202A"/>
                </a:solidFill>
                <a:latin typeface="Arial"/>
                <a:ea typeface="Arial"/>
                <a:cs typeface="Arial"/>
              </a:defRPr>
            </a:lvl6pPr>
            <a:lvl7pPr algn="l">
              <a:buNone/>
              <a:defRPr sz="1725" b="0">
                <a:solidFill>
                  <a:srgbClr val="17202A"/>
                </a:solidFill>
                <a:latin typeface="Arial"/>
                <a:ea typeface="Arial"/>
                <a:cs typeface="Arial"/>
              </a:defRPr>
            </a:lvl7pPr>
            <a:lvl8pPr algn="l">
              <a:buNone/>
              <a:defRPr sz="1725" b="0">
                <a:solidFill>
                  <a:srgbClr val="17202A"/>
                </a:solidFill>
                <a:latin typeface="Arial"/>
                <a:ea typeface="Arial"/>
                <a:cs typeface="Arial"/>
              </a:defRPr>
            </a:lvl8pPr>
            <a:lvl9pPr algn="l">
              <a:buNone/>
              <a:defRPr sz="17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xv6 library (MIT PDOS): https://github.com/mit-pdos/xv6-riscv</a:t>
            </a:r>
          </a:p>
        </p:txBody>
      </p:sp>
      <p:sp>
        <p:nvSpPr>
          <p:cNvPr id="5" name="">
            <a:extLst xmlns:a="http://schemas.openxmlformats.org/drawingml/2006/main">
              <a:ext uri="{FF2B5EF4-FFF2-40B4-BE49-F238E27FC236}">
                <a16:creationId xmlns:a16="http://schemas.microsoft.com/office/drawing/2014/main" id="{E6A676F4-4586-4120-9826-072E922DEE8B}"/>
              </a:ext>
            </a:extLst>
          </p:cNvPr>
          <p:cNvSpPr>
            <a:spLocks xmlns:a="http://schemas.openxmlformats.org/drawingml/2006/main" noGrp="1"/>
          </p:cNvSpPr>
          <p:nvPr/>
        </p:nvSpPr>
        <p:spPr>
          <a:xfrm xmlns:a="http://schemas.openxmlformats.org/drawingml/2006/main">
            <a:off x="685800" y="23431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MIT xv6 RISC-V book, Locking: https://mit-pdos.github.io/xv6-riscv-book/lock.html</a:t>
            </a:r>
          </a:p>
        </p:txBody>
      </p:sp>
      <p:sp>
        <p:nvSpPr>
          <p:cNvPr id="6" name="">
            <a:extLst xmlns:a="http://schemas.openxmlformats.org/drawingml/2006/main">
              <a:ext uri="{FF2B5EF4-FFF2-40B4-BE49-F238E27FC236}">
                <a16:creationId xmlns:a16="http://schemas.microsoft.com/office/drawing/2014/main" id="{3860B215-348F-4FBD-A6E3-224B9310EF95}"/>
              </a:ext>
            </a:extLst>
          </p:cNvPr>
          <p:cNvSpPr>
            <a:spLocks xmlns:a="http://schemas.openxmlformats.org/drawingml/2006/main" noGrp="1"/>
          </p:cNvSpPr>
          <p:nvPr/>
        </p:nvSpPr>
        <p:spPr>
          <a:xfrm xmlns:a="http://schemas.openxmlformats.org/drawingml/2006/main">
            <a:off x="685800" y="316230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The Open Group, memory synchronization: https://pubs.opengroup.org/onlinepubs/9699919799/basedefs/V1_chap04.html</a:t>
            </a:r>
          </a:p>
        </p:txBody>
      </p:sp>
      <p:sp>
        <p:nvSpPr>
          <p:cNvPr id="7" name="">
            <a:extLst xmlns:a="http://schemas.openxmlformats.org/drawingml/2006/main">
              <a:ext uri="{FF2B5EF4-FFF2-40B4-BE49-F238E27FC236}">
                <a16:creationId xmlns:a16="http://schemas.microsoft.com/office/drawing/2014/main" id="{4C920014-058D-4EB5-A660-EEC6EF592398}"/>
              </a:ext>
            </a:extLst>
          </p:cNvPr>
          <p:cNvSpPr>
            <a:spLocks xmlns:a="http://schemas.openxmlformats.org/drawingml/2006/main" noGrp="1"/>
          </p:cNvSpPr>
          <p:nvPr/>
        </p:nvSpPr>
        <p:spPr>
          <a:xfrm xmlns:a="http://schemas.openxmlformats.org/drawingml/2006/main">
            <a:off x="685800" y="3981450"/>
            <a:ext cx="108204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17202A"/>
                </a:solidFill>
                <a:latin typeface="Arial"/>
                <a:ea typeface="Arial"/>
                <a:cs typeface="Arial"/>
              </a:defRPr>
            </a:defPPr>
            <a:lvl1pPr algn="l">
              <a:buNone/>
              <a:defRPr sz="2025" b="0">
                <a:solidFill>
                  <a:srgbClr val="17202A"/>
                </a:solidFill>
                <a:latin typeface="Arial"/>
                <a:ea typeface="Arial"/>
                <a:cs typeface="Arial"/>
              </a:defRPr>
            </a:lvl1pPr>
            <a:lvl2pPr algn="l">
              <a:buNone/>
              <a:defRPr sz="2025" b="0">
                <a:solidFill>
                  <a:srgbClr val="17202A"/>
                </a:solidFill>
                <a:latin typeface="Arial"/>
                <a:ea typeface="Arial"/>
                <a:cs typeface="Arial"/>
              </a:defRPr>
            </a:lvl2pPr>
            <a:lvl3pPr algn="l">
              <a:buNone/>
              <a:defRPr sz="2025" b="0">
                <a:solidFill>
                  <a:srgbClr val="17202A"/>
                </a:solidFill>
                <a:latin typeface="Arial"/>
                <a:ea typeface="Arial"/>
                <a:cs typeface="Arial"/>
              </a:defRPr>
            </a:lvl3pPr>
            <a:lvl4pPr algn="l">
              <a:buNone/>
              <a:defRPr sz="2025" b="0">
                <a:solidFill>
                  <a:srgbClr val="17202A"/>
                </a:solidFill>
                <a:latin typeface="Arial"/>
                <a:ea typeface="Arial"/>
                <a:cs typeface="Arial"/>
              </a:defRPr>
            </a:lvl4pPr>
            <a:lvl5pPr algn="l">
              <a:buNone/>
              <a:defRPr sz="2025" b="0">
                <a:solidFill>
                  <a:srgbClr val="17202A"/>
                </a:solidFill>
                <a:latin typeface="Arial"/>
                <a:ea typeface="Arial"/>
                <a:cs typeface="Arial"/>
              </a:defRPr>
            </a:lvl5pPr>
            <a:lvl6pPr algn="l">
              <a:buNone/>
              <a:defRPr sz="2025" b="0">
                <a:solidFill>
                  <a:srgbClr val="17202A"/>
                </a:solidFill>
                <a:latin typeface="Arial"/>
                <a:ea typeface="Arial"/>
                <a:cs typeface="Arial"/>
              </a:defRPr>
            </a:lvl6pPr>
            <a:lvl7pPr algn="l">
              <a:buNone/>
              <a:defRPr sz="2025" b="0">
                <a:solidFill>
                  <a:srgbClr val="17202A"/>
                </a:solidFill>
                <a:latin typeface="Arial"/>
                <a:ea typeface="Arial"/>
                <a:cs typeface="Arial"/>
              </a:defRPr>
            </a:lvl7pPr>
            <a:lvl8pPr algn="l">
              <a:buNone/>
              <a:defRPr sz="2025" b="0">
                <a:solidFill>
                  <a:srgbClr val="17202A"/>
                </a:solidFill>
                <a:latin typeface="Arial"/>
                <a:ea typeface="Arial"/>
                <a:cs typeface="Arial"/>
              </a:defRPr>
            </a:lvl8pPr>
            <a:lvl9pPr algn="l">
              <a:buNone/>
              <a:defRPr sz="2025" b="0">
                <a:solidFill>
                  <a:srgbClr val="17202A"/>
                </a:solidFill>
                <a:latin typeface="Arial"/>
                <a:ea typeface="Arial"/>
                <a:cs typeface="Arial"/>
              </a:defRPr>
            </a:lvl9pPr>
          </a:lstStyle>
          <a:p xmlns:a="http://schemas.openxmlformats.org/drawingml/2006/main">
            <a:pPr algn="l">
              <a:buNone/>
              <a:defRPr sz="1200" b="0">
                <a:solidFill>
                  <a:srgbClr val="17202A"/>
                </a:solidFill>
                <a:latin typeface="Arial"/>
                <a:ea typeface="Arial"/>
                <a:cs typeface="Arial"/>
              </a:defRPr>
            </a:pPr>
            <a:r>
              <a:rPr sz="1200" b="0">
                <a:solidFill>
                  <a:srgbClr val="17202A"/>
                </a:solidFill>
                <a:latin typeface="Arial"/>
                <a:ea typeface="Arial"/>
                <a:cs typeface="Arial"/>
              </a:rPr>
              <a:t>• Michael and Scott, Nonblocking algorithms and ABA: https://www.cs.rochester.edu/u/scott/papers/1998_JPDC_nonblocking.pdf</a:t>
            </a:r>
          </a:p>
        </p:txBody>
      </p:sp>
    </p:spTree>
    <p:extLst>
      <p:ext uri="{BB962C8B-B14F-4D97-AF65-F5344CB8AC3E}">
        <p14:creationId xmlns:p14="http://schemas.microsoft.com/office/powerpoint/2010/main" val="19481825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2026-10-26T14:30:53.2970000Z</dcterms:created>
  <dcterms:modified xsi:type="dcterms:W3CDTF">2026-10-26T14:30:53.2970000Z</dcterms:modified>
</coreProperties>
</file>