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7a798886e7e4029" Type="http://schemas.openxmlformats.org/officeDocument/2006/relationships/officeDocument" Target="ppt/presentation.xml"/><Relationship Id="R84696f9144e346be" Type="http://schemas.openxmlformats.org/package/2006/relationships/metadata/core-properties" Target="docProps/core.xml"/><Relationship Id="R9f549312eecc410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54fd865e940d4231"/>
  </p:sldMasterIdLst>
  <p:notesMasterIdLst>
    <p:notesMasterId xmlns:r="http://schemas.openxmlformats.org/officeDocument/2006/relationships" r:id="R094cd02b2dd9488c"/>
  </p:notesMasterIdLst>
  <p:sldIdLst>
    <p:sldId xmlns:r="http://schemas.openxmlformats.org/officeDocument/2006/relationships" id="256" r:id="Rb848a2307aff4e26"/>
    <p:sldId xmlns:r="http://schemas.openxmlformats.org/officeDocument/2006/relationships" id="257" r:id="Ra256db388d1949d7"/>
    <p:sldId xmlns:r="http://schemas.openxmlformats.org/officeDocument/2006/relationships" id="258" r:id="R3d7831e86f7d4dcb"/>
    <p:sldId xmlns:r="http://schemas.openxmlformats.org/officeDocument/2006/relationships" id="259" r:id="R3465875b788a44ad"/>
    <p:sldId xmlns:r="http://schemas.openxmlformats.org/officeDocument/2006/relationships" id="260" r:id="Re9273fb413fe4fe1"/>
    <p:sldId xmlns:r="http://schemas.openxmlformats.org/officeDocument/2006/relationships" id="261" r:id="Rec135dc72863485b"/>
    <p:sldId xmlns:r="http://schemas.openxmlformats.org/officeDocument/2006/relationships" id="262" r:id="Rf66dc899a89f4f91"/>
    <p:sldId xmlns:r="http://schemas.openxmlformats.org/officeDocument/2006/relationships" id="263" r:id="Rc23d7a835d6e449d"/>
    <p:sldId xmlns:r="http://schemas.openxmlformats.org/officeDocument/2006/relationships" id="264" r:id="Rff02412e2fe549c9"/>
    <p:sldId xmlns:r="http://schemas.openxmlformats.org/officeDocument/2006/relationships" id="265" r:id="R6d61180577e5450c"/>
    <p:sldId xmlns:r="http://schemas.openxmlformats.org/officeDocument/2006/relationships" id="266" r:id="R888dc4e5e17849dc"/>
    <p:sldId xmlns:r="http://schemas.openxmlformats.org/officeDocument/2006/relationships" id="267" r:id="R4a5f42fa5b7248ec"/>
    <p:sldId xmlns:r="http://schemas.openxmlformats.org/officeDocument/2006/relationships" id="268" r:id="R8ced4cd7b2ad4dcc"/>
    <p:sldId xmlns:r="http://schemas.openxmlformats.org/officeDocument/2006/relationships" id="269" r:id="R86141b6337aa47b0"/>
    <p:sldId xmlns:r="http://schemas.openxmlformats.org/officeDocument/2006/relationships" id="270" r:id="R490e66c608534e07"/>
    <p:sldId xmlns:r="http://schemas.openxmlformats.org/officeDocument/2006/relationships" id="271" r:id="Rcc7ea0417b5142cb"/>
    <p:sldId xmlns:r="http://schemas.openxmlformats.org/officeDocument/2006/relationships" id="272" r:id="R61103b7250ef4d41"/>
    <p:sldId xmlns:r="http://schemas.openxmlformats.org/officeDocument/2006/relationships" id="273" r:id="Rf8ef432e8ed144c4"/>
    <p:sldId xmlns:r="http://schemas.openxmlformats.org/officeDocument/2006/relationships" id="274" r:id="R2843c707a01c4b16"/>
    <p:sldId xmlns:r="http://schemas.openxmlformats.org/officeDocument/2006/relationships" id="275" r:id="Rcebd853963f94e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94cd02b2dd9488c" Type="http://schemas.openxmlformats.org/officeDocument/2006/relationships/notesMaster" Target="notesMasters/notesMaster1.xml"/><Relationship Id="R2843c707a01c4b16" Type="http://schemas.openxmlformats.org/officeDocument/2006/relationships/slide" Target="slides/slide19.xml"/><Relationship Id="R3465875b788a44ad" Type="http://schemas.openxmlformats.org/officeDocument/2006/relationships/slide" Target="slides/slide4.xml"/><Relationship Id="R3d7831e86f7d4dcb" Type="http://schemas.openxmlformats.org/officeDocument/2006/relationships/slide" Target="slides/slide3.xml"/><Relationship Id="R490e66c608534e07" Type="http://schemas.openxmlformats.org/officeDocument/2006/relationships/slide" Target="slides/slide15.xml"/><Relationship Id="R4a5f42fa5b7248ec" Type="http://schemas.openxmlformats.org/officeDocument/2006/relationships/slide" Target="slides/slide12.xml"/><Relationship Id="R54fd865e940d4231" Type="http://schemas.openxmlformats.org/officeDocument/2006/relationships/slideMaster" Target="slideMasters/slideMaster1.xml"/><Relationship Id="R61103b7250ef4d41" Type="http://schemas.openxmlformats.org/officeDocument/2006/relationships/slide" Target="slides/slide17.xml"/><Relationship Id="R6d61180577e5450c" Type="http://schemas.openxmlformats.org/officeDocument/2006/relationships/slide" Target="slides/slide10.xml"/><Relationship Id="R779c47a57a644b1b" Type="http://schemas.openxmlformats.org/officeDocument/2006/relationships/tableStyles" Target="tableStyles.xml"/><Relationship Id="R86141b6337aa47b0" Type="http://schemas.openxmlformats.org/officeDocument/2006/relationships/slide" Target="slides/slide14.xml"/><Relationship Id="R888dc4e5e17849dc" Type="http://schemas.openxmlformats.org/officeDocument/2006/relationships/slide" Target="slides/slide11.xml"/><Relationship Id="R8ced4cd7b2ad4dcc" Type="http://schemas.openxmlformats.org/officeDocument/2006/relationships/slide" Target="slides/slide13.xml"/><Relationship Id="Ra256db388d1949d7" Type="http://schemas.openxmlformats.org/officeDocument/2006/relationships/slide" Target="slides/slide2.xml"/><Relationship Id="Rb2d274cece1548dc" Type="http://schemas.openxmlformats.org/officeDocument/2006/relationships/presProps" Target="presProps.xml"/><Relationship Id="Rb848a2307aff4e26" Type="http://schemas.openxmlformats.org/officeDocument/2006/relationships/slide" Target="slides/slide1.xml"/><Relationship Id="Rc23d7a835d6e449d" Type="http://schemas.openxmlformats.org/officeDocument/2006/relationships/slide" Target="slides/slide8.xml"/><Relationship Id="Rc5ff77c3f9834d4c" Type="http://schemas.openxmlformats.org/officeDocument/2006/relationships/theme" Target="theme/theme1.xml"/><Relationship Id="Rcc7ea0417b5142cb" Type="http://schemas.openxmlformats.org/officeDocument/2006/relationships/slide" Target="slides/slide16.xml"/><Relationship Id="Rcebd853963f94e2d" Type="http://schemas.openxmlformats.org/officeDocument/2006/relationships/slide" Target="slides/slide20.xml"/><Relationship Id="Re9273fb413fe4fe1" Type="http://schemas.openxmlformats.org/officeDocument/2006/relationships/slide" Target="slides/slide5.xml"/><Relationship Id="Rec135dc72863485b" Type="http://schemas.openxmlformats.org/officeDocument/2006/relationships/slide" Target="slides/slide6.xml"/><Relationship Id="Rf66dc899a89f4f91" Type="http://schemas.openxmlformats.org/officeDocument/2006/relationships/slide" Target="slides/slide7.xml"/><Relationship Id="Rf8ef432e8ed144c4" Type="http://schemas.openxmlformats.org/officeDocument/2006/relationships/slide" Target="slides/slide18.xml"/><Relationship Id="Rff02412e2fe549c9"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365D"/>
                </a:solidFill>
                <a:latin typeface="Arial"/>
              </a:rPr>
              <a:t>Unlocked outcomes, 10 attempts per dataset</a:t>
            </a:r>
          </a:p>
        </c:rich>
      </c:tx>
      <c:layout/>
      <c:overlay val="0"/>
    </c:title>
    <c:autoTitleDeleted val="0"/>
    <c:plotArea>
      <c:barChart>
        <c:barDir val="bar"/>
        <c:grouping val="stacked"/>
        <c:ser>
          <c:idx val="0"/>
          <c:order val="0"/>
          <c:tx>
            <c:strRef>
              <c:f>Sheet1!$B$1</c:f>
              <c:strCache>
                <c:ptCount val="1"/>
                <c:pt idx="0">
                  <c:v>Corruption</c:v>
                </c:pt>
              </c:strCache>
            </c:strRef>
          </c:tx>
          <c:spPr>
            <a:solidFill>
              <a:srgbClr val="1F456E"/>
            </a:solidFill>
          </c:spPr>
          <c:cat>
            <c:strRef>
              <c:f>Sheet1!$A$2:$A$3</c:f>
              <c:strCache>
                <c:ptCount val="2"/>
                <c:pt idx="0">
                  <c:v>Original set</c:v>
                </c:pt>
                <c:pt idx="1">
                  <c:v>C-runner</c:v>
                </c:pt>
              </c:strCache>
            </c:strRef>
          </c:cat>
          <c:val>
            <c:numRef>
              <c:f>Sheet1!$B$2:$B$3</c:f>
              <c:numCache>
                <c:formatCode>General</c:formatCode>
                <c:ptCount val="2"/>
                <c:pt idx="0">
                  <c:v>3</c:v>
                </c:pt>
                <c:pt idx="1">
                  <c:v>1</c:v>
                </c:pt>
              </c:numCache>
            </c:numRef>
          </c:val>
        </c:ser>
        <c:ser>
          <c:idx val="1"/>
          <c:order val="1"/>
          <c:tx>
            <c:strRef>
              <c:f>Sheet1!$C$1</c:f>
              <c:strCache>
                <c:ptCount val="1"/>
                <c:pt idx="0">
                  <c:v>Panic / trap</c:v>
                </c:pt>
              </c:strCache>
            </c:strRef>
          </c:tx>
          <c:spPr>
            <a:solidFill>
              <a:srgbClr val="405266"/>
            </a:solidFill>
          </c:spPr>
          <c:cat>
            <c:strRef>
              <c:f>Sheet1!$A$2:$A$3</c:f>
              <c:strCache>
                <c:ptCount val="2"/>
                <c:pt idx="0">
                  <c:v>Original set</c:v>
                </c:pt>
                <c:pt idx="1">
                  <c:v>C-runner</c:v>
                </c:pt>
              </c:strCache>
            </c:strRef>
          </c:cat>
          <c:val>
            <c:numRef>
              <c:f>Sheet1!$C$2:$C$3</c:f>
              <c:numCache>
                <c:formatCode>General</c:formatCode>
                <c:ptCount val="2"/>
                <c:pt idx="0">
                  <c:v>4</c:v>
                </c:pt>
                <c:pt idx="1">
                  <c:v>6</c:v>
                </c:pt>
              </c:numCache>
            </c:numRef>
          </c:val>
        </c:ser>
        <c:ser>
          <c:idx val="2"/>
          <c:order val="2"/>
          <c:tx>
            <c:strRef>
              <c:f>Sheet1!$D$1</c:f>
              <c:strCache>
                <c:ptCount val="1"/>
                <c:pt idx="0">
                  <c:v>Test failure</c:v>
                </c:pt>
              </c:strCache>
            </c:strRef>
          </c:tx>
          <c:spPr>
            <a:solidFill>
              <a:srgbClr val="526477"/>
            </a:solidFill>
          </c:spPr>
          <c:cat>
            <c:strRef>
              <c:f>Sheet1!$A$2:$A$3</c:f>
              <c:strCache>
                <c:ptCount val="2"/>
                <c:pt idx="0">
                  <c:v>Original set</c:v>
                </c:pt>
                <c:pt idx="1">
                  <c:v>C-runner</c:v>
                </c:pt>
              </c:strCache>
            </c:strRef>
          </c:cat>
          <c:val>
            <c:numRef>
              <c:f>Sheet1!$D$2:$D$3</c:f>
              <c:numCache>
                <c:formatCode>General</c:formatCode>
                <c:ptCount val="2"/>
                <c:pt idx="0">
                  <c:v>2</c:v>
                </c:pt>
                <c:pt idx="1">
                  <c:v>2</c:v>
                </c:pt>
              </c:numCache>
            </c:numRef>
          </c:val>
        </c:ser>
        <c:ser>
          <c:idx val="3"/>
          <c:order val="3"/>
          <c:tx>
            <c:strRef>
              <c:f>Sheet1!$E$1</c:f>
              <c:strCache>
                <c:ptCount val="1"/>
                <c:pt idx="0">
                  <c:v>Timeout</c:v>
                </c:pt>
              </c:strCache>
            </c:strRef>
          </c:tx>
          <c:spPr>
            <a:solidFill>
              <a:srgbClr val="65798B"/>
            </a:solidFill>
          </c:spPr>
          <c:cat>
            <c:strRef>
              <c:f>Sheet1!$A$2:$A$3</c:f>
              <c:strCache>
                <c:ptCount val="2"/>
                <c:pt idx="0">
                  <c:v>Original set</c:v>
                </c:pt>
                <c:pt idx="1">
                  <c:v>C-runner</c:v>
                </c:pt>
              </c:strCache>
            </c:strRef>
          </c:cat>
          <c:val>
            <c:numRef>
              <c:f>Sheet1!$E$2:$E$3</c:f>
              <c:numCache>
                <c:formatCode>General</c:formatCode>
                <c:ptCount val="2"/>
                <c:pt idx="0">
                  <c:v>1</c:v>
                </c:pt>
                <c:pt idx="1">
                  <c:v>1</c:v>
                </c:pt>
              </c:numCache>
            </c:numRef>
          </c:val>
        </c:ser>
        <c:dLbls>
          <c:numFmt formatCode="0" sourceLinked="0"/>
          <c:txPr>
            <a:bodyPr/>
            <a:lstStyle/>
            <a:p>
              <a:pPr>
                <a:defRPr sz="1400" b="1">
                  <a:solidFill>
                    <a:srgbClr val="FFFFFF"/>
                  </a:solidFill>
                  <a:latin typeface="Aria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l"/>
        <c:majorTickMark val="out"/>
        <c:minorTickMark val="none"/>
        <c:tickLblPos val="nextTo"/>
        <c:txPr>
          <a:bodyPr/>
          <a:lstStyle/>
          <a:p>
            <a:pPr>
              <a:defRPr sz="1400">
                <a:solidFill>
                  <a:srgbClr val="17202A"/>
                </a:solidFill>
                <a:latin typeface="Arial"/>
              </a:defRPr>
            </a:pPr>
          </a:p>
        </c:txPr>
        <c:crossAx val="2113994440"/>
        <c:crosses val="autoZero"/>
        <c:auto val="1"/>
        <c:lblAlgn val="ctr"/>
        <c:lblOffset val="100"/>
        <c:noMultiLvlLbl val="0"/>
      </c:catAx>
      <c:valAx>
        <c:axId val="2113994440"/>
        <c:scaling>
          <c:max val="10.0"/>
          <c:min val="0.0"/>
        </c:scaling>
        <c:delete val="0"/>
        <c:axPos val="b"/>
        <c:majorTickMark val="out"/>
        <c:minorTickMark val="none"/>
        <c:tickLblPos val="nextTo"/>
        <c:txPr>
          <a:bodyPr/>
          <a:lstStyle/>
          <a:p>
            <a:pPr>
              <a:defRPr sz="1400">
                <a:solidFill>
                  <a:srgbClr val="53616E"/>
                </a:solidFill>
                <a:latin typeface="Arial"/>
              </a:defRPr>
            </a:pPr>
          </a:p>
        </c:txPr>
        <c:crossAx val="2068027336"/>
        <c:crosses val="autoZero"/>
        <c:majorUnit val="2.0"/>
      </c:valAx>
    </c:plotArea>
    <c:legend>
      <c:legendPos val="b"/>
      <c:txPr>
        <a:bodyPr/>
        <a:lstStyle/>
        <a:p>
          <a:pPr>
            <a:defRPr sz="1400">
              <a:solidFill>
                <a:srgbClr val="53616E"/>
              </a:solidFill>
              <a:latin typeface="Arial"/>
            </a:defRPr>
          </a:pPr>
        </a:p>
      </c:txPr>
    </c:legend>
    <c:dispBlanksAs val="gap"/>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fe5002710d6b4cd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f3fbae849194244" Type="http://schemas.openxmlformats.org/officeDocument/2006/relationships/slide" Target="../slides/slide1.xml"/><Relationship Id="R52a9273687b5436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2924553cb464e62" Type="http://schemas.openxmlformats.org/officeDocument/2006/relationships/notesMaster" Target="../notesMasters/notesMaster1.xml"/><Relationship Id="Re52570e2c220470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ab90cc9bf284e14" Type="http://schemas.openxmlformats.org/officeDocument/2006/relationships/notesMaster" Target="../notesMasters/notesMaster1.xml"/><Relationship Id="R90dc2d4ea7164b0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0fc31fae3a748e6" Type="http://schemas.openxmlformats.org/officeDocument/2006/relationships/notesMaster" Target="../notesMasters/notesMaster1.xml"/><Relationship Id="R16fb6c4748b0495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280ddfbc2934ea7" Type="http://schemas.openxmlformats.org/officeDocument/2006/relationships/slide" Target="../slides/slide5.xml"/><Relationship Id="R7c4c84863973482b"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854146f8f164acd" Type="http://schemas.openxmlformats.org/officeDocument/2006/relationships/notesMaster" Target="../notesMasters/notesMaster1.xml"/><Relationship Id="Rd234682e92cc4aec"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3cb3c15cf534348" Type="http://schemas.openxmlformats.org/officeDocument/2006/relationships/notesMaster" Target="../notesMasters/notesMaster1.xml"/><Relationship Id="Rd41f517967884c68"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58ddf104d864cf8" Type="http://schemas.openxmlformats.org/officeDocument/2006/relationships/slide" Target="../slides/slide8.xml"/><Relationship Id="R4e56b9354efc442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f98d289d700404a" Type="http://schemas.openxmlformats.org/officeDocument/2006/relationships/notesMaster" Target="../notesMasters/notesMaster1.xml"/><Relationship Id="R3460b8aaa3e04ce3"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36e50c46e3947e6" Type="http://schemas.openxmlformats.org/officeDocument/2006/relationships/notesMaster" Target="../notesMasters/notesMaster1.xml"/><Relationship Id="Ra1aaf20a047d4c37"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76a2e08f94434ebb" Type="http://schemas.openxmlformats.org/officeDocument/2006/relationships/slide" Target="../slides/slide11.xml"/><Relationship Id="Rc7d242b828014cb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e1fe27b23f14b10" Type="http://schemas.openxmlformats.org/officeDocument/2006/relationships/slide" Target="../slides/slide12.xml"/><Relationship Id="R913d98a0d500491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31e9939c00548c8" Type="http://schemas.openxmlformats.org/officeDocument/2006/relationships/notesMaster" Target="../notesMasters/notesMaster1.xml"/><Relationship Id="Re1671e0aac8e493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5a2a37a1c6c0488f" Type="http://schemas.openxmlformats.org/officeDocument/2006/relationships/notesMaster" Target="../notesMasters/notesMaster1.xml"/><Relationship Id="Rd03820538abe4e1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b73801e531dd45c3" Type="http://schemas.openxmlformats.org/officeDocument/2006/relationships/notesMaster" Target="../notesMasters/notesMaster1.xml"/><Relationship Id="Rd447e9447fda4c8a"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b5230161e4b4596" Type="http://schemas.openxmlformats.org/officeDocument/2006/relationships/notesMaster" Target="../notesMasters/notesMaster1.xml"/><Relationship Id="Ra906c88cf3444e8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d25477fdf92e45ae" Type="http://schemas.openxmlformats.org/officeDocument/2006/relationships/slide" Target="../slides/slide17.xml"/><Relationship Id="Reed9ea1ba51e4837"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039a00d67ba4d03" Type="http://schemas.openxmlformats.org/officeDocument/2006/relationships/slide" Target="../slides/slide18.xml"/><Relationship Id="R4382beb090e847e6"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8ca7908a7e428f" Type="http://schemas.openxmlformats.org/officeDocument/2006/relationships/slide" Target="../slides/slide19.xml"/><Relationship Id="Rec089691f880474e"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1eb38e31ae94431" Type="http://schemas.openxmlformats.org/officeDocument/2006/relationships/slide" Target="../slides/slide20.xml"/><Relationship Id="R3e3bfe0310ca4c8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 I’ll begin with the race definition, then trace the allocator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xv6 shared kernel data and its existing locks. The project compares original locking, a temporary four-call removal, and restoration. The motivation is that multiple CPUs can request and release physical pages concurrently. Next I’ll show how two CPUs can interleave the same free-list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 That stale update can cause memory corruption, allocator failures, or a kernel trap.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 Before the proposed fix, I’ll review the existing xv6 locks and their tradeoffs.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xv6 uses one global kmem.lock for a single physical-page free list. This is simple and correct but serializes allocators and can make CPUs spin under contention. Per-CPU free lists can reduce that contention but need page refill or stealing logic. A lock-free compare-and-swap path needs safe pointer handling, including ABA mitigation. These alternatives were not implemented or benchmarked. Other shared structures listed here were reviewed at source level only. Now I’ll state the synchronization rule this experiment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 Next I’ll define synchronization and place spinlocks among the common mechanisms.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operations so shared state stays correct. A critical section groups dependent reads and writes. Common mechanisms include mutexes, spinlocks, semaphores, condition variables, reader-writer locks, barriers, and atomic operations. The experiment evaluates only xv6’s allocator spinlock. The workflow connects the guest allocation path to the host experiment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 The workflow shows how the guest and host phases connect; next I’ll inspect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 The allocator code identifies the protected section; next I’ll explain the guest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 The guest test creates overlapping allocation requests; next I’ll show the host runner.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 The host runner automates builds, attempts, and restoration; next I’ll summarize its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 With the environment fixed, I’ll show a possible two-CPU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 The possible schedule motivates the locked baseline shown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A01 .cast recording. It shows a fresh xv6 boot, the race_test parameters, and PASS. The locked baseline had 10 PASS outcomes in 10 attempts. No video is embedded. The locked baseline passed; now I’ll show the four-call source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 The source change removes the lock around the full update; next is B02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B02 .cast recording. It shows the corruption message followed by kerneltrap. The primary outcome is CORRUPTION under the classifier precedence; the time limit did not expire in this attempt. B02 records corruption followed by a kerneltrap; next I’ll verify restoration.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allocator bytes were restored, the final allocator diff was empty, and the kernel was rebuilt. Static terminal still reconstructed from saved C01 .cast recording shows PASS. The restored phase had 10 PASS outcomes in 10 attempts. No video is embedded. Restoration returned to the saved allocator; next I’ll compare all attempts.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compares two separate 30-attempt datasets. The original unlocked phase recorded three corruption outcomes, four panics or traps, two test failures, and one timeout. The C-runner phase recorded one corruption, six panics or traps, two test failures, and one timeout. Both locked and restored phases passed all ten attempts in each dataset. Elapsed time starts when the host sees the xv6 shell prompt, just before it sends race_test, and includes a short output-collection interval. The two datasets show the same locked/restored pattern with different unlocked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 The conclusion is limited to this workload; the final slide lists its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xv6 library (MIT PDOS), https://github.com/mit-pdos/xv6-riscv; MIT xv6 RISC-V book, Locking chapter, https://mit-pdos.github.io/xv6-riscv-book/lock.html; The Open Group memory synchronization specification, https://pubs.opengroup.org/onlinepubs/9699919799/basedefs/V1_chap04.html; Michael and Scott, Nonblocking algorithms and ABA, https://www.cs.rochester.edu/u/scott/papers/1998_JPDC_nonblocking.pdf. These sources ground the case. A useful next study would vary CPU counts and check allocator invariants.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d9f1c9e06754277"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896476cbce24d7c"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a1f50b2b565e4ef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b66ddcb849b4b3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60f8bc8bb184ea6"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b2027ac201e4424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bda21a290b64ad8" Type="http://schemas.openxmlformats.org/officeDocument/2006/relationships/slideLayout" Target="../slideLayouts/slideLayout4.xml"/><Relationship Id="R38e7077e0b334f4c" Type="http://schemas.openxmlformats.org/officeDocument/2006/relationships/slideLayout" Target="../slideLayouts/slideLayout2.xml"/><Relationship Id="R51daedc19e784547" Type="http://schemas.openxmlformats.org/officeDocument/2006/relationships/slideLayout" Target="../slideLayouts/slideLayout3.xml"/><Relationship Id="R72ddfea543c946fd" Type="http://schemas.openxmlformats.org/officeDocument/2006/relationships/slideLayout" Target="../slideLayouts/slideLayout1.xml"/><Relationship Id="Rb22a79a9ff2e4d0f" Type="http://schemas.openxmlformats.org/officeDocument/2006/relationships/slideLayout" Target="../slideLayouts/slideLayout5.xml"/><Relationship Id="Rdffd294a07634d9f" Type="http://schemas.openxmlformats.org/officeDocument/2006/relationships/slideLayout" Target="../slideLayouts/slideLayout6.xml"/><Relationship Id="Rf5138a7b5817490b"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ddfea543c946fd"/>
    <p:sldLayoutId xmlns:r="http://schemas.openxmlformats.org/officeDocument/2006/relationships" id="2147483650" r:id="R38e7077e0b334f4c"/>
    <p:sldLayoutId xmlns:r="http://schemas.openxmlformats.org/officeDocument/2006/relationships" id="2147483651" r:id="R51daedc19e784547"/>
    <p:sldLayoutId xmlns:r="http://schemas.openxmlformats.org/officeDocument/2006/relationships" id="2147483652" r:id="R1bda21a290b64ad8"/>
    <p:sldLayoutId xmlns:r="http://schemas.openxmlformats.org/officeDocument/2006/relationships" id="2147483653" r:id="Rb22a79a9ff2e4d0f"/>
    <p:sldLayoutId xmlns:r="http://schemas.openxmlformats.org/officeDocument/2006/relationships" id="2147483654" r:id="Rdffd294a07634d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703fc54009664ff6" Type="http://schemas.openxmlformats.org/officeDocument/2006/relationships/slideLayout" Target="../slideLayouts/slideLayout6.xml"/><Relationship Id="Rb0dc266ed1034c7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11efd77c4d64725" Type="http://schemas.openxmlformats.org/officeDocument/2006/relationships/slideLayout" Target="../slideLayouts/slideLayout6.xml"/><Relationship Id="Rcd56fa18c2fc47b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21cdac79d0ef4d0c" Type="http://schemas.openxmlformats.org/officeDocument/2006/relationships/slideLayout" Target="../slideLayouts/slideLayout6.xml"/><Relationship Id="R664358cc57654d9a"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6f1b6d2a8dd4532" Type="http://schemas.openxmlformats.org/officeDocument/2006/relationships/notesSlide" Target="../notesSlides/notesSlide4.xml"/><Relationship Id="R85840a95f1194ae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d7d1868c8ea4cab" Type="http://schemas.openxmlformats.org/officeDocument/2006/relationships/notesSlide" Target="../notesSlides/notesSlide5.xml"/><Relationship Id="R3f8c50293e3147d5"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1813ea86d29a4e2d" Type="http://schemas.openxmlformats.org/officeDocument/2006/relationships/notesSlide" Target="../notesSlides/notesSlide6.xml"/><Relationship Id="Raa7b03f1b715460c"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5384f53a15f44f31" Type="http://schemas.openxmlformats.org/officeDocument/2006/relationships/slideLayout" Target="../slideLayouts/slideLayout6.xml"/><Relationship Id="Re7bbd26e39714d8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82aabe459ff4adc" Type="http://schemas.openxmlformats.org/officeDocument/2006/relationships/slideLayout" Target="../slideLayouts/slideLayout6.xml"/><Relationship Id="R52b80c02189344df"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c89e14ed1cce4294" Type="http://schemas.openxmlformats.org/officeDocument/2006/relationships/notesSlide" Target="../notesSlides/notesSlide9.xml"/><Relationship Id="Re27675e803924fed"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1fd3ff2ce4d54f66" Type="http://schemas.openxmlformats.org/officeDocument/2006/relationships/slideLayout" Target="../slideLayouts/slideLayout6.xml"/><Relationship Id="Rcc3b142222054cb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5fabf28f0e4f4342" Type="http://schemas.openxmlformats.org/officeDocument/2006/relationships/notesSlide" Target="../notesSlides/notesSlide11.xml"/><Relationship Id="Re2b4cc0487774ee8"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2b46f42a930f4456" Type="http://schemas.openxmlformats.org/officeDocument/2006/relationships/notesSlide" Target="../notesSlides/notesSlide12.xml"/><Relationship Id="Re6d29fe13e214358"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1bfbdb0a4684477a" Type="http://schemas.openxmlformats.org/officeDocument/2006/relationships/slideLayout" Target="../slideLayouts/slideLayout6.xml"/><Relationship Id="R994f1d11376f401f"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3340ca4742b149e8" Type="http://schemas.openxmlformats.org/officeDocument/2006/relationships/slideLayout" Target="../slideLayouts/slideLayout6.xml"/><Relationship Id="Rbd932762cba34eab" Type="http://schemas.openxmlformats.org/officeDocument/2006/relationships/notesSlide" Target="../notesSlides/notesSlide14.xml"/><Relationship Id="Rbedbb95db0924973" Type="http://schemas.openxmlformats.org/officeDocument/2006/relationships/image" Target="../media/image.png"/></Relationships>
</file>

<file path=ppt/slides/_rels/slide15.xml.rels><?xml version='1.0' encoding='UTF-8' standalone='yes'?>
<Relationships xmlns="http://schemas.openxmlformats.org/package/2006/relationships"><Relationship Id="R0bf7e233033a4fdd" Type="http://schemas.openxmlformats.org/officeDocument/2006/relationships/slideLayout" Target="../slideLayouts/slideLayout6.xml"/><Relationship Id="Rf290e1532169444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7acbf3ec7475467d" Type="http://schemas.openxmlformats.org/officeDocument/2006/relationships/slideLayout" Target="../slideLayouts/slideLayout6.xml"/><Relationship Id="Recaba66ea95a470c" Type="http://schemas.openxmlformats.org/officeDocument/2006/relationships/image" Target="../media/image2.png"/><Relationship Id="Ree3a71fccced457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6fbc61540ef74472" Type="http://schemas.openxmlformats.org/officeDocument/2006/relationships/notesSlide" Target="../notesSlides/notesSlide17.xml"/><Relationship Id="Radd060dc6cef42c9" Type="http://schemas.openxmlformats.org/officeDocument/2006/relationships/slideLayout" Target="../slideLayouts/slideLayout6.xml"/><Relationship Id="Re1a65cfed5374d18" Type="http://schemas.openxmlformats.org/officeDocument/2006/relationships/image" Target="../media/image3.png"/></Relationships>
</file>

<file path=ppt/slides/_rels/slide18.xml.rels><?xml version='1.0' encoding='UTF-8' standalone='yes'?>
<Relationships xmlns="http://schemas.openxmlformats.org/package/2006/relationships"><Relationship Id="R03379bca04624102" Type="http://schemas.openxmlformats.org/officeDocument/2006/relationships/image" Target="../media/image4.png"/><Relationship Id="R1f6ae2e1a67f46d6" Type="http://schemas.openxmlformats.org/officeDocument/2006/relationships/slideLayout" Target="../slideLayouts/slideLayout6.xml"/><Relationship Id="Rbd408a08b98e4bee" Type="http://schemas.openxmlformats.org/officeDocument/2006/relationships/notesSlide" Target="../notesSlides/notesSlide18.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b86852d6ac8c4f6a" Type="http://schemas.openxmlformats.org/officeDocument/2006/relationships/notesSlide" Target="../notesSlides/notesSlide19.xml"/><Relationship Id="Reb05f0f4081d4a6a"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05a4ac1dfa754606" Type="http://schemas.openxmlformats.org/officeDocument/2006/relationships/notesSlide" Target="../notesSlides/notesSlide20.xml"/><Relationship Id="Raad343d4c636440a"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study concurrent access to shared kernel data without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Analyze how xv6 locks prevent inconsistent updates.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critical sections, identify shared data, explain mutual exclusion, observe concurrent updates, and explain lock safety.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7202A"/>
                </a:solidFill>
                <a:latin typeface="Arial"/>
                <a:ea typeface="Arial"/>
                <a:cs typeface="Arial"/>
              </a:defRPr>
            </a:defPPr>
            <a:lvl1pPr algn="l">
              <a:buNone/>
              <a:defRPr sz="1500" b="0">
                <a:solidFill>
                  <a:srgbClr val="53616E"/>
                </a:solidFill>
                <a:latin typeface="Arial"/>
                <a:ea typeface="Arial"/>
                <a:cs typeface="Arial"/>
              </a:defRPr>
            </a:lvl1pPr>
            <a:lvl2pPr algn="l">
              <a:buNone/>
              <a:defRPr sz="1500" b="0">
                <a:solidFill>
                  <a:srgbClr val="53616E"/>
                </a:solidFill>
                <a:latin typeface="Arial"/>
                <a:ea typeface="Arial"/>
                <a:cs typeface="Arial"/>
              </a:defRPr>
            </a:lvl2pPr>
            <a:lvl3pPr algn="l">
              <a:buNone/>
              <a:defRPr sz="1500" b="0">
                <a:solidFill>
                  <a:srgbClr val="53616E"/>
                </a:solidFill>
                <a:latin typeface="Arial"/>
                <a:ea typeface="Arial"/>
                <a:cs typeface="Arial"/>
              </a:defRPr>
            </a:lvl3pPr>
            <a:lvl4pPr algn="l">
              <a:buNone/>
              <a:defRPr sz="1500" b="0">
                <a:solidFill>
                  <a:srgbClr val="53616E"/>
                </a:solidFill>
                <a:latin typeface="Arial"/>
                <a:ea typeface="Arial"/>
                <a:cs typeface="Arial"/>
              </a:defRPr>
            </a:lvl4pPr>
            <a:lvl5pPr algn="l">
              <a:buNone/>
              <a:defRPr sz="1500" b="0">
                <a:solidFill>
                  <a:srgbClr val="53616E"/>
                </a:solidFill>
                <a:latin typeface="Arial"/>
                <a:ea typeface="Arial"/>
                <a:cs typeface="Arial"/>
              </a:defRPr>
            </a:lvl5pPr>
            <a:lvl6pPr algn="l">
              <a:buNone/>
              <a:defRPr sz="1500" b="0">
                <a:solidFill>
                  <a:srgbClr val="53616E"/>
                </a:solidFill>
                <a:latin typeface="Arial"/>
                <a:ea typeface="Arial"/>
                <a:cs typeface="Arial"/>
              </a:defRPr>
            </a:lvl6pPr>
            <a:lvl7pPr algn="l">
              <a:buNone/>
              <a:defRPr sz="1500" b="0">
                <a:solidFill>
                  <a:srgbClr val="53616E"/>
                </a:solidFill>
                <a:latin typeface="Arial"/>
                <a:ea typeface="Arial"/>
                <a:cs typeface="Arial"/>
              </a:defRPr>
            </a:lvl7pPr>
            <a:lvl8pPr algn="l">
              <a:buNone/>
              <a:defRPr sz="1500" b="0">
                <a:solidFill>
                  <a:srgbClr val="53616E"/>
                </a:solidFill>
                <a:latin typeface="Arial"/>
                <a:ea typeface="Arial"/>
                <a:cs typeface="Arial"/>
              </a:defRPr>
            </a:lvl8pPr>
            <a:lvl9pPr algn="l">
              <a:buNone/>
              <a:defRPr sz="1500" b="0">
                <a:solidFill>
                  <a:srgbClr val="53616E"/>
                </a:solidFill>
                <a:latin typeface="Arial"/>
                <a:ea typeface="Arial"/>
                <a:cs typeface="Arial"/>
              </a:defRPr>
            </a:lvl9pPr>
          </a:lstStyle>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Motivation: four CPUs share one allocator. Activities: stress, remove/restore four calls, compare. Outcome: explain lock safety. Source: Case Study 14 brief.</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A race condition makes correctness depend on interleaving</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condition: shared-data correctness depends on how concurrent operations interleave.</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E3282BE0-27A2-4F83-961F-3AC33EB15852}"/>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xv6 kernel/kalloc.c. Illustrative schedule, not a recorded trace.</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Race conditions can corrupt data and stop kernel work</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make a free page unreachable.</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corrupt memory or trap the kernel.</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Damage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allocator invariant. A timeout alone is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Existing System: xv6 protects a global free list</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Shared kernel structures and their locks</a:t>
            </a:r>
          </a:p>
        </p:txBody>
      </p:sp>
      <p:graphicFrame>
        <p:nvGraphicFramePr>
          <p:cNvPr id="5" name="">
            <a:extLst xmlns:a="http://schemas.openxmlformats.org/drawingml/2006/main">
              <a:ext uri="{FF2B5EF4-FFF2-40B4-BE49-F238E27FC236}">
                <a16:creationId xmlns:a16="http://schemas.microsoft.com/office/drawing/2014/main" id="{4041D3BF-3B49-4D01-AD1B-8547BB4619BB}"/>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Shared structure</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Lock and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Physical-page free list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kmem.lock — serializes kalloc() and kfree()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Process table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p-&gt;lock — protects per-process state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PID allocator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pid_lock — coordinates PID assignment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Parent/child state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wait_lock — coordinates wait transitions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Buffer cache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bcache.lock — protects shared metadata</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Timer ticks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tickslock — protects the shared tick count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MIT xv6 locking chapter. Per-CPU lists need refill/steal; CAS needs ABA-safe reclamation; neither was tested.</a:t>
            </a:r>
          </a:p>
        </p:txBody>
      </p:sp>
    </p:spTree>
    <p:extLst>
      <p:ext uri="{BB962C8B-B14F-4D97-AF65-F5344CB8AC3E}">
        <p14:creationId xmlns:p14="http://schemas.microsoft.com/office/powerpoint/2010/main" val="1601861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Proposed Solution: hold kmem.lock for the full update</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kmem.lock around each free-list update.</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the complete read-and-update sequence.</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ownership with acquire/release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critical section short.</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xv6 allocator code. The experiment restores the existing lock.</a:t>
            </a:r>
          </a:p>
        </p:txBody>
      </p:sp>
    </p:spTree>
    <p:extLst>
      <p:ext uri="{BB962C8B-B14F-4D97-AF65-F5344CB8AC3E}">
        <p14:creationId xmlns:p14="http://schemas.microsoft.com/office/powerpoint/2010/main" val="11413415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4-5. Synchronization coordinates shared access</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operations so shared state stays correct.</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 critical section protects dependent reads and writes as one operation.</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Types: mutex, spinlock, semaphore, condition variable, reader-writer lock, barrier, atomic.</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xv6 uses a spinlock for the allocator; this study tests that lock.</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xv6 spinlock.c. Atomic ownership excludes other CPUs.</a:t>
            </a:r>
          </a:p>
        </p:txBody>
      </p:sp>
    </p:spTree>
    <p:extLst>
      <p:ext uri="{BB962C8B-B14F-4D97-AF65-F5344CB8AC3E}">
        <p14:creationId xmlns:p14="http://schemas.microsoft.com/office/powerpoint/2010/main" val="1360723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7BD83F10-65DE-430C-993B-7848E23CD398}"/>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2EC6C92A-470E-4D62-AE5A-FE29F8A626EC}"/>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FBF233C1-F0F4-436A-85B3-7B299350A44F}"/>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F7F4F935-61F6-4972-B037-167EB0860E1D}"/>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4843EEDD-9445-47C0-9746-3DA2E1033936}"/>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11F4E766-AA61-491D-80E2-CE749929B437}"/>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F8D3C471-0429-4394-9C2A-1BF79AB832B0}"/>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Working flow</a:t>
            </a:r>
          </a:p>
        </p:txBody>
      </p:sp>
      <p:sp>
        <p:nvSpPr>
          <p:cNvPr id="3" name="">
            <a:extLst xmlns:a="http://schemas.openxmlformats.org/drawingml/2006/main">
              <a:ext uri="{FF2B5EF4-FFF2-40B4-BE49-F238E27FC236}">
                <a16:creationId xmlns:a16="http://schemas.microsoft.com/office/drawing/2014/main" id="{20563A67-5687-49AB-B577-0A69D9087C97}"/>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  4 children × 8 pages × 200 rounds</a:t>
            </a:r>
          </a:p>
        </p:txBody>
      </p:sp>
      <p:sp>
        <p:nvSpPr>
          <p:cNvPr id="4" name="guest-test">
            <a:extLst xmlns:a="http://schemas.openxmlformats.org/drawingml/2006/main">
              <a:ext uri="{FF2B5EF4-FFF2-40B4-BE49-F238E27FC236}">
                <a16:creationId xmlns:a16="http://schemas.microsoft.com/office/drawing/2014/main" id="{1150EF71-62C9-425B-96AA-6EF3375A4A35}"/>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95EFF582-D7C4-4303-AC3C-8FCFE9BEE8D8}"/>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8BC8E72D-AF4C-409E-9BE3-F28AA7199F7B}"/>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067C01A2-8D83-4C18-A46B-757B7942D32D}"/>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C864BF54-3415-4614-BE69-F6298B75C35D}"/>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F19DCA45-2405-42FE-834B-5448E4673439}"/>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Release path: uvmdealloc() → uvmunmap() → kfree().</a:t>
            </a:r>
          </a:p>
        </p:txBody>
      </p:sp>
      <p:sp>
        <p:nvSpPr>
          <p:cNvPr id="14" name="">
            <a:extLst xmlns:a="http://schemas.openxmlformats.org/drawingml/2006/main">
              <a:ext uri="{FF2B5EF4-FFF2-40B4-BE49-F238E27FC236}">
                <a16:creationId xmlns:a16="http://schemas.microsoft.com/office/drawing/2014/main" id="{3D40A23A-510D-40BD-997C-C68F2295B500}"/>
              </a:ext>
            </a:extLst>
          </p:cNvPr>
          <p:cNvSpPr>
            <a:spLocks xmlns:a="http://schemas.openxmlformats.org/drawingml/2006/main" noGrp="1"/>
          </p:cNvSpPr>
          <p:nvPr/>
        </p:nvSpPr>
        <p:spPr>
          <a:xfrm xmlns:a="http://schemas.openxmlformats.org/drawingml/2006/main">
            <a:off x="685800" y="2952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a:t>
            </a:r>
          </a:p>
        </p:txBody>
      </p:sp>
      <p:sp>
        <p:nvSpPr>
          <p:cNvPr id="15" name="phase-locked">
            <a:extLst xmlns:a="http://schemas.openxmlformats.org/drawingml/2006/main">
              <a:ext uri="{FF2B5EF4-FFF2-40B4-BE49-F238E27FC236}">
                <a16:creationId xmlns:a16="http://schemas.microsoft.com/office/drawing/2014/main" id="{09BEC43D-0AED-490C-8004-AB476B3E1750}"/>
              </a:ext>
            </a:extLst>
          </p:cNvPr>
          <p:cNvSpPr>
            <a:spLocks xmlns:a="http://schemas.openxmlformats.org/drawingml/2006/main" noGrp="1"/>
          </p:cNvSpPr>
          <p:nvPr/>
        </p:nvSpPr>
        <p:spPr>
          <a:xfrm xmlns:a="http://schemas.openxmlformats.org/drawingml/2006/main">
            <a:off x="6858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E5A8238F-3E04-495E-B7DB-EA832897721F}"/>
              </a:ext>
            </a:extLst>
          </p:cNvPr>
          <p:cNvSpPr>
            <a:spLocks xmlns:a="http://schemas.openxmlformats.org/drawingml/2006/main" noGrp="1"/>
          </p:cNvSpPr>
          <p:nvPr/>
        </p:nvSpPr>
        <p:spPr>
          <a:xfrm xmlns:a="http://schemas.openxmlformats.org/drawingml/2006/main">
            <a:off x="352425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remove four calls</a:t>
            </a:r>
          </a:p>
        </p:txBody>
      </p:sp>
      <p:sp>
        <p:nvSpPr>
          <p:cNvPr id="17" name="phase-restored">
            <a:extLst xmlns:a="http://schemas.openxmlformats.org/drawingml/2006/main">
              <a:ext uri="{FF2B5EF4-FFF2-40B4-BE49-F238E27FC236}">
                <a16:creationId xmlns:a16="http://schemas.microsoft.com/office/drawing/2014/main" id="{AEEE4938-F980-457A-AAD9-3294AEC5AA50}"/>
              </a:ext>
            </a:extLst>
          </p:cNvPr>
          <p:cNvSpPr>
            <a:spLocks xmlns:a="http://schemas.openxmlformats.org/drawingml/2006/main" noGrp="1"/>
          </p:cNvSpPr>
          <p:nvPr/>
        </p:nvSpPr>
        <p:spPr>
          <a:xfrm xmlns:a="http://schemas.openxmlformats.org/drawingml/2006/main">
            <a:off x="63627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xmlns:a="http://schemas.openxmlformats.org/drawingml/2006/main">
              <a:ext uri="{FF2B5EF4-FFF2-40B4-BE49-F238E27FC236}">
                <a16:creationId xmlns:a16="http://schemas.microsoft.com/office/drawing/2014/main" id="{7D605F4F-6BFB-4ED6-A68E-B428B9D08605}"/>
              </a:ext>
            </a:extLst>
          </p:cNvPr>
          <p:cNvSpPr>
            <a:spLocks xmlns:a="http://schemas.openxmlformats.org/drawingml/2006/main" noGrp="1"/>
          </p:cNvSpPr>
          <p:nvPr/>
        </p:nvSpPr>
        <p:spPr>
          <a:xfrm xmlns:a="http://schemas.openxmlformats.org/drawingml/2006/main">
            <a:off x="9201150" y="327660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diff + results.csv</a:t>
            </a:r>
          </a:p>
        </p:txBody>
      </p:sp>
      <p:sp>
        <p:nvSpPr>
          <p:cNvPr id="22" name="">
            <a:extLst xmlns:a="http://schemas.openxmlformats.org/drawingml/2006/main">
              <a:ext uri="{FF2B5EF4-FFF2-40B4-BE49-F238E27FC236}">
                <a16:creationId xmlns:a16="http://schemas.microsoft.com/office/drawing/2014/main" id="{F5D521B1-D9FE-4903-A357-FE6C367CA8C3}"/>
              </a:ext>
            </a:extLst>
          </p:cNvPr>
          <p:cNvSpPr>
            <a:spLocks xmlns:a="http://schemas.openxmlformats.org/drawingml/2006/main" noGrp="1"/>
          </p:cNvSpPr>
          <p:nvPr/>
        </p:nvSpPr>
        <p:spPr>
          <a:xfrm xmlns:a="http://schemas.openxmlformats.org/drawingml/2006/main">
            <a:off x="685800" y="42481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Fresh QEMU boot per attempt; save console output and one result row.</a:t>
            </a:r>
          </a:p>
        </p:txBody>
      </p:sp>
      <p:sp>
        <p:nvSpPr>
          <p:cNvPr id="23" name="">
            <a:extLst xmlns:a="http://schemas.openxmlformats.org/drawingml/2006/main">
              <a:ext uri="{FF2B5EF4-FFF2-40B4-BE49-F238E27FC236}">
                <a16:creationId xmlns:a16="http://schemas.microsoft.com/office/drawing/2014/main" id="{32F35366-4D04-4B1F-9D21-4BDA289A6F77}"/>
              </a:ext>
            </a:extLst>
          </p:cNvPr>
          <p:cNvSpPr>
            <a:spLocks xmlns:a="http://schemas.openxmlformats.org/drawingml/2006/main" noGrp="1"/>
          </p:cNvSpPr>
          <p:nvPr/>
        </p:nvSpPr>
        <p:spPr>
          <a:xfrm xmlns:a="http://schemas.openxmlformats.org/drawingml/2006/main">
            <a:off x="685800" y="4857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i="1">
                <a:solidFill>
                  <a:srgbClr val="53616E"/>
                </a:solidFill>
                <a:latin typeface="Arial"/>
                <a:ea typeface="Arial"/>
                <a:cs typeface="Arial"/>
              </a:defRPr>
            </a:defPPr>
            <a:lvl1pPr algn="ctr">
              <a:defRPr sz="1200" i="1">
                <a:solidFill>
                  <a:srgbClr val="53616E"/>
                </a:solidFill>
                <a:latin typeface="Arial"/>
                <a:ea typeface="Arial"/>
                <a:cs typeface="Arial"/>
              </a:defRPr>
            </a:lvl1pPr>
            <a:lvl2pPr algn="ctr">
              <a:defRPr sz="1200" i="1">
                <a:solidFill>
                  <a:srgbClr val="53616E"/>
                </a:solidFill>
                <a:latin typeface="Arial"/>
                <a:ea typeface="Arial"/>
                <a:cs typeface="Arial"/>
              </a:defRPr>
            </a:lvl2pPr>
            <a:lvl3pPr algn="ctr">
              <a:defRPr sz="1200" i="1">
                <a:solidFill>
                  <a:srgbClr val="53616E"/>
                </a:solidFill>
                <a:latin typeface="Arial"/>
                <a:ea typeface="Arial"/>
                <a:cs typeface="Arial"/>
              </a:defRPr>
            </a:lvl3pPr>
            <a:lvl4pPr algn="ctr">
              <a:defRPr sz="1200" i="1">
                <a:solidFill>
                  <a:srgbClr val="53616E"/>
                </a:solidFill>
                <a:latin typeface="Arial"/>
                <a:ea typeface="Arial"/>
                <a:cs typeface="Arial"/>
              </a:defRPr>
            </a:lvl4pPr>
            <a:lvl5pPr algn="ctr">
              <a:defRPr sz="1200" i="1">
                <a:solidFill>
                  <a:srgbClr val="53616E"/>
                </a:solidFill>
                <a:latin typeface="Arial"/>
                <a:ea typeface="Arial"/>
                <a:cs typeface="Arial"/>
              </a:defRPr>
            </a:lvl5pPr>
            <a:lvl6pPr algn="ctr">
              <a:defRPr sz="1200" i="1">
                <a:solidFill>
                  <a:srgbClr val="53616E"/>
                </a:solidFill>
                <a:latin typeface="Arial"/>
                <a:ea typeface="Arial"/>
                <a:cs typeface="Arial"/>
              </a:defRPr>
            </a:lvl6pPr>
            <a:lvl7pPr algn="ctr">
              <a:defRPr sz="1200" i="1">
                <a:solidFill>
                  <a:srgbClr val="53616E"/>
                </a:solidFill>
                <a:latin typeface="Arial"/>
                <a:ea typeface="Arial"/>
                <a:cs typeface="Arial"/>
              </a:defRPr>
            </a:lvl7pPr>
            <a:lvl8pPr algn="ctr">
              <a:defRPr sz="1200" i="1">
                <a:solidFill>
                  <a:srgbClr val="53616E"/>
                </a:solidFill>
                <a:latin typeface="Arial"/>
                <a:ea typeface="Arial"/>
                <a:cs typeface="Arial"/>
              </a:defRPr>
            </a:lvl8pPr>
            <a:lvl9pPr algn="ctr">
              <a:defRPr sz="1200" i="1">
                <a:solidFill>
                  <a:srgbClr val="53616E"/>
                </a:solidFill>
                <a:latin typeface="Arial"/>
                <a:ea typeface="Arial"/>
                <a:cs typeface="Arial"/>
              </a:defRPr>
            </a:lvl9pPr>
          </a:lstStyle>
          <a:p xmlns:a="http://schemas.openxmlformats.org/drawingml/2006/main">
            <a:pPr algn="ctr">
              <a:defRPr sz="1200" i="1">
                <a:solidFill>
                  <a:srgbClr val="53616E"/>
                </a:solidFill>
                <a:latin typeface="Arial"/>
                <a:ea typeface="Arial"/>
                <a:cs typeface="Arial"/>
              </a:defRPr>
            </a:pPr>
            <a:r>
              <a:rPr sz="1200" i="1">
                <a:solidFill>
                  <a:srgbClr val="53616E"/>
                </a:solidFill>
                <a:latin typeface="Arial"/>
                <a:ea typeface="Arial"/>
                <a:cs typeface="Arial"/>
              </a:rPr>
              <a:t>Figure 1. Guest and host workflow. Source: race_test.c and member1_tools.c.</a:t>
            </a:r>
          </a:p>
        </p:txBody>
      </p:sp>
      <p:sp>
        <p:nvSpPr>
          <p:cNvPr id="24" name="slide-number-placeholder">
            <a:extLst xmlns:a="http://schemas.openxmlformats.org/drawingml/2006/main">
              <a:ext uri="{FF2B5EF4-FFF2-40B4-BE49-F238E27FC236}">
                <a16:creationId xmlns:a16="http://schemas.microsoft.com/office/drawing/2014/main" id="{42A45523-F08E-4A38-92D8-00AA9A4261CD}"/>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08</a:t>
            </a:r>
          </a:p>
        </p:txBody>
      </p:sp>
    </p:spTree>
    <p:extLst>
      <p:ext uri="{BB962C8B-B14F-4D97-AF65-F5344CB8AC3E}">
        <p14:creationId xmlns:p14="http://schemas.microsoft.com/office/powerpoint/2010/main" val="5832339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xv6 holds kmem.lock across each free-list update</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kalloc() and kfree() update the free list inside kmem.lock. Source: kernel/kalloc.c.</a:t>
            </a:r>
          </a:p>
        </p:txBody>
      </p:sp>
    </p:spTree>
    <p:extLst>
      <p:ext uri="{BB962C8B-B14F-4D97-AF65-F5344CB8AC3E}">
        <p14:creationId xmlns:p14="http://schemas.microsoft.com/office/powerpoint/2010/main" val="871667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race_test.c checks concurrent page allocations</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user/race_test.c; four workers repeat 200 rounds.</a:t>
            </a:r>
          </a:p>
        </p:txBody>
      </p:sp>
    </p:spTree>
    <p:extLst>
      <p:ext uri="{BB962C8B-B14F-4D97-AF65-F5344CB8AC3E}">
        <p14:creationId xmlns:p14="http://schemas.microsoft.com/office/powerpoint/2010/main" val="6214101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member1_tools.c automates the WSL experiment</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member1_tools.c and the saved WSL run sequence.</a:t>
            </a:r>
          </a:p>
        </p:txBody>
      </p:sp>
    </p:spTree>
    <p:extLst>
      <p:ext uri="{BB962C8B-B14F-4D97-AF65-F5344CB8AC3E}">
        <p14:creationId xmlns:p14="http://schemas.microsoft.com/office/powerpoint/2010/main" val="392391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Four CPUs and fixed workloads produced two 30-run datasets</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Recorded environment and run controls</a:t>
            </a:r>
          </a:p>
        </p:txBody>
      </p:sp>
      <p:graphicFrame>
        <p:nvGraphicFramePr>
          <p:cNvPr id="5" name="">
            <a:extLst xmlns:a="http://schemas.openxmlformats.org/drawingml/2006/main">
              <a:ext uri="{FF2B5EF4-FFF2-40B4-BE49-F238E27FC236}">
                <a16:creationId xmlns:a16="http://schemas.microsoft.com/office/drawing/2014/main" id="{A4CEF56B-D888-46D5-A0BD-8E866153BA8C}"/>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run logs and both results.csv files; no kernel delay.</a:t>
            </a:r>
          </a:p>
        </p:txBody>
      </p:sp>
    </p:spTree>
    <p:extLst>
      <p:ext uri="{BB962C8B-B14F-4D97-AF65-F5344CB8AC3E}">
        <p14:creationId xmlns:p14="http://schemas.microsoft.com/office/powerpoint/2010/main" val="6671066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Removing kmem.lock permits duplicate pages or lost frees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BCA346F7-0EBD-42CC-A4D7-3D0670CB211A}"/>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kernel/kalloc.c. A matching kfree() lost-head update can make a page unreachable.</a:t>
            </a:r>
          </a:p>
        </p:txBody>
      </p:sp>
    </p:spTree>
    <p:extLst>
      <p:ext uri="{BB962C8B-B14F-4D97-AF65-F5344CB8AC3E}">
        <p14:creationId xmlns:p14="http://schemas.microsoft.com/office/powerpoint/2010/main" val="3147313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Locked baseline A01 passed with the original allocator</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Source: saved original-set A01 terminal recording; locked phase passed 10/10.</a:t>
            </a:r>
          </a:p>
        </p:txBody>
      </p:sp>
      <p:pic>
        <p:nvPicPr>
          <p:cNvPr id="6" name="">
            <a:extLst xmlns:a="http://schemas.openxmlformats.org/drawingml/2006/main">
              <a:ext uri="{FF2B5EF4-FFF2-40B4-BE49-F238E27FC236}">
                <a16:creationId xmlns:a16="http://schemas.microsoft.com/office/drawing/2014/main" id="{91E2B2A1-DC56-4A29-8F15-7D1D540E6BBB}"/>
              </a:ext>
            </a:extLst>
          </p:cNvPr>
          <p:cNvPicPr>
            <a:picLocks xmlns:a="http://schemas.openxmlformats.org/drawingml/2006/main" noChangeAspect="1"/>
          </p:cNvPicPr>
          <p:nvPr/>
        </p:nvPicPr>
        <p:blipFill>
          <a:blip xmlns:r="http://schemas.openxmlformats.org/officeDocument/2006/relationships" xmlns:a="http://schemas.openxmlformats.org/drawingml/2006/main" r:embed="Rbedbb95db0924973"/>
          <a:stretch xmlns:a="http://schemas.openxmlformats.org/drawingml/2006/main"/>
        </p:blipFill>
        <p:spPr>
          <a:xfrm xmlns:a="http://schemas.openxmlformats.org/drawingml/2006/main">
            <a:off x="1809750" y="1947466"/>
            <a:ext cx="8286750" cy="3153569"/>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The unlocked variant removes four allocator lock calls</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kalloc():  - acquire(&amp;kmem.lock);  + // acquire(&amp;kmem.lock);</a:t>
            </a:r>
          </a:p>
          <a:p xmlns:a="http://schemas.openxmlformats.org/drawingml/2006/main">
            <a:pPr algn="l">
              <a:defRPr sz="1650">
                <a:solidFill>
                  <a:srgbClr val="17202A"/>
                </a:solidFill>
                <a:latin typeface="Arial"/>
                <a:ea typeface="Arial"/>
                <a:cs typeface="Arial"/>
              </a:defRPr>
            </a:pPr>
            <a:r>
              <a:rPr sz="1650">
                <a:solidFill>
                  <a:srgbClr val="17202A"/>
                </a:solidFill>
                <a:latin typeface="Arial"/>
                <a:ea typeface="Arial"/>
                <a:cs typeface="Arial"/>
              </a:rPr>
              <a:t>          - release(&amp;kmem.lock);  + // release(&amp;kmem.lock);</a:t>
            </a:r>
          </a:p>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kfree():   - acquire(&amp;kmem.lock);  + // acquire(&amp;kmem.lock);</a:t>
            </a:r>
          </a:p>
          <a:p xmlns:a="http://schemas.openxmlformats.org/drawingml/2006/main">
            <a:pPr algn="l">
              <a:buNone/>
              <a:defRPr sz="1650" b="0">
                <a:solidFill>
                  <a:srgbClr val="17202A"/>
                </a:solidFill>
                <a:latin typeface="Arial"/>
                <a:ea typeface="Arial"/>
                <a:cs typeface="Arial"/>
              </a:defRPr>
            </a:pPr>
            <a:r>
              <a:rPr sz="1650" b="0">
                <a:solidFill>
                  <a:srgbClr val="17202A"/>
                </a:solidFill>
                <a:latin typeface="Arial"/>
                <a:ea typeface="Arial"/>
                <a:cs typeface="Arial"/>
              </a:rPr>
              <a:t>          - release(&amp;kmem.lock);  + // release(&amp;kmem.lock);</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Source: temporary kalloc.c diff; four lock calls removed.</a:t>
            </a:r>
          </a:p>
        </p:txBody>
      </p:sp>
    </p:spTree>
    <p:extLst>
      <p:ext uri="{BB962C8B-B14F-4D97-AF65-F5344CB8AC3E}">
        <p14:creationId xmlns:p14="http://schemas.microsoft.com/office/powerpoint/2010/main" val="1134660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B02 shows corruption followed by kerneltrap</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The primary classification is CORRUPTION; the later panic remains visible.</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Source: saved original-set B02 recording and results.csv.</a:t>
            </a:r>
          </a:p>
        </p:txBody>
      </p:sp>
      <p:pic>
        <p:nvPicPr>
          <p:cNvPr id="7" name="">
            <a:extLst xmlns:a="http://schemas.openxmlformats.org/drawingml/2006/main">
              <a:ext uri="{FF2B5EF4-FFF2-40B4-BE49-F238E27FC236}">
                <a16:creationId xmlns:a16="http://schemas.microsoft.com/office/drawing/2014/main" id="{A797F0FD-CC7F-4F0F-9281-86658D8958F1}"/>
              </a:ext>
            </a:extLst>
          </p:cNvPr>
          <p:cNvPicPr>
            <a:picLocks xmlns:a="http://schemas.openxmlformats.org/drawingml/2006/main" noChangeAspect="1"/>
          </p:cNvPicPr>
          <p:nvPr/>
        </p:nvPicPr>
        <p:blipFill>
          <a:blip xmlns:r="http://schemas.openxmlformats.org/officeDocument/2006/relationships" xmlns:a="http://schemas.openxmlformats.org/drawingml/2006/main" r:embed="Recaba66ea95a470c"/>
          <a:stretch xmlns:a="http://schemas.openxmlformats.org/drawingml/2006/main"/>
        </p:blipFill>
        <p:spPr>
          <a:xfrm xmlns:a="http://schemas.openxmlformats.org/drawingml/2006/main">
            <a:off x="1809750" y="1657429"/>
            <a:ext cx="8286750" cy="3733641"/>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Restoring the allocator and rebuilding returned a passing run</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685800" y="1238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Source hash: verified</a:t>
            </a:r>
          </a:p>
          <a:p xmlns:a="http://schemas.openxmlformats.org/drawingml/2006/main">
            <a:pPr algn="l">
              <a:defRPr sz="1575">
                <a:solidFill>
                  <a:srgbClr val="17202A"/>
                </a:solidFill>
                <a:latin typeface="Arial"/>
                <a:ea typeface="Arial"/>
                <a:cs typeface="Arial"/>
              </a:defRPr>
            </a:pPr>
            <a:r>
              <a:rPr sz="1575">
                <a:solidFill>
                  <a:srgbClr val="17202A"/>
                </a:solidFill>
                <a:latin typeface="Arial"/>
                <a:ea typeface="Arial"/>
                <a:cs typeface="Arial"/>
              </a:rPr>
              <a:t>Final allocator diff: empty</a:t>
            </a:r>
          </a:p>
          <a:p xmlns:a="http://schemas.openxmlformats.org/drawingml/2006/main">
            <a:pPr algn="l">
              <a:buNone/>
              <a:defRPr sz="1575" b="0">
                <a:solidFill>
                  <a:srgbClr val="17202A"/>
                </a:solidFill>
                <a:latin typeface="Arial"/>
                <a:ea typeface="Arial"/>
                <a:cs typeface="Arial"/>
              </a:defRPr>
            </a:pPr>
            <a:r>
              <a:rPr sz="1575" b="0">
                <a:solidFill>
                  <a:srgbClr val="17202A"/>
                </a:solidFill>
                <a:latin typeface="Arial"/>
                <a:ea typeface="Arial"/>
                <a:cs typeface="Arial"/>
              </a:rPr>
              <a:t>C01 race_test: PASS</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6. Source: saved C01 recording and restoration checksum; PASS.</a:t>
            </a:r>
          </a:p>
        </p:txBody>
      </p:sp>
      <p:pic>
        <p:nvPicPr>
          <p:cNvPr id="6" name="">
            <a:extLst xmlns:a="http://schemas.openxmlformats.org/drawingml/2006/main">
              <a:ext uri="{FF2B5EF4-FFF2-40B4-BE49-F238E27FC236}">
                <a16:creationId xmlns:a16="http://schemas.microsoft.com/office/drawing/2014/main" id="{A43D999C-C95C-4332-A6BF-EB1CE94F8194}"/>
              </a:ext>
            </a:extLst>
          </p:cNvPr>
          <p:cNvPicPr>
            <a:picLocks xmlns:a="http://schemas.openxmlformats.org/drawingml/2006/main" noChangeAspect="1"/>
          </p:cNvPicPr>
          <p:nvPr/>
        </p:nvPicPr>
        <p:blipFill>
          <a:blip xmlns:r="http://schemas.openxmlformats.org/officeDocument/2006/relationships" xmlns:a="http://schemas.openxmlformats.org/drawingml/2006/main" r:embed="Re1a65cfed5374d18"/>
          <a:stretch xmlns:a="http://schemas.openxmlformats.org/drawingml/2006/main"/>
        </p:blipFill>
        <p:spPr>
          <a:xfrm xmlns:a="http://schemas.openxmlformats.org/drawingml/2006/main">
            <a:off x="1809750" y="2133335"/>
            <a:ext cx="7810500" cy="2972329"/>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Locked and restored phases passed; every unlocked attempt failed</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Results by phase</a:t>
            </a:r>
          </a:p>
        </p:txBody>
      </p:sp>
      <p:graphicFrame>
        <p:nvGraphicFramePr>
          <p:cNvPr id="5" name="">
            <a:extLst xmlns:a="http://schemas.openxmlformats.org/drawingml/2006/main">
              <a:ext uri="{FF2B5EF4-FFF2-40B4-BE49-F238E27FC236}">
                <a16:creationId xmlns:a16="http://schemas.microsoft.com/office/drawing/2014/main" id="{5E30D806-87FE-4DB9-89F5-6B278E6B6859}"/>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Original</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C-runner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3C / 4P / 2F / 1T</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1C / 6P / 2F / 1T</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7. Primary outcomes in two independent unlocked datasets.</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Elapsed seconds start at the shell prompt, just before race_test is sent; collection time is included.</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both results.csv files, Oct 2026. PASS is not proof; timeout is not deadlock diagnosis.</a:t>
            </a:r>
          </a:p>
        </p:txBody>
      </p:sp>
      <p:graphicFrame xmlns:a="http://schemas.openxmlformats.org/drawingml/2006/main">
        <p:nvGraphicFramePr>
          <p:cNvPr id="10" name="Chart 9" descr="Editable stacked bar chart comparing unlocked outcomes in the original and C-runner datasets."/>
          <p:cNvGraphicFramePr>
            <a:graphicFrameLocks noGrp="1"/>
          </p:cNvGraphicFramePr>
          <p:nvPr/>
        </p:nvGraphicFramePr>
        <p:xfrm>
          <a:off x="5394960" y="1508760"/>
          <a:ext cx="6099048" cy="30449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kmem.lock preserved the free-list invariant</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Source: 60 saved attempts across two datasets. Other primitives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1725" b="0">
                <a:solidFill>
                  <a:srgbClr val="17202A"/>
                </a:solidFill>
                <a:latin typeface="Arial"/>
                <a:ea typeface="Arial"/>
                <a:cs typeface="Arial"/>
              </a:defRPr>
            </a:lvl1pPr>
            <a:lvl2pPr algn="l">
              <a:buNone/>
              <a:defRPr sz="1725" b="0">
                <a:solidFill>
                  <a:srgbClr val="17202A"/>
                </a:solidFill>
                <a:latin typeface="Arial"/>
                <a:ea typeface="Arial"/>
                <a:cs typeface="Arial"/>
              </a:defRPr>
            </a:lvl2pPr>
            <a:lvl3pPr algn="l">
              <a:buNone/>
              <a:defRPr sz="1725" b="0">
                <a:solidFill>
                  <a:srgbClr val="17202A"/>
                </a:solidFill>
                <a:latin typeface="Arial"/>
                <a:ea typeface="Arial"/>
                <a:cs typeface="Arial"/>
              </a:defRPr>
            </a:lvl3pPr>
            <a:lvl4pPr algn="l">
              <a:buNone/>
              <a:defRPr sz="1725" b="0">
                <a:solidFill>
                  <a:srgbClr val="17202A"/>
                </a:solidFill>
                <a:latin typeface="Arial"/>
                <a:ea typeface="Arial"/>
                <a:cs typeface="Arial"/>
              </a:defRPr>
            </a:lvl4pPr>
            <a:lvl5pPr algn="l">
              <a:buNone/>
              <a:defRPr sz="1725" b="0">
                <a:solidFill>
                  <a:srgbClr val="17202A"/>
                </a:solidFill>
                <a:latin typeface="Arial"/>
                <a:ea typeface="Arial"/>
                <a:cs typeface="Arial"/>
              </a:defRPr>
            </a:lvl5pPr>
            <a:lvl6pPr algn="l">
              <a:buNone/>
              <a:defRPr sz="1725" b="0">
                <a:solidFill>
                  <a:srgbClr val="17202A"/>
                </a:solidFill>
                <a:latin typeface="Arial"/>
                <a:ea typeface="Arial"/>
                <a:cs typeface="Arial"/>
              </a:defRPr>
            </a:lvl6pPr>
            <a:lvl7pPr algn="l">
              <a:buNone/>
              <a:defRPr sz="1725" b="0">
                <a:solidFill>
                  <a:srgbClr val="17202A"/>
                </a:solidFill>
                <a:latin typeface="Arial"/>
                <a:ea typeface="Arial"/>
                <a:cs typeface="Arial"/>
              </a:defRPr>
            </a:lvl7pPr>
            <a:lvl8pPr algn="l">
              <a:buNone/>
              <a:defRPr sz="1725" b="0">
                <a:solidFill>
                  <a:srgbClr val="17202A"/>
                </a:solidFill>
                <a:latin typeface="Arial"/>
                <a:ea typeface="Arial"/>
                <a:cs typeface="Arial"/>
              </a:defRPr>
            </a:lvl8pPr>
            <a:lvl9pPr algn="l">
              <a:buNone/>
              <a:defRPr sz="17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xv6 library (MIT PDOS): https://github.com/mit-pdos/xv6-riscv</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MIT xv6 RISC-V book, Locking: https://mit-pdos.github.io/xv6-riscv-book/lock.html</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The Open Group, memory synchronization: https://pubs.opengroup.org/onlinepubs/9699919799/basedefs/V1_chap04.html</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Michael and Scott, Nonblocking algorithms and ABA: https://www.cs.rochester.edu/u/scott/papers/1998_JPDC_nonblocking.pdf</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2026-10-26T14:53:23.2670000Z</dcterms:created>
  <dcterms:modified xsi:type="dcterms:W3CDTF">2026-10-26T14:53:23.2670000Z</dcterms:modified>
</coreProperties>
</file>