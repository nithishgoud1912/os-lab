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f8d11da90b4041" /><Relationship Type="http://schemas.openxmlformats.org/officeDocument/2006/relationships/extended-properties" Target="/docProps/app.xml" Id="R9834b4de34dd4db4" /><Relationship Type="http://schemas.openxmlformats.org/officeDocument/2006/relationships/officeDocument" Target="/ppt/presentation.xml" Id="Rf13302be01404ca8" /></Relationships>
</file>

<file path=ppt/presentation.xml><?xml version="1.0" encoding="utf-8"?>
<p:presentation xmlns:p="http://schemas.openxmlformats.org/presentationml/2006/main">
  <p:sldMasterIdLst>
    <p:sldMasterId xmlns:r="http://schemas.openxmlformats.org/officeDocument/2006/relationships" id="2147483648" r:id="Ra435a84fc0f74ed1"/>
  </p:sldMasterIdLst>
  <p:notesMasterIdLst>
    <p:notesMasterId xmlns:r="http://schemas.openxmlformats.org/officeDocument/2006/relationships" r:id="R0236f0b9b2c742e9"/>
  </p:notesMasterIdLst>
  <p:sldIdLst>
    <p:sldId xmlns:r="http://schemas.openxmlformats.org/officeDocument/2006/relationships" id="256" r:id="R1f047994574c469c"/>
    <p:sldId xmlns:r="http://schemas.openxmlformats.org/officeDocument/2006/relationships" id="257" r:id="Rf6ec6a966b124e43"/>
    <p:sldId xmlns:r="http://schemas.openxmlformats.org/officeDocument/2006/relationships" id="258" r:id="R2fcbd6e39f5948e4"/>
    <p:sldId xmlns:r="http://schemas.openxmlformats.org/officeDocument/2006/relationships" id="259" r:id="R2f8304c40fa745eb"/>
    <p:sldId xmlns:r="http://schemas.openxmlformats.org/officeDocument/2006/relationships" id="260" r:id="R884cce1658814ce6"/>
    <p:sldId xmlns:r="http://schemas.openxmlformats.org/officeDocument/2006/relationships" id="261" r:id="R1d314fccb10d44a0"/>
    <p:sldId xmlns:r="http://schemas.openxmlformats.org/officeDocument/2006/relationships" id="262" r:id="Rf53063beb79145df"/>
    <p:sldId xmlns:r="http://schemas.openxmlformats.org/officeDocument/2006/relationships" id="263" r:id="R06894973afc64158"/>
    <p:sldId xmlns:r="http://schemas.openxmlformats.org/officeDocument/2006/relationships" id="264" r:id="R9e540297108642a0"/>
    <p:sldId xmlns:r="http://schemas.openxmlformats.org/officeDocument/2006/relationships" id="265" r:id="R97e4424664104db0"/>
    <p:sldId xmlns:r="http://schemas.openxmlformats.org/officeDocument/2006/relationships" id="266" r:id="R8d38b1a096e0416e"/>
    <p:sldId xmlns:r="http://schemas.openxmlformats.org/officeDocument/2006/relationships" id="267" r:id="Raa8ed224635d40cb"/>
    <p:sldId xmlns:r="http://schemas.openxmlformats.org/officeDocument/2006/relationships" id="268" r:id="Re57564388cbb4db1"/>
    <p:sldId xmlns:r="http://schemas.openxmlformats.org/officeDocument/2006/relationships" id="269" r:id="R8cc8c10436294c7c"/>
    <p:sldId xmlns:r="http://schemas.openxmlformats.org/officeDocument/2006/relationships" id="270" r:id="Rf3917862561d4d38"/>
    <p:sldId xmlns:r="http://schemas.openxmlformats.org/officeDocument/2006/relationships" id="271" r:id="R0c13580e593846ab"/>
    <p:sldId xmlns:r="http://schemas.openxmlformats.org/officeDocument/2006/relationships" id="272" r:id="R0b5ecd23090f42f0"/>
    <p:sldId xmlns:r="http://schemas.openxmlformats.org/officeDocument/2006/relationships" id="273" r:id="R0a83218933724251"/>
    <p:sldId xmlns:r="http://schemas.openxmlformats.org/officeDocument/2006/relationships" id="274" r:id="R445989fefe364bc6"/>
    <p:sldId xmlns:r="http://schemas.openxmlformats.org/officeDocument/2006/relationships" id="275" r:id="Rfa8ee37a7e7440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ee95650d70450a" /><Relationship Type="http://schemas.openxmlformats.org/officeDocument/2006/relationships/slideMaster" Target="/ppt/slideMasters/slideMaster1.xml" Id="Ra435a84fc0f74ed1" /><Relationship Type="http://schemas.openxmlformats.org/officeDocument/2006/relationships/notesMaster" Target="/ppt/notesMasters/notesMaster1.xml" Id="R0236f0b9b2c742e9" /><Relationship Type="http://schemas.openxmlformats.org/officeDocument/2006/relationships/presProps" Target="/ppt/presProps.xml" Id="Rc85e3611a93644e3" /><Relationship Type="http://schemas.openxmlformats.org/officeDocument/2006/relationships/tableStyles" Target="/ppt/tableStyles.xml" Id="R4766d32dc46741eb" /><Relationship Type="http://schemas.openxmlformats.org/officeDocument/2006/relationships/slide" Target="/ppt/slides/slide1.xml" Id="R1f047994574c469c" /><Relationship Type="http://schemas.openxmlformats.org/officeDocument/2006/relationships/slide" Target="/ppt/slides/slide2.xml" Id="Rf6ec6a966b124e43" /><Relationship Type="http://schemas.openxmlformats.org/officeDocument/2006/relationships/slide" Target="/ppt/slides/slide3.xml" Id="R2fcbd6e39f5948e4" /><Relationship Type="http://schemas.openxmlformats.org/officeDocument/2006/relationships/slide" Target="/ppt/slides/slide4.xml" Id="R2f8304c40fa745eb" /><Relationship Type="http://schemas.openxmlformats.org/officeDocument/2006/relationships/slide" Target="/ppt/slides/slide5.xml" Id="R884cce1658814ce6" /><Relationship Type="http://schemas.openxmlformats.org/officeDocument/2006/relationships/slide" Target="/ppt/slides/slide6.xml" Id="R1d314fccb10d44a0" /><Relationship Type="http://schemas.openxmlformats.org/officeDocument/2006/relationships/slide" Target="/ppt/slides/slide7.xml" Id="Rf53063beb79145df" /><Relationship Type="http://schemas.openxmlformats.org/officeDocument/2006/relationships/slide" Target="/ppt/slides/slide8.xml" Id="R06894973afc64158" /><Relationship Type="http://schemas.openxmlformats.org/officeDocument/2006/relationships/slide" Target="/ppt/slides/slide9.xml" Id="R9e540297108642a0" /><Relationship Type="http://schemas.openxmlformats.org/officeDocument/2006/relationships/slide" Target="/ppt/slides/slide10.xml" Id="R97e4424664104db0" /><Relationship Type="http://schemas.openxmlformats.org/officeDocument/2006/relationships/slide" Target="/ppt/slides/slide11.xml" Id="R8d38b1a096e0416e" /><Relationship Type="http://schemas.openxmlformats.org/officeDocument/2006/relationships/slide" Target="/ppt/slides/slide12.xml" Id="Raa8ed224635d40cb" /><Relationship Type="http://schemas.openxmlformats.org/officeDocument/2006/relationships/slide" Target="/ppt/slides/slide13.xml" Id="Re57564388cbb4db1" /><Relationship Type="http://schemas.openxmlformats.org/officeDocument/2006/relationships/slide" Target="/ppt/slides/slide14.xml" Id="R8cc8c10436294c7c" /><Relationship Type="http://schemas.openxmlformats.org/officeDocument/2006/relationships/slide" Target="/ppt/slides/slide15.xml" Id="Rf3917862561d4d38" /><Relationship Type="http://schemas.openxmlformats.org/officeDocument/2006/relationships/slide" Target="/ppt/slides/slide16.xml" Id="R0c13580e593846ab" /><Relationship Type="http://schemas.openxmlformats.org/officeDocument/2006/relationships/slide" Target="/ppt/slides/slide17.xml" Id="R0b5ecd23090f42f0" /><Relationship Type="http://schemas.openxmlformats.org/officeDocument/2006/relationships/slide" Target="/ppt/slides/slide18.xml" Id="R0a83218933724251" /><Relationship Type="http://schemas.openxmlformats.org/officeDocument/2006/relationships/slide" Target="/ppt/slides/slide19.xml" Id="R445989fefe364bc6" /><Relationship Type="http://schemas.openxmlformats.org/officeDocument/2006/relationships/slide" Target="/ppt/slides/slide20.xml" Id="Rfa8ee37a7e7440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58837c1dda46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55124e30224aec" /><Relationship Type="http://schemas.openxmlformats.org/officeDocument/2006/relationships/notesMaster" Target="/ppt/notesMasters/notesMaster1.xml" Id="Re654f7245f254b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96bb889fc344d6" /><Relationship Type="http://schemas.openxmlformats.org/officeDocument/2006/relationships/notesMaster" Target="/ppt/notesMasters/notesMaster1.xml" Id="R6d4acecd87f545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b4b45e9a874186" /><Relationship Type="http://schemas.openxmlformats.org/officeDocument/2006/relationships/notesMaster" Target="/ppt/notesMasters/notesMaster1.xml" Id="R1054f1114abc41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685f0f4fdd410f" /><Relationship Type="http://schemas.openxmlformats.org/officeDocument/2006/relationships/notesMaster" Target="/ppt/notesMasters/notesMaster1.xml" Id="R221c7257b2e949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4657f2d08448ed" /><Relationship Type="http://schemas.openxmlformats.org/officeDocument/2006/relationships/notesMaster" Target="/ppt/notesMasters/notesMaster1.xml" Id="Rd7f3e69b3df74b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860240bcf54f99" /><Relationship Type="http://schemas.openxmlformats.org/officeDocument/2006/relationships/notesMaster" Target="/ppt/notesMasters/notesMaster1.xml" Id="Rd93d700e40184a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a81ba21ba146b3" /><Relationship Type="http://schemas.openxmlformats.org/officeDocument/2006/relationships/notesMaster" Target="/ppt/notesMasters/notesMaster1.xml" Id="R74ddf95857ac40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a7a2742754406a" /><Relationship Type="http://schemas.openxmlformats.org/officeDocument/2006/relationships/notesMaster" Target="/ppt/notesMasters/notesMaster1.xml" Id="R6aac3f7d376047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44899814834ba3" /><Relationship Type="http://schemas.openxmlformats.org/officeDocument/2006/relationships/notesMaster" Target="/ppt/notesMasters/notesMaster1.xml" Id="Rd7e7081670a942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89643552d14bc4" /><Relationship Type="http://schemas.openxmlformats.org/officeDocument/2006/relationships/notesMaster" Target="/ppt/notesMasters/notesMaster1.xml" Id="Ra538ba308ca844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2ad321f2e0470f" /><Relationship Type="http://schemas.openxmlformats.org/officeDocument/2006/relationships/notesMaster" Target="/ppt/notesMasters/notesMaster1.xml" Id="R1ea24a0ebb7948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15da92583c468e" /><Relationship Type="http://schemas.openxmlformats.org/officeDocument/2006/relationships/notesMaster" Target="/ppt/notesMasters/notesMaster1.xml" Id="Re5e4f8b2f02f45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6840d4fa674a9f" /><Relationship Type="http://schemas.openxmlformats.org/officeDocument/2006/relationships/notesMaster" Target="/ppt/notesMasters/notesMaster1.xml" Id="R8f40fe350da948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c9a42f5118409d" /><Relationship Type="http://schemas.openxmlformats.org/officeDocument/2006/relationships/notesMaster" Target="/ppt/notesMasters/notesMaster1.xml" Id="R3b72087f29b140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cdee149118473c" /><Relationship Type="http://schemas.openxmlformats.org/officeDocument/2006/relationships/notesMaster" Target="/ppt/notesMasters/notesMaster1.xml" Id="R3f8e60a7cdf048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8234c7c3a94e06" /><Relationship Type="http://schemas.openxmlformats.org/officeDocument/2006/relationships/notesMaster" Target="/ppt/notesMasters/notesMaster1.xml" Id="R9142adf4029442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9b90fbf9ab47a9" /><Relationship Type="http://schemas.openxmlformats.org/officeDocument/2006/relationships/notesMaster" Target="/ppt/notesMasters/notesMaster1.xml" Id="R5a2953e9fb4c4d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f8dfee5d56745ce" /><Relationship Type="http://schemas.openxmlformats.org/officeDocument/2006/relationships/notesMaster" Target="/ppt/notesMasters/notesMaster1.xml" Id="R25d72fb800a14d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2f2c2f6f2741f2" /><Relationship Type="http://schemas.openxmlformats.org/officeDocument/2006/relationships/notesMaster" Target="/ppt/notesMasters/notesMaster1.xml" Id="Rde64322d2d4c471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782a1eea2a84241" /><Relationship Type="http://schemas.openxmlformats.org/officeDocument/2006/relationships/notesMaster" Target="/ppt/notesMasters/notesMaster1.xml" Id="Rd4fc3aa205654e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activity and expected outcome follow the supplied faculty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timing among concurrent operations on shared state. The table gives a simple lost-update example. The counter is conceptual; the xv6 experiment uses the physical-page free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execution around shared data. xv6 push_off prevents same-CPU interrupt re-entry while the lock is held, and an atomic exchange provides cross-CPU ownership. Release uses ordering before the lock becomes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user/race_test.c runs inside xv6 using pipe, fork, read, write, sbrk, wait, and exit. Four children start near the same time. Each allocates 32 KiB, fills each byte with a child-specific tag, waits briefly in user space, verifies the bytes, and shrinks the allocation. The parent reports PASS only if setup and child statuses succeed. No artificial delay or timing instrumentation was inserted into the kernel.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MP4 is a rendered walkthrough assembled from the original saved source and logs. It is not a live screen recording. The PPT and report keep the video separate from the C-runner validation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consulted: MIT xv6 RISC-V book, locking chapter, https://mit-pdos.github.io/xv6-riscv-book/lock.html. Exact xv6 source, https://github.com/mit-pdos/xv6-riscv/tree/f780d7850765d74cbdcd1fff4b822d8829f7c9bd. POSIX synchronization, https://pubs.opengroup.org/onlinepubs/9699919799/basedefs/V1_chap04.html. Local evidence is in member1_completed/evidence/ and member1_completed/c_validation/. Assignment requirements are in 1000097330.pdf and XV6_Race_Condition_Four_Member_Division.pdf.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50b6cb34884f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8e8b2a64544f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b5448a45e74a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3061ada0e240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81ef7ab22546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90aa86d82b49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7362a48aaa4749" /><Relationship Type="http://schemas.openxmlformats.org/officeDocument/2006/relationships/slideLayout" Target="/ppt/slideLayouts/slideLayout1.xml" Id="Rbf83b4b94a534173" /><Relationship Type="http://schemas.openxmlformats.org/officeDocument/2006/relationships/slideLayout" Target="/ppt/slideLayouts/slideLayout2.xml" Id="Rad1acc81abfe4997" /><Relationship Type="http://schemas.openxmlformats.org/officeDocument/2006/relationships/slideLayout" Target="/ppt/slideLayouts/slideLayout3.xml" Id="Rf4018f8a7de04850" /><Relationship Type="http://schemas.openxmlformats.org/officeDocument/2006/relationships/slideLayout" Target="/ppt/slideLayouts/slideLayout4.xml" Id="R174f2a4e29a742ce" /><Relationship Type="http://schemas.openxmlformats.org/officeDocument/2006/relationships/slideLayout" Target="/ppt/slideLayouts/slideLayout5.xml" Id="Rb48d6b1131a8417a" /><Relationship Type="http://schemas.openxmlformats.org/officeDocument/2006/relationships/slideLayout" Target="/ppt/slideLayouts/slideLayout6.xml" Id="R76f3645f73d546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83b4b94a534173"/>
    <p:sldLayoutId xmlns:r="http://schemas.openxmlformats.org/officeDocument/2006/relationships" id="2147483650" r:id="Rad1acc81abfe4997"/>
    <p:sldLayoutId xmlns:r="http://schemas.openxmlformats.org/officeDocument/2006/relationships" id="2147483651" r:id="Rf4018f8a7de04850"/>
    <p:sldLayoutId xmlns:r="http://schemas.openxmlformats.org/officeDocument/2006/relationships" id="2147483652" r:id="R174f2a4e29a742ce"/>
    <p:sldLayoutId xmlns:r="http://schemas.openxmlformats.org/officeDocument/2006/relationships" id="2147483653" r:id="Rb48d6b1131a8417a"/>
    <p:sldLayoutId xmlns:r="http://schemas.openxmlformats.org/officeDocument/2006/relationships" id="2147483654" r:id="R76f3645f73d546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680423d6bd4849" /><Relationship Type="http://schemas.openxmlformats.org/officeDocument/2006/relationships/notesSlide" Target="/ppt/notesSlides/notesSlide1.xml" Id="Rd0f495a8ebc341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39f9a057f54bc8" /><Relationship Type="http://schemas.openxmlformats.org/officeDocument/2006/relationships/notesSlide" Target="/ppt/notesSlides/notesSlide2.xml" Id="R1b2cf1e1e91349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c4707703a14f9e" /><Relationship Type="http://schemas.openxmlformats.org/officeDocument/2006/relationships/notesSlide" Target="/ppt/notesSlides/notesSlide3.xml" Id="Ref8a3f33b8fe45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70ef05f1404a51" /><Relationship Type="http://schemas.openxmlformats.org/officeDocument/2006/relationships/notesSlide" Target="/ppt/notesSlides/notesSlide4.xml" Id="Re507bcc59de042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f7c829b78b4421" /><Relationship Type="http://schemas.openxmlformats.org/officeDocument/2006/relationships/notesSlide" Target="/ppt/notesSlides/notesSlide5.xml" Id="R67c435d1fcc741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d8225cc5f84149" /><Relationship Type="http://schemas.openxmlformats.org/officeDocument/2006/relationships/notesSlide" Target="/ppt/notesSlides/notesSlide6.xml" Id="R1af8effcb6bc48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cbf6a52f4cd40ff" /><Relationship Type="http://schemas.openxmlformats.org/officeDocument/2006/relationships/notesSlide" Target="/ppt/notesSlides/notesSlide7.xml" Id="R6ce5a4c1eba04f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45226ec3a94ac2" /><Relationship Type="http://schemas.openxmlformats.org/officeDocument/2006/relationships/notesSlide" Target="/ppt/notesSlides/notesSlide8.xml" Id="Rc3837d8f150449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0fd5b9de15c40db" /><Relationship Type="http://schemas.openxmlformats.org/officeDocument/2006/relationships/notesSlide" Target="/ppt/notesSlides/notesSlide9.xml" Id="Rb65c106731a243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54f5cf05de4f09" /><Relationship Type="http://schemas.openxmlformats.org/officeDocument/2006/relationships/notesSlide" Target="/ppt/notesSlides/notesSlide10.xml" Id="R1884471ebb4447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9b28c1e1324bc1" /><Relationship Type="http://schemas.openxmlformats.org/officeDocument/2006/relationships/notesSlide" Target="/ppt/notesSlides/notesSlide11.xml" Id="R82b4f88d01034c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bdd3e93b0d34dc2" /><Relationship Type="http://schemas.openxmlformats.org/officeDocument/2006/relationships/notesSlide" Target="/ppt/notesSlides/notesSlide12.xml" Id="R335f9115e06041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6a387db3c143ef" /><Relationship Type="http://schemas.openxmlformats.org/officeDocument/2006/relationships/image" Target="/ppt/media/image.png" Id="R44a8d79651814f09" /><Relationship Type="http://schemas.openxmlformats.org/officeDocument/2006/relationships/notesSlide" Target="/ppt/notesSlides/notesSlide13.xml" Id="R33d168c9289f43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002bd14b2974054" /><Relationship Type="http://schemas.openxmlformats.org/officeDocument/2006/relationships/image" Target="/ppt/media/image2.png" Id="Rf6e24eeefff94ae6" /><Relationship Type="http://schemas.openxmlformats.org/officeDocument/2006/relationships/notesSlide" Target="/ppt/notesSlides/notesSlide14.xml" Id="R5ffe441c9eb541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87f5cfdaaa64a68" /><Relationship Type="http://schemas.openxmlformats.org/officeDocument/2006/relationships/image" Target="/ppt/media/image3.png" Id="Raa8d5774b630461c" /><Relationship Type="http://schemas.openxmlformats.org/officeDocument/2006/relationships/notesSlide" Target="/ppt/notesSlides/notesSlide15.xml" Id="R12ed704b80814a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2a8307540064f6d" /><Relationship Type="http://schemas.openxmlformats.org/officeDocument/2006/relationships/image" Target="/ppt/media/image4.png" Id="Rb35a63f75f704cc7" /><Relationship Type="http://schemas.openxmlformats.org/officeDocument/2006/relationships/notesSlide" Target="/ppt/notesSlides/notesSlide16.xml" Id="Re332ba8240294e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95fbb6a108c4546" /><Relationship Type="http://schemas.openxmlformats.org/officeDocument/2006/relationships/hyperlink" Target="demo-walkthrough.mp4" TargetMode="External" Id="R46ed4f170e284657" /><Relationship Type="http://schemas.openxmlformats.org/officeDocument/2006/relationships/notesSlide" Target="/ppt/notesSlides/notesSlide17.xml" Id="Rab8da111042545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c016e197d174160" /><Relationship Type="http://schemas.openxmlformats.org/officeDocument/2006/relationships/image" Target="/ppt/media/image5.png" Id="Re7e16fea943b447d" /><Relationship Type="http://schemas.openxmlformats.org/officeDocument/2006/relationships/notesSlide" Target="/ppt/notesSlides/notesSlide18.xml" Id="R0e8d5b791eff4f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fec7e9f92ca4ea9" /><Relationship Type="http://schemas.openxmlformats.org/officeDocument/2006/relationships/notesSlide" Target="/ppt/notesSlides/notesSlide19.xml" Id="R70ed141342bb4b9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382a07c637943de" /><Relationship Type="http://schemas.openxmlformats.org/officeDocument/2006/relationships/notesSlide" Target="/ppt/notesSlides/notesSlide20.xml" Id="R37201a09ac7142d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correctness depends on timing of shared-data operations.</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An increment reads, modifies, then writes shared state.</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Two increments can lose one update</a:t>
            </a:r>
          </a:p>
        </p:txBody>
      </p:sp>
      <p:graphicFrame>
        <p:nvGraphicFramePr>
          <p:cNvPr id="7" name="">
            <a:extLst xmlns:a="http://schemas.openxmlformats.org/drawingml/2006/main">
              <a:ext uri="{FF2B5EF4-FFF2-40B4-BE49-F238E27FC236}">
                <a16:creationId xmlns:a16="http://schemas.microsoft.com/office/drawing/2014/main" id="{55F5B98E-09D9-430B-9812-8782F9875E37}"/>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A</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B</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Both CPUs read 0 and write 1, so the result is 1 instead of 2.</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work so shared-state rules stay valid.</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Acquire: push_off() then atomic exchange for lock ownership.</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read or update the free-list head and links.</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Release: publish updates, release the lock, restore interrupt state.</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Disabling local interrupts does not exclude other CPUs.</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107BA332-6FE0-4074-8EA8-F73519851948}"/>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children and releases them through a pipe gate.</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child requests 32 KiB, or eight 4096-byte pages, per round.</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Children fill unique tags, reread every byte, free memory, and repeat 200 rounds.</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checks setup errors and every wait() status.</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volatile forces rereads; it provides no synchronization.</a:t>
            </a:r>
          </a:p>
        </p:txBody>
      </p:sp>
    </p:spTree>
    <p:extLst>
      <p:ext uri="{BB962C8B-B14F-4D97-AF65-F5344CB8AC3E}">
        <p14:creationId xmlns:p14="http://schemas.microsoft.com/office/powerpoint/2010/main" val="621410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F5B20B3D-8E75-4C36-B6A2-B4A53E54C3FA}"/>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7E87EA29-F425-4F3D-9EF6-331EABEDA602}"/>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AB0A3587-B0E6-48AE-BAB5-FCC93ACC8B31}"/>
              </a:ext>
            </a:extLst>
          </p:cNvPr>
          <p:cNvPicPr>
            <a:picLocks xmlns:a="http://schemas.openxmlformats.org/drawingml/2006/main" noChangeAspect="1"/>
          </p:cNvPicPr>
          <p:nvPr/>
        </p:nvPicPr>
        <p:blipFill>
          <a:blip xmlns:r="http://schemas.openxmlformats.org/officeDocument/2006/relationships" xmlns:a="http://schemas.openxmlformats.org/drawingml/2006/main" r:embed="R44a8d79651814f09"/>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D0DE2F44-C55D-42FD-8D84-32362BC4F15C}"/>
              </a:ext>
            </a:extLst>
          </p:cNvPr>
          <p:cNvPicPr>
            <a:picLocks xmlns:a="http://schemas.openxmlformats.org/drawingml/2006/main" noChangeAspect="1"/>
          </p:cNvPicPr>
          <p:nvPr/>
        </p:nvPicPr>
        <p:blipFill>
          <a:blip xmlns:r="http://schemas.openxmlformats.org/officeDocument/2006/relationships" xmlns:a="http://schemas.openxmlformats.org/drawingml/2006/main" r:embed="Rf6e24eeefff94ae6"/>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B02 shows corruption followed by a kernel trap. The primary outcome remains CORRUPTION.</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815F1ADB-5B33-4BA8-88D4-ACE01D658ACA}"/>
              </a:ext>
            </a:extLst>
          </p:cNvPr>
          <p:cNvPicPr>
            <a:picLocks xmlns:a="http://schemas.openxmlformats.org/drawingml/2006/main" noChangeAspect="1"/>
          </p:cNvPicPr>
          <p:nvPr/>
        </p:nvPicPr>
        <p:blipFill>
          <a:blip xmlns:r="http://schemas.openxmlformats.org/officeDocument/2006/relationships" xmlns:a="http://schemas.openxmlformats.org/drawingml/2006/main" r:embed="Raa8d5774b630461c"/>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387CC31C-7A1A-4738-8ED8-8EAF91D53DFD}"/>
              </a:ext>
            </a:extLst>
          </p:cNvPr>
          <p:cNvPicPr>
            <a:picLocks xmlns:a="http://schemas.openxmlformats.org/drawingml/2006/main" noChangeAspect="1"/>
          </p:cNvPicPr>
          <p:nvPr/>
        </p:nvPicPr>
        <p:blipFill>
          <a:blip xmlns:r="http://schemas.openxmlformats.org/officeDocument/2006/relationships" xmlns:a="http://schemas.openxmlformats.org/drawingml/2006/main" r:embed="Rb35a63f75f704cc7"/>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Companion demonstration video</a:t>
            </a:r>
          </a:p>
        </p:txBody>
      </p:sp>
      <p:sp>
        <p:nvSpPr>
          <p:cNvPr id="3" name="">
            <a:extLst xmlns:a="http://schemas.openxmlformats.org/drawingml/2006/main">
              <a:ext uri="{FF2B5EF4-FFF2-40B4-BE49-F238E27FC236}">
                <a16:creationId xmlns:a16="http://schemas.microsoft.com/office/drawing/2014/main" id="{09BA458B-B816-4FE6-9A07-5B247B58F419}"/>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EECDA1A-A518-446C-8477-48167E54E172}"/>
              </a:ext>
            </a:extLst>
          </p:cNvPr>
          <p:cNvSpPr>
            <a:spLocks xmlns:a="http://schemas.openxmlformats.org/drawingml/2006/main" noGrp="1"/>
          </p:cNvSpPr>
          <p:nvPr/>
        </p:nvSpPr>
        <p:spPr>
          <a:xfrm xmlns:a="http://schemas.openxmlformats.org/drawingml/2006/main">
            <a:off x="685800" y="15811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walkthrough follows the saved source, lock-removal diff, results, and restoration.</a:t>
            </a:r>
          </a:p>
        </p:txBody>
      </p:sp>
      <p:sp>
        <p:nvSpPr>
          <p:cNvPr id="5" name="">
            <a:extLst xmlns:a="http://schemas.openxmlformats.org/drawingml/2006/main">
              <a:ext uri="{FF2B5EF4-FFF2-40B4-BE49-F238E27FC236}">
                <a16:creationId xmlns:a16="http://schemas.microsoft.com/office/drawing/2014/main" id="{88E304F7-028B-410C-ACD2-15D93A1602BD}"/>
              </a:ext>
            </a:extLst>
          </p:cNvPr>
          <p:cNvSpPr>
            <a:spLocks xmlns:a="http://schemas.openxmlformats.org/drawingml/2006/main" noGrp="1"/>
          </p:cNvSpPr>
          <p:nvPr/>
        </p:nvSpPr>
        <p:spPr>
          <a:xfrm xmlns:a="http://schemas.openxmlformats.org/drawingml/2006/main">
            <a:off x="685800" y="2400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Open demo-walkthrough.mp4 from the same delivery folder.</a:t>
            </a:r>
          </a:p>
        </p:txBody>
      </p:sp>
      <p:sp>
        <p:nvSpPr>
          <p:cNvPr id="6" name="">
            <a:extLst xmlns:a="http://schemas.openxmlformats.org/drawingml/2006/main">
              <a:ext uri="{FF2B5EF4-FFF2-40B4-BE49-F238E27FC236}">
                <a16:creationId xmlns:a16="http://schemas.microsoft.com/office/drawing/2014/main" id="{38D5CAD5-8033-4FC5-8150-DD889AFE4FF9}"/>
              </a:ext>
            </a:extLst>
          </p:cNvPr>
          <p:cNvSpPr>
            <a:spLocks xmlns:a="http://schemas.openxmlformats.org/drawingml/2006/main" noGrp="1"/>
          </p:cNvSpPr>
          <p:nvPr/>
        </p:nvSpPr>
        <p:spPr>
          <a:xfrm xmlns:a="http://schemas.openxmlformats.org/drawingml/2006/main">
            <a:off x="685800" y="32194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video replays saved source and logs from the original run set.</a:t>
            </a:r>
          </a:p>
        </p:txBody>
      </p:sp>
      <p:sp>
        <p:nvSpPr>
          <p:cNvPr id="7" name="">
            <a:extLst xmlns:a="http://schemas.openxmlformats.org/drawingml/2006/main">
              <a:ext uri="{FF2B5EF4-FFF2-40B4-BE49-F238E27FC236}">
                <a16:creationId xmlns:a16="http://schemas.microsoft.com/office/drawing/2014/main" id="{1B4F9BAD-59B3-47B5-9307-5A4A56A4EEB5}"/>
              </a:ext>
            </a:extLst>
          </p:cNvPr>
          <p:cNvSpPr>
            <a:spLocks xmlns:a="http://schemas.openxmlformats.org/drawingml/2006/main" noGrp="1"/>
          </p:cNvSpPr>
          <p:nvPr/>
        </p:nvSpPr>
        <p:spPr>
          <a:xfrm xmlns:a="http://schemas.openxmlformats.org/drawingml/2006/main">
            <a:off x="685800" y="4610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25E8B"/>
                </a:solidFill>
                <a:latin typeface="Arial"/>
                <a:ea typeface="Arial"/>
                <a:cs typeface="Arial"/>
              </a:defRPr>
            </a:defPPr>
            <a:lvl1pPr>
              <a:buNone/>
              <a:defRPr sz="2550" b="1">
                <a:solidFill>
                  <a:srgbClr val="225E8B"/>
                </a:solidFill>
                <a:latin typeface="Arial"/>
                <a:ea typeface="Arial"/>
                <a:cs typeface="Arial"/>
              </a:defRPr>
            </a:lvl1pPr>
            <a:lvl2pPr>
              <a:buNone/>
              <a:defRPr sz="2550" b="1">
                <a:solidFill>
                  <a:srgbClr val="225E8B"/>
                </a:solidFill>
                <a:latin typeface="Arial"/>
                <a:ea typeface="Arial"/>
                <a:cs typeface="Arial"/>
              </a:defRPr>
            </a:lvl2pPr>
            <a:lvl3pPr>
              <a:buNone/>
              <a:defRPr sz="2550" b="1">
                <a:solidFill>
                  <a:srgbClr val="225E8B"/>
                </a:solidFill>
                <a:latin typeface="Arial"/>
                <a:ea typeface="Arial"/>
                <a:cs typeface="Arial"/>
              </a:defRPr>
            </a:lvl3pPr>
            <a:lvl4pPr>
              <a:buNone/>
              <a:defRPr sz="2550" b="1">
                <a:solidFill>
                  <a:srgbClr val="225E8B"/>
                </a:solidFill>
                <a:latin typeface="Arial"/>
                <a:ea typeface="Arial"/>
                <a:cs typeface="Arial"/>
              </a:defRPr>
            </a:lvl4pPr>
            <a:lvl5pPr>
              <a:buNone/>
              <a:defRPr sz="2550" b="1">
                <a:solidFill>
                  <a:srgbClr val="225E8B"/>
                </a:solidFill>
                <a:latin typeface="Arial"/>
                <a:ea typeface="Arial"/>
                <a:cs typeface="Arial"/>
              </a:defRPr>
            </a:lvl5pPr>
            <a:lvl6pPr>
              <a:buNone/>
              <a:defRPr sz="2550" b="1">
                <a:solidFill>
                  <a:srgbClr val="225E8B"/>
                </a:solidFill>
                <a:latin typeface="Arial"/>
                <a:ea typeface="Arial"/>
                <a:cs typeface="Arial"/>
              </a:defRPr>
            </a:lvl6pPr>
            <a:lvl7pPr>
              <a:buNone/>
              <a:defRPr sz="2550" b="1">
                <a:solidFill>
                  <a:srgbClr val="225E8B"/>
                </a:solidFill>
                <a:latin typeface="Arial"/>
                <a:ea typeface="Arial"/>
                <a:cs typeface="Arial"/>
              </a:defRPr>
            </a:lvl7pPr>
            <a:lvl8pPr>
              <a:buNone/>
              <a:defRPr sz="2550" b="1">
                <a:solidFill>
                  <a:srgbClr val="225E8B"/>
                </a:solidFill>
                <a:latin typeface="Arial"/>
                <a:ea typeface="Arial"/>
                <a:cs typeface="Arial"/>
              </a:defRPr>
            </a:lvl8pPr>
            <a:lvl9pPr>
              <a:buNone/>
              <a:defRPr sz="2550" b="1">
                <a:solidFill>
                  <a:srgbClr val="225E8B"/>
                </a:solidFill>
                <a:latin typeface="Arial"/>
                <a:ea typeface="Arial"/>
                <a:cs typeface="Arial"/>
              </a:defRPr>
            </a:lvl9pPr>
          </a:lstStyle>
          <a:p xmlns:a="http://schemas.openxmlformats.org/drawingml/2006/main">
            <a:pPr>
              <a:buNone/>
              <a:defRPr sz="2550" b="1">
                <a:solidFill>
                  <a:srgbClr val="225E8B"/>
                </a:solidFill>
                <a:latin typeface="Arial"/>
                <a:ea typeface="Arial"/>
                <a:cs typeface="Arial"/>
              </a:defRPr>
            </a:pPr>
            <a:r>
              <a:rPr sz="2550" b="1" u="sng">
                <a:solidFill>
                  <a:srgbClr val="225E8B"/>
                </a:solidFill>
                <a:latin typeface="Arial"/>
                <a:ea typeface="Arial"/>
                <a:cs typeface="Arial"/>
                <a:hlinkClick xmlns:r="http://schemas.openxmlformats.org/officeDocument/2006/relationships" r:id="R46ed4f170e284657"/>
              </a:rPr>
              <a:t>Companion file: demo-walkthrough.mp4</a:t>
            </a:r>
          </a:p>
        </p:txBody>
      </p:sp>
      <p:sp>
        <p:nvSpPr>
          <p:cNvPr id="8" name="">
            <a:extLst xmlns:a="http://schemas.openxmlformats.org/drawingml/2006/main">
              <a:ext uri="{FF2B5EF4-FFF2-40B4-BE49-F238E27FC236}">
                <a16:creationId xmlns:a16="http://schemas.microsoft.com/office/drawing/2014/main" id="{CD458438-F3FB-45B7-A548-BAE60C9FA0D7}"/>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Rendered walkthrough from saved artifacts, not a live desktop recording.</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FD0C5AE0-1F89-4033-8D42-5F41BE61B0E6}"/>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Other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 validation unlocked: 1 corruption, 6 panic/trap, 2 failures, 1 timeout. Original: 3 corruption, 4 panic/trap, 2 failures, 1 timeout.</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88513B3A-ABE2-4742-9176-E26BC8E83FA4}"/>
              </a:ext>
            </a:extLst>
          </p:cNvPr>
          <p:cNvPicPr>
            <a:picLocks xmlns:a="http://schemas.openxmlformats.org/drawingml/2006/main" noChangeAspect="1"/>
          </p:cNvPicPr>
          <p:nvPr/>
        </p:nvPicPr>
        <p:blipFill>
          <a:blip xmlns:r="http://schemas.openxmlformats.org/officeDocument/2006/relationships" xmlns:a="http://schemas.openxmlformats.org/drawingml/2006/main" r:embed="Re7e16fea943b447d"/>
          <a:stretch xmlns:a="http://schemas.openxmlformats.org/drawingml/2006/main"/>
        </p:blipFill>
        <p:spPr>
          <a:xfrm xmlns:a="http://schemas.openxmlformats.org/drawingml/2006/main">
            <a:off x="6234113" y="1476375"/>
            <a:ext cx="4724400"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02A"/>
                </a:solidFill>
                <a:latin typeface="Arial"/>
                <a:ea typeface="Arial"/>
                <a:cs typeface="Arial"/>
              </a:defRPr>
            </a:defPPr>
            <a:lvl1pPr>
              <a:buNone/>
              <a:defRPr sz="1725" b="0">
                <a:solidFill>
                  <a:srgbClr val="17202A"/>
                </a:solidFill>
                <a:latin typeface="Arial"/>
                <a:ea typeface="Arial"/>
                <a:cs typeface="Arial"/>
              </a:defRPr>
            </a:lvl1pPr>
            <a:lvl2pPr>
              <a:buNone/>
              <a:defRPr sz="1725" b="0">
                <a:solidFill>
                  <a:srgbClr val="17202A"/>
                </a:solidFill>
                <a:latin typeface="Arial"/>
                <a:ea typeface="Arial"/>
                <a:cs typeface="Arial"/>
              </a:defRPr>
            </a:lvl2pPr>
            <a:lvl3pPr>
              <a:buNone/>
              <a:defRPr sz="1725" b="0">
                <a:solidFill>
                  <a:srgbClr val="17202A"/>
                </a:solidFill>
                <a:latin typeface="Arial"/>
                <a:ea typeface="Arial"/>
                <a:cs typeface="Arial"/>
              </a:defRPr>
            </a:lvl3pPr>
            <a:lvl4pPr>
              <a:buNone/>
              <a:defRPr sz="1725" b="0">
                <a:solidFill>
                  <a:srgbClr val="17202A"/>
                </a:solidFill>
                <a:latin typeface="Arial"/>
                <a:ea typeface="Arial"/>
                <a:cs typeface="Arial"/>
              </a:defRPr>
            </a:lvl4pPr>
            <a:lvl5pPr>
              <a:buNone/>
              <a:defRPr sz="1725" b="0">
                <a:solidFill>
                  <a:srgbClr val="17202A"/>
                </a:solidFill>
                <a:latin typeface="Arial"/>
                <a:ea typeface="Arial"/>
                <a:cs typeface="Arial"/>
              </a:defRPr>
            </a:lvl5pPr>
            <a:lvl6pPr>
              <a:buNone/>
              <a:defRPr sz="1725" b="0">
                <a:solidFill>
                  <a:srgbClr val="17202A"/>
                </a:solidFill>
                <a:latin typeface="Arial"/>
                <a:ea typeface="Arial"/>
                <a:cs typeface="Arial"/>
              </a:defRPr>
            </a:lvl6pPr>
            <a:lvl7pPr>
              <a:buNone/>
              <a:defRPr sz="1725" b="0">
                <a:solidFill>
                  <a:srgbClr val="17202A"/>
                </a:solidFill>
                <a:latin typeface="Arial"/>
                <a:ea typeface="Arial"/>
                <a:cs typeface="Arial"/>
              </a:defRPr>
            </a:lvl7pPr>
            <a:lvl8pPr>
              <a:buNone/>
              <a:defRPr sz="1725" b="0">
                <a:solidFill>
                  <a:srgbClr val="17202A"/>
                </a:solidFill>
                <a:latin typeface="Arial"/>
                <a:ea typeface="Arial"/>
                <a:cs typeface="Arial"/>
              </a:defRPr>
            </a:lvl8pPr>
            <a:lvl9pPr>
              <a:buNone/>
              <a:defRPr sz="1725" b="0">
                <a:solidFill>
                  <a:srgbClr val="17202A"/>
                </a:solidFill>
                <a:latin typeface="Arial"/>
                <a:ea typeface="Arial"/>
                <a:cs typeface="Arial"/>
              </a:defRPr>
            </a:lvl9pPr>
          </a:lstStyle>
          <a:p xmlns:a="http://schemas.openxmlformats.org/drawingml/2006/main">
            <a:pPr>
              <a:buNone/>
              <a:defRPr sz="1725" b="0">
                <a:solidFill>
                  <a:srgbClr val="17202A"/>
                </a:solidFill>
                <a:latin typeface="Arial"/>
                <a:ea typeface="Arial"/>
                <a:cs typeface="Arial"/>
              </a:defRPr>
            </a:pPr>
            <a:r>
              <a:rPr sz="1725" b="0">
                <a:solidFill>
                  <a:srgbClr val="17202A"/>
                </a:solidFill>
                <a:latin typeface="Arial"/>
                <a:ea typeface="Arial"/>
                <a:cs typeface="Arial"/>
              </a:rPr>
              <a:t>xv6 RISC-V source at commit f780d7850765d74cbdcd1fff4b822d8829f7c9bd</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MIT xv6 book, Locking chapter</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POSIX.1 Base Definitions, memory synchronization</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Local evidence: original and c_validation CSVs, logs, diffs, checksums</a:t>
            </a:r>
          </a:p>
        </p:txBody>
      </p:sp>
      <p:sp>
        <p:nvSpPr>
          <p:cNvPr id="8" name="">
            <a:extLst xmlns:a="http://schemas.openxmlformats.org/drawingml/2006/main">
              <a:ext uri="{FF2B5EF4-FFF2-40B4-BE49-F238E27FC236}">
                <a16:creationId xmlns:a16="http://schemas.microsoft.com/office/drawing/2014/main" id="{F20C50C0-B0EE-4DAB-884D-936800B5E2F6}"/>
              </a:ext>
            </a:extLst>
          </p:cNvPr>
          <p:cNvSpPr>
            <a:spLocks xmlns:a="http://schemas.openxmlformats.org/drawingml/2006/main" noGrp="1"/>
          </p:cNvSpPr>
          <p:nvPr/>
        </p:nvSpPr>
        <p:spPr>
          <a:xfrm xmlns:a="http://schemas.openxmlformats.org/drawingml/2006/main">
            <a:off x="685800" y="4800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Faculty guidelines: 1000097330.pdf; team division PDF</a:t>
            </a:r>
          </a:p>
        </p:txBody>
      </p:sp>
      <p:sp>
        <p:nvSpPr>
          <p:cNvPr id="9" name="">
            <a:extLst xmlns:a="http://schemas.openxmlformats.org/drawingml/2006/main">
              <a:ext uri="{FF2B5EF4-FFF2-40B4-BE49-F238E27FC236}">
                <a16:creationId xmlns:a16="http://schemas.microsoft.com/office/drawing/2014/main" id="{287C9EA9-BEFD-47F3-A521-8BF06C440070}"/>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Full URLs and evidence locations are in speaker notes and report references.</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2026-10-26T08:17:35.6560000Z</dcterms:created>
  <dcterms:modified xsi:type="dcterms:W3CDTF">2026-10-26T08:17:35.6560000Z</dcterms:modified>
</coreProperties>
</file>