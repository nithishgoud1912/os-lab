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994a1c14e04b2b" /><Relationship Type="http://schemas.openxmlformats.org/officeDocument/2006/relationships/extended-properties" Target="/docProps/app.xml" Id="R76d2cb7462ef45b5" /><Relationship Type="http://schemas.openxmlformats.org/officeDocument/2006/relationships/officeDocument" Target="/ppt/presentation.xml" Id="R8e23c00c28c64e89" /></Relationships>
</file>

<file path=ppt/presentation.xml><?xml version="1.0" encoding="utf-8"?>
<p:presentation xmlns:p="http://schemas.openxmlformats.org/presentationml/2006/main">
  <p:sldMasterIdLst>
    <p:sldMasterId xmlns:r="http://schemas.openxmlformats.org/officeDocument/2006/relationships" id="2147483648" r:id="Rfe4196c3e0984c6f"/>
  </p:sldMasterIdLst>
  <p:notesMasterIdLst>
    <p:notesMasterId xmlns:r="http://schemas.openxmlformats.org/officeDocument/2006/relationships" r:id="R77e199aac5f345f8"/>
  </p:notesMasterIdLst>
  <p:sldIdLst>
    <p:sldId xmlns:r="http://schemas.openxmlformats.org/officeDocument/2006/relationships" id="256" r:id="R58b3568736bb425b"/>
    <p:sldId xmlns:r="http://schemas.openxmlformats.org/officeDocument/2006/relationships" id="257" r:id="Rc3665dfd107347df"/>
    <p:sldId xmlns:r="http://schemas.openxmlformats.org/officeDocument/2006/relationships" id="258" r:id="R15345d929f874bad"/>
    <p:sldId xmlns:r="http://schemas.openxmlformats.org/officeDocument/2006/relationships" id="259" r:id="Rdfa18b287b254d8b"/>
    <p:sldId xmlns:r="http://schemas.openxmlformats.org/officeDocument/2006/relationships" id="260" r:id="R665e93eefb4d4916"/>
    <p:sldId xmlns:r="http://schemas.openxmlformats.org/officeDocument/2006/relationships" id="261" r:id="R131b13bc87404ff1"/>
    <p:sldId xmlns:r="http://schemas.openxmlformats.org/officeDocument/2006/relationships" id="262" r:id="R6ec016dec5c94be2"/>
    <p:sldId xmlns:r="http://schemas.openxmlformats.org/officeDocument/2006/relationships" id="263" r:id="R470076f42c0d4568"/>
    <p:sldId xmlns:r="http://schemas.openxmlformats.org/officeDocument/2006/relationships" id="264" r:id="Reae7cb36223d4277"/>
    <p:sldId xmlns:r="http://schemas.openxmlformats.org/officeDocument/2006/relationships" id="265" r:id="R02f70e02979d4892"/>
    <p:sldId xmlns:r="http://schemas.openxmlformats.org/officeDocument/2006/relationships" id="266" r:id="Re788fad406c54042"/>
    <p:sldId xmlns:r="http://schemas.openxmlformats.org/officeDocument/2006/relationships" id="267" r:id="R523c9e890afe4ede"/>
    <p:sldId xmlns:r="http://schemas.openxmlformats.org/officeDocument/2006/relationships" id="268" r:id="R0d26b44505ff4745"/>
    <p:sldId xmlns:r="http://schemas.openxmlformats.org/officeDocument/2006/relationships" id="269" r:id="R16e178668a0e4f45"/>
    <p:sldId xmlns:r="http://schemas.openxmlformats.org/officeDocument/2006/relationships" id="270" r:id="Ra307d29c57194b86"/>
    <p:sldId xmlns:r="http://schemas.openxmlformats.org/officeDocument/2006/relationships" id="271" r:id="Ra75fadeed6c14d0b"/>
    <p:sldId xmlns:r="http://schemas.openxmlformats.org/officeDocument/2006/relationships" id="272" r:id="Rb062006a6005437f"/>
    <p:sldId xmlns:r="http://schemas.openxmlformats.org/officeDocument/2006/relationships" id="273" r:id="R1e58baef86e34847"/>
    <p:sldId xmlns:r="http://schemas.openxmlformats.org/officeDocument/2006/relationships" id="274" r:id="Rd32f39e2d30b41c2"/>
    <p:sldId xmlns:r="http://schemas.openxmlformats.org/officeDocument/2006/relationships" id="275" r:id="R38567149cb0542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03a28c2ad947c0" /><Relationship Type="http://schemas.openxmlformats.org/officeDocument/2006/relationships/slideMaster" Target="/ppt/slideMasters/slideMaster1.xml" Id="Rfe4196c3e0984c6f" /><Relationship Type="http://schemas.openxmlformats.org/officeDocument/2006/relationships/notesMaster" Target="/ppt/notesMasters/notesMaster1.xml" Id="R77e199aac5f345f8" /><Relationship Type="http://schemas.openxmlformats.org/officeDocument/2006/relationships/presProps" Target="/ppt/presProps.xml" Id="Rb92c988d8fcf4f3d" /><Relationship Type="http://schemas.openxmlformats.org/officeDocument/2006/relationships/tableStyles" Target="/ppt/tableStyles.xml" Id="R99534142968f43de" /><Relationship Type="http://schemas.openxmlformats.org/officeDocument/2006/relationships/slide" Target="/ppt/slides/slide1.xml" Id="R58b3568736bb425b" /><Relationship Type="http://schemas.openxmlformats.org/officeDocument/2006/relationships/slide" Target="/ppt/slides/slide2.xml" Id="Rc3665dfd107347df" /><Relationship Type="http://schemas.openxmlformats.org/officeDocument/2006/relationships/slide" Target="/ppt/slides/slide3.xml" Id="R15345d929f874bad" /><Relationship Type="http://schemas.openxmlformats.org/officeDocument/2006/relationships/slide" Target="/ppt/slides/slide4.xml" Id="Rdfa18b287b254d8b" /><Relationship Type="http://schemas.openxmlformats.org/officeDocument/2006/relationships/slide" Target="/ppt/slides/slide5.xml" Id="R665e93eefb4d4916" /><Relationship Type="http://schemas.openxmlformats.org/officeDocument/2006/relationships/slide" Target="/ppt/slides/slide6.xml" Id="R131b13bc87404ff1" /><Relationship Type="http://schemas.openxmlformats.org/officeDocument/2006/relationships/slide" Target="/ppt/slides/slide7.xml" Id="R6ec016dec5c94be2" /><Relationship Type="http://schemas.openxmlformats.org/officeDocument/2006/relationships/slide" Target="/ppt/slides/slide8.xml" Id="R470076f42c0d4568" /><Relationship Type="http://schemas.openxmlformats.org/officeDocument/2006/relationships/slide" Target="/ppt/slides/slide9.xml" Id="Reae7cb36223d4277" /><Relationship Type="http://schemas.openxmlformats.org/officeDocument/2006/relationships/slide" Target="/ppt/slides/slide10.xml" Id="R02f70e02979d4892" /><Relationship Type="http://schemas.openxmlformats.org/officeDocument/2006/relationships/slide" Target="/ppt/slides/slide11.xml" Id="Re788fad406c54042" /><Relationship Type="http://schemas.openxmlformats.org/officeDocument/2006/relationships/slide" Target="/ppt/slides/slide12.xml" Id="R523c9e890afe4ede" /><Relationship Type="http://schemas.openxmlformats.org/officeDocument/2006/relationships/slide" Target="/ppt/slides/slide13.xml" Id="R0d26b44505ff4745" /><Relationship Type="http://schemas.openxmlformats.org/officeDocument/2006/relationships/slide" Target="/ppt/slides/slide14.xml" Id="R16e178668a0e4f45" /><Relationship Type="http://schemas.openxmlformats.org/officeDocument/2006/relationships/slide" Target="/ppt/slides/slide15.xml" Id="Ra307d29c57194b86" /><Relationship Type="http://schemas.openxmlformats.org/officeDocument/2006/relationships/slide" Target="/ppt/slides/slide16.xml" Id="Ra75fadeed6c14d0b" /><Relationship Type="http://schemas.openxmlformats.org/officeDocument/2006/relationships/slide" Target="/ppt/slides/slide17.xml" Id="Rb062006a6005437f" /><Relationship Type="http://schemas.openxmlformats.org/officeDocument/2006/relationships/slide" Target="/ppt/slides/slide18.xml" Id="R1e58baef86e34847" /><Relationship Type="http://schemas.openxmlformats.org/officeDocument/2006/relationships/slide" Target="/ppt/slides/slide19.xml" Id="Rd32f39e2d30b41c2" /><Relationship Type="http://schemas.openxmlformats.org/officeDocument/2006/relationships/slide" Target="/ppt/slides/slide20.xml" Id="R38567149cb0542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cd5fb4931845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a6e41c92aa4178" /><Relationship Type="http://schemas.openxmlformats.org/officeDocument/2006/relationships/notesMaster" Target="/ppt/notesMasters/notesMaster1.xml" Id="R443e82a24b414a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728a3aa84a4945" /><Relationship Type="http://schemas.openxmlformats.org/officeDocument/2006/relationships/notesMaster" Target="/ppt/notesMasters/notesMaster1.xml" Id="R51f0b5c1c69d45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21c836cda84549" /><Relationship Type="http://schemas.openxmlformats.org/officeDocument/2006/relationships/notesMaster" Target="/ppt/notesMasters/notesMaster1.xml" Id="R65ba831fc093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07340002dc4d70" /><Relationship Type="http://schemas.openxmlformats.org/officeDocument/2006/relationships/notesMaster" Target="/ppt/notesMasters/notesMaster1.xml" Id="R638101f89a5748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7e0a6204d24551" /><Relationship Type="http://schemas.openxmlformats.org/officeDocument/2006/relationships/notesMaster" Target="/ppt/notesMasters/notesMaster1.xml" Id="Re72ded32a2974b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67d28486a542a4" /><Relationship Type="http://schemas.openxmlformats.org/officeDocument/2006/relationships/notesMaster" Target="/ppt/notesMasters/notesMaster1.xml" Id="R8b7a330bea0d4a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2ed467001747d3" /><Relationship Type="http://schemas.openxmlformats.org/officeDocument/2006/relationships/notesMaster" Target="/ppt/notesMasters/notesMaster1.xml" Id="Rcfec573d48d148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2d5ccc4597414d" /><Relationship Type="http://schemas.openxmlformats.org/officeDocument/2006/relationships/notesMaster" Target="/ppt/notesMasters/notesMaster1.xml" Id="R76087a38d8504f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05e51802444246" /><Relationship Type="http://schemas.openxmlformats.org/officeDocument/2006/relationships/notesMaster" Target="/ppt/notesMasters/notesMaster1.xml" Id="Rc023b6d0ffd04a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dc3927b61b42a8" /><Relationship Type="http://schemas.openxmlformats.org/officeDocument/2006/relationships/notesMaster" Target="/ppt/notesMasters/notesMaster1.xml" Id="Rb3dff68e5dd342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2c6e5084d548b0" /><Relationship Type="http://schemas.openxmlformats.org/officeDocument/2006/relationships/notesMaster" Target="/ppt/notesMasters/notesMaster1.xml" Id="Rbdd3f7a28ec74e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abc8d8ea8b4326" /><Relationship Type="http://schemas.openxmlformats.org/officeDocument/2006/relationships/notesMaster" Target="/ppt/notesMasters/notesMaster1.xml" Id="R395172b57ee840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cd82d0742a4fea" /><Relationship Type="http://schemas.openxmlformats.org/officeDocument/2006/relationships/notesMaster" Target="/ppt/notesMasters/notesMaster1.xml" Id="R0fcb055bd99c48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79a0feae4e405b" /><Relationship Type="http://schemas.openxmlformats.org/officeDocument/2006/relationships/notesMaster" Target="/ppt/notesMasters/notesMaster1.xml" Id="R227d5f5620cf4e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b16231fc3d403a" /><Relationship Type="http://schemas.openxmlformats.org/officeDocument/2006/relationships/notesMaster" Target="/ppt/notesMasters/notesMaster1.xml" Id="Rca44bf5614ae44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6a38683acb4aed" /><Relationship Type="http://schemas.openxmlformats.org/officeDocument/2006/relationships/notesMaster" Target="/ppt/notesMasters/notesMaster1.xml" Id="R5a2434133a7349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db99f6a20074a5d" /><Relationship Type="http://schemas.openxmlformats.org/officeDocument/2006/relationships/notesMaster" Target="/ppt/notesMasters/notesMaster1.xml" Id="Rb85c3e7d55f54e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b9a4c0043a43a4" /><Relationship Type="http://schemas.openxmlformats.org/officeDocument/2006/relationships/notesMaster" Target="/ppt/notesMasters/notesMaster1.xml" Id="Rbe704a0d988641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298255ee524a1b" /><Relationship Type="http://schemas.openxmlformats.org/officeDocument/2006/relationships/notesMaster" Target="/ppt/notesMasters/notesMaster1.xml" Id="R4515d1e5ae3a44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540c773a13448c" /><Relationship Type="http://schemas.openxmlformats.org/officeDocument/2006/relationships/notesMaster" Target="/ppt/notesMasters/notesMaster1.xml" Id="R72335f3b8c3e4d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xv6 shared kernel data and its existing locks. The project compares original locking, a temporary four-call removal, and restoration. The motivation is that multiple CPUs can request and release physical pages concurrently.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xv6 uses one global kmem.lock for a single physical-page free list. This is simple and correct but serializes allocators and can make CPUs spin under contention. Per-CPU free lists can reduce that contention but need page refill or stealing logic. A lock-free compare-and-swap path needs safe pointer handling, including ABA mitigation. These alternatives were not implemented or benchmarked. Other shared structures listed here were reviewed at source level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operations so shared state stays correct. A critical section groups dependent reads and writes. Common mechanisms include mutexes, spinlocks, semaphores, condition variables, reader-writer locks, barriers, and atomic operations. The experiment evaluates only xv6’s allocator spinlock.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A01 .cast recording. It shows a fresh xv6 boot, the race_test parameters, and PASS. The locked baseline had 10 PASS outcomes in 10 attempts. No video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B02 .cast recording. It shows the corruption message followed by kerneltrap. The primary outcome is CORRUPTION under the classifier precedence; the time limit did not expire in this 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allocator bytes were restored, the final allocator diff was empty, and the kernel was rebuilt. Static terminal still reconstructed from saved C01 .cast recording shows PASS. The restored phase had 10 PASS outcomes in 10 attempts. No video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and table compare two separate 30-attempt datasets. Unlocked outcomes: original set, 3 corruption, 4 panic/trap, 2 test failures, 1 timeout; C-runner, 1 corruption, 6 panic/trap, 2 test failures, 1 timeout. Both locked and restored phases passed 10/10 in each set. The host elapsed time begins when the shell prompt is detected, just before race_test is sent, and includes result detection and a short collection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xv6 library (MIT PDOS), https://github.com/mit-pdos/xv6-riscv; MIT xv6 RISC-V book, Locking chapter, https://mit-pdos.github.io/xv6-riscv-book/lock.html; The Open Group memory synchronization specification, https://pubs.opengroup.org/onlinepubs/9699919799/basedefs/V1_chap04.html; Michael and Scott, Nonblocking algorithms and ABA, https://www.cs.rochester.edu/u/scott/papers/1998_JPDC_nonblocking.pdf.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232f4d75864f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38127ba7894e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abb447a10346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4c37591a9b48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0a2972d7fc48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615350c8db44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4de86941424bdc" /><Relationship Type="http://schemas.openxmlformats.org/officeDocument/2006/relationships/slideLayout" Target="/ppt/slideLayouts/slideLayout1.xml" Id="R175671f8d946404e" /><Relationship Type="http://schemas.openxmlformats.org/officeDocument/2006/relationships/slideLayout" Target="/ppt/slideLayouts/slideLayout2.xml" Id="Raa51ece65f814264" /><Relationship Type="http://schemas.openxmlformats.org/officeDocument/2006/relationships/slideLayout" Target="/ppt/slideLayouts/slideLayout3.xml" Id="Re32f1dd66b8549c7" /><Relationship Type="http://schemas.openxmlformats.org/officeDocument/2006/relationships/slideLayout" Target="/ppt/slideLayouts/slideLayout4.xml" Id="R0bf4a197c8ee427b" /><Relationship Type="http://schemas.openxmlformats.org/officeDocument/2006/relationships/slideLayout" Target="/ppt/slideLayouts/slideLayout5.xml" Id="R60af6796a3a44a74" /><Relationship Type="http://schemas.openxmlformats.org/officeDocument/2006/relationships/slideLayout" Target="/ppt/slideLayouts/slideLayout6.xml" Id="R559177e6c3844b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5671f8d946404e"/>
    <p:sldLayoutId xmlns:r="http://schemas.openxmlformats.org/officeDocument/2006/relationships" id="2147483650" r:id="Raa51ece65f814264"/>
    <p:sldLayoutId xmlns:r="http://schemas.openxmlformats.org/officeDocument/2006/relationships" id="2147483651" r:id="Re32f1dd66b8549c7"/>
    <p:sldLayoutId xmlns:r="http://schemas.openxmlformats.org/officeDocument/2006/relationships" id="2147483652" r:id="R0bf4a197c8ee427b"/>
    <p:sldLayoutId xmlns:r="http://schemas.openxmlformats.org/officeDocument/2006/relationships" id="2147483653" r:id="R60af6796a3a44a74"/>
    <p:sldLayoutId xmlns:r="http://schemas.openxmlformats.org/officeDocument/2006/relationships" id="2147483654" r:id="R559177e6c3844b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98bb4bf44c4afe" /><Relationship Type="http://schemas.openxmlformats.org/officeDocument/2006/relationships/notesSlide" Target="/ppt/notesSlides/notesSlide1.xml" Id="R80267f619c7e40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61beef25a242d9" /><Relationship Type="http://schemas.openxmlformats.org/officeDocument/2006/relationships/notesSlide" Target="/ppt/notesSlides/notesSlide2.xml" Id="R660aa2aa3f854e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068f68fffa473e" /><Relationship Type="http://schemas.openxmlformats.org/officeDocument/2006/relationships/notesSlide" Target="/ppt/notesSlides/notesSlide3.xml" Id="R1fafd1ef0b0d4c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1cf9bf96c0486d" /><Relationship Type="http://schemas.openxmlformats.org/officeDocument/2006/relationships/notesSlide" Target="/ppt/notesSlides/notesSlide4.xml" Id="R649235607b914e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a8b9b70d0548a2" /><Relationship Type="http://schemas.openxmlformats.org/officeDocument/2006/relationships/notesSlide" Target="/ppt/notesSlides/notesSlide5.xml" Id="R07d57b64b37144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5deef288fe40b7" /><Relationship Type="http://schemas.openxmlformats.org/officeDocument/2006/relationships/notesSlide" Target="/ppt/notesSlides/notesSlide6.xml" Id="R4a75d5f1e5554d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dcf5a430a043aa" /><Relationship Type="http://schemas.openxmlformats.org/officeDocument/2006/relationships/notesSlide" Target="/ppt/notesSlides/notesSlide7.xml" Id="R54d9efc8712a40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4d6e60f854b4068" /><Relationship Type="http://schemas.openxmlformats.org/officeDocument/2006/relationships/notesSlide" Target="/ppt/notesSlides/notesSlide8.xml" Id="R187c991d71d441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d392a42fd7474a" /><Relationship Type="http://schemas.openxmlformats.org/officeDocument/2006/relationships/notesSlide" Target="/ppt/notesSlides/notesSlide9.xml" Id="R20c63c7c104249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8001de970e34d4e" /><Relationship Type="http://schemas.openxmlformats.org/officeDocument/2006/relationships/notesSlide" Target="/ppt/notesSlides/notesSlide10.xml" Id="R6a2c9dc1a77c45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fc314ee0b54c20" /><Relationship Type="http://schemas.openxmlformats.org/officeDocument/2006/relationships/notesSlide" Target="/ppt/notesSlides/notesSlide11.xml" Id="Ra2f77a1dec984c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ac3d287f49141bd" /><Relationship Type="http://schemas.openxmlformats.org/officeDocument/2006/relationships/notesSlide" Target="/ppt/notesSlides/notesSlide12.xml" Id="Re2f179ea987344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fe7b582ee614fff" /><Relationship Type="http://schemas.openxmlformats.org/officeDocument/2006/relationships/notesSlide" Target="/ppt/notesSlides/notesSlide13.xml" Id="Ra02fd7116f3d4d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ce1f00342164f05" /><Relationship Type="http://schemas.openxmlformats.org/officeDocument/2006/relationships/image" Target="/ppt/media/image.png" Id="R48f416d929a44d31" /><Relationship Type="http://schemas.openxmlformats.org/officeDocument/2006/relationships/notesSlide" Target="/ppt/notesSlides/notesSlide14.xml" Id="Re032b1cef44148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2dfaf1b643f4ac3" /><Relationship Type="http://schemas.openxmlformats.org/officeDocument/2006/relationships/notesSlide" Target="/ppt/notesSlides/notesSlide15.xml" Id="R490acd8673e04e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6cd1bcffe384d75" /><Relationship Type="http://schemas.openxmlformats.org/officeDocument/2006/relationships/image" Target="/ppt/media/image2.png" Id="R4ede72a230d448ec" /><Relationship Type="http://schemas.openxmlformats.org/officeDocument/2006/relationships/notesSlide" Target="/ppt/notesSlides/notesSlide16.xml" Id="Rdd32c029108642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fbbb91e208d4ab2" /><Relationship Type="http://schemas.openxmlformats.org/officeDocument/2006/relationships/image" Target="/ppt/media/image3.png" Id="R1ef15248e8b940d6" /><Relationship Type="http://schemas.openxmlformats.org/officeDocument/2006/relationships/notesSlide" Target="/ppt/notesSlides/notesSlide17.xml" Id="R59d14ba1645b42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ccac36748094649" /><Relationship Type="http://schemas.openxmlformats.org/officeDocument/2006/relationships/image" Target="/ppt/media/image4.png" Id="R2c70c25e05564fa6" /><Relationship Type="http://schemas.openxmlformats.org/officeDocument/2006/relationships/notesSlide" Target="/ppt/notesSlides/notesSlide18.xml" Id="R19575af36fb846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f3b858e5dfd4f3b" /><Relationship Type="http://schemas.openxmlformats.org/officeDocument/2006/relationships/notesSlide" Target="/ppt/notesSlides/notesSlide19.xml" Id="R75038ba7514847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1bdfce0e6814001" /><Relationship Type="http://schemas.openxmlformats.org/officeDocument/2006/relationships/notesSlide" Target="/ppt/notesSlides/notesSlide20.xml" Id="R543f65426cdf4e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study concurrent access to shared kernel data without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Analyze how xv6 locks prevent inconsistent updates.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critical sections, identify shared data, explain mutual exclusion, observe concurrent updates, and explain lock safety.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7202A"/>
                </a:solidFill>
                <a:latin typeface="Arial"/>
                <a:ea typeface="Arial"/>
                <a:cs typeface="Arial"/>
              </a:defRPr>
            </a:defPPr>
            <a:lvl1pPr algn="l">
              <a:buNone/>
              <a:defRPr sz="1500" b="0">
                <a:solidFill>
                  <a:srgbClr val="53616E"/>
                </a:solidFill>
                <a:latin typeface="Arial"/>
                <a:ea typeface="Arial"/>
                <a:cs typeface="Arial"/>
              </a:defRPr>
            </a:lvl1pPr>
            <a:lvl2pPr algn="l">
              <a:buNone/>
              <a:defRPr sz="1500" b="0">
                <a:solidFill>
                  <a:srgbClr val="53616E"/>
                </a:solidFill>
                <a:latin typeface="Arial"/>
                <a:ea typeface="Arial"/>
                <a:cs typeface="Arial"/>
              </a:defRPr>
            </a:lvl2pPr>
            <a:lvl3pPr algn="l">
              <a:buNone/>
              <a:defRPr sz="1500" b="0">
                <a:solidFill>
                  <a:srgbClr val="53616E"/>
                </a:solidFill>
                <a:latin typeface="Arial"/>
                <a:ea typeface="Arial"/>
                <a:cs typeface="Arial"/>
              </a:defRPr>
            </a:lvl3pPr>
            <a:lvl4pPr algn="l">
              <a:buNone/>
              <a:defRPr sz="1500" b="0">
                <a:solidFill>
                  <a:srgbClr val="53616E"/>
                </a:solidFill>
                <a:latin typeface="Arial"/>
                <a:ea typeface="Arial"/>
                <a:cs typeface="Arial"/>
              </a:defRPr>
            </a:lvl4pPr>
            <a:lvl5pPr algn="l">
              <a:buNone/>
              <a:defRPr sz="1500" b="0">
                <a:solidFill>
                  <a:srgbClr val="53616E"/>
                </a:solidFill>
                <a:latin typeface="Arial"/>
                <a:ea typeface="Arial"/>
                <a:cs typeface="Arial"/>
              </a:defRPr>
            </a:lvl5pPr>
            <a:lvl6pPr algn="l">
              <a:buNone/>
              <a:defRPr sz="1500" b="0">
                <a:solidFill>
                  <a:srgbClr val="53616E"/>
                </a:solidFill>
                <a:latin typeface="Arial"/>
                <a:ea typeface="Arial"/>
                <a:cs typeface="Arial"/>
              </a:defRPr>
            </a:lvl6pPr>
            <a:lvl7pPr algn="l">
              <a:buNone/>
              <a:defRPr sz="1500" b="0">
                <a:solidFill>
                  <a:srgbClr val="53616E"/>
                </a:solidFill>
                <a:latin typeface="Arial"/>
                <a:ea typeface="Arial"/>
                <a:cs typeface="Arial"/>
              </a:defRPr>
            </a:lvl7pPr>
            <a:lvl8pPr algn="l">
              <a:buNone/>
              <a:defRPr sz="1500" b="0">
                <a:solidFill>
                  <a:srgbClr val="53616E"/>
                </a:solidFill>
                <a:latin typeface="Arial"/>
                <a:ea typeface="Arial"/>
                <a:cs typeface="Arial"/>
              </a:defRPr>
            </a:lvl8pPr>
            <a:lvl9pPr algn="l">
              <a:buNone/>
              <a:defRPr sz="1500" b="0">
                <a:solidFill>
                  <a:srgbClr val="53616E"/>
                </a:solidFill>
                <a:latin typeface="Arial"/>
                <a:ea typeface="Arial"/>
                <a:cs typeface="Arial"/>
              </a:defRPr>
            </a:lvl9pPr>
          </a:lstStyle>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Motivation: four CPUs share one allocator. Activities: stress, remove and restore four lock calls, compare. Outcome: explain lock safety.</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condition: shared-data correctness depends on how concurrent operations interleave.</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65A6880F-2561-4B00-800B-CB1AB93BBEFB}"/>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callers may return P and corrupt separate processes' data.</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make a free page unreachable.</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corrupt memory or trap the kernel.</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Damage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 timeout is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Existing System: xv6 shared structures</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Shared kernel structures and their locks</a:t>
            </a:r>
          </a:p>
        </p:txBody>
      </p:sp>
      <p:graphicFrame>
        <p:nvGraphicFramePr>
          <p:cNvPr id="5" name="">
            <a:extLst xmlns:a="http://schemas.openxmlformats.org/drawingml/2006/main">
              <a:ext uri="{FF2B5EF4-FFF2-40B4-BE49-F238E27FC236}">
                <a16:creationId xmlns:a16="http://schemas.microsoft.com/office/drawing/2014/main" id="{7636B0B1-DDD4-4A0B-AFC5-E9BF9B61E479}"/>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Shared structure</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Lock and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Physical-page free list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kmem.lock — serializes kalloc() and kfree()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Process table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p-&gt;lock — protects per-process state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PID allocator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pid_lock — coordinates PID assignment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Parent/child state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wait_lock — coordinates wait transitions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Buffer cache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bcache.lock — protects shared metadata</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Timer ticks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tickslock — protects the shared tick count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One global kmem.lock can contend. Per-CPU lists need refill/steal; CAS needs ABA-safe reclamation. Neither was tested.</a:t>
            </a:r>
          </a:p>
        </p:txBody>
      </p:sp>
    </p:spTree>
    <p:extLst>
      <p:ext uri="{BB962C8B-B14F-4D97-AF65-F5344CB8AC3E}">
        <p14:creationId xmlns:p14="http://schemas.microsoft.com/office/powerpoint/2010/main" val="16018613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Proposed Solution</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kmem.lock around each free-list update.</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the complete read-and-update sequence.</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ownership with acquire/release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critical section short.</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experiment restores xv6’s existing allocator lock.</a:t>
            </a:r>
          </a:p>
        </p:txBody>
      </p:sp>
    </p:spTree>
    <p:extLst>
      <p:ext uri="{BB962C8B-B14F-4D97-AF65-F5344CB8AC3E}">
        <p14:creationId xmlns:p14="http://schemas.microsoft.com/office/powerpoint/2010/main" val="11413415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Synchronization and 5. Types</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operations so shared state stays correct.</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 critical section protects dependent reads and writes as one operation.</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Types: mutex, spinlock, semaphore, condition variable, reader-writer lock, barrier, atomic.</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xv6 uses a spinlock for the allocator; this study tests that lock.</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Atomic ownership excludes other CPUs; interrupt masking alone cannot.</a:t>
            </a:r>
          </a:p>
        </p:txBody>
      </p:sp>
    </p:spTree>
    <p:extLst>
      <p:ext uri="{BB962C8B-B14F-4D97-AF65-F5344CB8AC3E}">
        <p14:creationId xmlns:p14="http://schemas.microsoft.com/office/powerpoint/2010/main" val="13607233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F8247BF2-CAB0-4802-8224-7E4F0FF6251D}"/>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251700F2-F122-47C8-A486-0BC85C0043F8}"/>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98FE9823-5130-4FDE-9CB7-F66366F96A8E}"/>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428F122E-F668-443E-AF79-EEA24EBC1108}"/>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4CCB6A65-D8A9-4B5A-BA0A-1054CBDFE76F}"/>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00F350B3-B3C2-4C2F-91B6-D33E4DF6A825}"/>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BB0CB7EE-D490-456C-9C6C-6B0FF3D31EBA}"/>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Working flow</a:t>
            </a:r>
          </a:p>
        </p:txBody>
      </p:sp>
      <p:sp>
        <p:nvSpPr>
          <p:cNvPr id="3" name="">
            <a:extLst xmlns:a="http://schemas.openxmlformats.org/drawingml/2006/main">
              <a:ext uri="{FF2B5EF4-FFF2-40B4-BE49-F238E27FC236}">
                <a16:creationId xmlns:a16="http://schemas.microsoft.com/office/drawing/2014/main" id="{1B1E405B-82E2-46F2-8FB1-BCA18637E860}"/>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  4 children × 8 pages × 200 rounds</a:t>
            </a:r>
          </a:p>
        </p:txBody>
      </p:sp>
      <p:sp>
        <p:nvSpPr>
          <p:cNvPr id="4" name="guest-test">
            <a:extLst xmlns:a="http://schemas.openxmlformats.org/drawingml/2006/main">
              <a:ext uri="{FF2B5EF4-FFF2-40B4-BE49-F238E27FC236}">
                <a16:creationId xmlns:a16="http://schemas.microsoft.com/office/drawing/2014/main" id="{F666145B-DD6A-4F80-B1E8-59AB782B3B25}"/>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1D87C65A-E0E3-418D-96DD-6B0343BBDACB}"/>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3D8ABBF3-86FD-4BEC-9E0F-0CD187C5F90D}"/>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B96B3FD0-3696-4B98-9D55-89119D30EF90}"/>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09B6DFD9-D023-4925-BC94-079673A8FE2C}"/>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F0F954A2-D5F8-43B6-8121-2B19AAA6D16A}"/>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Release path: uvmdealloc() → uvmunmap() → kfree().</a:t>
            </a:r>
          </a:p>
        </p:txBody>
      </p:sp>
      <p:sp>
        <p:nvSpPr>
          <p:cNvPr id="14" name="">
            <a:extLst xmlns:a="http://schemas.openxmlformats.org/drawingml/2006/main">
              <a:ext uri="{FF2B5EF4-FFF2-40B4-BE49-F238E27FC236}">
                <a16:creationId xmlns:a16="http://schemas.microsoft.com/office/drawing/2014/main" id="{F656FCD2-12DF-4361-8C83-42CC794AAE41}"/>
              </a:ext>
            </a:extLst>
          </p:cNvPr>
          <p:cNvSpPr>
            <a:spLocks xmlns:a="http://schemas.openxmlformats.org/drawingml/2006/main" noGrp="1"/>
          </p:cNvSpPr>
          <p:nvPr/>
        </p:nvSpPr>
        <p:spPr>
          <a:xfrm xmlns:a="http://schemas.openxmlformats.org/drawingml/2006/main">
            <a:off x="685800" y="2952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a:t>
            </a:r>
          </a:p>
        </p:txBody>
      </p:sp>
      <p:sp>
        <p:nvSpPr>
          <p:cNvPr id="15" name="phase-locked">
            <a:extLst xmlns:a="http://schemas.openxmlformats.org/drawingml/2006/main">
              <a:ext uri="{FF2B5EF4-FFF2-40B4-BE49-F238E27FC236}">
                <a16:creationId xmlns:a16="http://schemas.microsoft.com/office/drawing/2014/main" id="{A7D92E72-6149-45F6-98D0-CB57B5204F9F}"/>
              </a:ext>
            </a:extLst>
          </p:cNvPr>
          <p:cNvSpPr>
            <a:spLocks xmlns:a="http://schemas.openxmlformats.org/drawingml/2006/main" noGrp="1"/>
          </p:cNvSpPr>
          <p:nvPr/>
        </p:nvSpPr>
        <p:spPr>
          <a:xfrm xmlns:a="http://schemas.openxmlformats.org/drawingml/2006/main">
            <a:off x="6858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D14A12C9-99B7-4FF3-90C2-69BFDD40A997}"/>
              </a:ext>
            </a:extLst>
          </p:cNvPr>
          <p:cNvSpPr>
            <a:spLocks xmlns:a="http://schemas.openxmlformats.org/drawingml/2006/main" noGrp="1"/>
          </p:cNvSpPr>
          <p:nvPr/>
        </p:nvSpPr>
        <p:spPr>
          <a:xfrm xmlns:a="http://schemas.openxmlformats.org/drawingml/2006/main">
            <a:off x="352425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remove four calls</a:t>
            </a:r>
          </a:p>
        </p:txBody>
      </p:sp>
      <p:sp>
        <p:nvSpPr>
          <p:cNvPr id="17" name="phase-restored">
            <a:extLst xmlns:a="http://schemas.openxmlformats.org/drawingml/2006/main">
              <a:ext uri="{FF2B5EF4-FFF2-40B4-BE49-F238E27FC236}">
                <a16:creationId xmlns:a16="http://schemas.microsoft.com/office/drawing/2014/main" id="{D4305E2D-BDBA-489B-9834-4A8F59EA5C82}"/>
              </a:ext>
            </a:extLst>
          </p:cNvPr>
          <p:cNvSpPr>
            <a:spLocks xmlns:a="http://schemas.openxmlformats.org/drawingml/2006/main" noGrp="1"/>
          </p:cNvSpPr>
          <p:nvPr/>
        </p:nvSpPr>
        <p:spPr>
          <a:xfrm xmlns:a="http://schemas.openxmlformats.org/drawingml/2006/main">
            <a:off x="63627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restore bytes, rebuild</a:t>
            </a:r>
          </a:p>
        </p:txBody>
      </p:sp>
      <p:sp>
        <p:nvSpPr>
          <p:cNvPr id="18" name="phase-verify">
            <a:extLst xmlns:a="http://schemas.openxmlformats.org/drawingml/2006/main">
              <a:ext uri="{FF2B5EF4-FFF2-40B4-BE49-F238E27FC236}">
                <a16:creationId xmlns:a16="http://schemas.microsoft.com/office/drawing/2014/main" id="{CCDD890C-AD3F-49DA-83AC-A6467EFEE307}"/>
              </a:ext>
            </a:extLst>
          </p:cNvPr>
          <p:cNvSpPr>
            <a:spLocks xmlns:a="http://schemas.openxmlformats.org/drawingml/2006/main" noGrp="1"/>
          </p:cNvSpPr>
          <p:nvPr/>
        </p:nvSpPr>
        <p:spPr>
          <a:xfrm xmlns:a="http://schemas.openxmlformats.org/drawingml/2006/main">
            <a:off x="9201150" y="327660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diff + results.csv</a:t>
            </a:r>
          </a:p>
        </p:txBody>
      </p:sp>
      <p:sp>
        <p:nvSpPr>
          <p:cNvPr id="22" name="">
            <a:extLst xmlns:a="http://schemas.openxmlformats.org/drawingml/2006/main">
              <a:ext uri="{FF2B5EF4-FFF2-40B4-BE49-F238E27FC236}">
                <a16:creationId xmlns:a16="http://schemas.microsoft.com/office/drawing/2014/main" id="{AE252264-E02A-41CB-8F0F-E1CDA4A36FE2}"/>
              </a:ext>
            </a:extLst>
          </p:cNvPr>
          <p:cNvSpPr>
            <a:spLocks xmlns:a="http://schemas.openxmlformats.org/drawingml/2006/main" noGrp="1"/>
          </p:cNvSpPr>
          <p:nvPr/>
        </p:nvSpPr>
        <p:spPr>
          <a:xfrm xmlns:a="http://schemas.openxmlformats.org/drawingml/2006/main">
            <a:off x="685800" y="424815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Fresh QEMU boot per attempt; save console output and one result row.</a:t>
            </a:r>
          </a:p>
        </p:txBody>
      </p:sp>
      <p:sp>
        <p:nvSpPr>
          <p:cNvPr id="23" name="">
            <a:extLst xmlns:a="http://schemas.openxmlformats.org/drawingml/2006/main">
              <a:ext uri="{FF2B5EF4-FFF2-40B4-BE49-F238E27FC236}">
                <a16:creationId xmlns:a16="http://schemas.microsoft.com/office/drawing/2014/main" id="{507A1F74-8976-45AC-A180-4D015AE2490C}"/>
              </a:ext>
            </a:extLst>
          </p:cNvPr>
          <p:cNvSpPr>
            <a:spLocks xmlns:a="http://schemas.openxmlformats.org/drawingml/2006/main" noGrp="1"/>
          </p:cNvSpPr>
          <p:nvPr/>
        </p:nvSpPr>
        <p:spPr>
          <a:xfrm xmlns:a="http://schemas.openxmlformats.org/drawingml/2006/main">
            <a:off x="685800" y="4857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i="1">
                <a:solidFill>
                  <a:srgbClr val="53616E"/>
                </a:solidFill>
                <a:latin typeface="Arial"/>
                <a:ea typeface="Arial"/>
                <a:cs typeface="Arial"/>
              </a:defRPr>
            </a:defPPr>
            <a:lvl1pPr algn="ctr">
              <a:defRPr sz="1200" i="1">
                <a:solidFill>
                  <a:srgbClr val="53616E"/>
                </a:solidFill>
                <a:latin typeface="Arial"/>
                <a:ea typeface="Arial"/>
                <a:cs typeface="Arial"/>
              </a:defRPr>
            </a:lvl1pPr>
            <a:lvl2pPr algn="ctr">
              <a:defRPr sz="1200" i="1">
                <a:solidFill>
                  <a:srgbClr val="53616E"/>
                </a:solidFill>
                <a:latin typeface="Arial"/>
                <a:ea typeface="Arial"/>
                <a:cs typeface="Arial"/>
              </a:defRPr>
            </a:lvl2pPr>
            <a:lvl3pPr algn="ctr">
              <a:defRPr sz="1200" i="1">
                <a:solidFill>
                  <a:srgbClr val="53616E"/>
                </a:solidFill>
                <a:latin typeface="Arial"/>
                <a:ea typeface="Arial"/>
                <a:cs typeface="Arial"/>
              </a:defRPr>
            </a:lvl3pPr>
            <a:lvl4pPr algn="ctr">
              <a:defRPr sz="1200" i="1">
                <a:solidFill>
                  <a:srgbClr val="53616E"/>
                </a:solidFill>
                <a:latin typeface="Arial"/>
                <a:ea typeface="Arial"/>
                <a:cs typeface="Arial"/>
              </a:defRPr>
            </a:lvl4pPr>
            <a:lvl5pPr algn="ctr">
              <a:defRPr sz="1200" i="1">
                <a:solidFill>
                  <a:srgbClr val="53616E"/>
                </a:solidFill>
                <a:latin typeface="Arial"/>
                <a:ea typeface="Arial"/>
                <a:cs typeface="Arial"/>
              </a:defRPr>
            </a:lvl5pPr>
            <a:lvl6pPr algn="ctr">
              <a:defRPr sz="1200" i="1">
                <a:solidFill>
                  <a:srgbClr val="53616E"/>
                </a:solidFill>
                <a:latin typeface="Arial"/>
                <a:ea typeface="Arial"/>
                <a:cs typeface="Arial"/>
              </a:defRPr>
            </a:lvl6pPr>
            <a:lvl7pPr algn="ctr">
              <a:defRPr sz="1200" i="1">
                <a:solidFill>
                  <a:srgbClr val="53616E"/>
                </a:solidFill>
                <a:latin typeface="Arial"/>
                <a:ea typeface="Arial"/>
                <a:cs typeface="Arial"/>
              </a:defRPr>
            </a:lvl7pPr>
            <a:lvl8pPr algn="ctr">
              <a:defRPr sz="1200" i="1">
                <a:solidFill>
                  <a:srgbClr val="53616E"/>
                </a:solidFill>
                <a:latin typeface="Arial"/>
                <a:ea typeface="Arial"/>
                <a:cs typeface="Arial"/>
              </a:defRPr>
            </a:lvl8pPr>
            <a:lvl9pPr algn="ctr">
              <a:defRPr sz="1200" i="1">
                <a:solidFill>
                  <a:srgbClr val="53616E"/>
                </a:solidFill>
                <a:latin typeface="Arial"/>
                <a:ea typeface="Arial"/>
                <a:cs typeface="Arial"/>
              </a:defRPr>
            </a:lvl9pPr>
          </a:lstStyle>
          <a:p xmlns:a="http://schemas.openxmlformats.org/drawingml/2006/main">
            <a:pPr algn="ctr">
              <a:defRPr sz="1200" i="1">
                <a:solidFill>
                  <a:srgbClr val="53616E"/>
                </a:solidFill>
                <a:latin typeface="Arial"/>
                <a:ea typeface="Arial"/>
                <a:cs typeface="Arial"/>
              </a:defRPr>
            </a:pPr>
            <a:r>
              <a:rPr sz="1200" i="1">
                <a:solidFill>
                  <a:srgbClr val="53616E"/>
                </a:solidFill>
                <a:latin typeface="Arial"/>
                <a:ea typeface="Arial"/>
                <a:cs typeface="Arial"/>
              </a:rPr>
              <a:t>Figure 1. Guest allocation path and locked → unlocked → restored experiment workflow.</a:t>
            </a:r>
          </a:p>
        </p:txBody>
      </p:sp>
      <p:sp>
        <p:nvSpPr>
          <p:cNvPr id="24" name="slide-number-placeholder">
            <a:extLst xmlns:a="http://schemas.openxmlformats.org/drawingml/2006/main">
              <a:ext uri="{FF2B5EF4-FFF2-40B4-BE49-F238E27FC236}">
                <a16:creationId xmlns:a16="http://schemas.microsoft.com/office/drawing/2014/main" id="{73AE6AA3-1710-439D-87D2-C707CCD616ED}"/>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08</a:t>
            </a:r>
          </a:p>
        </p:txBody>
      </p:sp>
    </p:spTree>
    <p:extLst>
      <p:ext uri="{BB962C8B-B14F-4D97-AF65-F5344CB8AC3E}">
        <p14:creationId xmlns:p14="http://schemas.microsoft.com/office/powerpoint/2010/main" val="5832339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kalloc() and kfree() update the free list inside kmem.lock.</a:t>
            </a:r>
          </a:p>
        </p:txBody>
      </p:sp>
    </p:spTree>
    <p:extLst>
      <p:ext uri="{BB962C8B-B14F-4D97-AF65-F5344CB8AC3E}">
        <p14:creationId xmlns:p14="http://schemas.microsoft.com/office/powerpoint/2010/main" val="871667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worker repeats this allocate-write-check-free cycle for 200 rounds.</a:t>
            </a:r>
          </a:p>
        </p:txBody>
      </p:sp>
    </p:spTree>
    <p:extLst>
      <p:ext uri="{BB962C8B-B14F-4D97-AF65-F5344CB8AC3E}">
        <p14:creationId xmlns:p14="http://schemas.microsoft.com/office/powerpoint/2010/main" val="6214101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Recorded environment and run controls</a:t>
            </a:r>
          </a:p>
        </p:txBody>
      </p:sp>
      <p:graphicFrame>
        <p:nvGraphicFramePr>
          <p:cNvPr id="5" name="">
            <a:extLst xmlns:a="http://schemas.openxmlformats.org/drawingml/2006/main">
              <a:ext uri="{FF2B5EF4-FFF2-40B4-BE49-F238E27FC236}">
                <a16:creationId xmlns:a16="http://schemas.microsoft.com/office/drawing/2014/main" id="{9BED6CBC-BC4C-465D-8FCB-B4E3CE7129F4}"/>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separate 30-attempt sets; no artificial kernel delay.</a:t>
            </a:r>
          </a:p>
        </p:txBody>
      </p:sp>
    </p:spTree>
    <p:extLst>
      <p:ext uri="{BB962C8B-B14F-4D97-AF65-F5344CB8AC3E}">
        <p14:creationId xmlns:p14="http://schemas.microsoft.com/office/powerpoint/2010/main" val="6671066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205BDBAE-BB12-4D07-840E-58185C561734}"/>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 matching kfree() lost-head update can make a returned page unreachable. These are possible schedules, not recorded instruction traces.</a:t>
            </a:r>
          </a:p>
        </p:txBody>
      </p:sp>
    </p:spTree>
    <p:extLst>
      <p:ext uri="{BB962C8B-B14F-4D97-AF65-F5344CB8AC3E}">
        <p14:creationId xmlns:p14="http://schemas.microsoft.com/office/powerpoint/2010/main" val="3147313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Locked baseline: saved terminal run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Static terminal still reconstructed from saved A01 recording; PASS.</a:t>
            </a:r>
          </a:p>
        </p:txBody>
      </p:sp>
      <p:pic>
        <p:nvPicPr>
          <p:cNvPr id="6" name="">
            <a:extLst xmlns:a="http://schemas.openxmlformats.org/drawingml/2006/main">
              <a:ext uri="{FF2B5EF4-FFF2-40B4-BE49-F238E27FC236}">
                <a16:creationId xmlns:a16="http://schemas.microsoft.com/office/drawing/2014/main" id="{5A1527D5-AE77-44CC-9FB9-863976E58046}"/>
              </a:ext>
            </a:extLst>
          </p:cNvPr>
          <p:cNvPicPr>
            <a:picLocks xmlns:a="http://schemas.openxmlformats.org/drawingml/2006/main" noChangeAspect="1"/>
          </p:cNvPicPr>
          <p:nvPr/>
        </p:nvPicPr>
        <p:blipFill>
          <a:blip xmlns:r="http://schemas.openxmlformats.org/officeDocument/2006/relationships" xmlns:a="http://schemas.openxmlformats.org/drawingml/2006/main" r:embed="R48f416d929a44d31"/>
          <a:stretch xmlns:a="http://schemas.openxmlformats.org/drawingml/2006/main"/>
        </p:blipFill>
        <p:spPr>
          <a:xfrm xmlns:a="http://schemas.openxmlformats.org/drawingml/2006/main">
            <a:off x="1809750" y="2028031"/>
            <a:ext cx="8286750" cy="2992438"/>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kalloc():  - acquire(&amp;kmem.lock);  + // acquire(&amp;kmem.lock);</a:t>
            </a:r>
          </a:p>
          <a:p xmlns:a="http://schemas.openxmlformats.org/drawingml/2006/main">
            <a:pPr algn="l">
              <a:defRPr sz="1650">
                <a:solidFill>
                  <a:srgbClr val="17202A"/>
                </a:solidFill>
                <a:latin typeface="Arial"/>
                <a:ea typeface="Arial"/>
                <a:cs typeface="Arial"/>
              </a:defRPr>
            </a:pPr>
            <a:r>
              <a:rPr sz="1650">
                <a:solidFill>
                  <a:srgbClr val="17202A"/>
                </a:solidFill>
                <a:latin typeface="Arial"/>
                <a:ea typeface="Arial"/>
                <a:cs typeface="Arial"/>
              </a:rPr>
              <a:t>          - release(&amp;kmem.lock);  + // release(&amp;kmem.lock);</a:t>
            </a:r>
          </a:p>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kfree():   - acquire(&amp;kmem.lock);  + // acquire(&amp;kmem.lock);</a:t>
            </a:r>
          </a:p>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          - release(&amp;kmem.lock);  + // release(&amp;kmem.lock);</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Source excerpt: four lock calls removed; workload unchanged.</a:t>
            </a:r>
          </a:p>
        </p:txBody>
      </p:sp>
    </p:spTree>
    <p:extLst>
      <p:ext uri="{BB962C8B-B14F-4D97-AF65-F5344CB8AC3E}">
        <p14:creationId xmlns:p14="http://schemas.microsoft.com/office/powerpoint/2010/main" val="1134660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Unlocked run B02: corruption, then kerneltrap</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The primary classification is CORRUPTION; the later panic remains visible.</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Static terminal still reconstructed from saved B02 recording.</a:t>
            </a:r>
          </a:p>
        </p:txBody>
      </p:sp>
      <p:pic>
        <p:nvPicPr>
          <p:cNvPr id="7" name="">
            <a:extLst xmlns:a="http://schemas.openxmlformats.org/drawingml/2006/main">
              <a:ext uri="{FF2B5EF4-FFF2-40B4-BE49-F238E27FC236}">
                <a16:creationId xmlns:a16="http://schemas.microsoft.com/office/drawing/2014/main" id="{AE11C86A-660C-4A87-8B51-01F9E94A5106}"/>
              </a:ext>
            </a:extLst>
          </p:cNvPr>
          <p:cNvPicPr>
            <a:picLocks xmlns:a="http://schemas.openxmlformats.org/drawingml/2006/main" noChangeAspect="1"/>
          </p:cNvPicPr>
          <p:nvPr/>
        </p:nvPicPr>
        <p:blipFill>
          <a:blip xmlns:r="http://schemas.openxmlformats.org/officeDocument/2006/relationships" xmlns:a="http://schemas.openxmlformats.org/drawingml/2006/main" r:embed="R4ede72a230d448ec"/>
          <a:stretch xmlns:a="http://schemas.openxmlformats.org/drawingml/2006/main"/>
        </p:blipFill>
        <p:spPr>
          <a:xfrm xmlns:a="http://schemas.openxmlformats.org/drawingml/2006/main">
            <a:off x="1809750" y="2028031"/>
            <a:ext cx="8286750" cy="2992438"/>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Locks restored and verified: saved terminal run C01</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685800" y="1238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Source hash: verified</a:t>
            </a:r>
          </a:p>
          <a:p xmlns:a="http://schemas.openxmlformats.org/drawingml/2006/main">
            <a:pPr algn="l">
              <a:defRPr sz="1575">
                <a:solidFill>
                  <a:srgbClr val="17202A"/>
                </a:solidFill>
                <a:latin typeface="Arial"/>
                <a:ea typeface="Arial"/>
                <a:cs typeface="Arial"/>
              </a:defRPr>
            </a:pPr>
            <a:r>
              <a:rPr sz="1575">
                <a:solidFill>
                  <a:srgbClr val="17202A"/>
                </a:solidFill>
                <a:latin typeface="Arial"/>
                <a:ea typeface="Arial"/>
                <a:cs typeface="Arial"/>
              </a:rPr>
              <a:t>Final allocator diff: empty</a:t>
            </a:r>
          </a:p>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C01 race_test: PASS</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6. Static terminal still reconstructed from saved C01 recording; PASS.</a:t>
            </a:r>
          </a:p>
        </p:txBody>
      </p:sp>
      <p:pic>
        <p:nvPicPr>
          <p:cNvPr id="6" name="">
            <a:extLst xmlns:a="http://schemas.openxmlformats.org/drawingml/2006/main">
              <a:ext uri="{FF2B5EF4-FFF2-40B4-BE49-F238E27FC236}">
                <a16:creationId xmlns:a16="http://schemas.microsoft.com/office/drawing/2014/main" id="{3D8EF5F8-8690-4B3C-9569-8BA6000B0C61}"/>
              </a:ext>
            </a:extLst>
          </p:cNvPr>
          <p:cNvPicPr>
            <a:picLocks xmlns:a="http://schemas.openxmlformats.org/drawingml/2006/main" noChangeAspect="1"/>
          </p:cNvPicPr>
          <p:nvPr/>
        </p:nvPicPr>
        <p:blipFill>
          <a:blip xmlns:r="http://schemas.openxmlformats.org/officeDocument/2006/relationships" xmlns:a="http://schemas.openxmlformats.org/drawingml/2006/main" r:embed="R1ef15248e8b940d6"/>
          <a:stretch xmlns:a="http://schemas.openxmlformats.org/drawingml/2006/main"/>
        </p:blipFill>
        <p:spPr>
          <a:xfrm xmlns:a="http://schemas.openxmlformats.org/drawingml/2006/main">
            <a:off x="1809750" y="2209271"/>
            <a:ext cx="7810500" cy="2820458"/>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Primary outcome comparison by phase</a:t>
            </a:r>
          </a:p>
        </p:txBody>
      </p:sp>
      <p:graphicFrame>
        <p:nvGraphicFramePr>
          <p:cNvPr id="5" name="">
            <a:extLst xmlns:a="http://schemas.openxmlformats.org/drawingml/2006/main">
              <a:ext uri="{FF2B5EF4-FFF2-40B4-BE49-F238E27FC236}">
                <a16:creationId xmlns:a16="http://schemas.microsoft.com/office/drawing/2014/main" id="{CF2EE225-90C1-4449-B2C9-91CD8F15B980}"/>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Original</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C-runner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3C / 4P / 2F / 1T</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1C / 6P / 2F / 1T</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7. Two independent unlocked-phase outcome distributions.</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Seconds start at shell prompt, before race_test is sent; collection time is included.</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Pass is evidence for this workload, not proof of safety. Timeout is not a deadlock diagnosis.</a:t>
            </a:r>
          </a:p>
        </p:txBody>
      </p:sp>
      <p:pic>
        <p:nvPicPr>
          <p:cNvPr id="10" name="">
            <a:extLst xmlns:a="http://schemas.openxmlformats.org/drawingml/2006/main">
              <a:ext uri="{FF2B5EF4-FFF2-40B4-BE49-F238E27FC236}">
                <a16:creationId xmlns:a16="http://schemas.microsoft.com/office/drawing/2014/main" id="{8FA4C1BC-C58F-43CE-8CB6-828664251A43}"/>
              </a:ext>
            </a:extLst>
          </p:cNvPr>
          <p:cNvPicPr>
            <a:picLocks xmlns:a="http://schemas.openxmlformats.org/drawingml/2006/main" noChangeAspect="1"/>
          </p:cNvPicPr>
          <p:nvPr/>
        </p:nvPicPr>
        <p:blipFill>
          <a:blip xmlns:r="http://schemas.openxmlformats.org/officeDocument/2006/relationships" xmlns:a="http://schemas.openxmlformats.org/drawingml/2006/main" r:embed="R2c70c25e05564fa6"/>
          <a:stretch xmlns:a="http://schemas.openxmlformats.org/drawingml/2006/main"/>
        </p:blipFill>
        <p:spPr>
          <a:xfrm xmlns:a="http://schemas.openxmlformats.org/drawingml/2006/main">
            <a:off x="4857750" y="1512094"/>
            <a:ext cx="6334125" cy="3167063"/>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1725" b="0">
                <a:solidFill>
                  <a:srgbClr val="17202A"/>
                </a:solidFill>
                <a:latin typeface="Arial"/>
                <a:ea typeface="Arial"/>
                <a:cs typeface="Arial"/>
              </a:defRPr>
            </a:lvl1pPr>
            <a:lvl2pPr algn="l">
              <a:buNone/>
              <a:defRPr sz="1725" b="0">
                <a:solidFill>
                  <a:srgbClr val="17202A"/>
                </a:solidFill>
                <a:latin typeface="Arial"/>
                <a:ea typeface="Arial"/>
                <a:cs typeface="Arial"/>
              </a:defRPr>
            </a:lvl2pPr>
            <a:lvl3pPr algn="l">
              <a:buNone/>
              <a:defRPr sz="1725" b="0">
                <a:solidFill>
                  <a:srgbClr val="17202A"/>
                </a:solidFill>
                <a:latin typeface="Arial"/>
                <a:ea typeface="Arial"/>
                <a:cs typeface="Arial"/>
              </a:defRPr>
            </a:lvl3pPr>
            <a:lvl4pPr algn="l">
              <a:buNone/>
              <a:defRPr sz="1725" b="0">
                <a:solidFill>
                  <a:srgbClr val="17202A"/>
                </a:solidFill>
                <a:latin typeface="Arial"/>
                <a:ea typeface="Arial"/>
                <a:cs typeface="Arial"/>
              </a:defRPr>
            </a:lvl4pPr>
            <a:lvl5pPr algn="l">
              <a:buNone/>
              <a:defRPr sz="1725" b="0">
                <a:solidFill>
                  <a:srgbClr val="17202A"/>
                </a:solidFill>
                <a:latin typeface="Arial"/>
                <a:ea typeface="Arial"/>
                <a:cs typeface="Arial"/>
              </a:defRPr>
            </a:lvl5pPr>
            <a:lvl6pPr algn="l">
              <a:buNone/>
              <a:defRPr sz="1725" b="0">
                <a:solidFill>
                  <a:srgbClr val="17202A"/>
                </a:solidFill>
                <a:latin typeface="Arial"/>
                <a:ea typeface="Arial"/>
                <a:cs typeface="Arial"/>
              </a:defRPr>
            </a:lvl6pPr>
            <a:lvl7pPr algn="l">
              <a:buNone/>
              <a:defRPr sz="1725" b="0">
                <a:solidFill>
                  <a:srgbClr val="17202A"/>
                </a:solidFill>
                <a:latin typeface="Arial"/>
                <a:ea typeface="Arial"/>
                <a:cs typeface="Arial"/>
              </a:defRPr>
            </a:lvl7pPr>
            <a:lvl8pPr algn="l">
              <a:buNone/>
              <a:defRPr sz="1725" b="0">
                <a:solidFill>
                  <a:srgbClr val="17202A"/>
                </a:solidFill>
                <a:latin typeface="Arial"/>
                <a:ea typeface="Arial"/>
                <a:cs typeface="Arial"/>
              </a:defRPr>
            </a:lvl8pPr>
            <a:lvl9pPr algn="l">
              <a:buNone/>
              <a:defRPr sz="17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xv6 library (MIT PDOS): https://github.com/mit-pdos/xv6-riscv</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MIT xv6 RISC-V book, Locking: https://mit-pdos.github.io/xv6-riscv-book/lock.html</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The Open Group, memory synchronization: https://pubs.opengroup.org/onlinepubs/9699919799/basedefs/V1_chap04.html</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Michael and Scott, Nonblocking algorithms and ABA: https://www.cs.rochester.edu/u/scott/papers/1998_JPDC_nonblocking.pdf</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2026-10-26T14:38:54.4870000Z</dcterms:created>
  <dcterms:modified xsi:type="dcterms:W3CDTF">2026-10-26T14:38:54.4870000Z</dcterms:modified>
</coreProperties>
</file>