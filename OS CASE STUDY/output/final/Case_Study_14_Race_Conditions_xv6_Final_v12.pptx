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7365D"/>
                </a:solidFill>
                <a:latin typeface="Arial"/>
              </a:rPr>
              <a:t>Unlocked outcomes, 10 attempts per dataset</a:t>
            </a:r>
          </a:p>
        </c:rich>
      </c:tx>
      <c:overlay val="0"/>
    </c:title>
    <c:autoTitleDeleted val="0"/>
    <c:plotArea>
      <c:layout/>
      <c:barChart>
        <c:barDir val="bar"/>
        <c:grouping val="stacked"/>
        <c:varyColors val="1"/>
        <c:ser>
          <c:idx val="0"/>
          <c:order val="0"/>
          <c:tx>
            <c:strRef>
              <c:f>Sheet1!$B$1</c:f>
              <c:strCache>
                <c:ptCount val="1"/>
                <c:pt idx="0">
                  <c:v>Corruption</c:v>
                </c:pt>
              </c:strCache>
            </c:strRef>
          </c:tx>
          <c:spPr>
            <a:solidFill>
              <a:srgbClr val="1F456E"/>
            </a:solidFill>
          </c:spPr>
          <c:invertIfNegative val="1"/>
          <c:dLbls>
            <c:numFmt formatCode="0" sourceLinked="0"/>
            <c:spPr>
              <a:noFill/>
              <a:ln>
                <a:noFill/>
              </a:ln>
              <a:effectLst/>
            </c:spPr>
            <c:txPr>
              <a:bodyPr/>
              <a:lstStyle/>
              <a:p>
                <a:pPr>
                  <a:defRPr sz="14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Original set</c:v>
                </c:pt>
                <c:pt idx="1">
                  <c:v>C-runner</c:v>
                </c:pt>
              </c:strCache>
            </c:strRef>
          </c:cat>
          <c:val>
            <c:numRef>
              <c:f>Sheet1!$B$2:$B$3</c:f>
              <c:numCache>
                <c:formatCode>General</c:formatCode>
                <c:ptCount val="2"/>
                <c:pt idx="0">
                  <c:v>3</c:v>
                </c:pt>
                <c:pt idx="1">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EBE-45EC-9A74-6BAF81E88ADD}"/>
            </c:ext>
          </c:extLst>
        </c:ser>
        <c:ser>
          <c:idx val="1"/>
          <c:order val="1"/>
          <c:tx>
            <c:strRef>
              <c:f>Sheet1!$C$1</c:f>
              <c:strCache>
                <c:ptCount val="1"/>
                <c:pt idx="0">
                  <c:v>Panic / trap</c:v>
                </c:pt>
              </c:strCache>
            </c:strRef>
          </c:tx>
          <c:spPr>
            <a:solidFill>
              <a:srgbClr val="405266"/>
            </a:solidFill>
          </c:spPr>
          <c:invertIfNegative val="1"/>
          <c:dLbls>
            <c:numFmt formatCode="0" sourceLinked="0"/>
            <c:spPr>
              <a:noFill/>
              <a:ln>
                <a:noFill/>
              </a:ln>
              <a:effectLst/>
            </c:spPr>
            <c:txPr>
              <a:bodyPr/>
              <a:lstStyle/>
              <a:p>
                <a:pPr>
                  <a:defRPr sz="14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Original set</c:v>
                </c:pt>
                <c:pt idx="1">
                  <c:v>C-runner</c:v>
                </c:pt>
              </c:strCache>
            </c:strRef>
          </c:cat>
          <c:val>
            <c:numRef>
              <c:f>Sheet1!$C$2:$C$3</c:f>
              <c:numCache>
                <c:formatCode>General</c:formatCode>
                <c:ptCount val="2"/>
                <c:pt idx="0">
                  <c:v>4</c:v>
                </c:pt>
                <c:pt idx="1">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EBE-45EC-9A74-6BAF81E88ADD}"/>
            </c:ext>
          </c:extLst>
        </c:ser>
        <c:ser>
          <c:idx val="2"/>
          <c:order val="2"/>
          <c:tx>
            <c:strRef>
              <c:f>Sheet1!$D$1</c:f>
              <c:strCache>
                <c:ptCount val="1"/>
                <c:pt idx="0">
                  <c:v>Test failure</c:v>
                </c:pt>
              </c:strCache>
            </c:strRef>
          </c:tx>
          <c:spPr>
            <a:solidFill>
              <a:srgbClr val="526477"/>
            </a:solidFill>
          </c:spPr>
          <c:invertIfNegative val="1"/>
          <c:dLbls>
            <c:numFmt formatCode="0" sourceLinked="0"/>
            <c:spPr>
              <a:noFill/>
              <a:ln>
                <a:noFill/>
              </a:ln>
              <a:effectLst/>
            </c:spPr>
            <c:txPr>
              <a:bodyPr/>
              <a:lstStyle/>
              <a:p>
                <a:pPr>
                  <a:defRPr sz="14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Original set</c:v>
                </c:pt>
                <c:pt idx="1">
                  <c:v>C-runner</c:v>
                </c:pt>
              </c:strCache>
            </c:strRef>
          </c:cat>
          <c:val>
            <c:numRef>
              <c:f>Sheet1!$D$2:$D$3</c:f>
              <c:numCache>
                <c:formatCode>General</c:formatCode>
                <c:ptCount val="2"/>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EBE-45EC-9A74-6BAF81E88ADD}"/>
            </c:ext>
          </c:extLst>
        </c:ser>
        <c:ser>
          <c:idx val="3"/>
          <c:order val="3"/>
          <c:tx>
            <c:strRef>
              <c:f>Sheet1!$E$1</c:f>
              <c:strCache>
                <c:ptCount val="1"/>
                <c:pt idx="0">
                  <c:v>Timeout</c:v>
                </c:pt>
              </c:strCache>
            </c:strRef>
          </c:tx>
          <c:spPr>
            <a:solidFill>
              <a:srgbClr val="65798B"/>
            </a:solidFill>
          </c:spPr>
          <c:invertIfNegative val="1"/>
          <c:dLbls>
            <c:numFmt formatCode="0" sourceLinked="0"/>
            <c:spPr>
              <a:noFill/>
              <a:ln>
                <a:noFill/>
              </a:ln>
              <a:effectLst/>
            </c:spPr>
            <c:txPr>
              <a:bodyPr/>
              <a:lstStyle/>
              <a:p>
                <a:pPr>
                  <a:defRPr sz="14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Original set</c:v>
                </c:pt>
                <c:pt idx="1">
                  <c:v>C-runner</c:v>
                </c:pt>
              </c:strCache>
            </c:strRef>
          </c:cat>
          <c:val>
            <c:numRef>
              <c:f>Sheet1!$E$2:$E$3</c:f>
              <c:numCache>
                <c:formatCode>General</c:formatCode>
                <c:ptCount val="2"/>
                <c:pt idx="0">
                  <c:v>1</c:v>
                </c:pt>
                <c:pt idx="1">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FEBE-45EC-9A74-6BAF81E88ADD}"/>
            </c:ext>
          </c:extLst>
        </c:ser>
        <c:dLbls>
          <c:dLblPos val="ctr"/>
          <c:showLegendKey val="0"/>
          <c:showVal val="1"/>
          <c:showCatName val="0"/>
          <c:showSerName val="0"/>
          <c:showPercent val="0"/>
          <c:showBubbleSize val="0"/>
        </c:dLbls>
        <c:gapWidth val="55"/>
        <c:overlap val="10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400">
                <a:solidFill>
                  <a:srgbClr val="17202A"/>
                </a:solidFill>
                <a:latin typeface="Arial"/>
              </a:defRPr>
            </a:pPr>
            <a:endParaRPr lang="en-US"/>
          </a:p>
        </c:txPr>
        <c:crossAx val="2113994440"/>
        <c:crosses val="autoZero"/>
        <c:auto val="1"/>
        <c:lblAlgn val="ctr"/>
        <c:lblOffset val="100"/>
        <c:noMultiLvlLbl val="0"/>
      </c:catAx>
      <c:valAx>
        <c:axId val="2113994440"/>
        <c:scaling>
          <c:orientation val="minMax"/>
          <c:max val="10"/>
          <c:min val="0"/>
        </c:scaling>
        <c:delete val="0"/>
        <c:axPos val="b"/>
        <c:numFmt formatCode="General" sourceLinked="1"/>
        <c:majorTickMark val="out"/>
        <c:minorTickMark val="none"/>
        <c:tickLblPos val="nextTo"/>
        <c:txPr>
          <a:bodyPr/>
          <a:lstStyle/>
          <a:p>
            <a:pPr>
              <a:defRPr sz="1400">
                <a:solidFill>
                  <a:srgbClr val="53616E"/>
                </a:solidFill>
                <a:latin typeface="Arial"/>
              </a:defRPr>
            </a:pPr>
            <a:endParaRPr lang="en-US"/>
          </a:p>
        </c:txPr>
        <c:crossAx val="2068027336"/>
        <c:crosses val="autoZero"/>
        <c:crossBetween val="between"/>
        <c:majorUnit val="2"/>
      </c:valAx>
    </c:plotArea>
    <c:legend>
      <c:legendPos val="b"/>
      <c:overlay val="1"/>
      <c:txPr>
        <a:bodyPr/>
        <a:lstStyle/>
        <a:p>
          <a:pPr>
            <a:defRPr sz="1400">
              <a:solidFill>
                <a:srgbClr val="53616E"/>
              </a:solidFill>
              <a:latin typeface="Arial"/>
            </a:defRPr>
          </a:pPr>
          <a:endParaRPr lang="en-US"/>
        </a:p>
      </c:txPr>
    </c:legend>
    <c:plotVisOnly val="1"/>
    <c:dispBlanksAs val="gap"/>
    <c:showDLblsOverMax val="1"/>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case study examines shared kernel data in xv6 on four CPUs. Team names and roll numbers follow the supplied division document. Faculty, semester, and academic year remain blank for the department to complete. I’ll begin with the race definition, then trace the allocator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assignment studies xv6 shared kernel data and its existing locks. The project compares original locking, a temporary four-call removal, and restoration. The motivation is that multiple CPUs can request and release physical pages concurrently. Next I’ll show how two CPUs can interleave the same free-list update.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 That stale update can cause memory corruption, allocator failures, or a kernel trap.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allocator invariant requires each free physical page to appear exactly once in the free list and never be returned to two callers at once. Violating that invariant can lose pages, corrupt memory, or crash the kernel. A race and a deadlock describe different problems. Before the proposed fix, I’ll review the existing xv6 locks and their tradeoffs.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 xv6 uses one global kmem.lock for a single physical-page free list. This is simple and correct but serializes allocators and can make CPUs spin under contention. Per-CPU free lists can reduce that contention but need page refill or stealing logic. A lock-free compare-and-swap path needs safe pointer handling, including ABA mitigation. These alternatives were not implemented or benchmarked. Other shared structures listed here were reviewed at source level only. Now I’ll state the synchronization rule this experiment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solution preserves the invariant by serializing the complete free-list push or pop. In the tested xv6 revision, acquire and release use atomic operations with acquire and release ordering. The experiment restores the existing lock rather than adding a new one. Next I’ll define synchronization and place spinlocks among the common mechanisms.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Synchronization coordinates concurrent operations so shared state stays correct. A critical section groups dependent reads and writes. Common mechanisms include mutexes, spinlocks, semaphores, condition variables, reader-writer locks, barriers, and atomic operations. The experiment evaluates only xv6’s allocator spinlock. The workflow connects the guest allocation path to the host experiment phases.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 The workflow shows how the guest and host phases connect; next I’ll inspect the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 The allocator code identifies the protected section; next I’ll explain the guest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 The guest test creates overlapping allocation requests; next I’ll show the host runner.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 The host runner automates builds, attempts, and restoration; next I’ll summarize its setup.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 With the environment fixed, I’ll show a possible two-CPU interleaving.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 The possible schedule motivates the locked baseline shown next.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Static terminal still reconstructed from the saved A01 .cast recording. It shows a fresh xv6 boot, the race_test parameters, and PASS. The locked baseline had 10 PASS outcomes in 10 attempts. No video is embedded. The locked baseline passed; now I’ll show the four-call source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 The source change removes the lock around the full update; next is B02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Static terminal still reconstructed from the saved B02 .cast recording. It shows the corruption message followed by kerneltrap. The primary outcome is CORRUPTION under the classifier precedence; the time limit did not expire in this attempt. B02 records corruption followed by a kerneltrap; next I’ll verify restoration.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allocator bytes were restored, the final allocator diff was empty, and the kernel was rebuilt. Static terminal still reconstructed from saved C01 .cast recording shows PASS. The restored phase had 10 PASS outcomes in 10 attempts. No video is embedded. Restoration returned to the saved allocator; next I’ll compare all attempts.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chart compares two separate 30-attempt datasets. The original unlocked phase recorded three corruption outcomes, four panics or traps, two test failures, and one timeout. The C-runner phase recorded one corruption, six panics or traps, two test failures, and one timeout. Both locked and restored phases passed all ten attempts in each dataset. Elapsed time starts when the host sees the xv6 shell prompt, just before it sends race_test, and includes a short output-collection interval. The two datasets show the same locked/restored pattern with different unlocked counts.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 The conclusion is limited to this workload; the final slide lists its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xv6 library (MIT PDOS), https://github.com/mit-pdos/xv6-riscv; MIT xv6 RISC-V book, Locking chapter, https://mit-pdos.github.io/xv6-riscv-book/lock.html; The Open Group memory synchronization specification, https://pubs.opengroup.org/onlinepubs/9699919799/basedefs/V1_chap04.html; Michael and Scott, Nonblocking algorithms and ABA, https://www.cs.rochester.edu/u/scott/papers/1998_JPDC_nonblocking.pdf. These sources ground the case. A useful next study would vary CPU counts and check allocator invariants.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8A31CE-8ACB-4414-8F3D-D867643940B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0E79985-8F8B-42C9-A23D-F00F493B6D6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6DF6530-6C22-48FC-9637-EE399CB45DB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D028488-5251-437B-B23D-FD9A52F421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C1EC8F8-04C7-425C-BB39-4A941C48685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C28A314-4D52-44DA-ADEB-0A26EE58A8B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8FCE698-C3EF-4D6F-A699-F4BE2BBF4B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B8F8D05-61E5-41EA-858D-EA2062EED6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F459439-A18C-4B01-BDCF-72AB88C7C58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A4D0F82-2DA1-4543-817F-9C1474E7417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89A053-927B-4E5A-BF52-801D829C861A}"/>
              </a:ext>
            </a:extLst>
          </p:cNvPr>
          <p:cNvSpPr>
            <a:spLocks noGrp="1"/>
          </p:cNvSpPr>
          <p:nvPr/>
        </p:nvSpPr>
        <p:spPr>
          <a:xfrm>
            <a:off x="685800" y="714375"/>
            <a:ext cx="10820400" cy="1476375"/>
          </a:xfrm>
          <a:prstGeom prst="rect">
            <a:avLst/>
          </a:prstGeom>
          <a:noFill/>
          <a:ln w="0">
            <a:noFill/>
          </a:ln>
        </p:spPr>
        <p:txBody>
          <a:bodyPr wrap="square" lIns="0" tIns="0" rIns="0" bIns="0" anchor="t">
            <a:noAutofit/>
          </a:bodyPr>
          <a:lstStyle>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Rectangle 2">
            <a:extLst>
              <a:ext uri="{FF2B5EF4-FFF2-40B4-BE49-F238E27FC236}">
                <a16:creationId xmlns:a16="http://schemas.microsoft.com/office/drawing/2014/main" id="{7F7A529B-BDE3-4993-A1EE-70800642122D}"/>
              </a:ext>
            </a:extLst>
          </p:cNvPr>
          <p:cNvSpPr>
            <a:spLocks noGrp="1"/>
          </p:cNvSpPr>
          <p:nvPr/>
        </p:nvSpPr>
        <p:spPr>
          <a:xfrm>
            <a:off x="685800" y="2476500"/>
            <a:ext cx="10477500" cy="428625"/>
          </a:xfrm>
          <a:prstGeom prst="rect">
            <a:avLst/>
          </a:prstGeom>
          <a:noFill/>
          <a:ln w="0">
            <a:noFill/>
          </a:ln>
        </p:spPr>
        <p:txBody>
          <a:bodyPr wrap="square" lIns="0" tIns="0" rIns="0" bIns="0" anchor="t">
            <a:noAutofit/>
          </a:bodyPr>
          <a:lstStyle>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Rectangle 3">
            <a:extLst>
              <a:ext uri="{FF2B5EF4-FFF2-40B4-BE49-F238E27FC236}">
                <a16:creationId xmlns:a16="http://schemas.microsoft.com/office/drawing/2014/main" id="{5D5E119D-2285-42D9-8FFA-97E96F8B342D}"/>
              </a:ext>
            </a:extLst>
          </p:cNvPr>
          <p:cNvSpPr>
            <a:spLocks noGrp="1"/>
          </p:cNvSpPr>
          <p:nvPr/>
        </p:nvSpPr>
        <p:spPr>
          <a:xfrm>
            <a:off x="685800" y="3305175"/>
            <a:ext cx="10820400" cy="40005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Rectangle 4">
            <a:extLst>
              <a:ext uri="{FF2B5EF4-FFF2-40B4-BE49-F238E27FC236}">
                <a16:creationId xmlns:a16="http://schemas.microsoft.com/office/drawing/2014/main" id="{D88E46B0-CB0D-40C7-BB3E-22F1C74BBABC}"/>
              </a:ext>
            </a:extLst>
          </p:cNvPr>
          <p:cNvSpPr>
            <a:spLocks noGrp="1"/>
          </p:cNvSpPr>
          <p:nvPr/>
        </p:nvSpPr>
        <p:spPr>
          <a:xfrm>
            <a:off x="685800" y="3810000"/>
            <a:ext cx="10820400" cy="40005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Rectangle 5">
            <a:extLst>
              <a:ext uri="{FF2B5EF4-FFF2-40B4-BE49-F238E27FC236}">
                <a16:creationId xmlns:a16="http://schemas.microsoft.com/office/drawing/2014/main" id="{73DB42CD-4A82-43E7-B403-DB0D865A4A00}"/>
              </a:ext>
            </a:extLst>
          </p:cNvPr>
          <p:cNvSpPr>
            <a:spLocks noGrp="1"/>
          </p:cNvSpPr>
          <p:nvPr/>
        </p:nvSpPr>
        <p:spPr>
          <a:xfrm>
            <a:off x="685800" y="4314825"/>
            <a:ext cx="10820400" cy="40005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Rectangle 6">
            <a:extLst>
              <a:ext uri="{FF2B5EF4-FFF2-40B4-BE49-F238E27FC236}">
                <a16:creationId xmlns:a16="http://schemas.microsoft.com/office/drawing/2014/main" id="{19986037-B90D-482A-8A2B-E70D9ADD3378}"/>
              </a:ext>
            </a:extLst>
          </p:cNvPr>
          <p:cNvSpPr>
            <a:spLocks noGrp="1"/>
          </p:cNvSpPr>
          <p:nvPr/>
        </p:nvSpPr>
        <p:spPr>
          <a:xfrm>
            <a:off x="685800" y="4819650"/>
            <a:ext cx="10820400" cy="40005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Rectangle 7">
            <a:extLst>
              <a:ext uri="{FF2B5EF4-FFF2-40B4-BE49-F238E27FC236}">
                <a16:creationId xmlns:a16="http://schemas.microsoft.com/office/drawing/2014/main" id="{CE952358-3CB2-416F-A56E-19E8C1919394}"/>
              </a:ext>
            </a:extLst>
          </p:cNvPr>
          <p:cNvSpPr>
            <a:spLocks noGrp="1"/>
          </p:cNvSpPr>
          <p:nvPr/>
        </p:nvSpPr>
        <p:spPr>
          <a:xfrm>
            <a:off x="685800" y="5762625"/>
            <a:ext cx="10820400" cy="419100"/>
          </a:xfrm>
          <a:prstGeom prst="rect">
            <a:avLst/>
          </a:prstGeom>
          <a:noFill/>
          <a:ln w="0">
            <a:noFill/>
          </a:ln>
        </p:spPr>
        <p:txBody>
          <a:bodyPr wrap="square" lIns="0" tIns="0" rIns="0" bIns="0" anchor="t">
            <a:noAutofit/>
          </a:bodyPr>
          <a:lstStyle>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34F78F-6792-4AE7-B7AA-C65361E23302}"/>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Rectangle 2">
            <a:extLst>
              <a:ext uri="{FF2B5EF4-FFF2-40B4-BE49-F238E27FC236}">
                <a16:creationId xmlns:a16="http://schemas.microsoft.com/office/drawing/2014/main" id="{6F58C121-A4D5-47B0-BF78-C31743EDE466}"/>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Rectangle 3">
            <a:extLst>
              <a:ext uri="{FF2B5EF4-FFF2-40B4-BE49-F238E27FC236}">
                <a16:creationId xmlns:a16="http://schemas.microsoft.com/office/drawing/2014/main" id="{1AF2CBAA-BCD6-4E79-8F9F-D52ED325633E}"/>
              </a:ext>
            </a:extLst>
          </p:cNvPr>
          <p:cNvSpPr>
            <a:spLocks noGrp="1"/>
          </p:cNvSpPr>
          <p:nvPr/>
        </p:nvSpPr>
        <p:spPr>
          <a:xfrm>
            <a:off x="685800" y="157162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Problem: study concurrent access to shared kernel data without synchronization.</a:t>
            </a:r>
          </a:p>
        </p:txBody>
      </p:sp>
      <p:sp>
        <p:nvSpPr>
          <p:cNvPr id="5" name="Rectangle 4">
            <a:extLst>
              <a:ext uri="{FF2B5EF4-FFF2-40B4-BE49-F238E27FC236}">
                <a16:creationId xmlns:a16="http://schemas.microsoft.com/office/drawing/2014/main" id="{89DA101C-1BDB-4A4A-B9C3-44DF7E6FD607}"/>
              </a:ext>
            </a:extLst>
          </p:cNvPr>
          <p:cNvSpPr>
            <a:spLocks noGrp="1"/>
          </p:cNvSpPr>
          <p:nvPr/>
        </p:nvSpPr>
        <p:spPr>
          <a:xfrm>
            <a:off x="685800" y="255270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Analyze how xv6 locks prevent inconsistent updates.</a:t>
            </a:r>
          </a:p>
        </p:txBody>
      </p:sp>
      <p:sp>
        <p:nvSpPr>
          <p:cNvPr id="6" name="Rectangle 5">
            <a:extLst>
              <a:ext uri="{FF2B5EF4-FFF2-40B4-BE49-F238E27FC236}">
                <a16:creationId xmlns:a16="http://schemas.microsoft.com/office/drawing/2014/main" id="{B2A32FAD-28D8-4F20-AE8E-FBC84E112189}"/>
              </a:ext>
            </a:extLst>
          </p:cNvPr>
          <p:cNvSpPr>
            <a:spLocks noGrp="1"/>
          </p:cNvSpPr>
          <p:nvPr/>
        </p:nvSpPr>
        <p:spPr>
          <a:xfrm>
            <a:off x="685800" y="353377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critical sections, identify shared data, explain mutual exclusion, observe concurrent updates, and explain lock safety.</a:t>
            </a:r>
          </a:p>
        </p:txBody>
      </p:sp>
      <p:sp>
        <p:nvSpPr>
          <p:cNvPr id="7" name="Rectangle 6">
            <a:extLst>
              <a:ext uri="{FF2B5EF4-FFF2-40B4-BE49-F238E27FC236}">
                <a16:creationId xmlns:a16="http://schemas.microsoft.com/office/drawing/2014/main" id="{E1813C86-3005-4FEE-A1A9-77DCD54F0438}"/>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lgn="l">
              <a:defRPr sz="1575" b="0">
                <a:solidFill>
                  <a:srgbClr val="17202A"/>
                </a:solidFill>
                <a:latin typeface="Arial"/>
                <a:ea typeface="Arial"/>
                <a:cs typeface="Arial"/>
              </a:defRPr>
            </a:defPPr>
            <a:lvl1pPr algn="l">
              <a:buNone/>
              <a:defRPr sz="1500" b="0">
                <a:solidFill>
                  <a:srgbClr val="53616E"/>
                </a:solidFill>
                <a:latin typeface="Arial"/>
                <a:ea typeface="Arial"/>
                <a:cs typeface="Arial"/>
              </a:defRPr>
            </a:lvl1pPr>
            <a:lvl2pPr algn="l">
              <a:buNone/>
              <a:defRPr sz="1500" b="0">
                <a:solidFill>
                  <a:srgbClr val="53616E"/>
                </a:solidFill>
                <a:latin typeface="Arial"/>
                <a:ea typeface="Arial"/>
                <a:cs typeface="Arial"/>
              </a:defRPr>
            </a:lvl2pPr>
            <a:lvl3pPr algn="l">
              <a:buNone/>
              <a:defRPr sz="1500" b="0">
                <a:solidFill>
                  <a:srgbClr val="53616E"/>
                </a:solidFill>
                <a:latin typeface="Arial"/>
                <a:ea typeface="Arial"/>
                <a:cs typeface="Arial"/>
              </a:defRPr>
            </a:lvl3pPr>
            <a:lvl4pPr algn="l">
              <a:buNone/>
              <a:defRPr sz="1500" b="0">
                <a:solidFill>
                  <a:srgbClr val="53616E"/>
                </a:solidFill>
                <a:latin typeface="Arial"/>
                <a:ea typeface="Arial"/>
                <a:cs typeface="Arial"/>
              </a:defRPr>
            </a:lvl4pPr>
            <a:lvl5pPr algn="l">
              <a:buNone/>
              <a:defRPr sz="1500" b="0">
                <a:solidFill>
                  <a:srgbClr val="53616E"/>
                </a:solidFill>
                <a:latin typeface="Arial"/>
                <a:ea typeface="Arial"/>
                <a:cs typeface="Arial"/>
              </a:defRPr>
            </a:lvl5pPr>
            <a:lvl6pPr algn="l">
              <a:buNone/>
              <a:defRPr sz="1500" b="0">
                <a:solidFill>
                  <a:srgbClr val="53616E"/>
                </a:solidFill>
                <a:latin typeface="Arial"/>
                <a:ea typeface="Arial"/>
                <a:cs typeface="Arial"/>
              </a:defRPr>
            </a:lvl6pPr>
            <a:lvl7pPr algn="l">
              <a:buNone/>
              <a:defRPr sz="1500" b="0">
                <a:solidFill>
                  <a:srgbClr val="53616E"/>
                </a:solidFill>
                <a:latin typeface="Arial"/>
                <a:ea typeface="Arial"/>
                <a:cs typeface="Arial"/>
              </a:defRPr>
            </a:lvl7pPr>
            <a:lvl8pPr algn="l">
              <a:buNone/>
              <a:defRPr sz="1500" b="0">
                <a:solidFill>
                  <a:srgbClr val="53616E"/>
                </a:solidFill>
                <a:latin typeface="Arial"/>
                <a:ea typeface="Arial"/>
                <a:cs typeface="Arial"/>
              </a:defRPr>
            </a:lvl8pPr>
            <a:lvl9pPr algn="l">
              <a:buNone/>
              <a:defRPr sz="1500" b="0">
                <a:solidFill>
                  <a:srgbClr val="53616E"/>
                </a:solidFill>
                <a:latin typeface="Arial"/>
                <a:ea typeface="Arial"/>
                <a:cs typeface="Arial"/>
              </a:defRPr>
            </a:lvl9pPr>
          </a:lstStyle>
          <a:p>
            <a:pPr algn="l">
              <a:buNone/>
              <a:defRPr sz="1575" b="0">
                <a:solidFill>
                  <a:srgbClr val="17202A"/>
                </a:solidFill>
                <a:latin typeface="Arial"/>
                <a:ea typeface="Arial"/>
                <a:cs typeface="Arial"/>
              </a:defRPr>
            </a:pPr>
            <a:r>
              <a:rPr sz="1575" b="0">
                <a:solidFill>
                  <a:srgbClr val="17202A"/>
                </a:solidFill>
                <a:latin typeface="Arial"/>
                <a:ea typeface="Arial"/>
                <a:cs typeface="Arial"/>
              </a:rPr>
              <a:t>Motivation: four CPUs share one allocator. Activities: stress, remove/restore four calls, compare. Outcome: explain lock safety. Source: Case Study 14 brief.</a:t>
            </a:r>
          </a:p>
        </p:txBody>
      </p:sp>
    </p:spTree>
    <p:extLst>
      <p:ext uri="{BB962C8B-B14F-4D97-AF65-F5344CB8AC3E}">
        <p14:creationId xmlns:p14="http://schemas.microsoft.com/office/powerpoint/2010/main" val="626655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E5BEE2-CD71-45B7-BF3A-99C512E8AF3C}"/>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1. Race conditions depend on interleaving</a:t>
            </a:r>
          </a:p>
        </p:txBody>
      </p:sp>
      <p:sp>
        <p:nvSpPr>
          <p:cNvPr id="3" name="Rectangle 2">
            <a:extLst>
              <a:ext uri="{FF2B5EF4-FFF2-40B4-BE49-F238E27FC236}">
                <a16:creationId xmlns:a16="http://schemas.microsoft.com/office/drawing/2014/main" id="{B0BC173B-6C18-4BF2-92E7-E953DD0AEB3E}"/>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Rectangle 3">
            <a:extLst>
              <a:ext uri="{FF2B5EF4-FFF2-40B4-BE49-F238E27FC236}">
                <a16:creationId xmlns:a16="http://schemas.microsoft.com/office/drawing/2014/main" id="{57D2842E-ECB9-490E-8111-0FECAFBE1C58}"/>
              </a:ext>
            </a:extLst>
          </p:cNvPr>
          <p:cNvSpPr>
            <a:spLocks noGrp="1"/>
          </p:cNvSpPr>
          <p:nvPr/>
        </p:nvSpPr>
        <p:spPr>
          <a:xfrm>
            <a:off x="685800" y="1333500"/>
            <a:ext cx="10820400" cy="552450"/>
          </a:xfrm>
          <a:prstGeom prst="rect">
            <a:avLst/>
          </a:prstGeom>
          <a:noFill/>
          <a:ln w="0">
            <a:noFill/>
          </a:ln>
        </p:spPr>
        <p:txBody>
          <a:bodyPr wrap="square" lIns="0" tIns="0" rIns="0" bIns="0" anchor="t">
            <a:noAutofit/>
          </a:bodyPr>
          <a:lstStyle>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shared-data correctness depends on how concurrent operations interleave.</a:t>
            </a:r>
          </a:p>
        </p:txBody>
      </p:sp>
      <p:sp>
        <p:nvSpPr>
          <p:cNvPr id="5" name="Rectangle 4">
            <a:extLst>
              <a:ext uri="{FF2B5EF4-FFF2-40B4-BE49-F238E27FC236}">
                <a16:creationId xmlns:a16="http://schemas.microsoft.com/office/drawing/2014/main" id="{65F80E4D-397D-49B2-928A-4C14F2172D69}"/>
              </a:ext>
            </a:extLst>
          </p:cNvPr>
          <p:cNvSpPr>
            <a:spLocks noGrp="1"/>
          </p:cNvSpPr>
          <p:nvPr/>
        </p:nvSpPr>
        <p:spPr>
          <a:xfrm>
            <a:off x="685800" y="1952625"/>
            <a:ext cx="10820400" cy="552450"/>
          </a:xfrm>
          <a:prstGeom prst="rect">
            <a:avLst/>
          </a:prstGeom>
          <a:noFill/>
          <a:ln w="0">
            <a:noFill/>
          </a:ln>
        </p:spPr>
        <p:txBody>
          <a:bodyPr wrap="square" lIns="0" tIns="0" rIns="0" bIns="0" anchor="t">
            <a:noAutofit/>
          </a:bodyPr>
          <a:lstStyle>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Rectangle 5">
            <a:extLst>
              <a:ext uri="{FF2B5EF4-FFF2-40B4-BE49-F238E27FC236}">
                <a16:creationId xmlns:a16="http://schemas.microsoft.com/office/drawing/2014/main" id="{52614E87-87C0-458B-AFBE-78F40B002DA1}"/>
              </a:ext>
            </a:extLst>
          </p:cNvPr>
          <p:cNvSpPr>
            <a:spLocks noGrp="1"/>
          </p:cNvSpPr>
          <p:nvPr/>
        </p:nvSpPr>
        <p:spPr>
          <a:xfrm>
            <a:off x="685800" y="2819400"/>
            <a:ext cx="10820400" cy="333375"/>
          </a:xfrm>
          <a:prstGeom prst="rect">
            <a:avLst/>
          </a:prstGeom>
          <a:noFill/>
          <a:ln w="0">
            <a:noFill/>
          </a:ln>
        </p:spPr>
        <p:txBody>
          <a:bodyPr wrap="square" lIns="0" tIns="0" rIns="0" bIns="0" anchor="t">
            <a:noAutofit/>
          </a:bodyPr>
          <a:lstStyle>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Table 6">
            <a:extLst>
              <a:ext uri="{FF2B5EF4-FFF2-40B4-BE49-F238E27FC236}">
                <a16:creationId xmlns:a16="http://schemas.microsoft.com/office/drawing/2014/main" id="{D083AA33-838E-4283-9721-A6B3AA5C9967}"/>
              </a:ext>
            </a:extLst>
          </p:cNvPr>
          <p:cNvGraphicFramePr/>
          <p:nvPr/>
        </p:nvGraphicFramePr>
        <p:xfrm>
          <a:off x="685800" y="3305175"/>
          <a:ext cx="10820400" cy="2076452"/>
        </p:xfrm>
        <a:graphic>
          <a:graphicData uri="http://schemas.openxmlformats.org/drawingml/2006/table">
            <a:tbl>
              <a:tblPr/>
              <a:tblGrid>
                <a:gridCol w="1428750">
                  <a:extLst>
                    <a:ext uri="{9D8B030D-6E8A-4147-A177-3AD203B41FA5}">
                      <a16:colId xmlns:a16="http://schemas.microsoft.com/office/drawing/2014/main" val="20000"/>
                    </a:ext>
                  </a:extLst>
                </a:gridCol>
                <a:gridCol w="4695825">
                  <a:extLst>
                    <a:ext uri="{9D8B030D-6E8A-4147-A177-3AD203B41FA5}">
                      <a16:colId xmlns:a16="http://schemas.microsoft.com/office/drawing/2014/main" val="20001"/>
                    </a:ext>
                  </a:extLst>
                </a:gridCol>
                <a:gridCol w="4695825">
                  <a:extLst>
                    <a:ext uri="{9D8B030D-6E8A-4147-A177-3AD203B41FA5}">
                      <a16:colId xmlns:a16="http://schemas.microsoft.com/office/drawing/2014/main" val="20002"/>
                    </a:ext>
                  </a:extLst>
                </a:gridCol>
              </a:tblGrid>
              <a:tr h="519113">
                <a:tc>
                  <a:txBody>
                    <a:bodyPr/>
                    <a:lstStyle/>
                    <a:p>
                      <a:r>
                        <a:rPr sz="1800" b="1">
                          <a:solidFill>
                            <a:srgbClr val="17202A"/>
                          </a:solidFill>
                          <a:latin typeface="Arial"/>
                          <a:ea typeface="Arial"/>
                          <a:cs typeface="Arial"/>
                        </a:rPr>
                        <a:t>Step</a:t>
                      </a:r>
                    </a:p>
                  </a:txBody>
                  <a:tcPr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CPU 0: kalloc()</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CPU 1: kalloc()</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extLst>
                  <a:ext uri="{0D108BD9-81ED-4DB2-BD59-A6C34878D82A}">
                    <a16:rowId xmlns:a16="http://schemas.microsoft.com/office/drawing/2014/main" val="10000"/>
                  </a:ext>
                </a:extLst>
              </a:tr>
              <a:tr h="519113">
                <a:tc>
                  <a:txBody>
                    <a:bodyPr/>
                    <a:lstStyle/>
                    <a:p>
                      <a:r>
                        <a:rPr sz="1800" b="0">
                          <a:solidFill>
                            <a:srgbClr val="17202A"/>
                          </a:solidFill>
                          <a:latin typeface="Arial"/>
                          <a:ea typeface="Arial"/>
                          <a:cs typeface="Arial"/>
                        </a:rPr>
                        <a:t>1</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r0 = freelist =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r1 = freelist =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1"/>
                  </a:ext>
                </a:extLst>
              </a:tr>
              <a:tr h="519113">
                <a:tc>
                  <a:txBody>
                    <a:bodyPr/>
                    <a:lstStyle/>
                    <a:p>
                      <a:r>
                        <a:rPr sz="1800" b="0">
                          <a:solidFill>
                            <a:srgbClr val="17202A"/>
                          </a:solidFill>
                          <a:latin typeface="Arial"/>
                          <a:ea typeface="Arial"/>
                          <a:cs typeface="Arial"/>
                        </a:rPr>
                        <a:t>2</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freelist = P-&gt;next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freelist = P-&gt;next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2"/>
                  </a:ext>
                </a:extLst>
              </a:tr>
              <a:tr h="519113">
                <a:tc>
                  <a:txBody>
                    <a:bodyPr/>
                    <a:lstStyle/>
                    <a:p>
                      <a:r>
                        <a:rPr sz="1800" b="0">
                          <a:solidFill>
                            <a:srgbClr val="17202A"/>
                          </a:solidFill>
                          <a:latin typeface="Arial"/>
                          <a:ea typeface="Arial"/>
                          <a:cs typeface="Arial"/>
                        </a:rPr>
                        <a:t>3</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return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return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Rectangle 7">
            <a:extLst>
              <a:ext uri="{FF2B5EF4-FFF2-40B4-BE49-F238E27FC236}">
                <a16:creationId xmlns:a16="http://schemas.microsoft.com/office/drawing/2014/main" id="{DB863C70-A864-40A6-94F8-FB7C27CB742D}"/>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xv6 kernel/kalloc.c. Illustrative schedule, not a recorded trace.</a:t>
            </a:r>
          </a:p>
        </p:txBody>
      </p:sp>
    </p:spTree>
    <p:extLst>
      <p:ext uri="{BB962C8B-B14F-4D97-AF65-F5344CB8AC3E}">
        <p14:creationId xmlns:p14="http://schemas.microsoft.com/office/powerpoint/2010/main" val="21043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A95FA4-7622-4CBB-A05C-1E5DDD4AF659}"/>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2. Race conditions can corrupt data and stop kernel work</a:t>
            </a:r>
          </a:p>
        </p:txBody>
      </p:sp>
      <p:sp>
        <p:nvSpPr>
          <p:cNvPr id="3" name="Rectangle 2">
            <a:extLst>
              <a:ext uri="{FF2B5EF4-FFF2-40B4-BE49-F238E27FC236}">
                <a16:creationId xmlns:a16="http://schemas.microsoft.com/office/drawing/2014/main" id="{AB8D5145-6090-433B-8E85-A8B61EA0B267}"/>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Rectangle 3">
            <a:extLst>
              <a:ext uri="{FF2B5EF4-FFF2-40B4-BE49-F238E27FC236}">
                <a16:creationId xmlns:a16="http://schemas.microsoft.com/office/drawing/2014/main" id="{FD05BAEC-FA21-4EA2-9E6A-8A754BBFCBC6}"/>
              </a:ext>
            </a:extLst>
          </p:cNvPr>
          <p:cNvSpPr>
            <a:spLocks noGrp="1"/>
          </p:cNvSpPr>
          <p:nvPr/>
        </p:nvSpPr>
        <p:spPr>
          <a:xfrm>
            <a:off x="685800" y="157162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make a free page unreachable.</a:t>
            </a:r>
          </a:p>
        </p:txBody>
      </p:sp>
      <p:sp>
        <p:nvSpPr>
          <p:cNvPr id="5" name="Rectangle 4">
            <a:extLst>
              <a:ext uri="{FF2B5EF4-FFF2-40B4-BE49-F238E27FC236}">
                <a16:creationId xmlns:a16="http://schemas.microsoft.com/office/drawing/2014/main" id="{5500572F-F0F3-403B-9C0B-656AF21CE5FA}"/>
              </a:ext>
            </a:extLst>
          </p:cNvPr>
          <p:cNvSpPr>
            <a:spLocks noGrp="1"/>
          </p:cNvSpPr>
          <p:nvPr/>
        </p:nvSpPr>
        <p:spPr>
          <a:xfrm>
            <a:off x="685800" y="255270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return the same physical page.</a:t>
            </a:r>
          </a:p>
        </p:txBody>
      </p:sp>
      <p:sp>
        <p:nvSpPr>
          <p:cNvPr id="6" name="Rectangle 5">
            <a:extLst>
              <a:ext uri="{FF2B5EF4-FFF2-40B4-BE49-F238E27FC236}">
                <a16:creationId xmlns:a16="http://schemas.microsoft.com/office/drawing/2014/main" id="{96F4229A-AB58-4E2A-B7E6-601EB9998767}"/>
              </a:ext>
            </a:extLst>
          </p:cNvPr>
          <p:cNvSpPr>
            <a:spLocks noGrp="1"/>
          </p:cNvSpPr>
          <p:nvPr/>
        </p:nvSpPr>
        <p:spPr>
          <a:xfrm>
            <a:off x="685800" y="353377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corrupt memory or trap the kernel.</a:t>
            </a:r>
          </a:p>
        </p:txBody>
      </p:sp>
      <p:sp>
        <p:nvSpPr>
          <p:cNvPr id="7" name="Rectangle 6">
            <a:extLst>
              <a:ext uri="{FF2B5EF4-FFF2-40B4-BE49-F238E27FC236}">
                <a16:creationId xmlns:a16="http://schemas.microsoft.com/office/drawing/2014/main" id="{2053CCAC-2354-4F2C-8AC0-2A4DEB5C1DD7}"/>
              </a:ext>
            </a:extLst>
          </p:cNvPr>
          <p:cNvSpPr>
            <a:spLocks noGrp="1"/>
          </p:cNvSpPr>
          <p:nvPr/>
        </p:nvSpPr>
        <p:spPr>
          <a:xfrm>
            <a:off x="685800" y="451485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Damage can spread into unrelated processes and kernel work.</a:t>
            </a:r>
          </a:p>
        </p:txBody>
      </p:sp>
      <p:sp>
        <p:nvSpPr>
          <p:cNvPr id="8" name="Rectangle 7">
            <a:extLst>
              <a:ext uri="{FF2B5EF4-FFF2-40B4-BE49-F238E27FC236}">
                <a16:creationId xmlns:a16="http://schemas.microsoft.com/office/drawing/2014/main" id="{6427B26D-5D72-4B87-B4AC-406E09A9E28B}"/>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allocator invariant. A timeout alone is not a deadlock diagnosis.</a:t>
            </a:r>
          </a:p>
        </p:txBody>
      </p:sp>
    </p:spTree>
    <p:extLst>
      <p:ext uri="{BB962C8B-B14F-4D97-AF65-F5344CB8AC3E}">
        <p14:creationId xmlns:p14="http://schemas.microsoft.com/office/powerpoint/2010/main" val="756316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15AC4C-1A5E-40A4-B6C1-74037E156DE8}"/>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Existing System: xv6 protects a global free list</a:t>
            </a:r>
          </a:p>
        </p:txBody>
      </p:sp>
      <p:sp>
        <p:nvSpPr>
          <p:cNvPr id="3" name="Rectangle 2">
            <a:extLst>
              <a:ext uri="{FF2B5EF4-FFF2-40B4-BE49-F238E27FC236}">
                <a16:creationId xmlns:a16="http://schemas.microsoft.com/office/drawing/2014/main" id="{0E7F4DD0-A2EA-4DB3-81B2-98D2AC09118A}"/>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Rectangle 3">
            <a:extLst>
              <a:ext uri="{FF2B5EF4-FFF2-40B4-BE49-F238E27FC236}">
                <a16:creationId xmlns:a16="http://schemas.microsoft.com/office/drawing/2014/main" id="{D4ADB33D-8C3B-4041-ACDB-C6662441A094}"/>
              </a:ext>
            </a:extLst>
          </p:cNvPr>
          <p:cNvSpPr>
            <a:spLocks noGrp="1"/>
          </p:cNvSpPr>
          <p:nvPr/>
        </p:nvSpPr>
        <p:spPr>
          <a:xfrm>
            <a:off x="685800" y="1304925"/>
            <a:ext cx="10820400" cy="295275"/>
          </a:xfrm>
          <a:prstGeom prst="rect">
            <a:avLst/>
          </a:prstGeom>
          <a:noFill/>
          <a:ln w="0">
            <a:noFill/>
          </a:ln>
        </p:spPr>
        <p:txBody>
          <a:bodyPr wrap="square" lIns="0" tIns="0" rIns="0" bIns="0" anchor="t">
            <a:noAutofit/>
          </a:bodyPr>
          <a:lstStyle>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a:pPr>
              <a:buNone/>
              <a:defRPr sz="1800" b="1">
                <a:solidFill>
                  <a:srgbClr val="17202A"/>
                </a:solidFill>
                <a:latin typeface="Arial"/>
                <a:ea typeface="Arial"/>
                <a:cs typeface="Arial"/>
              </a:defRPr>
            </a:pPr>
            <a:r>
              <a:rPr sz="1800" b="1">
                <a:solidFill>
                  <a:srgbClr val="17202A"/>
                </a:solidFill>
                <a:latin typeface="Arial"/>
                <a:ea typeface="Arial"/>
                <a:cs typeface="Arial"/>
              </a:rPr>
              <a:t>Table 2. Shared kernel structures and their locks</a:t>
            </a:r>
          </a:p>
        </p:txBody>
      </p:sp>
      <p:graphicFrame>
        <p:nvGraphicFramePr>
          <p:cNvPr id="5" name="Table 4">
            <a:extLst>
              <a:ext uri="{FF2B5EF4-FFF2-40B4-BE49-F238E27FC236}">
                <a16:creationId xmlns:a16="http://schemas.microsoft.com/office/drawing/2014/main" id="{88BE9B39-2919-430B-A5A6-4376AFB9A9CB}"/>
              </a:ext>
            </a:extLst>
          </p:cNvPr>
          <p:cNvGraphicFramePr/>
          <p:nvPr/>
        </p:nvGraphicFramePr>
        <p:xfrm>
          <a:off x="685800" y="1724025"/>
          <a:ext cx="10820400" cy="3933825"/>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561975">
                <a:tc>
                  <a:txBody>
                    <a:bodyPr/>
                    <a:lstStyle/>
                    <a:p>
                      <a:r>
                        <a:rPr sz="1800" b="1">
                          <a:solidFill>
                            <a:srgbClr val="17202A"/>
                          </a:solidFill>
                          <a:latin typeface="Arial"/>
                          <a:ea typeface="Arial"/>
                          <a:cs typeface="Arial"/>
                        </a:rPr>
                        <a:t>Shared structure</a:t>
                      </a:r>
                    </a:p>
                  </a:txBody>
                  <a:tcPr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Lock and purpose</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extLst>
                  <a:ext uri="{0D108BD9-81ED-4DB2-BD59-A6C34878D82A}">
                    <a16:rowId xmlns:a16="http://schemas.microsoft.com/office/drawing/2014/main" val="10000"/>
                  </a:ext>
                </a:extLst>
              </a:tr>
              <a:tr h="561975">
                <a:tc>
                  <a:txBody>
                    <a:bodyPr/>
                    <a:lstStyle/>
                    <a:p>
                      <a:r>
                        <a:rPr sz="1800" b="0">
                          <a:solidFill>
                            <a:srgbClr val="17202A"/>
                          </a:solidFill>
                          <a:latin typeface="Arial"/>
                          <a:ea typeface="Arial"/>
                          <a:cs typeface="Arial"/>
                        </a:rPr>
                        <a:t>Physical-page free list</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kmem.lock — serializes kalloc() and kfree()</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1"/>
                  </a:ext>
                </a:extLst>
              </a:tr>
              <a:tr h="561975">
                <a:tc>
                  <a:txBody>
                    <a:bodyPr/>
                    <a:lstStyle/>
                    <a:p>
                      <a:r>
                        <a:rPr sz="1800" b="0">
                          <a:solidFill>
                            <a:srgbClr val="17202A"/>
                          </a:solidFill>
                          <a:latin typeface="Arial"/>
                          <a:ea typeface="Arial"/>
                          <a:cs typeface="Arial"/>
                        </a:rPr>
                        <a:t>Process table</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p-&gt;lock — protects per-process state</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2"/>
                  </a:ext>
                </a:extLst>
              </a:tr>
              <a:tr h="561975">
                <a:tc>
                  <a:txBody>
                    <a:bodyPr/>
                    <a:lstStyle/>
                    <a:p>
                      <a:r>
                        <a:rPr sz="1800" b="0">
                          <a:solidFill>
                            <a:srgbClr val="17202A"/>
                          </a:solidFill>
                          <a:latin typeface="Arial"/>
                          <a:ea typeface="Arial"/>
                          <a:cs typeface="Arial"/>
                        </a:rPr>
                        <a:t>PID allocator</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pid_lock — coordinates PID assignment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3"/>
                  </a:ext>
                </a:extLst>
              </a:tr>
              <a:tr h="561975">
                <a:tc>
                  <a:txBody>
                    <a:bodyPr/>
                    <a:lstStyle/>
                    <a:p>
                      <a:r>
                        <a:rPr sz="1800" b="0">
                          <a:solidFill>
                            <a:srgbClr val="17202A"/>
                          </a:solidFill>
                          <a:latin typeface="Arial"/>
                          <a:ea typeface="Arial"/>
                          <a:cs typeface="Arial"/>
                        </a:rPr>
                        <a:t>Parent/child state</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wait_lock — coordinates wait transitions</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4"/>
                  </a:ext>
                </a:extLst>
              </a:tr>
              <a:tr h="561975">
                <a:tc>
                  <a:txBody>
                    <a:bodyPr/>
                    <a:lstStyle/>
                    <a:p>
                      <a:r>
                        <a:rPr sz="1800" b="0">
                          <a:solidFill>
                            <a:srgbClr val="17202A"/>
                          </a:solidFill>
                          <a:latin typeface="Arial"/>
                          <a:ea typeface="Arial"/>
                          <a:cs typeface="Arial"/>
                        </a:rPr>
                        <a:t>Buffer cache</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bcache.lock — protects shared metadata</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5"/>
                  </a:ext>
                </a:extLst>
              </a:tr>
              <a:tr h="561975">
                <a:tc>
                  <a:txBody>
                    <a:bodyPr/>
                    <a:lstStyle/>
                    <a:p>
                      <a:r>
                        <a:rPr sz="1800" b="0">
                          <a:solidFill>
                            <a:srgbClr val="17202A"/>
                          </a:solidFill>
                          <a:latin typeface="Arial"/>
                          <a:ea typeface="Arial"/>
                          <a:cs typeface="Arial"/>
                        </a:rPr>
                        <a:t>Timer ticks</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tickslock — protects the shared tick count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AB6B0572-B86A-416B-A0E5-0FDA1FBED59F}"/>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MIT xv6 locking chapter. Per-CPU lists need refill/steal; CAS needs ABA-safe reclamation; neither was tested.</a:t>
            </a:r>
          </a:p>
        </p:txBody>
      </p:sp>
    </p:spTree>
    <p:extLst>
      <p:ext uri="{BB962C8B-B14F-4D97-AF65-F5344CB8AC3E}">
        <p14:creationId xmlns:p14="http://schemas.microsoft.com/office/powerpoint/2010/main" val="160186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963474-6AA7-4166-BF45-FBFBFE0A9C3C}"/>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3. Proposed Solution: hold kmem.lock for the full update</a:t>
            </a:r>
          </a:p>
        </p:txBody>
      </p:sp>
      <p:sp>
        <p:nvSpPr>
          <p:cNvPr id="3" name="Rectangle 2">
            <a:extLst>
              <a:ext uri="{FF2B5EF4-FFF2-40B4-BE49-F238E27FC236}">
                <a16:creationId xmlns:a16="http://schemas.microsoft.com/office/drawing/2014/main" id="{E6656C00-60F6-4AB7-95F8-126C7359E408}"/>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Rectangle 3">
            <a:extLst>
              <a:ext uri="{FF2B5EF4-FFF2-40B4-BE49-F238E27FC236}">
                <a16:creationId xmlns:a16="http://schemas.microsoft.com/office/drawing/2014/main" id="{AB2228CB-F130-493B-8AE0-0C12BE180D6B}"/>
              </a:ext>
            </a:extLst>
          </p:cNvPr>
          <p:cNvSpPr>
            <a:spLocks noGrp="1"/>
          </p:cNvSpPr>
          <p:nvPr/>
        </p:nvSpPr>
        <p:spPr>
          <a:xfrm>
            <a:off x="685800" y="157162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Keep kmem.lock around each free-list update.</a:t>
            </a:r>
          </a:p>
        </p:txBody>
      </p:sp>
      <p:sp>
        <p:nvSpPr>
          <p:cNvPr id="5" name="Rectangle 4">
            <a:extLst>
              <a:ext uri="{FF2B5EF4-FFF2-40B4-BE49-F238E27FC236}">
                <a16:creationId xmlns:a16="http://schemas.microsoft.com/office/drawing/2014/main" id="{DADF8EBD-65B1-4E65-A605-DE8815635913}"/>
              </a:ext>
            </a:extLst>
          </p:cNvPr>
          <p:cNvSpPr>
            <a:spLocks noGrp="1"/>
          </p:cNvSpPr>
          <p:nvPr/>
        </p:nvSpPr>
        <p:spPr>
          <a:xfrm>
            <a:off x="685800" y="255270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Protect the complete read-and-update sequence.</a:t>
            </a:r>
          </a:p>
        </p:txBody>
      </p:sp>
      <p:sp>
        <p:nvSpPr>
          <p:cNvPr id="6" name="Rectangle 5">
            <a:extLst>
              <a:ext uri="{FF2B5EF4-FFF2-40B4-BE49-F238E27FC236}">
                <a16:creationId xmlns:a16="http://schemas.microsoft.com/office/drawing/2014/main" id="{B1E07357-C1C8-4D3B-BBDE-AE33CBF12579}"/>
              </a:ext>
            </a:extLst>
          </p:cNvPr>
          <p:cNvSpPr>
            <a:spLocks noGrp="1"/>
          </p:cNvSpPr>
          <p:nvPr/>
        </p:nvSpPr>
        <p:spPr>
          <a:xfrm>
            <a:off x="685800" y="353377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Use atomic ownership with acquire/release ordering.</a:t>
            </a:r>
          </a:p>
        </p:txBody>
      </p:sp>
      <p:sp>
        <p:nvSpPr>
          <p:cNvPr id="7" name="Rectangle 6">
            <a:extLst>
              <a:ext uri="{FF2B5EF4-FFF2-40B4-BE49-F238E27FC236}">
                <a16:creationId xmlns:a16="http://schemas.microsoft.com/office/drawing/2014/main" id="{B1EBF793-FD28-4C1A-8F08-604BC644A4BE}"/>
              </a:ext>
            </a:extLst>
          </p:cNvPr>
          <p:cNvSpPr>
            <a:spLocks noGrp="1"/>
          </p:cNvSpPr>
          <p:nvPr/>
        </p:nvSpPr>
        <p:spPr>
          <a:xfrm>
            <a:off x="685800" y="451485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Keep the critical section short.</a:t>
            </a:r>
          </a:p>
        </p:txBody>
      </p:sp>
      <p:sp>
        <p:nvSpPr>
          <p:cNvPr id="8" name="Rectangle 7">
            <a:extLst>
              <a:ext uri="{FF2B5EF4-FFF2-40B4-BE49-F238E27FC236}">
                <a16:creationId xmlns:a16="http://schemas.microsoft.com/office/drawing/2014/main" id="{E0716FFF-4028-4316-B08D-64F03182B9D3}"/>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xv6 allocator code. The experiment restores the existing lock.</a:t>
            </a:r>
          </a:p>
        </p:txBody>
      </p:sp>
    </p:spTree>
    <p:extLst>
      <p:ext uri="{BB962C8B-B14F-4D97-AF65-F5344CB8AC3E}">
        <p14:creationId xmlns:p14="http://schemas.microsoft.com/office/powerpoint/2010/main" val="114134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BE08D7-BB06-496C-A25E-9E82F7F62EF0}"/>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4-5. Synchronization coordinates shared access</a:t>
            </a:r>
          </a:p>
        </p:txBody>
      </p:sp>
      <p:sp>
        <p:nvSpPr>
          <p:cNvPr id="3" name="Rectangle 2">
            <a:extLst>
              <a:ext uri="{FF2B5EF4-FFF2-40B4-BE49-F238E27FC236}">
                <a16:creationId xmlns:a16="http://schemas.microsoft.com/office/drawing/2014/main" id="{66E19EEF-5AF9-46E5-A6F4-F77A798F4F9A}"/>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Rectangle 3">
            <a:extLst>
              <a:ext uri="{FF2B5EF4-FFF2-40B4-BE49-F238E27FC236}">
                <a16:creationId xmlns:a16="http://schemas.microsoft.com/office/drawing/2014/main" id="{C909577E-84B1-42EB-A73F-D15786A5D5BE}"/>
              </a:ext>
            </a:extLst>
          </p:cNvPr>
          <p:cNvSpPr>
            <a:spLocks noGrp="1"/>
          </p:cNvSpPr>
          <p:nvPr/>
        </p:nvSpPr>
        <p:spPr>
          <a:xfrm>
            <a:off x="685800" y="1581150"/>
            <a:ext cx="10820400" cy="628650"/>
          </a:xfrm>
          <a:prstGeom prst="rect">
            <a:avLst/>
          </a:prstGeom>
          <a:noFill/>
          <a:ln w="0">
            <a:noFill/>
          </a:ln>
        </p:spPr>
        <p:txBody>
          <a:bodyPr wrap="square" lIns="0" tIns="0" rIns="0" bIns="0" anchor="t">
            <a:noAutofit/>
          </a:bodyPr>
          <a:lstStyle>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operations so shared state stays correct.</a:t>
            </a:r>
          </a:p>
        </p:txBody>
      </p:sp>
      <p:sp>
        <p:nvSpPr>
          <p:cNvPr id="5" name="Rectangle 4">
            <a:extLst>
              <a:ext uri="{FF2B5EF4-FFF2-40B4-BE49-F238E27FC236}">
                <a16:creationId xmlns:a16="http://schemas.microsoft.com/office/drawing/2014/main" id="{8CD26782-4834-4EBB-8808-786402413526}"/>
              </a:ext>
            </a:extLst>
          </p:cNvPr>
          <p:cNvSpPr>
            <a:spLocks noGrp="1"/>
          </p:cNvSpPr>
          <p:nvPr/>
        </p:nvSpPr>
        <p:spPr>
          <a:xfrm>
            <a:off x="685800" y="2581275"/>
            <a:ext cx="10820400" cy="628650"/>
          </a:xfrm>
          <a:prstGeom prst="rect">
            <a:avLst/>
          </a:prstGeom>
          <a:noFill/>
          <a:ln w="0">
            <a:noFill/>
          </a:ln>
        </p:spPr>
        <p:txBody>
          <a:bodyPr wrap="square" lIns="0" tIns="0" rIns="0" bIns="0" anchor="t">
            <a:noAutofit/>
          </a:bodyPr>
          <a:lstStyle>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a:pPr>
              <a:buNone/>
              <a:defRPr sz="2250" b="0">
                <a:solidFill>
                  <a:srgbClr val="17202A"/>
                </a:solidFill>
                <a:latin typeface="Arial"/>
                <a:ea typeface="Arial"/>
                <a:cs typeface="Arial"/>
              </a:defRPr>
            </a:pPr>
            <a:r>
              <a:rPr sz="2250" b="0">
                <a:solidFill>
                  <a:srgbClr val="17202A"/>
                </a:solidFill>
                <a:latin typeface="Arial"/>
                <a:ea typeface="Arial"/>
                <a:cs typeface="Arial"/>
              </a:rPr>
              <a:t>A critical section protects dependent reads and writes as one operation.</a:t>
            </a:r>
          </a:p>
        </p:txBody>
      </p:sp>
      <p:sp>
        <p:nvSpPr>
          <p:cNvPr id="6" name="Rectangle 5">
            <a:extLst>
              <a:ext uri="{FF2B5EF4-FFF2-40B4-BE49-F238E27FC236}">
                <a16:creationId xmlns:a16="http://schemas.microsoft.com/office/drawing/2014/main" id="{3EACF1AF-03B5-46A3-AEBE-CB69771B7586}"/>
              </a:ext>
            </a:extLst>
          </p:cNvPr>
          <p:cNvSpPr>
            <a:spLocks noGrp="1"/>
          </p:cNvSpPr>
          <p:nvPr/>
        </p:nvSpPr>
        <p:spPr>
          <a:xfrm>
            <a:off x="685800" y="3581400"/>
            <a:ext cx="10820400" cy="628650"/>
          </a:xfrm>
          <a:prstGeom prst="rect">
            <a:avLst/>
          </a:prstGeom>
          <a:noFill/>
          <a:ln w="0">
            <a:noFill/>
          </a:ln>
        </p:spPr>
        <p:txBody>
          <a:bodyPr wrap="square" lIns="0" tIns="0" rIns="0" bIns="0" anchor="t">
            <a:noAutofit/>
          </a:bodyPr>
          <a:lstStyle>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a:pPr>
              <a:buNone/>
              <a:defRPr sz="2250" b="1">
                <a:solidFill>
                  <a:srgbClr val="17202A"/>
                </a:solidFill>
                <a:latin typeface="Arial"/>
                <a:ea typeface="Arial"/>
                <a:cs typeface="Arial"/>
              </a:defRPr>
            </a:pPr>
            <a:r>
              <a:rPr sz="2250" b="1">
                <a:solidFill>
                  <a:srgbClr val="17202A"/>
                </a:solidFill>
                <a:latin typeface="Arial"/>
                <a:ea typeface="Arial"/>
                <a:cs typeface="Arial"/>
              </a:rPr>
              <a:t>Types: mutex, spinlock, semaphore, condition variable, reader-writer lock, barrier, atomic.</a:t>
            </a:r>
          </a:p>
        </p:txBody>
      </p:sp>
      <p:sp>
        <p:nvSpPr>
          <p:cNvPr id="7" name="Rectangle 6">
            <a:extLst>
              <a:ext uri="{FF2B5EF4-FFF2-40B4-BE49-F238E27FC236}">
                <a16:creationId xmlns:a16="http://schemas.microsoft.com/office/drawing/2014/main" id="{27C6FD6C-805D-49A9-80C0-1F85C468450B}"/>
              </a:ext>
            </a:extLst>
          </p:cNvPr>
          <p:cNvSpPr>
            <a:spLocks noGrp="1"/>
          </p:cNvSpPr>
          <p:nvPr/>
        </p:nvSpPr>
        <p:spPr>
          <a:xfrm>
            <a:off x="685800" y="4581525"/>
            <a:ext cx="10820400" cy="628650"/>
          </a:xfrm>
          <a:prstGeom prst="rect">
            <a:avLst/>
          </a:prstGeom>
          <a:noFill/>
          <a:ln w="0">
            <a:noFill/>
          </a:ln>
        </p:spPr>
        <p:txBody>
          <a:bodyPr wrap="square" lIns="0" tIns="0" rIns="0" bIns="0" anchor="t">
            <a:noAutofit/>
          </a:bodyPr>
          <a:lstStyle>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a:pPr>
              <a:buNone/>
              <a:defRPr sz="2250" b="0">
                <a:solidFill>
                  <a:srgbClr val="17202A"/>
                </a:solidFill>
                <a:latin typeface="Arial"/>
                <a:ea typeface="Arial"/>
                <a:cs typeface="Arial"/>
              </a:defRPr>
            </a:pPr>
            <a:r>
              <a:rPr sz="2250" b="0">
                <a:solidFill>
                  <a:srgbClr val="17202A"/>
                </a:solidFill>
                <a:latin typeface="Arial"/>
                <a:ea typeface="Arial"/>
                <a:cs typeface="Arial"/>
              </a:rPr>
              <a:t>xv6 uses a spinlock for the allocator; this study tests that lock.</a:t>
            </a:r>
          </a:p>
        </p:txBody>
      </p:sp>
      <p:sp>
        <p:nvSpPr>
          <p:cNvPr id="8" name="Rectangle 7">
            <a:extLst>
              <a:ext uri="{FF2B5EF4-FFF2-40B4-BE49-F238E27FC236}">
                <a16:creationId xmlns:a16="http://schemas.microsoft.com/office/drawing/2014/main" id="{53BDF668-543A-48A8-93A1-3B06576BF831}"/>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xv6 spinlock.c. Atomic ownership excludes other CPUs.</a:t>
            </a:r>
          </a:p>
        </p:txBody>
      </p:sp>
    </p:spTree>
    <p:extLst>
      <p:ext uri="{BB962C8B-B14F-4D97-AF65-F5344CB8AC3E}">
        <p14:creationId xmlns:p14="http://schemas.microsoft.com/office/powerpoint/2010/main" val="136072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BEAEAB99-F3BD-4BDB-86BD-C63382806072}"/>
              </a:ext>
            </a:extLst>
          </p:cNvPr>
          <p:cNvCxnSpPr>
            <a:stCxn id="17" idx="3"/>
            <a:endCxn id="18" idx="1"/>
          </p:cNvCxnSpPr>
          <p:nvPr/>
        </p:nvCxnSpPr>
        <p:spPr>
          <a:xfrm>
            <a:off x="8763000" y="3619500"/>
            <a:ext cx="438150" cy="0"/>
          </a:xfrm>
          <a:prstGeom prst="straightConnector1">
            <a:avLst/>
          </a:prstGeom>
          <a:ln w="19050">
            <a:solidFill>
              <a:srgbClr val="607487"/>
            </a:solidFill>
            <a:prstDash val="solid"/>
            <a:tailEnd type="arrow" w="sm" len="sm"/>
          </a:ln>
        </p:spPr>
      </p:cxnSp>
      <p:cxnSp>
        <p:nvCxnSpPr>
          <p:cNvPr id="20" name="Straight Arrow Connector 19">
            <a:extLst>
              <a:ext uri="{FF2B5EF4-FFF2-40B4-BE49-F238E27FC236}">
                <a16:creationId xmlns:a16="http://schemas.microsoft.com/office/drawing/2014/main" id="{C9405A1F-1B1D-4622-A424-270F627881C9}"/>
              </a:ext>
            </a:extLst>
          </p:cNvPr>
          <p:cNvCxnSpPr>
            <a:stCxn id="16" idx="3"/>
            <a:endCxn id="17" idx="1"/>
          </p:cNvCxnSpPr>
          <p:nvPr/>
        </p:nvCxnSpPr>
        <p:spPr>
          <a:xfrm>
            <a:off x="5924550" y="3619500"/>
            <a:ext cx="438150" cy="0"/>
          </a:xfrm>
          <a:prstGeom prst="straightConnector1">
            <a:avLst/>
          </a:prstGeom>
          <a:ln w="19050">
            <a:solidFill>
              <a:srgbClr val="607487"/>
            </a:solidFill>
            <a:prstDash val="solid"/>
            <a:tailEnd type="arrow" w="sm" len="sm"/>
          </a:ln>
        </p:spPr>
      </p:cxnSp>
      <p:cxnSp>
        <p:nvCxnSpPr>
          <p:cNvPr id="19" name="Straight Arrow Connector 18">
            <a:extLst>
              <a:ext uri="{FF2B5EF4-FFF2-40B4-BE49-F238E27FC236}">
                <a16:creationId xmlns:a16="http://schemas.microsoft.com/office/drawing/2014/main" id="{DDF2F4DE-0343-4D6C-AA91-D68A6EF3F6DC}"/>
              </a:ext>
            </a:extLst>
          </p:cNvPr>
          <p:cNvCxnSpPr>
            <a:stCxn id="15" idx="3"/>
            <a:endCxn id="16" idx="1"/>
          </p:cNvCxnSpPr>
          <p:nvPr/>
        </p:nvCxnSpPr>
        <p:spPr>
          <a:xfrm>
            <a:off x="3086100" y="3619500"/>
            <a:ext cx="438150" cy="0"/>
          </a:xfrm>
          <a:prstGeom prst="straightConnector1">
            <a:avLst/>
          </a:prstGeom>
          <a:ln w="19050">
            <a:solidFill>
              <a:srgbClr val="607487"/>
            </a:solidFill>
            <a:prstDash val="solid"/>
            <a:tailEnd type="arrow" w="sm" len="sm"/>
          </a:ln>
        </p:spPr>
      </p:cxnSp>
      <p:cxnSp>
        <p:nvCxnSpPr>
          <p:cNvPr id="12" name="Straight Arrow Connector 11">
            <a:extLst>
              <a:ext uri="{FF2B5EF4-FFF2-40B4-BE49-F238E27FC236}">
                <a16:creationId xmlns:a16="http://schemas.microsoft.com/office/drawing/2014/main" id="{CC0AEA23-13FE-4413-A392-7DDA30AD3A85}"/>
              </a:ext>
            </a:extLst>
          </p:cNvPr>
          <p:cNvCxnSpPr>
            <a:stCxn id="7" idx="3"/>
            <a:endCxn id="8" idx="1"/>
          </p:cNvCxnSpPr>
          <p:nvPr/>
        </p:nvCxnSpPr>
        <p:spPr>
          <a:xfrm>
            <a:off x="9239250" y="2066925"/>
            <a:ext cx="361950" cy="0"/>
          </a:xfrm>
          <a:prstGeom prst="straightConnector1">
            <a:avLst/>
          </a:prstGeom>
          <a:ln w="19050">
            <a:solidFill>
              <a:srgbClr val="607487"/>
            </a:solidFill>
            <a:prstDash val="solid"/>
            <a:tailEnd type="arrow" w="sm" len="sm"/>
          </a:ln>
        </p:spPr>
      </p:cxnSp>
      <p:cxnSp>
        <p:nvCxnSpPr>
          <p:cNvPr id="11" name="Straight Arrow Connector 10">
            <a:extLst>
              <a:ext uri="{FF2B5EF4-FFF2-40B4-BE49-F238E27FC236}">
                <a16:creationId xmlns:a16="http://schemas.microsoft.com/office/drawing/2014/main" id="{D245B282-F66E-46AD-8F91-9FDE9BABB4F6}"/>
              </a:ext>
            </a:extLst>
          </p:cNvPr>
          <p:cNvCxnSpPr>
            <a:stCxn id="6" idx="3"/>
            <a:endCxn id="7" idx="1"/>
          </p:cNvCxnSpPr>
          <p:nvPr/>
        </p:nvCxnSpPr>
        <p:spPr>
          <a:xfrm>
            <a:off x="7010400" y="2066925"/>
            <a:ext cx="361950" cy="0"/>
          </a:xfrm>
          <a:prstGeom prst="straightConnector1">
            <a:avLst/>
          </a:prstGeom>
          <a:ln w="19050">
            <a:solidFill>
              <a:srgbClr val="607487"/>
            </a:solidFill>
            <a:prstDash val="solid"/>
            <a:tailEnd type="arrow" w="sm" len="sm"/>
          </a:ln>
        </p:spPr>
      </p:cxnSp>
      <p:cxnSp>
        <p:nvCxnSpPr>
          <p:cNvPr id="10" name="Straight Arrow Connector 9">
            <a:extLst>
              <a:ext uri="{FF2B5EF4-FFF2-40B4-BE49-F238E27FC236}">
                <a16:creationId xmlns:a16="http://schemas.microsoft.com/office/drawing/2014/main" id="{7E1E5875-27F5-4DF1-B01F-CCA08B1612B1}"/>
              </a:ext>
            </a:extLst>
          </p:cNvPr>
          <p:cNvCxnSpPr>
            <a:stCxn id="5" idx="3"/>
            <a:endCxn id="6" idx="1"/>
          </p:cNvCxnSpPr>
          <p:nvPr/>
        </p:nvCxnSpPr>
        <p:spPr>
          <a:xfrm>
            <a:off x="4781550" y="2066925"/>
            <a:ext cx="361950" cy="0"/>
          </a:xfrm>
          <a:prstGeom prst="straightConnector1">
            <a:avLst/>
          </a:prstGeom>
          <a:ln w="19050">
            <a:solidFill>
              <a:srgbClr val="607487"/>
            </a:solidFill>
            <a:prstDash val="solid"/>
            <a:tailEnd type="arrow" w="sm" len="sm"/>
          </a:ln>
        </p:spPr>
      </p:cxnSp>
      <p:cxnSp>
        <p:nvCxnSpPr>
          <p:cNvPr id="9" name="Straight Arrow Connector 8">
            <a:extLst>
              <a:ext uri="{FF2B5EF4-FFF2-40B4-BE49-F238E27FC236}">
                <a16:creationId xmlns:a16="http://schemas.microsoft.com/office/drawing/2014/main" id="{4EA5FCF5-CEB5-4CA4-AD61-26D7AE9DEEDE}"/>
              </a:ext>
            </a:extLst>
          </p:cNvPr>
          <p:cNvCxnSpPr>
            <a:stCxn id="4" idx="3"/>
            <a:endCxn id="5" idx="1"/>
          </p:cNvCxnSpPr>
          <p:nvPr/>
        </p:nvCxnSpPr>
        <p:spPr>
          <a:xfrm>
            <a:off x="2552700" y="2066925"/>
            <a:ext cx="361950" cy="0"/>
          </a:xfrm>
          <a:prstGeom prst="straightConnector1">
            <a:avLst/>
          </a:prstGeom>
          <a:ln w="19050">
            <a:solidFill>
              <a:srgbClr val="607487"/>
            </a:solidFill>
            <a:prstDash val="solid"/>
            <a:tailEnd type="arrow" w="sm" len="sm"/>
          </a:ln>
        </p:spPr>
      </p:cxnSp>
      <p:sp>
        <p:nvSpPr>
          <p:cNvPr id="2" name="Rectangle 1">
            <a:extLst>
              <a:ext uri="{FF2B5EF4-FFF2-40B4-BE49-F238E27FC236}">
                <a16:creationId xmlns:a16="http://schemas.microsoft.com/office/drawing/2014/main" id="{FEE3A697-2B34-4313-8411-C6FA3652424A}"/>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Working flow</a:t>
            </a:r>
          </a:p>
        </p:txBody>
      </p:sp>
      <p:sp>
        <p:nvSpPr>
          <p:cNvPr id="3" name="Rectangle 2">
            <a:extLst>
              <a:ext uri="{FF2B5EF4-FFF2-40B4-BE49-F238E27FC236}">
                <a16:creationId xmlns:a16="http://schemas.microsoft.com/office/drawing/2014/main" id="{6F9CA5C6-C2AD-4C25-9B84-D36136FC37BD}"/>
              </a:ext>
            </a:extLst>
          </p:cNvPr>
          <p:cNvSpPr>
            <a:spLocks noGrp="1"/>
          </p:cNvSpPr>
          <p:nvPr/>
        </p:nvSpPr>
        <p:spPr>
          <a:xfrm>
            <a:off x="685800" y="1381125"/>
            <a:ext cx="10820400" cy="285750"/>
          </a:xfrm>
          <a:prstGeom prst="rect">
            <a:avLst/>
          </a:prstGeom>
          <a:noFill/>
          <a:ln w="0">
            <a:noFill/>
            <a:prstDash val="solid"/>
          </a:ln>
        </p:spPr>
        <p:txBody>
          <a:bodyPr/>
          <a:lstStyle>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  4 children × 8 pages × 200 rounds</a:t>
            </a:r>
          </a:p>
        </p:txBody>
      </p:sp>
      <p:sp>
        <p:nvSpPr>
          <p:cNvPr id="4" name="guest-test">
            <a:extLst>
              <a:ext uri="{FF2B5EF4-FFF2-40B4-BE49-F238E27FC236}">
                <a16:creationId xmlns:a16="http://schemas.microsoft.com/office/drawing/2014/main" id="{07224605-CC2D-4DAC-B06B-3F9B74E8AA1B}"/>
              </a:ext>
            </a:extLst>
          </p:cNvPr>
          <p:cNvSpPr>
            <a:spLocks noGrp="1"/>
          </p:cNvSpPr>
          <p:nvPr/>
        </p:nvSpPr>
        <p:spPr>
          <a:xfrm>
            <a:off x="685800" y="1714500"/>
            <a:ext cx="1866900" cy="70485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a:ext uri="{FF2B5EF4-FFF2-40B4-BE49-F238E27FC236}">
                <a16:creationId xmlns:a16="http://schemas.microsoft.com/office/drawing/2014/main" id="{7D46CA51-1342-429F-B993-6D7FF94CD35A}"/>
              </a:ext>
            </a:extLst>
          </p:cNvPr>
          <p:cNvSpPr>
            <a:spLocks noGrp="1"/>
          </p:cNvSpPr>
          <p:nvPr/>
        </p:nvSpPr>
        <p:spPr>
          <a:xfrm>
            <a:off x="2914650" y="1714500"/>
            <a:ext cx="1866900" cy="70485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a:ext uri="{FF2B5EF4-FFF2-40B4-BE49-F238E27FC236}">
                <a16:creationId xmlns:a16="http://schemas.microsoft.com/office/drawing/2014/main" id="{FD41D877-D919-4759-AFD4-D35A78184C10}"/>
              </a:ext>
            </a:extLst>
          </p:cNvPr>
          <p:cNvSpPr>
            <a:spLocks noGrp="1"/>
          </p:cNvSpPr>
          <p:nvPr/>
        </p:nvSpPr>
        <p:spPr>
          <a:xfrm>
            <a:off x="5143500" y="1714500"/>
            <a:ext cx="1866900" cy="70485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a:ext uri="{FF2B5EF4-FFF2-40B4-BE49-F238E27FC236}">
                <a16:creationId xmlns:a16="http://schemas.microsoft.com/office/drawing/2014/main" id="{DFC273D4-517B-4FCD-95B7-8EF34AD5D3A4}"/>
              </a:ext>
            </a:extLst>
          </p:cNvPr>
          <p:cNvSpPr>
            <a:spLocks noGrp="1"/>
          </p:cNvSpPr>
          <p:nvPr/>
        </p:nvSpPr>
        <p:spPr>
          <a:xfrm>
            <a:off x="7372350" y="1714500"/>
            <a:ext cx="1866900" cy="70485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a:ext uri="{FF2B5EF4-FFF2-40B4-BE49-F238E27FC236}">
                <a16:creationId xmlns:a16="http://schemas.microsoft.com/office/drawing/2014/main" id="{23D1587A-8D2E-4D8F-9788-129086C09C53}"/>
              </a:ext>
            </a:extLst>
          </p:cNvPr>
          <p:cNvSpPr>
            <a:spLocks noGrp="1"/>
          </p:cNvSpPr>
          <p:nvPr/>
        </p:nvSpPr>
        <p:spPr>
          <a:xfrm>
            <a:off x="9601200" y="1714500"/>
            <a:ext cx="1866900" cy="70485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Rectangle 12">
            <a:extLst>
              <a:ext uri="{FF2B5EF4-FFF2-40B4-BE49-F238E27FC236}">
                <a16:creationId xmlns:a16="http://schemas.microsoft.com/office/drawing/2014/main" id="{5834EE72-3539-494C-97A0-1010B060B2B7}"/>
              </a:ext>
            </a:extLst>
          </p:cNvPr>
          <p:cNvSpPr>
            <a:spLocks noGrp="1"/>
          </p:cNvSpPr>
          <p:nvPr/>
        </p:nvSpPr>
        <p:spPr>
          <a:xfrm>
            <a:off x="685800" y="2514600"/>
            <a:ext cx="10820400" cy="285750"/>
          </a:xfrm>
          <a:prstGeom prst="rect">
            <a:avLst/>
          </a:prstGeom>
          <a:noFill/>
          <a:ln w="0">
            <a:noFill/>
            <a:prstDash val="solid"/>
          </a:ln>
        </p:spPr>
        <p:txBody>
          <a:bodyPr/>
          <a:lstStyle>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a:pPr algn="l">
              <a:defRPr sz="1275">
                <a:solidFill>
                  <a:srgbClr val="53616E"/>
                </a:solidFill>
                <a:latin typeface="Arial"/>
                <a:ea typeface="Arial"/>
                <a:cs typeface="Arial"/>
              </a:defRPr>
            </a:pPr>
            <a:r>
              <a:rPr sz="1275">
                <a:solidFill>
                  <a:srgbClr val="53616E"/>
                </a:solidFill>
                <a:latin typeface="Arial"/>
                <a:ea typeface="Arial"/>
                <a:cs typeface="Arial"/>
              </a:rPr>
              <a:t>Release path: uvmdealloc() → uvmunmap() → kfree().</a:t>
            </a:r>
          </a:p>
        </p:txBody>
      </p:sp>
      <p:sp>
        <p:nvSpPr>
          <p:cNvPr id="14" name="Rectangle 13">
            <a:extLst>
              <a:ext uri="{FF2B5EF4-FFF2-40B4-BE49-F238E27FC236}">
                <a16:creationId xmlns:a16="http://schemas.microsoft.com/office/drawing/2014/main" id="{72E5CBC3-C823-424C-8091-54561077527B}"/>
              </a:ext>
            </a:extLst>
          </p:cNvPr>
          <p:cNvSpPr>
            <a:spLocks noGrp="1"/>
          </p:cNvSpPr>
          <p:nvPr/>
        </p:nvSpPr>
        <p:spPr>
          <a:xfrm>
            <a:off x="685800" y="2952750"/>
            <a:ext cx="10820400" cy="285750"/>
          </a:xfrm>
          <a:prstGeom prst="rect">
            <a:avLst/>
          </a:prstGeom>
          <a:noFill/>
          <a:ln w="0">
            <a:noFill/>
            <a:prstDash val="solid"/>
          </a:ln>
        </p:spPr>
        <p:txBody>
          <a:bodyPr/>
          <a:lstStyle>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a:t>
            </a:r>
          </a:p>
        </p:txBody>
      </p:sp>
      <p:sp>
        <p:nvSpPr>
          <p:cNvPr id="15" name="phase-locked">
            <a:extLst>
              <a:ext uri="{FF2B5EF4-FFF2-40B4-BE49-F238E27FC236}">
                <a16:creationId xmlns:a16="http://schemas.microsoft.com/office/drawing/2014/main" id="{256EE508-A34E-423B-9708-0F929A4EBE5B}"/>
              </a:ext>
            </a:extLst>
          </p:cNvPr>
          <p:cNvSpPr>
            <a:spLocks noGrp="1"/>
          </p:cNvSpPr>
          <p:nvPr/>
        </p:nvSpPr>
        <p:spPr>
          <a:xfrm>
            <a:off x="685800" y="3276600"/>
            <a:ext cx="2400300" cy="68580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a:ext uri="{FF2B5EF4-FFF2-40B4-BE49-F238E27FC236}">
                <a16:creationId xmlns:a16="http://schemas.microsoft.com/office/drawing/2014/main" id="{09284E77-7B67-45FB-B20D-4CADD06C6AC3}"/>
              </a:ext>
            </a:extLst>
          </p:cNvPr>
          <p:cNvSpPr>
            <a:spLocks noGrp="1"/>
          </p:cNvSpPr>
          <p:nvPr/>
        </p:nvSpPr>
        <p:spPr>
          <a:xfrm>
            <a:off x="3524250" y="3276600"/>
            <a:ext cx="2400300" cy="68580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a:pPr algn="ctr">
              <a:defRPr sz="1425" b="1">
                <a:solidFill>
                  <a:srgbClr val="12304A"/>
                </a:solidFill>
                <a:latin typeface="Arial"/>
                <a:ea typeface="Arial"/>
                <a:cs typeface="Arial"/>
              </a:defRPr>
            </a:pPr>
            <a:r>
              <a:rPr sz="1425" b="1">
                <a:solidFill>
                  <a:srgbClr val="12304A"/>
                </a:solidFill>
                <a:latin typeface="Arial"/>
                <a:ea typeface="Arial"/>
                <a:cs typeface="Arial"/>
              </a:rPr>
              <a:t>remove four calls</a:t>
            </a:r>
          </a:p>
        </p:txBody>
      </p:sp>
      <p:sp>
        <p:nvSpPr>
          <p:cNvPr id="17" name="phase-restored">
            <a:extLst>
              <a:ext uri="{FF2B5EF4-FFF2-40B4-BE49-F238E27FC236}">
                <a16:creationId xmlns:a16="http://schemas.microsoft.com/office/drawing/2014/main" id="{7648915D-2B21-4D9F-BCA3-CA04CD1924FF}"/>
              </a:ext>
            </a:extLst>
          </p:cNvPr>
          <p:cNvSpPr>
            <a:spLocks noGrp="1"/>
          </p:cNvSpPr>
          <p:nvPr/>
        </p:nvSpPr>
        <p:spPr>
          <a:xfrm>
            <a:off x="6362700" y="3276600"/>
            <a:ext cx="2400300" cy="68580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a:ext uri="{FF2B5EF4-FFF2-40B4-BE49-F238E27FC236}">
                <a16:creationId xmlns:a16="http://schemas.microsoft.com/office/drawing/2014/main" id="{E3C875D9-A07A-448F-95B2-6C446AF23B2D}"/>
              </a:ext>
            </a:extLst>
          </p:cNvPr>
          <p:cNvSpPr>
            <a:spLocks noGrp="1"/>
          </p:cNvSpPr>
          <p:nvPr/>
        </p:nvSpPr>
        <p:spPr>
          <a:xfrm>
            <a:off x="9201150" y="3276600"/>
            <a:ext cx="2266950" cy="685800"/>
          </a:xfrm>
          <a:prstGeom prst="rect">
            <a:avLst/>
          </a:prstGeom>
          <a:solidFill>
            <a:srgbClr val="F1F3F5"/>
          </a:solidFill>
          <a:ln w="19050">
            <a:solidFill>
              <a:srgbClr val="607487"/>
            </a:solidFill>
            <a:prstDash val="solid"/>
          </a:ln>
        </p:spPr>
        <p:txBody>
          <a:bodyPr lIns="85725" tIns="57150" rIns="85725" bIns="57150"/>
          <a:lstStyle>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a:pPr algn="ctr">
              <a:defRPr sz="1425" b="1">
                <a:solidFill>
                  <a:srgbClr val="12304A"/>
                </a:solidFill>
                <a:latin typeface="Arial"/>
                <a:ea typeface="Arial"/>
                <a:cs typeface="Arial"/>
              </a:defRPr>
            </a:pPr>
            <a:r>
              <a:rPr sz="1425" b="1">
                <a:solidFill>
                  <a:srgbClr val="12304A"/>
                </a:solidFill>
                <a:latin typeface="Arial"/>
                <a:ea typeface="Arial"/>
                <a:cs typeface="Arial"/>
              </a:rPr>
              <a:t>hash + diff + results.csv</a:t>
            </a:r>
          </a:p>
        </p:txBody>
      </p:sp>
      <p:sp>
        <p:nvSpPr>
          <p:cNvPr id="22" name="Rectangle 21">
            <a:extLst>
              <a:ext uri="{FF2B5EF4-FFF2-40B4-BE49-F238E27FC236}">
                <a16:creationId xmlns:a16="http://schemas.microsoft.com/office/drawing/2014/main" id="{C18E432D-C95B-4361-AD81-7B259E9CDE2A}"/>
              </a:ext>
            </a:extLst>
          </p:cNvPr>
          <p:cNvSpPr>
            <a:spLocks noGrp="1"/>
          </p:cNvSpPr>
          <p:nvPr/>
        </p:nvSpPr>
        <p:spPr>
          <a:xfrm>
            <a:off x="685800" y="4248150"/>
            <a:ext cx="10820400" cy="304800"/>
          </a:xfrm>
          <a:prstGeom prst="rect">
            <a:avLst/>
          </a:prstGeom>
          <a:noFill/>
          <a:ln w="0">
            <a:noFill/>
            <a:prstDash val="solid"/>
          </a:ln>
        </p:spPr>
        <p:txBody>
          <a:bodyPr/>
          <a:lstStyle>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a:pPr algn="l">
              <a:defRPr sz="1350">
                <a:solidFill>
                  <a:srgbClr val="17202A"/>
                </a:solidFill>
                <a:latin typeface="Arial"/>
                <a:ea typeface="Arial"/>
                <a:cs typeface="Arial"/>
              </a:defRPr>
            </a:pPr>
            <a:r>
              <a:rPr sz="1350">
                <a:solidFill>
                  <a:srgbClr val="17202A"/>
                </a:solidFill>
                <a:latin typeface="Arial"/>
                <a:ea typeface="Arial"/>
                <a:cs typeface="Arial"/>
              </a:rPr>
              <a:t>Fresh QEMU boot per attempt; save console output and one result row.</a:t>
            </a:r>
          </a:p>
        </p:txBody>
      </p:sp>
      <p:sp>
        <p:nvSpPr>
          <p:cNvPr id="23" name="Rectangle 22">
            <a:extLst>
              <a:ext uri="{FF2B5EF4-FFF2-40B4-BE49-F238E27FC236}">
                <a16:creationId xmlns:a16="http://schemas.microsoft.com/office/drawing/2014/main" id="{794956C0-4330-4A2D-A476-6DC7E8815E4A}"/>
              </a:ext>
            </a:extLst>
          </p:cNvPr>
          <p:cNvSpPr>
            <a:spLocks noGrp="1"/>
          </p:cNvSpPr>
          <p:nvPr/>
        </p:nvSpPr>
        <p:spPr>
          <a:xfrm>
            <a:off x="685800" y="4857750"/>
            <a:ext cx="10820400" cy="285750"/>
          </a:xfrm>
          <a:prstGeom prst="rect">
            <a:avLst/>
          </a:prstGeom>
          <a:noFill/>
          <a:ln w="0">
            <a:noFill/>
            <a:prstDash val="solid"/>
          </a:ln>
        </p:spPr>
        <p:txBody>
          <a:bodyPr/>
          <a:lstStyle>
            <a:defPPr algn="ctr">
              <a:defRPr sz="1200" i="1">
                <a:solidFill>
                  <a:srgbClr val="53616E"/>
                </a:solidFill>
                <a:latin typeface="Arial"/>
                <a:ea typeface="Arial"/>
                <a:cs typeface="Arial"/>
              </a:defRPr>
            </a:defPPr>
            <a:lvl1pPr algn="ctr">
              <a:defRPr sz="1200" i="1">
                <a:solidFill>
                  <a:srgbClr val="53616E"/>
                </a:solidFill>
                <a:latin typeface="Arial"/>
                <a:ea typeface="Arial"/>
                <a:cs typeface="Arial"/>
              </a:defRPr>
            </a:lvl1pPr>
            <a:lvl2pPr algn="ctr">
              <a:defRPr sz="1200" i="1">
                <a:solidFill>
                  <a:srgbClr val="53616E"/>
                </a:solidFill>
                <a:latin typeface="Arial"/>
                <a:ea typeface="Arial"/>
                <a:cs typeface="Arial"/>
              </a:defRPr>
            </a:lvl2pPr>
            <a:lvl3pPr algn="ctr">
              <a:defRPr sz="1200" i="1">
                <a:solidFill>
                  <a:srgbClr val="53616E"/>
                </a:solidFill>
                <a:latin typeface="Arial"/>
                <a:ea typeface="Arial"/>
                <a:cs typeface="Arial"/>
              </a:defRPr>
            </a:lvl3pPr>
            <a:lvl4pPr algn="ctr">
              <a:defRPr sz="1200" i="1">
                <a:solidFill>
                  <a:srgbClr val="53616E"/>
                </a:solidFill>
                <a:latin typeface="Arial"/>
                <a:ea typeface="Arial"/>
                <a:cs typeface="Arial"/>
              </a:defRPr>
            </a:lvl4pPr>
            <a:lvl5pPr algn="ctr">
              <a:defRPr sz="1200" i="1">
                <a:solidFill>
                  <a:srgbClr val="53616E"/>
                </a:solidFill>
                <a:latin typeface="Arial"/>
                <a:ea typeface="Arial"/>
                <a:cs typeface="Arial"/>
              </a:defRPr>
            </a:lvl5pPr>
            <a:lvl6pPr algn="ctr">
              <a:defRPr sz="1200" i="1">
                <a:solidFill>
                  <a:srgbClr val="53616E"/>
                </a:solidFill>
                <a:latin typeface="Arial"/>
                <a:ea typeface="Arial"/>
                <a:cs typeface="Arial"/>
              </a:defRPr>
            </a:lvl6pPr>
            <a:lvl7pPr algn="ctr">
              <a:defRPr sz="1200" i="1">
                <a:solidFill>
                  <a:srgbClr val="53616E"/>
                </a:solidFill>
                <a:latin typeface="Arial"/>
                <a:ea typeface="Arial"/>
                <a:cs typeface="Arial"/>
              </a:defRPr>
            </a:lvl7pPr>
            <a:lvl8pPr algn="ctr">
              <a:defRPr sz="1200" i="1">
                <a:solidFill>
                  <a:srgbClr val="53616E"/>
                </a:solidFill>
                <a:latin typeface="Arial"/>
                <a:ea typeface="Arial"/>
                <a:cs typeface="Arial"/>
              </a:defRPr>
            </a:lvl8pPr>
            <a:lvl9pPr algn="ctr">
              <a:defRPr sz="1200" i="1">
                <a:solidFill>
                  <a:srgbClr val="53616E"/>
                </a:solidFill>
                <a:latin typeface="Arial"/>
                <a:ea typeface="Arial"/>
                <a:cs typeface="Arial"/>
              </a:defRPr>
            </a:lvl9pPr>
          </a:lstStyle>
          <a:p>
            <a:pPr algn="ctr">
              <a:defRPr sz="1200" i="1">
                <a:solidFill>
                  <a:srgbClr val="53616E"/>
                </a:solidFill>
                <a:latin typeface="Arial"/>
                <a:ea typeface="Arial"/>
                <a:cs typeface="Arial"/>
              </a:defRPr>
            </a:pPr>
            <a:r>
              <a:rPr sz="1200" i="1">
                <a:solidFill>
                  <a:srgbClr val="53616E"/>
                </a:solidFill>
                <a:latin typeface="Arial"/>
                <a:ea typeface="Arial"/>
                <a:cs typeface="Arial"/>
              </a:rPr>
              <a:t>Figure 1. Guest and host workflow. Source: race_test.c and member1_tools.c.</a:t>
            </a:r>
          </a:p>
        </p:txBody>
      </p:sp>
      <p:sp>
        <p:nvSpPr>
          <p:cNvPr id="24" name="slide-number-placeholder">
            <a:extLst>
              <a:ext uri="{FF2B5EF4-FFF2-40B4-BE49-F238E27FC236}">
                <a16:creationId xmlns:a16="http://schemas.microsoft.com/office/drawing/2014/main" id="{4B092F32-8784-4987-AE94-8269637813C6}"/>
              </a:ext>
            </a:extLst>
          </p:cNvPr>
          <p:cNvSpPr>
            <a:spLocks noGrp="1"/>
          </p:cNvSpPr>
          <p:nvPr/>
        </p:nvSpPr>
        <p:spPr>
          <a:xfrm>
            <a:off x="10972800" y="6410325"/>
            <a:ext cx="533400" cy="238125"/>
          </a:xfrm>
          <a:prstGeom prst="rect">
            <a:avLst/>
          </a:prstGeom>
          <a:noFill/>
          <a:ln w="0">
            <a:noFill/>
            <a:prstDash val="solid"/>
          </a:ln>
        </p:spPr>
        <p:txBody>
          <a:bodyPr/>
          <a:lstStyle>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a:pPr algn="l">
              <a:defRPr sz="1275">
                <a:solidFill>
                  <a:srgbClr val="66727E"/>
                </a:solidFill>
                <a:latin typeface="Arial"/>
                <a:ea typeface="Arial"/>
                <a:cs typeface="Arial"/>
              </a:defRPr>
            </a:pPr>
            <a:r>
              <a:rPr sz="1275">
                <a:solidFill>
                  <a:srgbClr val="66727E"/>
                </a:solidFill>
                <a:latin typeface="Arial"/>
                <a:ea typeface="Arial"/>
                <a:cs typeface="Arial"/>
              </a:rPr>
              <a:t>08</a:t>
            </a:r>
          </a:p>
        </p:txBody>
      </p:sp>
    </p:spTree>
    <p:extLst>
      <p:ext uri="{BB962C8B-B14F-4D97-AF65-F5344CB8AC3E}">
        <p14:creationId xmlns:p14="http://schemas.microsoft.com/office/powerpoint/2010/main" val="583233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0E8B9F-5605-46CC-BC25-0A973CF362CD}"/>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6. xv6 holds kmem.lock across each free-list update</a:t>
            </a:r>
          </a:p>
        </p:txBody>
      </p:sp>
      <p:sp>
        <p:nvSpPr>
          <p:cNvPr id="3" name="Rectangle 2">
            <a:extLst>
              <a:ext uri="{FF2B5EF4-FFF2-40B4-BE49-F238E27FC236}">
                <a16:creationId xmlns:a16="http://schemas.microsoft.com/office/drawing/2014/main" id="{CF0F3F40-6157-4D09-BC84-9814CF8A22E5}"/>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Rectangle 3">
            <a:extLst>
              <a:ext uri="{FF2B5EF4-FFF2-40B4-BE49-F238E27FC236}">
                <a16:creationId xmlns:a16="http://schemas.microsoft.com/office/drawing/2014/main" id="{F515DF6D-A7CD-41F7-8656-D40E13DDD015}"/>
              </a:ext>
            </a:extLst>
          </p:cNvPr>
          <p:cNvSpPr>
            <a:spLocks noGrp="1"/>
          </p:cNvSpPr>
          <p:nvPr/>
        </p:nvSpPr>
        <p:spPr>
          <a:xfrm>
            <a:off x="781050" y="1562100"/>
            <a:ext cx="10668000" cy="4095750"/>
          </a:xfrm>
          <a:prstGeom prst="rect">
            <a:avLst/>
          </a:prstGeom>
          <a:noFill/>
          <a:ln w="0">
            <a:noFill/>
          </a:ln>
        </p:spPr>
        <p:txBody>
          <a:bodyPr wrap="square" lIns="0" tIns="0" rIns="0" bIns="0" anchor="t">
            <a:noAutofit/>
          </a:bodyPr>
          <a:lstStyle>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a:endParaRPr sz="2100" b="0">
              <a:solidFill>
                <a:srgbClr val="17202A"/>
              </a:solidFill>
              <a:latin typeface="Arial"/>
              <a:ea typeface="Arial"/>
              <a:cs typeface="Arial"/>
            </a:endParaRPr>
          </a:p>
          <a:p>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Rectangle 4">
            <a:extLst>
              <a:ext uri="{FF2B5EF4-FFF2-40B4-BE49-F238E27FC236}">
                <a16:creationId xmlns:a16="http://schemas.microsoft.com/office/drawing/2014/main" id="{C6A14EFA-FA7E-459E-B3FA-DEE8BFADE861}"/>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Figure 2. kalloc() and kfree() update the free list inside kmem.lock. Source: kernel/kalloc.c.</a:t>
            </a:r>
          </a:p>
        </p:txBody>
      </p:sp>
    </p:spTree>
    <p:extLst>
      <p:ext uri="{BB962C8B-B14F-4D97-AF65-F5344CB8AC3E}">
        <p14:creationId xmlns:p14="http://schemas.microsoft.com/office/powerpoint/2010/main" val="871667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1905B4-B3C3-423E-B820-FBFC10829211}"/>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7. race_test.c checks concurrent page allocations</a:t>
            </a:r>
          </a:p>
        </p:txBody>
      </p:sp>
      <p:sp>
        <p:nvSpPr>
          <p:cNvPr id="3" name="Rectangle 2">
            <a:extLst>
              <a:ext uri="{FF2B5EF4-FFF2-40B4-BE49-F238E27FC236}">
                <a16:creationId xmlns:a16="http://schemas.microsoft.com/office/drawing/2014/main" id="{02714CCE-A244-4431-91A6-E506FCB9B013}"/>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Rectangle 3">
            <a:extLst>
              <a:ext uri="{FF2B5EF4-FFF2-40B4-BE49-F238E27FC236}">
                <a16:creationId xmlns:a16="http://schemas.microsoft.com/office/drawing/2014/main" id="{949B6098-8614-49BD-B7DC-A787ECD635A3}"/>
              </a:ext>
            </a:extLst>
          </p:cNvPr>
          <p:cNvSpPr>
            <a:spLocks noGrp="1"/>
          </p:cNvSpPr>
          <p:nvPr/>
        </p:nvSpPr>
        <p:spPr>
          <a:xfrm>
            <a:off x="685800" y="157162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Rectangle 4">
            <a:extLst>
              <a:ext uri="{FF2B5EF4-FFF2-40B4-BE49-F238E27FC236}">
                <a16:creationId xmlns:a16="http://schemas.microsoft.com/office/drawing/2014/main" id="{7F4A9516-6568-480D-89D7-9D2FB6E1E9C2}"/>
              </a:ext>
            </a:extLst>
          </p:cNvPr>
          <p:cNvSpPr>
            <a:spLocks noGrp="1"/>
          </p:cNvSpPr>
          <p:nvPr/>
        </p:nvSpPr>
        <p:spPr>
          <a:xfrm>
            <a:off x="685800" y="255270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Rectangle 5">
            <a:extLst>
              <a:ext uri="{FF2B5EF4-FFF2-40B4-BE49-F238E27FC236}">
                <a16:creationId xmlns:a16="http://schemas.microsoft.com/office/drawing/2014/main" id="{AB781359-7C47-4037-B122-585A3CAFEFF2}"/>
              </a:ext>
            </a:extLst>
          </p:cNvPr>
          <p:cNvSpPr>
            <a:spLocks noGrp="1"/>
          </p:cNvSpPr>
          <p:nvPr/>
        </p:nvSpPr>
        <p:spPr>
          <a:xfrm>
            <a:off x="685800" y="3533775"/>
            <a:ext cx="10820400" cy="828675"/>
          </a:xfrm>
          <a:prstGeom prst="rect">
            <a:avLst/>
          </a:prstGeom>
          <a:noFill/>
          <a:ln w="0">
            <a:noFill/>
          </a:ln>
        </p:spPr>
        <p:txBody>
          <a:bodyPr wrap="square" lIns="0" tIns="0" rIns="0" bIns="0" anchor="t">
            <a:noAutofit/>
          </a:bodyPr>
          <a:lstStyle>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Rectangle 6">
            <a:extLst>
              <a:ext uri="{FF2B5EF4-FFF2-40B4-BE49-F238E27FC236}">
                <a16:creationId xmlns:a16="http://schemas.microsoft.com/office/drawing/2014/main" id="{A20ABF56-A648-461A-9418-FD623117C1BA}"/>
              </a:ext>
            </a:extLst>
          </p:cNvPr>
          <p:cNvSpPr>
            <a:spLocks noGrp="1"/>
          </p:cNvSpPr>
          <p:nvPr/>
        </p:nvSpPr>
        <p:spPr>
          <a:xfrm>
            <a:off x="685800" y="451485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Rectangle 7">
            <a:extLst>
              <a:ext uri="{FF2B5EF4-FFF2-40B4-BE49-F238E27FC236}">
                <a16:creationId xmlns:a16="http://schemas.microsoft.com/office/drawing/2014/main" id="{75EC1BAB-D033-4EDA-A2B6-D3C1A94FC054}"/>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user/race_test.c; four workers repeat 200 rounds.</a:t>
            </a:r>
          </a:p>
        </p:txBody>
      </p:sp>
    </p:spTree>
    <p:extLst>
      <p:ext uri="{BB962C8B-B14F-4D97-AF65-F5344CB8AC3E}">
        <p14:creationId xmlns:p14="http://schemas.microsoft.com/office/powerpoint/2010/main" val="621410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430EA5-715A-4F0F-99EE-B0D26A6AD3D5}"/>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dirty="0">
                <a:solidFill>
                  <a:srgbClr val="12304A"/>
                </a:solidFill>
                <a:latin typeface="Arial"/>
                <a:ea typeface="Arial"/>
                <a:cs typeface="Arial"/>
              </a:rPr>
              <a:t>7</a:t>
            </a:r>
            <a:r>
              <a:rPr sz="3150" b="1">
                <a:solidFill>
                  <a:srgbClr val="12304A"/>
                </a:solidFill>
                <a:latin typeface="Arial"/>
                <a:ea typeface="Arial"/>
                <a:cs typeface="Arial"/>
              </a:rPr>
              <a:t>. tools</a:t>
            </a:r>
            <a:r>
              <a:rPr sz="3150" b="1" dirty="0">
                <a:solidFill>
                  <a:srgbClr val="12304A"/>
                </a:solidFill>
                <a:latin typeface="Arial"/>
                <a:ea typeface="Arial"/>
                <a:cs typeface="Arial"/>
              </a:rPr>
              <a:t>.c automates the WSL experiment</a:t>
            </a:r>
          </a:p>
        </p:txBody>
      </p:sp>
      <p:sp>
        <p:nvSpPr>
          <p:cNvPr id="3" name="Rectangle 2">
            <a:extLst>
              <a:ext uri="{FF2B5EF4-FFF2-40B4-BE49-F238E27FC236}">
                <a16:creationId xmlns:a16="http://schemas.microsoft.com/office/drawing/2014/main" id="{EC186072-68E2-476A-8827-0A3E077E8F0A}"/>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Rectangle 3">
            <a:extLst>
              <a:ext uri="{FF2B5EF4-FFF2-40B4-BE49-F238E27FC236}">
                <a16:creationId xmlns:a16="http://schemas.microsoft.com/office/drawing/2014/main" id="{B1F41235-12E1-4015-8C4B-F9FEB225395C}"/>
              </a:ext>
            </a:extLst>
          </p:cNvPr>
          <p:cNvSpPr>
            <a:spLocks noGrp="1"/>
          </p:cNvSpPr>
          <p:nvPr/>
        </p:nvSpPr>
        <p:spPr>
          <a:xfrm>
            <a:off x="685800" y="1428750"/>
            <a:ext cx="10820400" cy="714375"/>
          </a:xfrm>
          <a:prstGeom prst="rect">
            <a:avLst/>
          </a:prstGeom>
          <a:noFill/>
          <a:ln w="0">
            <a:noFill/>
          </a:ln>
        </p:spPr>
        <p:txBody>
          <a:bodyPr wrap="square" lIns="0" tIns="0" rIns="0" bIns="0" anchor="t">
            <a:noAutofit/>
          </a:bodyPr>
          <a:lstStyle>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Rectangle 4">
            <a:extLst>
              <a:ext uri="{FF2B5EF4-FFF2-40B4-BE49-F238E27FC236}">
                <a16:creationId xmlns:a16="http://schemas.microsoft.com/office/drawing/2014/main" id="{7B513B1B-B9F7-483D-B34E-3399508197B7}"/>
              </a:ext>
            </a:extLst>
          </p:cNvPr>
          <p:cNvSpPr>
            <a:spLocks noGrp="1"/>
          </p:cNvSpPr>
          <p:nvPr/>
        </p:nvSpPr>
        <p:spPr>
          <a:xfrm>
            <a:off x="685800" y="2266950"/>
            <a:ext cx="10820400" cy="714375"/>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Rectangle 5">
            <a:extLst>
              <a:ext uri="{FF2B5EF4-FFF2-40B4-BE49-F238E27FC236}">
                <a16:creationId xmlns:a16="http://schemas.microsoft.com/office/drawing/2014/main" id="{7811821A-A100-4926-A89D-289BF442C894}"/>
              </a:ext>
            </a:extLst>
          </p:cNvPr>
          <p:cNvSpPr>
            <a:spLocks noGrp="1"/>
          </p:cNvSpPr>
          <p:nvPr/>
        </p:nvSpPr>
        <p:spPr>
          <a:xfrm>
            <a:off x="781050" y="3476625"/>
            <a:ext cx="10668000" cy="2143125"/>
          </a:xfrm>
          <a:prstGeom prst="rect">
            <a:avLst/>
          </a:prstGeom>
          <a:noFill/>
          <a:ln w="0">
            <a:noFill/>
          </a:ln>
        </p:spPr>
        <p:txBody>
          <a:bodyPr wrap="square" lIns="0" tIns="0" rIns="0" bIns="0" anchor="t">
            <a:noAutofit/>
          </a:bodyPr>
          <a:lstStyle>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Rectangle 6">
            <a:extLst>
              <a:ext uri="{FF2B5EF4-FFF2-40B4-BE49-F238E27FC236}">
                <a16:creationId xmlns:a16="http://schemas.microsoft.com/office/drawing/2014/main" id="{2AAB5A7A-4EEA-4E3E-AAAF-396F2E85E23C}"/>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member1_tools.c and the saved WSL run sequence.</a:t>
            </a:r>
          </a:p>
        </p:txBody>
      </p:sp>
    </p:spTree>
    <p:extLst>
      <p:ext uri="{BB962C8B-B14F-4D97-AF65-F5344CB8AC3E}">
        <p14:creationId xmlns:p14="http://schemas.microsoft.com/office/powerpoint/2010/main" val="392391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4C5DE6-5321-4CA9-B38D-3A7C00BD5541}"/>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Four CPUs and fixed workloads produced two 30-run datasets</a:t>
            </a:r>
          </a:p>
        </p:txBody>
      </p:sp>
      <p:sp>
        <p:nvSpPr>
          <p:cNvPr id="3" name="Rectangle 2">
            <a:extLst>
              <a:ext uri="{FF2B5EF4-FFF2-40B4-BE49-F238E27FC236}">
                <a16:creationId xmlns:a16="http://schemas.microsoft.com/office/drawing/2014/main" id="{0F3889D8-2709-47A6-954C-E7DC828742BB}"/>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Rectangle 3">
            <a:extLst>
              <a:ext uri="{FF2B5EF4-FFF2-40B4-BE49-F238E27FC236}">
                <a16:creationId xmlns:a16="http://schemas.microsoft.com/office/drawing/2014/main" id="{10F71943-8CB7-4150-B24A-4365FEA6D06D}"/>
              </a:ext>
            </a:extLst>
          </p:cNvPr>
          <p:cNvSpPr>
            <a:spLocks noGrp="1"/>
          </p:cNvSpPr>
          <p:nvPr/>
        </p:nvSpPr>
        <p:spPr>
          <a:xfrm>
            <a:off x="685800" y="1362075"/>
            <a:ext cx="10820400" cy="342900"/>
          </a:xfrm>
          <a:prstGeom prst="rect">
            <a:avLst/>
          </a:prstGeom>
          <a:noFill/>
          <a:ln w="0">
            <a:noFill/>
          </a:ln>
        </p:spPr>
        <p:txBody>
          <a:bodyPr wrap="square" lIns="0" tIns="0" rIns="0" bIns="0" anchor="t">
            <a:noAutofit/>
          </a:bodyPr>
          <a:lstStyle>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a:pPr>
              <a:buNone/>
              <a:defRPr sz="1800" b="1">
                <a:solidFill>
                  <a:srgbClr val="17202A"/>
                </a:solidFill>
                <a:latin typeface="Arial"/>
                <a:ea typeface="Arial"/>
                <a:cs typeface="Arial"/>
              </a:defRPr>
            </a:pPr>
            <a:r>
              <a:rPr sz="1800" b="1">
                <a:solidFill>
                  <a:srgbClr val="17202A"/>
                </a:solidFill>
                <a:latin typeface="Arial"/>
                <a:ea typeface="Arial"/>
                <a:cs typeface="Arial"/>
              </a:rPr>
              <a:t>Table 3. Recorded environment and run controls</a:t>
            </a:r>
          </a:p>
        </p:txBody>
      </p:sp>
      <p:graphicFrame>
        <p:nvGraphicFramePr>
          <p:cNvPr id="5" name="Table 4">
            <a:extLst>
              <a:ext uri="{FF2B5EF4-FFF2-40B4-BE49-F238E27FC236}">
                <a16:creationId xmlns:a16="http://schemas.microsoft.com/office/drawing/2014/main" id="{ECC27936-7F24-42B7-BFE6-08676D37F782}"/>
              </a:ext>
            </a:extLst>
          </p:cNvPr>
          <p:cNvGraphicFramePr/>
          <p:nvPr/>
        </p:nvGraphicFramePr>
        <p:xfrm>
          <a:off x="685800" y="1895475"/>
          <a:ext cx="10820400" cy="3667125"/>
        </p:xfrm>
        <a:graphic>
          <a:graphicData uri="http://schemas.openxmlformats.org/drawingml/2006/table">
            <a:tbl>
              <a:tblPr/>
              <a:tblGrid>
                <a:gridCol w="3238500">
                  <a:extLst>
                    <a:ext uri="{9D8B030D-6E8A-4147-A177-3AD203B41FA5}">
                      <a16:colId xmlns:a16="http://schemas.microsoft.com/office/drawing/2014/main" val="20000"/>
                    </a:ext>
                  </a:extLst>
                </a:gridCol>
                <a:gridCol w="7581900">
                  <a:extLst>
                    <a:ext uri="{9D8B030D-6E8A-4147-A177-3AD203B41FA5}">
                      <a16:colId xmlns:a16="http://schemas.microsoft.com/office/drawing/2014/main" val="20001"/>
                    </a:ext>
                  </a:extLst>
                </a:gridCol>
              </a:tblGrid>
              <a:tr h="523875">
                <a:tc>
                  <a:txBody>
                    <a:bodyPr/>
                    <a:lstStyle/>
                    <a:p>
                      <a:r>
                        <a:rPr sz="1800" b="1">
                          <a:solidFill>
                            <a:srgbClr val="17202A"/>
                          </a:solidFill>
                          <a:latin typeface="Arial"/>
                          <a:ea typeface="Arial"/>
                          <a:cs typeface="Arial"/>
                        </a:rPr>
                        <a:t>Setting</a:t>
                      </a:r>
                    </a:p>
                  </a:txBody>
                  <a:tcPr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Recorded configuration</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extLst>
                  <a:ext uri="{0D108BD9-81ED-4DB2-BD59-A6C34878D82A}">
                    <a16:rowId xmlns:a16="http://schemas.microsoft.com/office/drawing/2014/main" val="10000"/>
                  </a:ext>
                </a:extLst>
              </a:tr>
              <a:tr h="523875">
                <a:tc>
                  <a:txBody>
                    <a:bodyPr/>
                    <a:lstStyle/>
                    <a:p>
                      <a:r>
                        <a:rPr sz="1800" b="0">
                          <a:solidFill>
                            <a:srgbClr val="17202A"/>
                          </a:solidFill>
                          <a:latin typeface="Arial"/>
                          <a:ea typeface="Arial"/>
                          <a:cs typeface="Arial"/>
                        </a:rPr>
                        <a:t>Guest / host</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RISC-V xv6 / Ubuntu 24.04 under WSL2</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1"/>
                  </a:ext>
                </a:extLst>
              </a:tr>
              <a:tr h="523875">
                <a:tc>
                  <a:txBody>
                    <a:bodyPr/>
                    <a:lstStyle/>
                    <a:p>
                      <a:r>
                        <a:rPr sz="1800" b="0">
                          <a:solidFill>
                            <a:srgbClr val="17202A"/>
                          </a:solidFill>
                          <a:latin typeface="Arial"/>
                          <a:ea typeface="Arial"/>
                          <a:cs typeface="Arial"/>
                        </a:rPr>
                        <a:t>Emulator / compiler</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QEMU 8.2.2 / RISC-V GCC 13.3.0</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2"/>
                  </a:ext>
                </a:extLst>
              </a:tr>
              <a:tr h="523875">
                <a:tc>
                  <a:txBody>
                    <a:bodyPr/>
                    <a:lstStyle/>
                    <a:p>
                      <a:r>
                        <a:rPr sz="1800" b="0">
                          <a:solidFill>
                            <a:srgbClr val="17202A"/>
                          </a:solidFill>
                          <a:latin typeface="Arial"/>
                          <a:ea typeface="Arial"/>
                          <a:cs typeface="Arial"/>
                        </a:rPr>
                        <a:t>Resources</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4 CPUs; 128 MiB RAM</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3"/>
                  </a:ext>
                </a:extLst>
              </a:tr>
              <a:tr h="523875">
                <a:tc>
                  <a:txBody>
                    <a:bodyPr/>
                    <a:lstStyle/>
                    <a:p>
                      <a:r>
                        <a:rPr sz="1800" b="0">
                          <a:solidFill>
                            <a:srgbClr val="17202A"/>
                          </a:solidFill>
                          <a:latin typeface="Arial"/>
                          <a:ea typeface="Arial"/>
                          <a:cs typeface="Arial"/>
                        </a:rPr>
                        <a:t>Workload</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4 children; 8 pages each; 200 rounds</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4"/>
                  </a:ext>
                </a:extLst>
              </a:tr>
              <a:tr h="523875">
                <a:tc>
                  <a:txBody>
                    <a:bodyPr/>
                    <a:lstStyle/>
                    <a:p>
                      <a:r>
                        <a:rPr sz="1800" b="0">
                          <a:solidFill>
                            <a:srgbClr val="17202A"/>
                          </a:solidFill>
                          <a:latin typeface="Arial"/>
                          <a:ea typeface="Arial"/>
                          <a:cs typeface="Arial"/>
                        </a:rPr>
                        <a:t>Attempts</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10 per phase; fresh guest per attempt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5"/>
                  </a:ext>
                </a:extLst>
              </a:tr>
              <a:tr h="523875">
                <a:tc>
                  <a:txBody>
                    <a:bodyPr/>
                    <a:lstStyle/>
                    <a:p>
                      <a:r>
                        <a:rPr sz="1800" b="0">
                          <a:solidFill>
                            <a:srgbClr val="17202A"/>
                          </a:solidFill>
                          <a:latin typeface="Arial"/>
                          <a:ea typeface="Arial"/>
                          <a:cs typeface="Arial"/>
                        </a:rPr>
                        <a:t>Limits</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30 s to shell; 60 s after stress command</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4BF39D5A-5E84-497F-8A9C-2EBC938B79C6}"/>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run logs and both results.csv files; no kernel delay.</a:t>
            </a:r>
          </a:p>
        </p:txBody>
      </p:sp>
    </p:spTree>
    <p:extLst>
      <p:ext uri="{BB962C8B-B14F-4D97-AF65-F5344CB8AC3E}">
        <p14:creationId xmlns:p14="http://schemas.microsoft.com/office/powerpoint/2010/main" val="667106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520F82-F9DA-40F8-A69A-A752C84B20C2}"/>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8. Removing kmem.lock permits duplicate pages or lost frees</a:t>
            </a:r>
          </a:p>
        </p:txBody>
      </p:sp>
      <p:sp>
        <p:nvSpPr>
          <p:cNvPr id="3" name="Rectangle 2">
            <a:extLst>
              <a:ext uri="{FF2B5EF4-FFF2-40B4-BE49-F238E27FC236}">
                <a16:creationId xmlns:a16="http://schemas.microsoft.com/office/drawing/2014/main" id="{918A2D4D-66EA-4EED-829E-496175CBDDF2}"/>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Rectangle 3">
            <a:extLst>
              <a:ext uri="{FF2B5EF4-FFF2-40B4-BE49-F238E27FC236}">
                <a16:creationId xmlns:a16="http://schemas.microsoft.com/office/drawing/2014/main" id="{05A8582A-59BB-4FEA-9787-F13A36FAEF96}"/>
              </a:ext>
            </a:extLst>
          </p:cNvPr>
          <p:cNvSpPr>
            <a:spLocks noGrp="1"/>
          </p:cNvSpPr>
          <p:nvPr/>
        </p:nvSpPr>
        <p:spPr>
          <a:xfrm>
            <a:off x="685800" y="1362075"/>
            <a:ext cx="10820400" cy="342900"/>
          </a:xfrm>
          <a:prstGeom prst="rect">
            <a:avLst/>
          </a:prstGeom>
          <a:noFill/>
          <a:ln w="0">
            <a:noFill/>
          </a:ln>
        </p:spPr>
        <p:txBody>
          <a:bodyPr wrap="square" lIns="0" tIns="0" rIns="0" bIns="0" anchor="t">
            <a:noAutofit/>
          </a:bodyPr>
          <a:lstStyle>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a:pPr>
              <a:buNone/>
              <a:defRPr sz="1800" b="1">
                <a:solidFill>
                  <a:srgbClr val="17202A"/>
                </a:solidFill>
                <a:latin typeface="Arial"/>
                <a:ea typeface="Arial"/>
                <a:cs typeface="Arial"/>
              </a:defRPr>
            </a:pPr>
            <a:r>
              <a:rPr sz="1800" b="1">
                <a:solidFill>
                  <a:srgbClr val="17202A"/>
                </a:solidFill>
                <a:latin typeface="Arial"/>
                <a:ea typeface="Arial"/>
                <a:cs typeface="Arial"/>
              </a:rPr>
              <a:t>Table 4. Possible kalloc() schedule without kmem.lock</a:t>
            </a:r>
          </a:p>
        </p:txBody>
      </p:sp>
      <p:graphicFrame>
        <p:nvGraphicFramePr>
          <p:cNvPr id="5" name="Table 4">
            <a:extLst>
              <a:ext uri="{FF2B5EF4-FFF2-40B4-BE49-F238E27FC236}">
                <a16:creationId xmlns:a16="http://schemas.microsoft.com/office/drawing/2014/main" id="{7AC9DB2B-FB03-4838-8630-EDC42E1A4943}"/>
              </a:ext>
            </a:extLst>
          </p:cNvPr>
          <p:cNvGraphicFramePr/>
          <p:nvPr/>
        </p:nvGraphicFramePr>
        <p:xfrm>
          <a:off x="685800" y="1895475"/>
          <a:ext cx="10820400" cy="3286128"/>
        </p:xfrm>
        <a:graphic>
          <a:graphicData uri="http://schemas.openxmlformats.org/drawingml/2006/table">
            <a:tbl>
              <a:tblPr/>
              <a:tblGrid>
                <a:gridCol w="1238250">
                  <a:extLst>
                    <a:ext uri="{9D8B030D-6E8A-4147-A177-3AD203B41FA5}">
                      <a16:colId xmlns:a16="http://schemas.microsoft.com/office/drawing/2014/main" val="20000"/>
                    </a:ext>
                  </a:extLst>
                </a:gridCol>
                <a:gridCol w="4791075">
                  <a:extLst>
                    <a:ext uri="{9D8B030D-6E8A-4147-A177-3AD203B41FA5}">
                      <a16:colId xmlns:a16="http://schemas.microsoft.com/office/drawing/2014/main" val="20001"/>
                    </a:ext>
                  </a:extLst>
                </a:gridCol>
                <a:gridCol w="4791075">
                  <a:extLst>
                    <a:ext uri="{9D8B030D-6E8A-4147-A177-3AD203B41FA5}">
                      <a16:colId xmlns:a16="http://schemas.microsoft.com/office/drawing/2014/main" val="20002"/>
                    </a:ext>
                  </a:extLst>
                </a:gridCol>
              </a:tblGrid>
              <a:tr h="547688">
                <a:tc>
                  <a:txBody>
                    <a:bodyPr/>
                    <a:lstStyle/>
                    <a:p>
                      <a:r>
                        <a:rPr sz="1800" b="1">
                          <a:solidFill>
                            <a:srgbClr val="17202A"/>
                          </a:solidFill>
                          <a:latin typeface="Arial"/>
                          <a:ea typeface="Arial"/>
                          <a:cs typeface="Arial"/>
                        </a:rPr>
                        <a:t>Step</a:t>
                      </a:r>
                    </a:p>
                  </a:txBody>
                  <a:tcPr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CPU 0</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a:lstStyle/>
                    <a:p>
                      <a:r>
                        <a:rPr sz="1800" b="1">
                          <a:solidFill>
                            <a:srgbClr val="17202A"/>
                          </a:solidFill>
                          <a:latin typeface="Arial"/>
                          <a:ea typeface="Arial"/>
                          <a:cs typeface="Arial"/>
                        </a:rPr>
                        <a:t>CPU 1</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extLst>
                  <a:ext uri="{0D108BD9-81ED-4DB2-BD59-A6C34878D82A}">
                    <a16:rowId xmlns:a16="http://schemas.microsoft.com/office/drawing/2014/main" val="10000"/>
                  </a:ext>
                </a:extLst>
              </a:tr>
              <a:tr h="547688">
                <a:tc>
                  <a:txBody>
                    <a:bodyPr/>
                    <a:lstStyle/>
                    <a:p>
                      <a:r>
                        <a:rPr sz="1800" b="0">
                          <a:solidFill>
                            <a:srgbClr val="17202A"/>
                          </a:solidFill>
                          <a:latin typeface="Arial"/>
                          <a:ea typeface="Arial"/>
                          <a:cs typeface="Arial"/>
                        </a:rPr>
                        <a:t>1</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Read head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endParaRP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1"/>
                  </a:ext>
                </a:extLst>
              </a:tr>
              <a:tr h="547688">
                <a:tc>
                  <a:txBody>
                    <a:bodyPr/>
                    <a:lstStyle/>
                    <a:p>
                      <a:r>
                        <a:rPr sz="1800" b="0">
                          <a:solidFill>
                            <a:srgbClr val="17202A"/>
                          </a:solidFill>
                          <a:latin typeface="Arial"/>
                          <a:ea typeface="Arial"/>
                          <a:cs typeface="Arial"/>
                        </a:rPr>
                        <a:t>2</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endParaRP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Read head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2"/>
                  </a:ext>
                </a:extLst>
              </a:tr>
              <a:tr h="547688">
                <a:tc>
                  <a:txBody>
                    <a:bodyPr/>
                    <a:lstStyle/>
                    <a:p>
                      <a:r>
                        <a:rPr sz="1800" b="0">
                          <a:solidFill>
                            <a:srgbClr val="17202A"/>
                          </a:solidFill>
                          <a:latin typeface="Arial"/>
                          <a:ea typeface="Arial"/>
                          <a:cs typeface="Arial"/>
                        </a:rPr>
                        <a:t>3</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Set head to P.next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endParaRP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3"/>
                  </a:ext>
                </a:extLst>
              </a:tr>
              <a:tr h="547688">
                <a:tc>
                  <a:txBody>
                    <a:bodyPr/>
                    <a:lstStyle/>
                    <a:p>
                      <a:r>
                        <a:rPr sz="1800" b="0">
                          <a:solidFill>
                            <a:srgbClr val="17202A"/>
                          </a:solidFill>
                          <a:latin typeface="Arial"/>
                          <a:ea typeface="Arial"/>
                          <a:cs typeface="Arial"/>
                        </a:rPr>
                        <a:t>4</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endParaRP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Set head to P.next</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4"/>
                  </a:ext>
                </a:extLst>
              </a:tr>
              <a:tr h="547688">
                <a:tc>
                  <a:txBody>
                    <a:bodyPr/>
                    <a:lstStyle/>
                    <a:p>
                      <a:r>
                        <a:rPr sz="1800" b="0">
                          <a:solidFill>
                            <a:srgbClr val="17202A"/>
                          </a:solidFill>
                          <a:latin typeface="Arial"/>
                          <a:ea typeface="Arial"/>
                          <a:cs typeface="Arial"/>
                        </a:rPr>
                        <a:t>5</a:t>
                      </a:r>
                    </a:p>
                  </a:txBody>
                  <a:tcPr anchor="ctr">
                    <a:lnL w="6668">
                      <a:solidFill>
                        <a:srgbClr val="CAD2DA"/>
                      </a:solidFill>
                      <a:prstDash val="soli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Return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tc>
                  <a:txBody>
                    <a:bodyPr/>
                    <a:lstStyle/>
                    <a:p>
                      <a:r>
                        <a:rPr sz="1800" b="0">
                          <a:solidFill>
                            <a:srgbClr val="17202A"/>
                          </a:solidFill>
                          <a:latin typeface="Arial"/>
                          <a:ea typeface="Arial"/>
                          <a:cs typeface="Arial"/>
                        </a:rPr>
                        <a:t>Return P</a:t>
                      </a:r>
                    </a:p>
                  </a:txBody>
                  <a:tcPr anchor="ctr">
                    <a:lnL w="6668" cap="flat" cmpd="sng" algn="ctr">
                      <a:solidFill>
                        <a:srgbClr val="CAD2DA"/>
                      </a:solidFill>
                      <a:prstDash val="solid"/>
                      <a:round/>
                      <a:headEnd type="none" w="med" len="med"/>
                      <a:tailEnd type="none" w="med" len="med"/>
                    </a:lnL>
                    <a:lnR w="6668">
                      <a:solidFill>
                        <a:srgbClr val="CAD2DA"/>
                      </a:solidFill>
                      <a:prstDash val="solid"/>
                    </a:lnR>
                    <a:lnT w="6668" cap="flat" cmpd="sng" algn="ctr">
                      <a:solidFill>
                        <a:srgbClr val="CAD2DA"/>
                      </a:solidFill>
                      <a:prstDash val="solid"/>
                      <a:round/>
                      <a:headEnd type="none" w="med" len="med"/>
                      <a:tailEnd type="none" w="med" len="med"/>
                    </a:lnT>
                    <a:lnB w="6668">
                      <a:solidFill>
                        <a:srgbClr val="CAD2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51A83EFF-ED0E-4D52-814A-9098992ECD96}"/>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kernel/kalloc.c. A matching kfree() lost-head update can make a page unreachable.</a:t>
            </a:r>
          </a:p>
        </p:txBody>
      </p:sp>
    </p:spTree>
    <p:extLst>
      <p:ext uri="{BB962C8B-B14F-4D97-AF65-F5344CB8AC3E}">
        <p14:creationId xmlns:p14="http://schemas.microsoft.com/office/powerpoint/2010/main" val="314731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63C49D-60CB-42F4-A99C-C9049BD2A053}"/>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Locked baseline A01 passed with the original allocator</a:t>
            </a:r>
          </a:p>
        </p:txBody>
      </p:sp>
      <p:sp>
        <p:nvSpPr>
          <p:cNvPr id="3" name="Rectangle 2">
            <a:extLst>
              <a:ext uri="{FF2B5EF4-FFF2-40B4-BE49-F238E27FC236}">
                <a16:creationId xmlns:a16="http://schemas.microsoft.com/office/drawing/2014/main" id="{AF6DCC34-9CA9-44EF-B845-140851A3F191}"/>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Rectangle 3">
            <a:extLst>
              <a:ext uri="{FF2B5EF4-FFF2-40B4-BE49-F238E27FC236}">
                <a16:creationId xmlns:a16="http://schemas.microsoft.com/office/drawing/2014/main" id="{5CEDB8D6-4869-4781-80B1-16A70762EEFD}"/>
              </a:ext>
            </a:extLst>
          </p:cNvPr>
          <p:cNvSpPr>
            <a:spLocks noGrp="1"/>
          </p:cNvSpPr>
          <p:nvPr/>
        </p:nvSpPr>
        <p:spPr>
          <a:xfrm>
            <a:off x="781050" y="1562100"/>
            <a:ext cx="10668000" cy="3810000"/>
          </a:xfrm>
          <a:prstGeom prst="rect">
            <a:avLst/>
          </a:prstGeom>
          <a:noFill/>
          <a:ln w="0">
            <a:noFill/>
          </a:ln>
        </p:spPr>
        <p:txBody>
          <a:bodyPr wrap="square" lIns="0" tIns="0" rIns="0" bIns="0" anchor="t">
            <a:noAutofit/>
          </a:bodyPr>
          <a:lstStyle>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a:pPr>
              <a:buNone/>
              <a:defRPr sz="2175" b="0">
                <a:solidFill>
                  <a:srgbClr val="17202A"/>
                </a:solidFill>
                <a:latin typeface="Arial"/>
                <a:ea typeface="Arial"/>
                <a:cs typeface="Arial"/>
              </a:defRPr>
            </a:pPr>
            <a:endParaRPr/>
          </a:p>
        </p:txBody>
      </p:sp>
      <p:sp>
        <p:nvSpPr>
          <p:cNvPr id="5" name="Rectangle 4">
            <a:extLst>
              <a:ext uri="{FF2B5EF4-FFF2-40B4-BE49-F238E27FC236}">
                <a16:creationId xmlns:a16="http://schemas.microsoft.com/office/drawing/2014/main" id="{3A1C4269-1CFC-426F-B3A0-41A635165DE9}"/>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Figure 3. Source: saved original-set A01 terminal recording; locked phase passed 10/10.</a:t>
            </a:r>
          </a:p>
        </p:txBody>
      </p:sp>
      <p:pic>
        <p:nvPicPr>
          <p:cNvPr id="6" name="Picture 5">
            <a:extLst>
              <a:ext uri="{FF2B5EF4-FFF2-40B4-BE49-F238E27FC236}">
                <a16:creationId xmlns:a16="http://schemas.microsoft.com/office/drawing/2014/main" id="{42564156-6E48-4870-B670-0AF81B357593}"/>
              </a:ext>
            </a:extLst>
          </p:cNvPr>
          <p:cNvPicPr>
            <a:picLocks noChangeAspect="1"/>
          </p:cNvPicPr>
          <p:nvPr/>
        </p:nvPicPr>
        <p:blipFill>
          <a:blip r:embed="rId3"/>
          <a:stretch/>
        </p:blipFill>
        <p:spPr>
          <a:xfrm>
            <a:off x="1809750" y="1947466"/>
            <a:ext cx="8286750" cy="3153569"/>
          </a:xfrm>
          <a:prstGeom prst="rect">
            <a:avLst/>
          </a:prstGeom>
        </p:spPr>
      </p:pic>
    </p:spTree>
    <p:extLst>
      <p:ext uri="{BB962C8B-B14F-4D97-AF65-F5344CB8AC3E}">
        <p14:creationId xmlns:p14="http://schemas.microsoft.com/office/powerpoint/2010/main" val="1999169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DA47A3-88BE-4E59-9A2F-4A77B15F08AC}"/>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The unlocked variant removes four allocator lock calls</a:t>
            </a:r>
          </a:p>
        </p:txBody>
      </p:sp>
      <p:sp>
        <p:nvSpPr>
          <p:cNvPr id="3" name="Rectangle 2">
            <a:extLst>
              <a:ext uri="{FF2B5EF4-FFF2-40B4-BE49-F238E27FC236}">
                <a16:creationId xmlns:a16="http://schemas.microsoft.com/office/drawing/2014/main" id="{03F65D92-3CF0-41BB-8DB4-3DC69F207327}"/>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Rectangle 3">
            <a:extLst>
              <a:ext uri="{FF2B5EF4-FFF2-40B4-BE49-F238E27FC236}">
                <a16:creationId xmlns:a16="http://schemas.microsoft.com/office/drawing/2014/main" id="{F2409013-BBEA-4DE1-BF66-E1CBF45F56A3}"/>
              </a:ext>
            </a:extLst>
          </p:cNvPr>
          <p:cNvSpPr>
            <a:spLocks noGrp="1"/>
          </p:cNvSpPr>
          <p:nvPr/>
        </p:nvSpPr>
        <p:spPr>
          <a:xfrm>
            <a:off x="781050" y="1562100"/>
            <a:ext cx="10668000" cy="4095750"/>
          </a:xfrm>
          <a:prstGeom prst="rect">
            <a:avLst/>
          </a:prstGeom>
          <a:noFill/>
          <a:ln w="0">
            <a:noFill/>
          </a:ln>
        </p:spPr>
        <p:txBody>
          <a:bodyPr wrap="square" lIns="0" tIns="0" rIns="0" bIns="0" anchor="t">
            <a:noAutofit/>
          </a:bodyPr>
          <a:lstStyle>
            <a:defPPr algn="l">
              <a:defRPr sz="1650"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a:pPr algn="l">
              <a:buNone/>
              <a:defRPr sz="1650" b="0">
                <a:solidFill>
                  <a:srgbClr val="17202A"/>
                </a:solidFill>
                <a:latin typeface="Arial"/>
                <a:ea typeface="Arial"/>
                <a:cs typeface="Arial"/>
              </a:defRPr>
            </a:pPr>
            <a:r>
              <a:rPr sz="1650" b="0">
                <a:solidFill>
                  <a:srgbClr val="17202A"/>
                </a:solidFill>
                <a:latin typeface="Arial"/>
                <a:ea typeface="Arial"/>
                <a:cs typeface="Arial"/>
              </a:rPr>
              <a:t>kalloc():  - acquire(&amp;kmem.lock);  + // acquire(&amp;kmem.lock);</a:t>
            </a:r>
          </a:p>
          <a:p>
            <a:pPr algn="l">
              <a:defRPr sz="1650">
                <a:solidFill>
                  <a:srgbClr val="17202A"/>
                </a:solidFill>
                <a:latin typeface="Arial"/>
                <a:ea typeface="Arial"/>
                <a:cs typeface="Arial"/>
              </a:defRPr>
            </a:pPr>
            <a:r>
              <a:rPr sz="1650">
                <a:solidFill>
                  <a:srgbClr val="17202A"/>
                </a:solidFill>
                <a:latin typeface="Arial"/>
                <a:ea typeface="Arial"/>
                <a:cs typeface="Arial"/>
              </a:rPr>
              <a:t>          - release(&amp;kmem.lock);  + // release(&amp;kmem.lock);</a:t>
            </a:r>
          </a:p>
          <a:p>
            <a:pPr algn="l">
              <a:buNone/>
              <a:defRPr sz="1650" b="0">
                <a:solidFill>
                  <a:srgbClr val="17202A"/>
                </a:solidFill>
                <a:latin typeface="Arial"/>
                <a:ea typeface="Arial"/>
                <a:cs typeface="Arial"/>
              </a:defRPr>
            </a:pPr>
            <a:r>
              <a:rPr sz="1650" b="0">
                <a:solidFill>
                  <a:srgbClr val="17202A"/>
                </a:solidFill>
                <a:latin typeface="Arial"/>
                <a:ea typeface="Arial"/>
                <a:cs typeface="Arial"/>
              </a:rPr>
              <a:t>kfree():   - acquire(&amp;kmem.lock);  + // acquire(&amp;kmem.lock);</a:t>
            </a:r>
          </a:p>
          <a:p>
            <a:pPr algn="l">
              <a:buNone/>
              <a:defRPr sz="1650" b="0">
                <a:solidFill>
                  <a:srgbClr val="17202A"/>
                </a:solidFill>
                <a:latin typeface="Arial"/>
                <a:ea typeface="Arial"/>
                <a:cs typeface="Arial"/>
              </a:defRPr>
            </a:pPr>
            <a:r>
              <a:rPr sz="1650" b="0">
                <a:solidFill>
                  <a:srgbClr val="17202A"/>
                </a:solidFill>
                <a:latin typeface="Arial"/>
                <a:ea typeface="Arial"/>
                <a:cs typeface="Arial"/>
              </a:rPr>
              <a:t>          - release(&amp;kmem.lock);  + // release(&amp;kmem.lock);</a:t>
            </a:r>
          </a:p>
        </p:txBody>
      </p:sp>
      <p:sp>
        <p:nvSpPr>
          <p:cNvPr id="5" name="Rectangle 4">
            <a:extLst>
              <a:ext uri="{FF2B5EF4-FFF2-40B4-BE49-F238E27FC236}">
                <a16:creationId xmlns:a16="http://schemas.microsoft.com/office/drawing/2014/main" id="{0D7BBB4A-3A64-4A30-A444-7D80F30D6035}"/>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Figure 4. Source: temporary kalloc.c diff; four lock calls removed.</a:t>
            </a:r>
          </a:p>
        </p:txBody>
      </p:sp>
    </p:spTree>
    <p:extLst>
      <p:ext uri="{BB962C8B-B14F-4D97-AF65-F5344CB8AC3E}">
        <p14:creationId xmlns:p14="http://schemas.microsoft.com/office/powerpoint/2010/main" val="113466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38CC0E-1BC4-4E72-A20A-B374CE6259A9}"/>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B02 shows corruption followed by kerneltrap</a:t>
            </a:r>
          </a:p>
        </p:txBody>
      </p:sp>
      <p:sp>
        <p:nvSpPr>
          <p:cNvPr id="3" name="Rectangle 2">
            <a:extLst>
              <a:ext uri="{FF2B5EF4-FFF2-40B4-BE49-F238E27FC236}">
                <a16:creationId xmlns:a16="http://schemas.microsoft.com/office/drawing/2014/main" id="{A9BDA818-0392-423B-B865-11B8ACD3CE71}"/>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Rectangle 3">
            <a:extLst>
              <a:ext uri="{FF2B5EF4-FFF2-40B4-BE49-F238E27FC236}">
                <a16:creationId xmlns:a16="http://schemas.microsoft.com/office/drawing/2014/main" id="{1CA1E03B-3D20-44C8-88F3-19E39CA4F404}"/>
              </a:ext>
            </a:extLst>
          </p:cNvPr>
          <p:cNvSpPr>
            <a:spLocks noGrp="1"/>
          </p:cNvSpPr>
          <p:nvPr/>
        </p:nvSpPr>
        <p:spPr>
          <a:xfrm>
            <a:off x="781050" y="1562100"/>
            <a:ext cx="10668000" cy="381000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endParaRPr/>
          </a:p>
        </p:txBody>
      </p:sp>
      <p:sp>
        <p:nvSpPr>
          <p:cNvPr id="5" name="Rectangle 4">
            <a:extLst>
              <a:ext uri="{FF2B5EF4-FFF2-40B4-BE49-F238E27FC236}">
                <a16:creationId xmlns:a16="http://schemas.microsoft.com/office/drawing/2014/main" id="{16C73A5A-3458-4084-ABF8-87D9DC998DD3}"/>
              </a:ext>
            </a:extLst>
          </p:cNvPr>
          <p:cNvSpPr>
            <a:spLocks noGrp="1"/>
          </p:cNvSpPr>
          <p:nvPr/>
        </p:nvSpPr>
        <p:spPr>
          <a:xfrm>
            <a:off x="685800" y="5000625"/>
            <a:ext cx="10820400" cy="666750"/>
          </a:xfrm>
          <a:prstGeom prst="rect">
            <a:avLst/>
          </a:prstGeom>
          <a:noFill/>
          <a:ln w="0">
            <a:noFill/>
          </a:ln>
        </p:spPr>
        <p:txBody>
          <a:bodyPr wrap="square" lIns="0" tIns="0" rIns="0" bIns="0" anchor="t">
            <a:noAutofit/>
          </a:bodyPr>
          <a:lstStyle>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a:pPr>
              <a:buNone/>
              <a:defRPr sz="1950" b="0">
                <a:solidFill>
                  <a:srgbClr val="17202A"/>
                </a:solidFill>
                <a:latin typeface="Arial"/>
                <a:ea typeface="Arial"/>
                <a:cs typeface="Arial"/>
              </a:defRPr>
            </a:pPr>
            <a:r>
              <a:rPr sz="1950" b="0">
                <a:solidFill>
                  <a:srgbClr val="17202A"/>
                </a:solidFill>
                <a:latin typeface="Arial"/>
                <a:ea typeface="Arial"/>
                <a:cs typeface="Arial"/>
              </a:rPr>
              <a:t>The primary classification is CORRUPTION; the later panic remains visible.</a:t>
            </a:r>
          </a:p>
        </p:txBody>
      </p:sp>
      <p:sp>
        <p:nvSpPr>
          <p:cNvPr id="6" name="Rectangle 5">
            <a:extLst>
              <a:ext uri="{FF2B5EF4-FFF2-40B4-BE49-F238E27FC236}">
                <a16:creationId xmlns:a16="http://schemas.microsoft.com/office/drawing/2014/main" id="{74B01B9C-BCD4-4F1F-84D2-63AFC0D8A7AF}"/>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Figure 5. Source: saved original-set B02 recording and results.csv.</a:t>
            </a:r>
          </a:p>
        </p:txBody>
      </p:sp>
      <p:pic>
        <p:nvPicPr>
          <p:cNvPr id="7" name="Picture 6">
            <a:extLst>
              <a:ext uri="{FF2B5EF4-FFF2-40B4-BE49-F238E27FC236}">
                <a16:creationId xmlns:a16="http://schemas.microsoft.com/office/drawing/2014/main" id="{FB480223-7210-40B1-86A4-E062629FA856}"/>
              </a:ext>
            </a:extLst>
          </p:cNvPr>
          <p:cNvPicPr>
            <a:picLocks noChangeAspect="1"/>
          </p:cNvPicPr>
          <p:nvPr/>
        </p:nvPicPr>
        <p:blipFill>
          <a:blip r:embed="rId3"/>
          <a:stretch/>
        </p:blipFill>
        <p:spPr>
          <a:xfrm>
            <a:off x="1809750" y="1657429"/>
            <a:ext cx="8286750" cy="3733641"/>
          </a:xfrm>
          <a:prstGeom prst="rect">
            <a:avLst/>
          </a:prstGeom>
        </p:spPr>
      </p:pic>
    </p:spTree>
    <p:extLst>
      <p:ext uri="{BB962C8B-B14F-4D97-AF65-F5344CB8AC3E}">
        <p14:creationId xmlns:p14="http://schemas.microsoft.com/office/powerpoint/2010/main" val="749075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8F995E-4BB6-4BEE-96D2-DEDB38301B8F}"/>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Restoring locks rebuilt; C01 passed</a:t>
            </a:r>
          </a:p>
        </p:txBody>
      </p:sp>
      <p:sp>
        <p:nvSpPr>
          <p:cNvPr id="3" name="Rectangle 2">
            <a:extLst>
              <a:ext uri="{FF2B5EF4-FFF2-40B4-BE49-F238E27FC236}">
                <a16:creationId xmlns:a16="http://schemas.microsoft.com/office/drawing/2014/main" id="{F6D2FE2E-AC28-44A4-A64D-9127EE9A0B14}"/>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Rectangle 3">
            <a:extLst>
              <a:ext uri="{FF2B5EF4-FFF2-40B4-BE49-F238E27FC236}">
                <a16:creationId xmlns:a16="http://schemas.microsoft.com/office/drawing/2014/main" id="{858BC42B-8B27-4A2D-8F33-8D76114D1196}"/>
              </a:ext>
            </a:extLst>
          </p:cNvPr>
          <p:cNvSpPr>
            <a:spLocks noGrp="1"/>
          </p:cNvSpPr>
          <p:nvPr/>
        </p:nvSpPr>
        <p:spPr>
          <a:xfrm>
            <a:off x="685800" y="1238250"/>
            <a:ext cx="10820400" cy="742950"/>
          </a:xfrm>
          <a:prstGeom prst="rect">
            <a:avLst/>
          </a:prstGeom>
          <a:noFill/>
          <a:ln w="0">
            <a:noFill/>
          </a:ln>
        </p:spPr>
        <p:txBody>
          <a:bodyPr wrap="square" lIns="0" tIns="0" rIns="0" bIns="0" anchor="t">
            <a:noAutofit/>
          </a:bodyPr>
          <a:lstStyle>
            <a:defPPr algn="l">
              <a:defRPr sz="1575"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a:pPr algn="l">
              <a:buNone/>
              <a:defRPr sz="1575" b="0">
                <a:solidFill>
                  <a:srgbClr val="17202A"/>
                </a:solidFill>
                <a:latin typeface="Arial"/>
                <a:ea typeface="Arial"/>
                <a:cs typeface="Arial"/>
              </a:defRPr>
            </a:pPr>
            <a:r>
              <a:rPr sz="1575" b="0">
                <a:solidFill>
                  <a:srgbClr val="17202A"/>
                </a:solidFill>
                <a:latin typeface="Arial"/>
                <a:ea typeface="Arial"/>
                <a:cs typeface="Arial"/>
              </a:rPr>
              <a:t>Source hash: verified</a:t>
            </a:r>
          </a:p>
          <a:p>
            <a:pPr algn="l">
              <a:defRPr sz="1575">
                <a:solidFill>
                  <a:srgbClr val="17202A"/>
                </a:solidFill>
                <a:latin typeface="Arial"/>
                <a:ea typeface="Arial"/>
                <a:cs typeface="Arial"/>
              </a:defRPr>
            </a:pPr>
            <a:r>
              <a:rPr sz="1575">
                <a:solidFill>
                  <a:srgbClr val="17202A"/>
                </a:solidFill>
                <a:latin typeface="Arial"/>
                <a:ea typeface="Arial"/>
                <a:cs typeface="Arial"/>
              </a:rPr>
              <a:t>Final allocator diff: empty</a:t>
            </a:r>
          </a:p>
          <a:p>
            <a:pPr algn="l">
              <a:buNone/>
              <a:defRPr sz="1575" b="0">
                <a:solidFill>
                  <a:srgbClr val="17202A"/>
                </a:solidFill>
                <a:latin typeface="Arial"/>
                <a:ea typeface="Arial"/>
                <a:cs typeface="Arial"/>
              </a:defRPr>
            </a:pPr>
            <a:r>
              <a:rPr sz="1575" b="0">
                <a:solidFill>
                  <a:srgbClr val="17202A"/>
                </a:solidFill>
                <a:latin typeface="Arial"/>
                <a:ea typeface="Arial"/>
                <a:cs typeface="Arial"/>
              </a:rPr>
              <a:t>C01 race_test: PASS</a:t>
            </a:r>
          </a:p>
        </p:txBody>
      </p:sp>
      <p:sp>
        <p:nvSpPr>
          <p:cNvPr id="5" name="Rectangle 4">
            <a:extLst>
              <a:ext uri="{FF2B5EF4-FFF2-40B4-BE49-F238E27FC236}">
                <a16:creationId xmlns:a16="http://schemas.microsoft.com/office/drawing/2014/main" id="{7B101571-4C6F-4296-B784-F7EC5B293FD1}"/>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Figure 6. Source: saved C01 recording and restoration checksum; PASS.</a:t>
            </a:r>
          </a:p>
        </p:txBody>
      </p:sp>
      <p:pic>
        <p:nvPicPr>
          <p:cNvPr id="6" name="Picture 5">
            <a:extLst>
              <a:ext uri="{FF2B5EF4-FFF2-40B4-BE49-F238E27FC236}">
                <a16:creationId xmlns:a16="http://schemas.microsoft.com/office/drawing/2014/main" id="{C4ED05AE-A7EB-4F42-B015-A5BEAF1F011C}"/>
              </a:ext>
            </a:extLst>
          </p:cNvPr>
          <p:cNvPicPr>
            <a:picLocks noChangeAspect="1"/>
          </p:cNvPicPr>
          <p:nvPr/>
        </p:nvPicPr>
        <p:blipFill>
          <a:blip r:embed="rId3"/>
          <a:stretch/>
        </p:blipFill>
        <p:spPr>
          <a:xfrm>
            <a:off x="1809750" y="2133335"/>
            <a:ext cx="7810500" cy="2972329"/>
          </a:xfrm>
          <a:prstGeom prst="rect">
            <a:avLst/>
          </a:prstGeom>
        </p:spPr>
      </p:pic>
    </p:spTree>
    <p:extLst>
      <p:ext uri="{BB962C8B-B14F-4D97-AF65-F5344CB8AC3E}">
        <p14:creationId xmlns:p14="http://schemas.microsoft.com/office/powerpoint/2010/main" val="1468621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156B6E-2F00-4D55-AFBE-A34EB1C5D5BA}"/>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9. Locked and restored phases passed; every unlocked attempt failed</a:t>
            </a:r>
          </a:p>
        </p:txBody>
      </p:sp>
      <p:sp>
        <p:nvSpPr>
          <p:cNvPr id="3" name="Rectangle 2">
            <a:extLst>
              <a:ext uri="{FF2B5EF4-FFF2-40B4-BE49-F238E27FC236}">
                <a16:creationId xmlns:a16="http://schemas.microsoft.com/office/drawing/2014/main" id="{6891C8EC-2557-475B-87F3-975E1E497DC3}"/>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Rectangle 3">
            <a:extLst>
              <a:ext uri="{FF2B5EF4-FFF2-40B4-BE49-F238E27FC236}">
                <a16:creationId xmlns:a16="http://schemas.microsoft.com/office/drawing/2014/main" id="{D31D1FE2-22AB-4533-B522-777F13698703}"/>
              </a:ext>
            </a:extLst>
          </p:cNvPr>
          <p:cNvSpPr>
            <a:spLocks noGrp="1"/>
          </p:cNvSpPr>
          <p:nvPr/>
        </p:nvSpPr>
        <p:spPr>
          <a:xfrm>
            <a:off x="685800" y="1362075"/>
            <a:ext cx="4857750" cy="333375"/>
          </a:xfrm>
          <a:prstGeom prst="rect">
            <a:avLst/>
          </a:prstGeom>
          <a:noFill/>
          <a:ln w="0">
            <a:noFill/>
          </a:ln>
        </p:spPr>
        <p:txBody>
          <a:bodyPr wrap="square" lIns="0" tIns="0" rIns="0" bIns="0" anchor="t">
            <a:noAutofit/>
          </a:bodyPr>
          <a:lstStyle>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a:pPr>
              <a:buNone/>
              <a:defRPr sz="1725" b="1">
                <a:solidFill>
                  <a:srgbClr val="17202A"/>
                </a:solidFill>
                <a:latin typeface="Arial"/>
                <a:ea typeface="Arial"/>
                <a:cs typeface="Arial"/>
              </a:defRPr>
            </a:pPr>
            <a:r>
              <a:rPr sz="1725" b="1">
                <a:solidFill>
                  <a:srgbClr val="17202A"/>
                </a:solidFill>
                <a:latin typeface="Arial"/>
                <a:ea typeface="Arial"/>
                <a:cs typeface="Arial"/>
              </a:rPr>
              <a:t>Table 5. Results by phase</a:t>
            </a:r>
          </a:p>
        </p:txBody>
      </p:sp>
      <p:graphicFrame>
        <p:nvGraphicFramePr>
          <p:cNvPr id="5" name="Table 4">
            <a:extLst>
              <a:ext uri="{FF2B5EF4-FFF2-40B4-BE49-F238E27FC236}">
                <a16:creationId xmlns:a16="http://schemas.microsoft.com/office/drawing/2014/main" id="{190103B5-E315-4513-ABA2-F02538205CEE}"/>
              </a:ext>
            </a:extLst>
          </p:cNvPr>
          <p:cNvGraphicFramePr/>
          <p:nvPr/>
        </p:nvGraphicFramePr>
        <p:xfrm>
          <a:off x="685800" y="1828800"/>
          <a:ext cx="4572000" cy="2512695"/>
        </p:xfrm>
        <a:graphic>
          <a:graphicData uri="http://schemas.openxmlformats.org/drawingml/2006/table">
            <a:tbl>
              <a:tblPr/>
              <a:tblGrid>
                <a:gridCol w="2286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523875">
                <a:tc>
                  <a:txBody>
                    <a:bodyPr/>
                    <a:lstStyle/>
                    <a:p>
                      <a:r>
                        <a:rPr sz="1875" b="1">
                          <a:solidFill>
                            <a:srgbClr val="17202A"/>
                          </a:solidFill>
                          <a:latin typeface="Arial"/>
                          <a:ea typeface="Arial"/>
                          <a:cs typeface="Arial"/>
                        </a:rPr>
                        <a:t>Phase</a:t>
                      </a:r>
                    </a:p>
                  </a:txBody>
                  <a:tcPr>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a:lstStyle/>
                    <a:p>
                      <a:r>
                        <a:rPr sz="1875" b="1">
                          <a:solidFill>
                            <a:srgbClr val="17202A"/>
                          </a:solidFill>
                          <a:latin typeface="Arial"/>
                          <a:ea typeface="Arial"/>
                          <a:cs typeface="Arial"/>
                        </a:rPr>
                        <a:t>Original</a:t>
                      </a:r>
                    </a:p>
                  </a:txBody>
                  <a:tcPr>
                    <a:lnL w="9525" cap="flat" cmpd="sng" algn="ctr">
                      <a:solidFill>
                        <a:srgbClr val="CAD2DA"/>
                      </a:solidFill>
                      <a:prstDash val="solid"/>
                      <a:round/>
                      <a:headEnd type="none" w="med" len="med"/>
                      <a:tailEnd type="none" w="med" len="me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a:lstStyle/>
                    <a:p>
                      <a:r>
                        <a:rPr sz="1875" b="1">
                          <a:solidFill>
                            <a:srgbClr val="17202A"/>
                          </a:solidFill>
                          <a:latin typeface="Arial"/>
                          <a:ea typeface="Arial"/>
                          <a:cs typeface="Arial"/>
                        </a:rPr>
                        <a:t>C-run</a:t>
                      </a:r>
                    </a:p>
                  </a:txBody>
                  <a:tcPr>
                    <a:lnL w="9525" cap="flat" cmpd="sng" algn="ctr">
                      <a:solidFill>
                        <a:srgbClr val="CAD2DA"/>
                      </a:solidFill>
                      <a:prstDash val="solid"/>
                      <a:round/>
                      <a:headEnd type="none" w="med" len="med"/>
                      <a:tailEnd type="none" w="med" len="me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extLst>
                  <a:ext uri="{0D108BD9-81ED-4DB2-BD59-A6C34878D82A}">
                    <a16:rowId xmlns:a16="http://schemas.microsoft.com/office/drawing/2014/main" val="10000"/>
                  </a:ext>
                </a:extLst>
              </a:tr>
              <a:tr h="523875">
                <a:tc>
                  <a:txBody>
                    <a:bodyPr/>
                    <a:lstStyle/>
                    <a:p>
                      <a:r>
                        <a:rPr sz="1875" b="0">
                          <a:solidFill>
                            <a:srgbClr val="17202A"/>
                          </a:solidFill>
                          <a:latin typeface="Arial"/>
                          <a:ea typeface="Arial"/>
                          <a:cs typeface="Arial"/>
                        </a:rPr>
                        <a:t>Locked</a:t>
                      </a:r>
                    </a:p>
                  </a:txBody>
                  <a:tcPr>
                    <a:lnL w="9525">
                      <a:solidFill>
                        <a:srgbClr val="CAD2DA"/>
                      </a:solidFill>
                      <a:prstDash val="soli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10/10 PASS</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10/10 PASS</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extLst>
                  <a:ext uri="{0D108BD9-81ED-4DB2-BD59-A6C34878D82A}">
                    <a16:rowId xmlns:a16="http://schemas.microsoft.com/office/drawing/2014/main" val="10001"/>
                  </a:ext>
                </a:extLst>
              </a:tr>
              <a:tr h="523875">
                <a:tc>
                  <a:txBody>
                    <a:bodyPr/>
                    <a:lstStyle/>
                    <a:p>
                      <a:r>
                        <a:rPr sz="1875" b="0">
                          <a:solidFill>
                            <a:srgbClr val="17202A"/>
                          </a:solidFill>
                          <a:latin typeface="Arial"/>
                          <a:ea typeface="Arial"/>
                          <a:cs typeface="Arial"/>
                        </a:rPr>
                        <a:t>Unlocked</a:t>
                      </a:r>
                    </a:p>
                  </a:txBody>
                  <a:tcPr>
                    <a:lnL w="9525">
                      <a:solidFill>
                        <a:srgbClr val="CAD2DA"/>
                      </a:solidFill>
                      <a:prstDash val="soli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3C / 4P / 2F / 1T</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1C / 6P / 2F / 1T</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extLst>
                  <a:ext uri="{0D108BD9-81ED-4DB2-BD59-A6C34878D82A}">
                    <a16:rowId xmlns:a16="http://schemas.microsoft.com/office/drawing/2014/main" val="10002"/>
                  </a:ext>
                </a:extLst>
              </a:tr>
              <a:tr h="523875">
                <a:tc>
                  <a:txBody>
                    <a:bodyPr/>
                    <a:lstStyle/>
                    <a:p>
                      <a:r>
                        <a:rPr sz="1875" b="0">
                          <a:solidFill>
                            <a:srgbClr val="17202A"/>
                          </a:solidFill>
                          <a:latin typeface="Arial"/>
                          <a:ea typeface="Arial"/>
                          <a:cs typeface="Arial"/>
                        </a:rPr>
                        <a:t>Restored</a:t>
                      </a:r>
                    </a:p>
                  </a:txBody>
                  <a:tcPr>
                    <a:lnL w="9525">
                      <a:solidFill>
                        <a:srgbClr val="CAD2DA"/>
                      </a:solidFill>
                      <a:prstDash val="soli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10/10 PASS</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tc>
                  <a:txBody>
                    <a:bodyPr/>
                    <a:lstStyle/>
                    <a:p>
                      <a:r>
                        <a:rPr sz="1875" b="0">
                          <a:solidFill>
                            <a:srgbClr val="17202A"/>
                          </a:solidFill>
                          <a:latin typeface="Arial"/>
                          <a:ea typeface="Arial"/>
                          <a:cs typeface="Arial"/>
                        </a:rPr>
                        <a:t>10/10 PASS</a:t>
                      </a:r>
                    </a:p>
                  </a:txBody>
                  <a:tcPr>
                    <a:lnL w="9525" cap="flat" cmpd="sng" algn="ctr">
                      <a:solidFill>
                        <a:srgbClr val="CAD2DA"/>
                      </a:solidFill>
                      <a:prstDash val="solid"/>
                      <a:round/>
                      <a:headEnd type="none" w="med" len="med"/>
                      <a:tailEnd type="none" w="med" len="med"/>
                    </a:lnL>
                    <a:lnR w="9525">
                      <a:solidFill>
                        <a:srgbClr val="CAD2DA"/>
                      </a:solidFill>
                      <a:prstDash val="solid"/>
                    </a:lnR>
                    <a:lnT w="9525" cap="flat" cmpd="sng" algn="ctr">
                      <a:solidFill>
                        <a:srgbClr val="CAD2DA"/>
                      </a:solidFill>
                      <a:prstDash val="solid"/>
                      <a:round/>
                      <a:headEnd type="none" w="med" len="med"/>
                      <a:tailEnd type="none" w="med" len="med"/>
                    </a:lnT>
                    <a:lnB w="9525">
                      <a:solidFill>
                        <a:srgbClr val="CAD2DA"/>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4273876F-D5D3-49F4-8899-A1185A8303C2}"/>
              </a:ext>
            </a:extLst>
          </p:cNvPr>
          <p:cNvSpPr>
            <a:spLocks noGrp="1"/>
          </p:cNvSpPr>
          <p:nvPr/>
        </p:nvSpPr>
        <p:spPr>
          <a:xfrm>
            <a:off x="685800" y="4762500"/>
            <a:ext cx="10820400" cy="419100"/>
          </a:xfrm>
          <a:prstGeom prst="rect">
            <a:avLst/>
          </a:prstGeom>
          <a:noFill/>
          <a:ln w="0">
            <a:noFill/>
          </a:ln>
        </p:spPr>
        <p:txBody>
          <a:bodyPr wrap="square" lIns="0" tIns="0" rIns="0" bIns="0" anchor="t">
            <a:noAutofit/>
          </a:bodyPr>
          <a:lstStyle>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a:pPr>
              <a:buNone/>
              <a:defRPr sz="2025" b="0">
                <a:solidFill>
                  <a:srgbClr val="17202A"/>
                </a:solidFill>
                <a:latin typeface="Arial"/>
                <a:ea typeface="Arial"/>
                <a:cs typeface="Arial"/>
              </a:defRPr>
            </a:pPr>
            <a:r>
              <a:rPr sz="2025" b="0">
                <a:solidFill>
                  <a:srgbClr val="17202A"/>
                </a:solidFill>
                <a:latin typeface="Arial"/>
                <a:ea typeface="Arial"/>
                <a:cs typeface="Arial"/>
              </a:rPr>
              <a:t>Figure 7. Primary outcomes in two independent unlocked datasets.</a:t>
            </a:r>
          </a:p>
        </p:txBody>
      </p:sp>
      <p:sp>
        <p:nvSpPr>
          <p:cNvPr id="8" name="Rectangle 7">
            <a:extLst>
              <a:ext uri="{FF2B5EF4-FFF2-40B4-BE49-F238E27FC236}">
                <a16:creationId xmlns:a16="http://schemas.microsoft.com/office/drawing/2014/main" id="{E3ADDC4B-D227-4433-9DE5-A41F06D0502A}"/>
              </a:ext>
            </a:extLst>
          </p:cNvPr>
          <p:cNvSpPr>
            <a:spLocks noGrp="1"/>
          </p:cNvSpPr>
          <p:nvPr/>
        </p:nvSpPr>
        <p:spPr>
          <a:xfrm>
            <a:off x="685800" y="5286375"/>
            <a:ext cx="10820400" cy="600075"/>
          </a:xfrm>
          <a:prstGeom prst="rect">
            <a:avLst/>
          </a:prstGeom>
          <a:noFill/>
          <a:ln w="0">
            <a:noFill/>
          </a:ln>
        </p:spPr>
        <p:txBody>
          <a:bodyPr wrap="square" lIns="0" tIns="0" rIns="0" bIns="0" anchor="t">
            <a:noAutofit/>
          </a:bodyPr>
          <a:lstStyle>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a:pPr>
              <a:buNone/>
              <a:defRPr sz="1875" b="0">
                <a:solidFill>
                  <a:srgbClr val="17202A"/>
                </a:solidFill>
                <a:latin typeface="Arial"/>
                <a:ea typeface="Arial"/>
                <a:cs typeface="Arial"/>
              </a:defRPr>
            </a:pPr>
            <a:r>
              <a:rPr sz="1875" b="0">
                <a:solidFill>
                  <a:srgbClr val="17202A"/>
                </a:solidFill>
                <a:latin typeface="Arial"/>
                <a:ea typeface="Arial"/>
                <a:cs typeface="Arial"/>
              </a:rPr>
              <a:t>Elapsed seconds start at the shell prompt, just before race_test is sent; collection time is included.</a:t>
            </a:r>
          </a:p>
        </p:txBody>
      </p:sp>
      <p:sp>
        <p:nvSpPr>
          <p:cNvPr id="9" name="Rectangle 8">
            <a:extLst>
              <a:ext uri="{FF2B5EF4-FFF2-40B4-BE49-F238E27FC236}">
                <a16:creationId xmlns:a16="http://schemas.microsoft.com/office/drawing/2014/main" id="{8085193E-48F2-49D7-BCB8-EF32BA126E34}"/>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both results.csv files, Oct 2026. PASS is not proof; timeout is not deadlock diagnosis.</a:t>
            </a:r>
          </a:p>
        </p:txBody>
      </p:sp>
      <p:graphicFrame>
        <p:nvGraphicFramePr>
          <p:cNvPr id="10" name="Chart 9" descr="Editable stacked bar chart comparing unlocked outcomes in the original and C-runner datasets."/>
          <p:cNvGraphicFramePr>
            <a:graphicFrameLocks noGrp="1"/>
          </p:cNvGraphicFramePr>
          <p:nvPr/>
        </p:nvGraphicFramePr>
        <p:xfrm>
          <a:off x="5394960" y="1508760"/>
          <a:ext cx="6099048" cy="30449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7988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9221DF-4D17-4502-B62E-A9420549692D}"/>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kmem.lock preserved the free-list invariant</a:t>
            </a:r>
          </a:p>
        </p:txBody>
      </p:sp>
      <p:sp>
        <p:nvSpPr>
          <p:cNvPr id="3" name="Rectangle 2">
            <a:extLst>
              <a:ext uri="{FF2B5EF4-FFF2-40B4-BE49-F238E27FC236}">
                <a16:creationId xmlns:a16="http://schemas.microsoft.com/office/drawing/2014/main" id="{26F9DDB2-7BB9-419A-903C-42244815CA8E}"/>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Rectangle 3">
            <a:extLst>
              <a:ext uri="{FF2B5EF4-FFF2-40B4-BE49-F238E27FC236}">
                <a16:creationId xmlns:a16="http://schemas.microsoft.com/office/drawing/2014/main" id="{A21D11DA-EC13-4F0E-ADEF-660D92854FCB}"/>
              </a:ext>
            </a:extLst>
          </p:cNvPr>
          <p:cNvSpPr>
            <a:spLocks noGrp="1"/>
          </p:cNvSpPr>
          <p:nvPr/>
        </p:nvSpPr>
        <p:spPr>
          <a:xfrm>
            <a:off x="685800" y="157162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Rectangle 4">
            <a:extLst>
              <a:ext uri="{FF2B5EF4-FFF2-40B4-BE49-F238E27FC236}">
                <a16:creationId xmlns:a16="http://schemas.microsoft.com/office/drawing/2014/main" id="{A4A266BD-DC8D-4448-A8BE-C1684D4D39CA}"/>
              </a:ext>
            </a:extLst>
          </p:cNvPr>
          <p:cNvSpPr>
            <a:spLocks noGrp="1"/>
          </p:cNvSpPr>
          <p:nvPr/>
        </p:nvSpPr>
        <p:spPr>
          <a:xfrm>
            <a:off x="685800" y="255270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Rectangle 5">
            <a:extLst>
              <a:ext uri="{FF2B5EF4-FFF2-40B4-BE49-F238E27FC236}">
                <a16:creationId xmlns:a16="http://schemas.microsoft.com/office/drawing/2014/main" id="{41BB5DBF-1B16-48D7-8DB7-B1E91355E6A5}"/>
              </a:ext>
            </a:extLst>
          </p:cNvPr>
          <p:cNvSpPr>
            <a:spLocks noGrp="1"/>
          </p:cNvSpPr>
          <p:nvPr/>
        </p:nvSpPr>
        <p:spPr>
          <a:xfrm>
            <a:off x="685800" y="3533775"/>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Rectangle 6">
            <a:extLst>
              <a:ext uri="{FF2B5EF4-FFF2-40B4-BE49-F238E27FC236}">
                <a16:creationId xmlns:a16="http://schemas.microsoft.com/office/drawing/2014/main" id="{08B3C5EA-85D8-471A-AA97-479046D35CDB}"/>
              </a:ext>
            </a:extLst>
          </p:cNvPr>
          <p:cNvSpPr>
            <a:spLocks noGrp="1"/>
          </p:cNvSpPr>
          <p:nvPr/>
        </p:nvSpPr>
        <p:spPr>
          <a:xfrm>
            <a:off x="685800" y="4514850"/>
            <a:ext cx="10820400" cy="828675"/>
          </a:xfrm>
          <a:prstGeom prst="rect">
            <a:avLst/>
          </a:prstGeom>
          <a:noFill/>
          <a:ln w="0">
            <a:noFill/>
          </a:ln>
        </p:spPr>
        <p:txBody>
          <a:bodyPr wrap="square" lIns="0" tIns="0" rIns="0" bIns="0" anchor="t">
            <a:noAutofit/>
          </a:bodyPr>
          <a:lstStyle>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Rectangle 7">
            <a:extLst>
              <a:ext uri="{FF2B5EF4-FFF2-40B4-BE49-F238E27FC236}">
                <a16:creationId xmlns:a16="http://schemas.microsoft.com/office/drawing/2014/main" id="{F71FF5A1-0605-4907-9E59-DCEF5027F8C5}"/>
              </a:ext>
            </a:extLst>
          </p:cNvPr>
          <p:cNvSpPr>
            <a:spLocks noGrp="1"/>
          </p:cNvSpPr>
          <p:nvPr/>
        </p:nvSpPr>
        <p:spPr>
          <a:xfrm>
            <a:off x="685800" y="6038850"/>
            <a:ext cx="9715500" cy="523875"/>
          </a:xfrm>
          <a:prstGeom prst="rect">
            <a:avLst/>
          </a:prstGeom>
          <a:noFill/>
          <a:ln w="0">
            <a:noFill/>
          </a:ln>
        </p:spPr>
        <p:txBody>
          <a:bodyPr wrap="square" lIns="0" tIns="0" rIns="0" bIns="0" anchor="t">
            <a:noAutofit/>
          </a:bodyPr>
          <a:lstStyle>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a:pPr>
              <a:buNone/>
              <a:defRPr sz="1500" b="0">
                <a:solidFill>
                  <a:srgbClr val="53616E"/>
                </a:solidFill>
                <a:latin typeface="Arial"/>
                <a:ea typeface="Arial"/>
                <a:cs typeface="Arial"/>
              </a:defRPr>
            </a:pPr>
            <a:r>
              <a:rPr sz="1500" b="0">
                <a:solidFill>
                  <a:srgbClr val="53616E"/>
                </a:solidFill>
                <a:latin typeface="Arial"/>
                <a:ea typeface="Arial"/>
                <a:cs typeface="Arial"/>
              </a:rPr>
              <a:t>Source: 60 saved attempts across two datasets. Other primitives remain untested.</a:t>
            </a:r>
          </a:p>
        </p:txBody>
      </p:sp>
    </p:spTree>
    <p:extLst>
      <p:ext uri="{BB962C8B-B14F-4D97-AF65-F5344CB8AC3E}">
        <p14:creationId xmlns:p14="http://schemas.microsoft.com/office/powerpoint/2010/main" val="603045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C14B4C-19BB-4C2D-AF5C-104074CFB97D}"/>
              </a:ext>
            </a:extLst>
          </p:cNvPr>
          <p:cNvSpPr>
            <a:spLocks noGrp="1"/>
          </p:cNvSpPr>
          <p:nvPr/>
        </p:nvSpPr>
        <p:spPr>
          <a:xfrm>
            <a:off x="685800" y="400050"/>
            <a:ext cx="10820400" cy="876300"/>
          </a:xfrm>
          <a:prstGeom prst="rect">
            <a:avLst/>
          </a:prstGeom>
          <a:noFill/>
          <a:ln w="0">
            <a:noFill/>
          </a:ln>
        </p:spPr>
        <p:txBody>
          <a:bodyPr wrap="square" lIns="0" tIns="0" rIns="0" bIns="0" anchor="t">
            <a:noAutofit/>
          </a:bodyPr>
          <a:lstStyle>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Rectangle 2">
            <a:extLst>
              <a:ext uri="{FF2B5EF4-FFF2-40B4-BE49-F238E27FC236}">
                <a16:creationId xmlns:a16="http://schemas.microsoft.com/office/drawing/2014/main" id="{54C682DC-8C3A-4B99-95F5-82136C6049BF}"/>
              </a:ext>
            </a:extLst>
          </p:cNvPr>
          <p:cNvSpPr>
            <a:spLocks noGrp="1"/>
          </p:cNvSpPr>
          <p:nvPr/>
        </p:nvSpPr>
        <p:spPr>
          <a:xfrm>
            <a:off x="10972800" y="6410325"/>
            <a:ext cx="533400" cy="238125"/>
          </a:xfrm>
          <a:prstGeom prst="rect">
            <a:avLst/>
          </a:prstGeom>
          <a:noFill/>
          <a:ln w="0">
            <a:noFill/>
          </a:ln>
        </p:spPr>
        <p:txBody>
          <a:bodyPr wrap="square" lIns="0" tIns="0" rIns="0" bIns="0" anchor="t">
            <a:noAutofit/>
          </a:bodyPr>
          <a:lstStyle>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Rectangle 3">
            <a:extLst>
              <a:ext uri="{FF2B5EF4-FFF2-40B4-BE49-F238E27FC236}">
                <a16:creationId xmlns:a16="http://schemas.microsoft.com/office/drawing/2014/main" id="{EB39D45E-484E-4F29-B4BF-0FCD9669D48A}"/>
              </a:ext>
            </a:extLst>
          </p:cNvPr>
          <p:cNvSpPr>
            <a:spLocks noGrp="1"/>
          </p:cNvSpPr>
          <p:nvPr/>
        </p:nvSpPr>
        <p:spPr>
          <a:xfrm>
            <a:off x="685800" y="1524000"/>
            <a:ext cx="10820400" cy="685800"/>
          </a:xfrm>
          <a:prstGeom prst="rect">
            <a:avLst/>
          </a:prstGeom>
          <a:noFill/>
          <a:ln w="0">
            <a:noFill/>
          </a:ln>
        </p:spPr>
        <p:txBody>
          <a:bodyPr wrap="square" lIns="0" tIns="0" rIns="0" bIns="0" anchor="t">
            <a:noAutofit/>
          </a:bodyPr>
          <a:lstStyle>
            <a:defPPr algn="l">
              <a:defRPr sz="1425"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a:pPr algn="l">
              <a:buNone/>
              <a:defRPr sz="1425" b="0">
                <a:solidFill>
                  <a:srgbClr val="17202A"/>
                </a:solidFill>
                <a:latin typeface="Arial"/>
                <a:ea typeface="Arial"/>
                <a:cs typeface="Arial"/>
              </a:defRPr>
            </a:pPr>
            <a:r>
              <a:rPr sz="1425" b="0" dirty="0">
                <a:solidFill>
                  <a:srgbClr val="17202A"/>
                </a:solidFill>
                <a:latin typeface="Arial"/>
                <a:ea typeface="Arial"/>
                <a:cs typeface="Arial"/>
              </a:rPr>
              <a:t>• xv6 library (MIT PDOS): https://github.com/mit-pdos/xv6-riscv</a:t>
            </a:r>
          </a:p>
        </p:txBody>
      </p:sp>
      <p:sp>
        <p:nvSpPr>
          <p:cNvPr id="5" name="Rectangle 4">
            <a:extLst>
              <a:ext uri="{FF2B5EF4-FFF2-40B4-BE49-F238E27FC236}">
                <a16:creationId xmlns:a16="http://schemas.microsoft.com/office/drawing/2014/main" id="{E6A676F4-4586-4120-9826-072E922DEE8B}"/>
              </a:ext>
            </a:extLst>
          </p:cNvPr>
          <p:cNvSpPr>
            <a:spLocks noGrp="1"/>
          </p:cNvSpPr>
          <p:nvPr/>
        </p:nvSpPr>
        <p:spPr>
          <a:xfrm>
            <a:off x="685800" y="2343150"/>
            <a:ext cx="10820400" cy="685800"/>
          </a:xfrm>
          <a:prstGeom prst="rect">
            <a:avLst/>
          </a:prstGeom>
          <a:noFill/>
          <a:ln w="0">
            <a:noFill/>
          </a:ln>
        </p:spPr>
        <p:txBody>
          <a:bodyPr wrap="square" lIns="0" tIns="0" rIns="0" bIns="0" anchor="t">
            <a:noAutofit/>
          </a:bodyPr>
          <a:lstStyle>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a:pPr algn="l">
              <a:buNone/>
              <a:defRPr sz="1425" b="0">
                <a:solidFill>
                  <a:srgbClr val="17202A"/>
                </a:solidFill>
                <a:latin typeface="Arial"/>
                <a:ea typeface="Arial"/>
                <a:cs typeface="Arial"/>
              </a:defRPr>
            </a:pPr>
            <a:r>
              <a:rPr sz="1425" b="0" dirty="0">
                <a:solidFill>
                  <a:srgbClr val="17202A"/>
                </a:solidFill>
                <a:latin typeface="Arial"/>
                <a:ea typeface="Arial"/>
                <a:cs typeface="Arial"/>
              </a:rPr>
              <a:t>• MIT xv6 RISC-V book, Locking: https://mit-pdos.github.io/xv6-riscv-book/lock.html</a:t>
            </a:r>
          </a:p>
        </p:txBody>
      </p:sp>
      <p:sp>
        <p:nvSpPr>
          <p:cNvPr id="6" name="Rectangle 5">
            <a:extLst>
              <a:ext uri="{FF2B5EF4-FFF2-40B4-BE49-F238E27FC236}">
                <a16:creationId xmlns:a16="http://schemas.microsoft.com/office/drawing/2014/main" id="{3860B215-348F-4FBD-A6E3-224B9310EF95}"/>
              </a:ext>
            </a:extLst>
          </p:cNvPr>
          <p:cNvSpPr>
            <a:spLocks noGrp="1"/>
          </p:cNvSpPr>
          <p:nvPr/>
        </p:nvSpPr>
        <p:spPr>
          <a:xfrm>
            <a:off x="685800" y="3162300"/>
            <a:ext cx="10820400" cy="685800"/>
          </a:xfrm>
          <a:prstGeom prst="rect">
            <a:avLst/>
          </a:prstGeom>
          <a:noFill/>
          <a:ln w="0">
            <a:noFill/>
          </a:ln>
        </p:spPr>
        <p:txBody>
          <a:bodyPr wrap="square" lIns="0" tIns="0" rIns="0" bIns="0" anchor="t">
            <a:noAutofit/>
          </a:bodyPr>
          <a:lstStyle>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a:pPr algn="l">
              <a:buNone/>
              <a:defRPr sz="1425" b="0">
                <a:solidFill>
                  <a:srgbClr val="17202A"/>
                </a:solidFill>
                <a:latin typeface="Arial"/>
                <a:ea typeface="Arial"/>
                <a:cs typeface="Arial"/>
              </a:defRPr>
            </a:pPr>
            <a:r>
              <a:rPr sz="1425" b="0" dirty="0">
                <a:solidFill>
                  <a:srgbClr val="17202A"/>
                </a:solidFill>
                <a:latin typeface="Arial"/>
                <a:ea typeface="Arial"/>
                <a:cs typeface="Arial"/>
              </a:rPr>
              <a:t>• The Open Group, memory synchronization: https://pubs.opengroup.org/onlinepubs/9699919799/basedefs/V1_chap04.html</a:t>
            </a:r>
          </a:p>
        </p:txBody>
      </p:sp>
      <p:sp>
        <p:nvSpPr>
          <p:cNvPr id="7" name="Rectangle 6">
            <a:extLst>
              <a:ext uri="{FF2B5EF4-FFF2-40B4-BE49-F238E27FC236}">
                <a16:creationId xmlns:a16="http://schemas.microsoft.com/office/drawing/2014/main" id="{4C920014-058D-4EB5-A660-EEC6EF592398}"/>
              </a:ext>
            </a:extLst>
          </p:cNvPr>
          <p:cNvSpPr>
            <a:spLocks noGrp="1"/>
          </p:cNvSpPr>
          <p:nvPr/>
        </p:nvSpPr>
        <p:spPr>
          <a:xfrm>
            <a:off x="685800" y="3981450"/>
            <a:ext cx="10820400" cy="685800"/>
          </a:xfrm>
          <a:prstGeom prst="rect">
            <a:avLst/>
          </a:prstGeom>
          <a:noFill/>
          <a:ln w="0">
            <a:noFill/>
          </a:ln>
        </p:spPr>
        <p:txBody>
          <a:bodyPr wrap="square" lIns="0" tIns="0" rIns="0" bIns="0" anchor="t">
            <a:noAutofit/>
          </a:bodyPr>
          <a:lstStyle>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a:pPr algn="l">
              <a:buNone/>
              <a:defRPr sz="1425" b="0">
                <a:solidFill>
                  <a:srgbClr val="17202A"/>
                </a:solidFill>
                <a:latin typeface="Arial"/>
                <a:ea typeface="Arial"/>
                <a:cs typeface="Arial"/>
              </a:defRPr>
            </a:pPr>
            <a:r>
              <a:rPr sz="1425" b="0">
                <a:solidFill>
                  <a:srgbClr val="17202A"/>
                </a:solidFill>
                <a:latin typeface="Arial"/>
                <a:ea typeface="Arial"/>
                <a:cs typeface="Arial"/>
              </a:rPr>
              <a:t>• Michael and Scott, Nonblocking algorithms and ABA: https://www.cs.rochester.edu/u/scott/papers/1998_JPDC_nonblocking.pdf</a:t>
            </a:r>
          </a:p>
        </p:txBody>
      </p:sp>
    </p:spTree>
    <p:extLst>
      <p:ext uri="{BB962C8B-B14F-4D97-AF65-F5344CB8AC3E}">
        <p14:creationId xmlns:p14="http://schemas.microsoft.com/office/powerpoint/2010/main" val="1948182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3322</Words>
  <Application>Microsoft Office PowerPoint</Application>
  <DocSecurity>0</DocSecurity>
  <PresentationFormat>Widescreen</PresentationFormat>
  <Paragraphs>237</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Lenkapothula Nithish kumar Goud</cp:lastModifiedBy>
  <cp:revision>2</cp:revision>
  <dcterms:created xsi:type="dcterms:W3CDTF">2026-10-26T14:57:19Z</dcterms:created>
  <dcterms:modified xsi:type="dcterms:W3CDTF">2026-10-26T15:11:36Z</dcterms:modified>
</cp:coreProperties>
</file>