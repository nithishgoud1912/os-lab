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9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8" r:id="rId68"/>
    <p:sldId id="339" r:id="rId69"/>
    <p:sldId id="344" r:id="rId70"/>
    <p:sldId id="345" r:id="rId71"/>
    <p:sldId id="346" r:id="rId72"/>
    <p:sldId id="347" r:id="rId73"/>
    <p:sldId id="348" r:id="rId74"/>
    <p:sldId id="366" r:id="rId75"/>
    <p:sldId id="367" r:id="rId76"/>
    <p:sldId id="368" r:id="rId77"/>
    <p:sldId id="369" r:id="rId78"/>
    <p:sldId id="370" r:id="rId79"/>
    <p:sldId id="371" r:id="rId80"/>
    <p:sldId id="372" r:id="rId81"/>
    <p:sldId id="373" r:id="rId82"/>
    <p:sldId id="374" r:id="rId83"/>
    <p:sldId id="375" r:id="rId84"/>
    <p:sldId id="376" r:id="rId85"/>
    <p:sldId id="377" r:id="rId86"/>
    <p:sldId id="378" r:id="rId87"/>
    <p:sldId id="379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4D02-D9C0-4E2E-848E-59C1DD97A43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7D32C-4F27-4EC3-9DA0-FD31975C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3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3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74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38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76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35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4824D19-75A6-496C-8B62-9AF43E45C419}" type="slidenum">
              <a:rPr lang="en-US" altLang="en-US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74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13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1E412B9-F286-423C-ACD2-687B900ECEC1}" type="slidenum">
              <a:rPr lang="en-US" altLang="en-US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78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820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24E6C92-FD40-41BE-991A-822F865A5EDF}" type="slidenum">
              <a:rPr lang="en-US" altLang="en-US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79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247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E89999A-7F93-44B4-845C-ECD6FF18FD13}" type="slidenum">
              <a:rPr lang="en-US" altLang="en-US">
                <a:latin typeface="Times New Roman" panose="02020603050405020304" pitchFamily="18" charset="0"/>
                <a:ea typeface="MS PGothic" panose="020B0600070205080204" pitchFamily="34" charset="-128"/>
              </a:rPr>
              <a:pPr/>
              <a:t>80</a:t>
            </a:fld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7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2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4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0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7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5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0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60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5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6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10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12216-B5A6-4BE3-8E49-6CB45AF6289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Unit-3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Memory Management: </a:t>
            </a:r>
            <a:r>
              <a:rPr lang="en-IN" dirty="0"/>
              <a:t>Memory view of a process, Process memory usage requirements, virtual </a:t>
            </a:r>
            <a:r>
              <a:rPr lang="en-IN" dirty="0" smtClean="0"/>
              <a:t>and physical </a:t>
            </a:r>
            <a:r>
              <a:rPr lang="en-IN" dirty="0"/>
              <a:t>memory related system calls (</a:t>
            </a:r>
            <a:r>
              <a:rPr lang="en-IN" dirty="0" err="1"/>
              <a:t>mmap</a:t>
            </a:r>
            <a:r>
              <a:rPr lang="en-IN" dirty="0"/>
              <a:t>, </a:t>
            </a:r>
            <a:r>
              <a:rPr lang="en-IN" dirty="0" err="1"/>
              <a:t>munmap</a:t>
            </a:r>
            <a:r>
              <a:rPr lang="en-IN" dirty="0"/>
              <a:t>, </a:t>
            </a:r>
            <a:r>
              <a:rPr lang="en-IN" dirty="0" err="1"/>
              <a:t>sbrk</a:t>
            </a:r>
            <a:r>
              <a:rPr lang="en-IN" dirty="0"/>
              <a:t>, </a:t>
            </a:r>
            <a:r>
              <a:rPr lang="en-IN" dirty="0" err="1"/>
              <a:t>mprotect</a:t>
            </a:r>
            <a:r>
              <a:rPr lang="en-IN" dirty="0"/>
              <a:t>). Address </a:t>
            </a:r>
            <a:r>
              <a:rPr lang="en-IN" dirty="0" smtClean="0"/>
              <a:t>translation mechanisms </a:t>
            </a:r>
            <a:r>
              <a:rPr lang="en-IN" dirty="0"/>
              <a:t>--- static mapping, segmentation, paging, page faults, page replacement algorithms, </a:t>
            </a:r>
            <a:r>
              <a:rPr lang="en-IN" dirty="0" smtClean="0"/>
              <a:t>page sharing</a:t>
            </a:r>
            <a:r>
              <a:rPr lang="en-IN" dirty="0"/>
              <a:t>, read/write permissions, swapping.</a:t>
            </a:r>
          </a:p>
          <a:p>
            <a:r>
              <a:rPr lang="en-IN" dirty="0">
                <a:solidFill>
                  <a:srgbClr val="FF0000"/>
                </a:solidFill>
              </a:rPr>
              <a:t>Secondary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Memory Management: </a:t>
            </a:r>
            <a:r>
              <a:rPr lang="en-IN" dirty="0"/>
              <a:t>Disk structure, disk scheduling, disk management, buffering, </a:t>
            </a:r>
            <a:r>
              <a:rPr lang="en-IN" dirty="0" err="1" smtClean="0"/>
              <a:t>swapspace</a:t>
            </a:r>
            <a:r>
              <a:rPr lang="en-IN" dirty="0" smtClean="0"/>
              <a:t> </a:t>
            </a:r>
            <a:r>
              <a:rPr lang="en-IN" dirty="0"/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4658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Memory view of 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process's memory view, or virtual address space, is a logical representation of memory that the operating system provides to each process.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virtual space is distinct from the physical memory (RAM) and offers several benefits, including isolation between processes and simplified memory management</a:t>
            </a:r>
            <a:r>
              <a:rPr lang="en-US" dirty="0" smtClean="0"/>
              <a:t>.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0588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00388" y="155576"/>
            <a:ext cx="6107112" cy="57626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Memory view of a </a:t>
            </a:r>
            <a:r>
              <a:rPr lang="en-IN" dirty="0" smtClean="0">
                <a:solidFill>
                  <a:srgbClr val="FF0000"/>
                </a:solidFill>
              </a:rPr>
              <a:t>process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264" y="731839"/>
            <a:ext cx="11643360" cy="6333423"/>
          </a:xfrm>
        </p:spPr>
        <p:txBody>
          <a:bodyPr>
            <a:normAutofit/>
          </a:bodyPr>
          <a:lstStyle/>
          <a:p>
            <a:r>
              <a:rPr lang="en-US" dirty="0"/>
              <a:t>The virtual address space typically includes</a:t>
            </a:r>
            <a:r>
              <a:rPr lang="en-US" dirty="0" smtClean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rgbClr val="FF0000"/>
                </a:solidFill>
                <a:effectLst/>
              </a:rPr>
              <a:t>Text Segment:</a:t>
            </a:r>
            <a:r>
              <a:rPr lang="en-US" dirty="0"/>
              <a:t> Contains the executable instructions of the program. It is usually read-only and shared among multiple instances of the same program.</a:t>
            </a:r>
            <a:endParaRPr lang="en-US" dirty="0" smtClean="0">
              <a:solidFill>
                <a:srgbClr val="FF0000"/>
              </a:solidFill>
              <a:effectLst/>
            </a:endParaRP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rgbClr val="FF0000"/>
                </a:solidFill>
              </a:rPr>
              <a:t>Data </a:t>
            </a:r>
            <a:r>
              <a:rPr lang="en-IN" dirty="0" smtClean="0">
                <a:solidFill>
                  <a:srgbClr val="FF0000"/>
                </a:solidFill>
              </a:rPr>
              <a:t>Segment:</a:t>
            </a:r>
            <a:r>
              <a:rPr lang="en-US" dirty="0"/>
              <a:t> Contains global and static variables initialized by the </a:t>
            </a:r>
            <a:r>
              <a:rPr lang="en-US" dirty="0" smtClean="0"/>
              <a:t>program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BSS (Block Started by Symbol) Segment: </a:t>
            </a:r>
            <a:r>
              <a:rPr lang="en-US" dirty="0"/>
              <a:t>Contains uninitialized global and static variables.</a:t>
            </a:r>
            <a:endParaRPr lang="en-IN" dirty="0" smtClean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Heap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smtClean="0"/>
              <a:t>Used </a:t>
            </a:r>
            <a:r>
              <a:rPr lang="en-US" dirty="0"/>
              <a:t>for dynamic memory allocation during runtime (e.g., using </a:t>
            </a:r>
            <a:r>
              <a:rPr lang="en-US" dirty="0" err="1"/>
              <a:t>malloc</a:t>
            </a:r>
            <a:r>
              <a:rPr lang="en-US" dirty="0"/>
              <a:t> or new). It grows upwards from a lower address.</a:t>
            </a:r>
            <a:endParaRPr lang="en-US" dirty="0" smtClean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rgbClr val="FF0000"/>
                </a:solidFill>
              </a:rPr>
              <a:t>Stack:</a:t>
            </a:r>
            <a:r>
              <a:rPr lang="en-US" dirty="0"/>
              <a:t> Used for local variables, function call information, and return addresses. It grows downwards from a higher address</a:t>
            </a:r>
            <a:r>
              <a:rPr lang="en-US" dirty="0" smtClean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Memory-Mapped Files/Anonymous Mappings: </a:t>
            </a:r>
            <a:r>
              <a:rPr lang="en-US" dirty="0"/>
              <a:t>Regions used for mapping files into memory or for anonymous memory allocations (e.g., shared memory).</a:t>
            </a:r>
            <a:endParaRPr lang="en-US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07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6" y="1254125"/>
            <a:ext cx="2911475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71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02644" y="182563"/>
            <a:ext cx="11046903" cy="72200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Process Memory Usage </a:t>
            </a:r>
            <a:r>
              <a:rPr lang="en-IN" dirty="0" smtClean="0">
                <a:solidFill>
                  <a:srgbClr val="FF0000"/>
                </a:solidFill>
              </a:rPr>
              <a:t>Requirements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02645" y="983227"/>
            <a:ext cx="11046902" cy="59741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Processes require memory for various purposes:</a:t>
            </a: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Code Execution: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store the program's instructions. </a:t>
            </a: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Data Storage: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global, static, and dynamically allocated data. </a:t>
            </a: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Function Calls: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manage function call stacks and local variables. </a:t>
            </a: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I/O Buffers:</a:t>
            </a:r>
            <a:r>
              <a:rPr lang="en-US" dirty="0"/>
              <a:t> For temporary storage during input/output operations. </a:t>
            </a: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</a:rPr>
              <a:t>Shared Memory: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inter-process communication</a:t>
            </a:r>
            <a:r>
              <a:rPr lang="en-US" dirty="0" smtClean="0"/>
              <a:t>.	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984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6923" y="296299"/>
            <a:ext cx="11275142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Virtual and Physical Memory Related System Calls</a:t>
            </a:r>
            <a:endParaRPr 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Operating </a:t>
            </a:r>
            <a:r>
              <a:rPr lang="en-US" dirty="0"/>
              <a:t>systems provide system calls for managing virtual and physical memory</a:t>
            </a:r>
            <a:r>
              <a:rPr lang="en-US" dirty="0" smtClean="0"/>
              <a:t>:</a:t>
            </a:r>
          </a:p>
          <a:p>
            <a:pPr lvl="1">
              <a:lnSpc>
                <a:spcPct val="170000"/>
              </a:lnSpc>
            </a:pPr>
            <a:r>
              <a:rPr lang="en-US" dirty="0" err="1" smtClean="0">
                <a:solidFill>
                  <a:srgbClr val="FF0000"/>
                </a:solidFill>
              </a:rPr>
              <a:t>mmap</a:t>
            </a:r>
            <a:r>
              <a:rPr lang="en-US" dirty="0">
                <a:solidFill>
                  <a:srgbClr val="FF0000"/>
                </a:solidFill>
              </a:rPr>
              <a:t>() (Memory Map</a:t>
            </a:r>
            <a:r>
              <a:rPr lang="en-US" dirty="0" smtClean="0">
                <a:solidFill>
                  <a:srgbClr val="FF0000"/>
                </a:solidFill>
              </a:rPr>
              <a:t>): </a:t>
            </a:r>
            <a:r>
              <a:rPr lang="en-US" dirty="0"/>
              <a:t>Maps files or devices into memory, or creates anonymous memory regions. It allows direct access to file contents as if they were in memory, enabling efficient I/O and shared memory.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 </a:t>
            </a:r>
            <a:r>
              <a:rPr lang="en-US" dirty="0" err="1">
                <a:solidFill>
                  <a:srgbClr val="FF0000"/>
                </a:solidFill>
              </a:rPr>
              <a:t>munmap</a:t>
            </a:r>
            <a:r>
              <a:rPr lang="en-US" dirty="0">
                <a:solidFill>
                  <a:srgbClr val="FF0000"/>
                </a:solidFill>
              </a:rPr>
              <a:t>() (</a:t>
            </a:r>
            <a:r>
              <a:rPr lang="en-US" dirty="0" err="1">
                <a:solidFill>
                  <a:srgbClr val="FF0000"/>
                </a:solidFill>
              </a:rPr>
              <a:t>Unmap</a:t>
            </a:r>
            <a:r>
              <a:rPr lang="en-US" dirty="0">
                <a:solidFill>
                  <a:srgbClr val="FF0000"/>
                </a:solidFill>
              </a:rPr>
              <a:t> Memory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  <a:r>
              <a:rPr lang="en-US" dirty="0" err="1" smtClean="0"/>
              <a:t>Unmaps</a:t>
            </a:r>
            <a:r>
              <a:rPr lang="en-US" dirty="0" smtClean="0"/>
              <a:t> </a:t>
            </a:r>
            <a:r>
              <a:rPr lang="en-US" dirty="0"/>
              <a:t>memory regions previously mapped by </a:t>
            </a:r>
            <a:r>
              <a:rPr lang="en-US" dirty="0" err="1"/>
              <a:t>mmap</a:t>
            </a:r>
            <a:r>
              <a:rPr lang="en-US" dirty="0"/>
              <a:t>(), releasing the associated virtual and physical memory resources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94967" y="365125"/>
            <a:ext cx="11552903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Virtual and Physical Memory Related System Calls</a:t>
            </a:r>
            <a:endParaRPr 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27819" y="1825625"/>
            <a:ext cx="12064179" cy="4545678"/>
          </a:xfrm>
        </p:spPr>
        <p:txBody>
          <a:bodyPr>
            <a:normAutofit fontScale="92500"/>
          </a:bodyPr>
          <a:lstStyle/>
          <a:p>
            <a:pPr lvl="1">
              <a:lnSpc>
                <a:spcPct val="170000"/>
              </a:lnSpc>
            </a:pPr>
            <a:r>
              <a:rPr lang="en-US" dirty="0" err="1" smtClean="0">
                <a:solidFill>
                  <a:srgbClr val="FF0000"/>
                </a:solidFill>
              </a:rPr>
              <a:t>sbrk</a:t>
            </a:r>
            <a:r>
              <a:rPr lang="en-US" dirty="0">
                <a:solidFill>
                  <a:srgbClr val="FF0000"/>
                </a:solidFill>
              </a:rPr>
              <a:t>() (Change Data Segment Size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  <a:r>
              <a:rPr lang="en-US" dirty="0" smtClean="0"/>
              <a:t>Used </a:t>
            </a:r>
            <a:r>
              <a:rPr lang="en-US" dirty="0"/>
              <a:t>to adjust the program's data segment size (heap). It increases or decreases the program's break value, which marks the end of the data segment. While historically common for heap management, </a:t>
            </a:r>
            <a:r>
              <a:rPr lang="en-US" dirty="0" err="1"/>
              <a:t>mmap</a:t>
            </a:r>
            <a:r>
              <a:rPr lang="en-US" dirty="0"/>
              <a:t>() is often preferred for more flexible memory allocation in modern </a:t>
            </a:r>
            <a:r>
              <a:rPr lang="en-US" dirty="0" smtClean="0"/>
              <a:t>systems.</a:t>
            </a:r>
          </a:p>
          <a:p>
            <a:pPr lvl="1">
              <a:lnSpc>
                <a:spcPct val="170000"/>
              </a:lnSpc>
            </a:pPr>
            <a:r>
              <a:rPr lang="en-US" dirty="0" err="1" smtClean="0">
                <a:solidFill>
                  <a:srgbClr val="FF0000"/>
                </a:solidFill>
              </a:rPr>
              <a:t>mprotect</a:t>
            </a:r>
            <a:r>
              <a:rPr lang="en-US" dirty="0">
                <a:solidFill>
                  <a:srgbClr val="FF0000"/>
                </a:solidFill>
              </a:rPr>
              <a:t>() (Memory Protect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  <a:r>
              <a:rPr lang="en-US" dirty="0" smtClean="0"/>
              <a:t>Changes </a:t>
            </a:r>
            <a:r>
              <a:rPr lang="en-US" dirty="0"/>
              <a:t>the protection attributes of memory pages within a process's virtual address space (e.g., read, write, execute permissions). This allows for fine-grained control over memory access and can be used for security or performance optimizations.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08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06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Memory Management in Operating </a:t>
            </a:r>
            <a:r>
              <a:rPr lang="en-US" dirty="0" smtClean="0">
                <a:solidFill>
                  <a:srgbClr val="FF0000"/>
                </a:solidFill>
              </a:rPr>
              <a:t>System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351338"/>
          </a:xfrm>
        </p:spPr>
        <p:txBody>
          <a:bodyPr/>
          <a:lstStyle/>
          <a:p>
            <a:r>
              <a:rPr lang="en-US" dirty="0"/>
              <a:t>critical aspect of operating systems that ensures efficient use of the computer's memory resources.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controls how memory is allocated and deallocated to processes, which is key to both performance and stability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61" y="3046618"/>
            <a:ext cx="10253739" cy="382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5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29" y="904568"/>
            <a:ext cx="10704871" cy="52723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Why Memory Management is Required?</a:t>
            </a:r>
          </a:p>
          <a:p>
            <a:r>
              <a:rPr lang="en-US" dirty="0"/>
              <a:t>Allocate and de-allocate memory before and after process execution.</a:t>
            </a:r>
          </a:p>
          <a:p>
            <a:r>
              <a:rPr lang="en-US" dirty="0"/>
              <a:t>To keep track of used memory space by processes.</a:t>
            </a:r>
          </a:p>
          <a:p>
            <a:r>
              <a:rPr lang="en-US" dirty="0"/>
              <a:t>To minimize fragmentation issues.</a:t>
            </a:r>
          </a:p>
          <a:p>
            <a:r>
              <a:rPr lang="en-US" dirty="0"/>
              <a:t>To proper utilization of main memory.</a:t>
            </a:r>
          </a:p>
          <a:p>
            <a:r>
              <a:rPr lang="en-US" dirty="0"/>
              <a:t>To maintain data integrity while executing of process.</a:t>
            </a:r>
          </a:p>
        </p:txBody>
      </p:sp>
    </p:spTree>
    <p:extLst>
      <p:ext uri="{BB962C8B-B14F-4D97-AF65-F5344CB8AC3E}">
        <p14:creationId xmlns:p14="http://schemas.microsoft.com/office/powerpoint/2010/main" val="43882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573" y="2194053"/>
            <a:ext cx="10638503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3200" spc="-10" dirty="0">
                <a:latin typeface="Calibri"/>
                <a:cs typeface="Calibri"/>
              </a:rPr>
              <a:t>Protection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required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ensure </a:t>
            </a:r>
            <a:r>
              <a:rPr sz="3200" dirty="0">
                <a:latin typeface="Calibri"/>
                <a:cs typeface="Calibri"/>
              </a:rPr>
              <a:t>correct</a:t>
            </a:r>
            <a:r>
              <a:rPr sz="3200" spc="-1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8232" y="99500"/>
            <a:ext cx="8189346" cy="1414667"/>
          </a:xfrm>
          <a:prstGeom prst="rect">
            <a:avLst/>
          </a:prstGeom>
        </p:spPr>
        <p:txBody>
          <a:bodyPr vert="horz" wrap="square" lIns="0" tIns="140335" rIns="0" bIns="0" rtlCol="0" anchor="ctr">
            <a:spAutoFit/>
          </a:bodyPr>
          <a:lstStyle/>
          <a:p>
            <a:pPr marL="461645" algn="ctr">
              <a:lnSpc>
                <a:spcPct val="100000"/>
              </a:lnSpc>
              <a:spcBef>
                <a:spcPts val="1105"/>
              </a:spcBef>
            </a:pPr>
            <a:r>
              <a:rPr spc="-10" dirty="0">
                <a:solidFill>
                  <a:srgbClr val="FF0000"/>
                </a:solidFill>
              </a:rPr>
              <a:t>Background</a:t>
            </a: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dirty="0">
                <a:solidFill>
                  <a:srgbClr val="FF0000"/>
                </a:solidFill>
              </a:rPr>
              <a:t>Multiple</a:t>
            </a:r>
            <a:r>
              <a:rPr sz="3200" spc="-12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processes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resides</a:t>
            </a:r>
            <a:r>
              <a:rPr sz="3200" spc="-7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in</a:t>
            </a:r>
            <a:r>
              <a:rPr sz="3200" spc="-95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memory</a:t>
            </a:r>
            <a:endParaRPr sz="32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1535" y="3036968"/>
            <a:ext cx="4309401" cy="33736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529" y="3980178"/>
            <a:ext cx="321504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indent="-222250">
              <a:spcBef>
                <a:spcPts val="100"/>
              </a:spcBef>
              <a:buAutoNum type="arabicPeriod"/>
              <a:tabLst>
                <a:tab pos="234950" algn="l"/>
              </a:tabLst>
            </a:pPr>
            <a:r>
              <a:rPr dirty="0">
                <a:latin typeface="Calibri"/>
                <a:cs typeface="Calibri"/>
              </a:rPr>
              <a:t>Protect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OS</a:t>
            </a:r>
            <a:endParaRPr dirty="0">
              <a:latin typeface="Calibri"/>
              <a:cs typeface="Calibri"/>
            </a:endParaRPr>
          </a:p>
          <a:p>
            <a:pPr marL="234950" indent="-222250">
              <a:buAutoNum type="arabicPeriod"/>
              <a:tabLst>
                <a:tab pos="234950" algn="l"/>
              </a:tabLst>
            </a:pPr>
            <a:r>
              <a:rPr dirty="0">
                <a:latin typeface="Calibri"/>
                <a:cs typeface="Calibri"/>
              </a:rPr>
              <a:t>Protect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processes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918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6307" y="214515"/>
            <a:ext cx="498729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Base</a:t>
            </a:r>
            <a:r>
              <a:rPr sz="4000" spc="-7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and</a:t>
            </a:r>
            <a:r>
              <a:rPr sz="4000" spc="-6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Limit</a:t>
            </a:r>
            <a:r>
              <a:rPr sz="4000" spc="-2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Registers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962" y="1248080"/>
            <a:ext cx="11159612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pair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3366FF"/>
                </a:solidFill>
                <a:latin typeface="Calibri"/>
                <a:cs typeface="Calibri"/>
              </a:rPr>
              <a:t>base</a:t>
            </a:r>
            <a:r>
              <a:rPr sz="32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3366FF"/>
                </a:solidFill>
                <a:latin typeface="Calibri"/>
                <a:cs typeface="Calibri"/>
              </a:rPr>
              <a:t>limit</a:t>
            </a:r>
            <a:r>
              <a:rPr sz="32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define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logical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address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space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607" y="2149359"/>
            <a:ext cx="5846180" cy="367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6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2052" y="-274610"/>
            <a:ext cx="9665109" cy="1205893"/>
          </a:xfrm>
          <a:prstGeom prst="rect">
            <a:avLst/>
          </a:prstGeom>
        </p:spPr>
        <p:txBody>
          <a:bodyPr vert="horz" wrap="square" lIns="0" tIns="767511" rIns="0" bIns="0" rtlCol="0" anchor="ctr">
            <a:spAutoFit/>
          </a:bodyPr>
          <a:lstStyle/>
          <a:p>
            <a:pPr marL="533400">
              <a:lnSpc>
                <a:spcPct val="100000"/>
              </a:lnSpc>
              <a:spcBef>
                <a:spcPts val="90"/>
              </a:spcBef>
            </a:pPr>
            <a:r>
              <a:rPr sz="2800" spc="-10" dirty="0">
                <a:solidFill>
                  <a:srgbClr val="FF0000"/>
                </a:solidFill>
              </a:rPr>
              <a:t>Hardware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Address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Protection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with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Base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and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Limit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Registers</a:t>
            </a:r>
            <a:endParaRPr sz="2800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123" y="1307690"/>
            <a:ext cx="7752677" cy="37703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9940" y="5619849"/>
            <a:ext cx="3039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>
                <a:latin typeface="Calibri"/>
                <a:cs typeface="Calibri"/>
              </a:rPr>
              <a:t>OS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loads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 limit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reg.</a:t>
            </a:r>
            <a:endParaRPr>
              <a:latin typeface="Calibri"/>
              <a:cs typeface="Calibri"/>
            </a:endParaRPr>
          </a:p>
          <a:p>
            <a:pPr marL="298450" indent="-285750">
              <a:buFont typeface="Arial"/>
              <a:buChar char="•"/>
              <a:tabLst>
                <a:tab pos="298450" algn="l"/>
              </a:tabLst>
            </a:pPr>
            <a:r>
              <a:rPr dirty="0">
                <a:latin typeface="Calibri"/>
                <a:cs typeface="Calibri"/>
              </a:rPr>
              <a:t>Privileged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instruction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51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4168" y="-22799"/>
            <a:ext cx="5604387" cy="1187427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755139">
              <a:lnSpc>
                <a:spcPct val="100000"/>
              </a:lnSpc>
              <a:spcBef>
                <a:spcPts val="90"/>
              </a:spcBef>
            </a:pPr>
            <a:r>
              <a:rPr sz="4000" dirty="0">
                <a:solidFill>
                  <a:srgbClr val="FF0000"/>
                </a:solidFill>
              </a:rPr>
              <a:t>Address</a:t>
            </a:r>
            <a:r>
              <a:rPr sz="4000" spc="-204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Binding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0439" y="1288794"/>
            <a:ext cx="11336593" cy="439350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6870" indent="-344170">
              <a:spcBef>
                <a:spcPts val="819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resides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memory</a:t>
            </a:r>
            <a:endParaRPr sz="3000" dirty="0">
              <a:latin typeface="Calibri"/>
              <a:cs typeface="Calibri"/>
            </a:endParaRPr>
          </a:p>
          <a:p>
            <a:pPr marL="356870" indent="-344170">
              <a:spcBef>
                <a:spcPts val="72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Associate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element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address</a:t>
            </a:r>
            <a:endParaRPr sz="3000" dirty="0">
              <a:latin typeface="Calibri"/>
              <a:cs typeface="Calibri"/>
            </a:endParaRPr>
          </a:p>
          <a:p>
            <a:pPr marL="356870" marR="435609" indent="-344805">
              <a:spcBef>
                <a:spcPts val="72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30" dirty="0">
                <a:latin typeface="Calibri"/>
                <a:cs typeface="Calibri"/>
              </a:rPr>
              <a:t>Further,</a:t>
            </a:r>
            <a:r>
              <a:rPr sz="3000" spc="-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addresses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represented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different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ways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at </a:t>
            </a:r>
            <a:r>
              <a:rPr sz="3000" spc="-20" dirty="0">
                <a:latin typeface="Calibri"/>
                <a:cs typeface="Calibri"/>
              </a:rPr>
              <a:t>different</a:t>
            </a:r>
            <a:r>
              <a:rPr sz="3000" spc="-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stages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program’s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life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Source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addresses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usually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symbolic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Compiled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addresses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bind</a:t>
            </a:r>
            <a:r>
              <a:rPr sz="26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relocatable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addresses</a:t>
            </a:r>
            <a:endParaRPr sz="2600" dirty="0">
              <a:latin typeface="Calibri"/>
              <a:cs typeface="Calibri"/>
            </a:endParaRPr>
          </a:p>
          <a:p>
            <a:pPr marL="1155065" lvl="2" indent="-227965">
              <a:spcBef>
                <a:spcPts val="57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i.e.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“14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beginning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module”</a:t>
            </a:r>
            <a:endParaRPr sz="2200" dirty="0">
              <a:latin typeface="Calibri"/>
              <a:cs typeface="Calibri"/>
            </a:endParaRPr>
          </a:p>
          <a:p>
            <a:pPr marL="756285" marR="5080" lvl="1" indent="-286385">
              <a:spcBef>
                <a:spcPts val="585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Linker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loader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relocatable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addresses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absolute addresses</a:t>
            </a:r>
            <a:endParaRPr sz="2600" dirty="0">
              <a:latin typeface="Calibri"/>
              <a:cs typeface="Calibri"/>
            </a:endParaRPr>
          </a:p>
          <a:p>
            <a:pPr marL="1155065" lvl="2" indent="-227965">
              <a:spcBef>
                <a:spcPts val="57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i.e.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74014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699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74" y="294878"/>
            <a:ext cx="10515600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3137535" marR="5080" indent="-224028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Multistep</a:t>
            </a:r>
            <a:r>
              <a:rPr sz="4000" spc="-13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Processing</a:t>
            </a:r>
            <a:r>
              <a:rPr sz="4000" spc="-8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of</a:t>
            </a:r>
            <a:r>
              <a:rPr sz="4000" spc="-9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a</a:t>
            </a:r>
            <a:r>
              <a:rPr sz="4000" spc="-95" dirty="0">
                <a:solidFill>
                  <a:srgbClr val="FF0000"/>
                </a:solidFill>
              </a:rPr>
              <a:t> </a:t>
            </a:r>
            <a:r>
              <a:rPr sz="4000" spc="-20" dirty="0">
                <a:solidFill>
                  <a:srgbClr val="FF0000"/>
                </a:solidFill>
              </a:rPr>
              <a:t>User </a:t>
            </a:r>
            <a:r>
              <a:rPr sz="4000" spc="-10" dirty="0">
                <a:solidFill>
                  <a:srgbClr val="FF0000"/>
                </a:solidFill>
              </a:rPr>
              <a:t>Program</a:t>
            </a:r>
            <a:endParaRPr sz="4000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897" y="1228695"/>
            <a:ext cx="10087897" cy="522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2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2889" y="285134"/>
            <a:ext cx="10481187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2697480" marR="5080" indent="-2685415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Binding</a:t>
            </a:r>
            <a:r>
              <a:rPr sz="4000" spc="-12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of</a:t>
            </a:r>
            <a:r>
              <a:rPr sz="4000" spc="-4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Instructions</a:t>
            </a:r>
            <a:r>
              <a:rPr sz="4000" spc="-9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and</a:t>
            </a:r>
            <a:r>
              <a:rPr sz="4000" spc="-8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Data</a:t>
            </a:r>
            <a:r>
              <a:rPr sz="4000" spc="-85" dirty="0">
                <a:solidFill>
                  <a:srgbClr val="FF0000"/>
                </a:solidFill>
              </a:rPr>
              <a:t> </a:t>
            </a:r>
            <a:r>
              <a:rPr sz="4000" spc="-25" dirty="0">
                <a:solidFill>
                  <a:srgbClr val="FF0000"/>
                </a:solidFill>
              </a:rPr>
              <a:t>to </a:t>
            </a:r>
            <a:r>
              <a:rPr sz="4000" spc="-10" dirty="0">
                <a:solidFill>
                  <a:srgbClr val="FF0000"/>
                </a:solidFill>
              </a:rPr>
              <a:t>Memory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795" y="1140541"/>
            <a:ext cx="11562734" cy="44121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6870" marR="5080" indent="-344805">
              <a:spcBef>
                <a:spcPts val="50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Address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binding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instructions</a:t>
            </a:r>
            <a:r>
              <a:rPr sz="3000" spc="-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memory </a:t>
            </a:r>
            <a:r>
              <a:rPr sz="3000" dirty="0">
                <a:latin typeface="Calibri"/>
                <a:cs typeface="Calibri"/>
              </a:rPr>
              <a:t>addresses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happen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three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different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stages</a:t>
            </a:r>
            <a:endParaRPr sz="3000" dirty="0">
              <a:latin typeface="Calibri"/>
              <a:cs typeface="Calibri"/>
            </a:endParaRPr>
          </a:p>
          <a:p>
            <a:pPr marL="756285" marR="101600" lvl="1" indent="-286385">
              <a:spcBef>
                <a:spcPts val="635"/>
              </a:spcBef>
              <a:buFont typeface="Arial"/>
              <a:buChar char="–"/>
              <a:tabLst>
                <a:tab pos="756285" algn="l"/>
                <a:tab pos="282194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Compile</a:t>
            </a:r>
            <a:r>
              <a:rPr sz="26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2600" dirty="0">
                <a:latin typeface="Calibri"/>
                <a:cs typeface="Calibri"/>
              </a:rPr>
              <a:t>	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priori, </a:t>
            </a:r>
            <a:r>
              <a:rPr sz="2600" b="1" dirty="0">
                <a:solidFill>
                  <a:srgbClr val="3366FF"/>
                </a:solidFill>
                <a:latin typeface="Calibri"/>
                <a:cs typeface="Calibri"/>
              </a:rPr>
              <a:t>absolute</a:t>
            </a:r>
            <a:r>
              <a:rPr sz="2600" b="1" spc="-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66FF"/>
                </a:solidFill>
                <a:latin typeface="Calibri"/>
                <a:cs typeface="Calibri"/>
              </a:rPr>
              <a:t>code</a:t>
            </a:r>
            <a:r>
              <a:rPr sz="2600"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generated;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recompile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if </a:t>
            </a:r>
            <a:r>
              <a:rPr sz="2600" dirty="0">
                <a:latin typeface="Calibri"/>
                <a:cs typeface="Calibri"/>
              </a:rPr>
              <a:t>starting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changes</a:t>
            </a:r>
            <a:endParaRPr sz="2600" dirty="0">
              <a:latin typeface="Calibri"/>
              <a:cs typeface="Calibri"/>
            </a:endParaRPr>
          </a:p>
          <a:p>
            <a:pPr marL="756285" marR="278765" lvl="1" indent="-286385">
              <a:spcBef>
                <a:spcPts val="615"/>
              </a:spcBef>
              <a:buFont typeface="Arial"/>
              <a:buChar char="–"/>
              <a:tabLst>
                <a:tab pos="756285" algn="l"/>
                <a:tab pos="2355850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Load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Calibri"/>
                <a:cs typeface="Calibri"/>
              </a:rPr>
              <a:t>time:</a:t>
            </a:r>
            <a:r>
              <a:rPr sz="2600" dirty="0">
                <a:latin typeface="Calibri"/>
                <a:cs typeface="Calibri"/>
              </a:rPr>
              <a:t>	Must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generate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366FF"/>
                </a:solidFill>
                <a:latin typeface="Calibri"/>
                <a:cs typeface="Calibri"/>
              </a:rPr>
              <a:t>relocatable</a:t>
            </a:r>
            <a:r>
              <a:rPr sz="2600" b="1" spc="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66FF"/>
                </a:solidFill>
                <a:latin typeface="Calibri"/>
                <a:cs typeface="Calibri"/>
              </a:rPr>
              <a:t>code</a:t>
            </a:r>
            <a:r>
              <a:rPr sz="26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memory </a:t>
            </a:r>
            <a:r>
              <a:rPr sz="2600" dirty="0">
                <a:latin typeface="Calibri"/>
                <a:cs typeface="Calibri"/>
              </a:rPr>
              <a:t>location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compile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endParaRPr sz="2600" dirty="0">
              <a:latin typeface="Calibri"/>
              <a:cs typeface="Calibri"/>
            </a:endParaRPr>
          </a:p>
          <a:p>
            <a:pPr marL="756285" marR="278765" lvl="1" indent="-286385">
              <a:spcBef>
                <a:spcPts val="620"/>
              </a:spcBef>
              <a:buFont typeface="Arial"/>
              <a:buChar char="–"/>
              <a:tabLst>
                <a:tab pos="756285" algn="l"/>
                <a:tab pos="3032125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Execution</a:t>
            </a:r>
            <a:r>
              <a:rPr sz="2600" b="1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600" spc="-20" dirty="0">
                <a:latin typeface="Calibri"/>
                <a:cs typeface="Calibri"/>
              </a:rPr>
              <a:t>:</a:t>
            </a:r>
            <a:r>
              <a:rPr sz="2600" dirty="0">
                <a:latin typeface="Calibri"/>
                <a:cs typeface="Calibri"/>
              </a:rPr>
              <a:t>	If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moved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its </a:t>
            </a:r>
            <a:r>
              <a:rPr sz="2600" spc="-20" dirty="0">
                <a:latin typeface="Calibri"/>
                <a:cs typeface="Calibri"/>
              </a:rPr>
              <a:t>execution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segment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another</a:t>
            </a:r>
            <a:endParaRPr sz="2600" dirty="0">
              <a:latin typeface="Calibri"/>
              <a:cs typeface="Calibri"/>
            </a:endParaRPr>
          </a:p>
          <a:p>
            <a:pPr marL="1155065" lvl="2" indent="-227965">
              <a:spcBef>
                <a:spcPts val="26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Binding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delayed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until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1155065" marR="245745" lvl="2" indent="-228600">
              <a:spcBef>
                <a:spcPts val="56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Need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hardware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support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limit registers)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491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258" y="313099"/>
            <a:ext cx="10146889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Logical</a:t>
            </a:r>
            <a:r>
              <a:rPr sz="4000" spc="-14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vs.</a:t>
            </a:r>
            <a:r>
              <a:rPr sz="4000" spc="-6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Physical</a:t>
            </a:r>
            <a:r>
              <a:rPr sz="4000" spc="-140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Address</a:t>
            </a:r>
            <a:r>
              <a:rPr sz="4000" spc="-12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Space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6245" y="1325232"/>
            <a:ext cx="9901084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Logical</a:t>
            </a:r>
            <a:r>
              <a:rPr sz="2400" b="1" spc="-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address</a:t>
            </a:r>
            <a:r>
              <a:rPr sz="2400" b="1" spc="-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generated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 smtClean="0">
                <a:latin typeface="Calibri"/>
                <a:cs typeface="Calibri"/>
              </a:rPr>
              <a:t>to</a:t>
            </a:r>
            <a:r>
              <a:rPr lang="en-IN" sz="2400" spc="-25" dirty="0" smtClean="0">
                <a:latin typeface="Calibri"/>
                <a:cs typeface="Calibri"/>
              </a:rPr>
              <a:t> </a:t>
            </a:r>
            <a:r>
              <a:rPr lang="en-IN" sz="2400" dirty="0">
                <a:cs typeface="Calibri"/>
              </a:rPr>
              <a:t>as</a:t>
            </a:r>
            <a:r>
              <a:rPr lang="en-IN" sz="2400" spc="-70" dirty="0">
                <a:cs typeface="Calibri"/>
              </a:rPr>
              <a:t> </a:t>
            </a:r>
            <a:r>
              <a:rPr lang="en-IN" sz="2400" b="1" dirty="0">
                <a:solidFill>
                  <a:srgbClr val="3366FF"/>
                </a:solidFill>
                <a:cs typeface="Calibri"/>
              </a:rPr>
              <a:t>virtual</a:t>
            </a:r>
            <a:r>
              <a:rPr lang="en-IN" sz="2400" b="1" spc="-30" dirty="0">
                <a:solidFill>
                  <a:srgbClr val="3366FF"/>
                </a:solidFill>
                <a:cs typeface="Calibri"/>
              </a:rPr>
              <a:t> </a:t>
            </a:r>
            <a:r>
              <a:rPr lang="en-IN" sz="2400" b="1" spc="-10" dirty="0">
                <a:solidFill>
                  <a:srgbClr val="3366FF"/>
                </a:solidFill>
                <a:cs typeface="Calibri"/>
              </a:rPr>
              <a:t>address</a:t>
            </a:r>
            <a:endParaRPr lang="en-IN" sz="2400" dirty="0">
              <a:cs typeface="Calibri"/>
            </a:endParaRPr>
          </a:p>
          <a:p>
            <a:pPr marL="12700">
              <a:spcBef>
                <a:spcPts val="10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942" y="2349360"/>
            <a:ext cx="11090787" cy="3763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spcBef>
                <a:spcPts val="100"/>
              </a:spcBef>
            </a:pP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Physical</a:t>
            </a:r>
            <a:r>
              <a:rPr sz="24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address</a:t>
            </a:r>
            <a:r>
              <a:rPr sz="24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unit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565"/>
              </a:spcBef>
            </a:pPr>
            <a:endParaRPr sz="2400" dirty="0">
              <a:latin typeface="Calibri"/>
              <a:cs typeface="Calibri"/>
            </a:endParaRPr>
          </a:p>
          <a:p>
            <a:pPr marL="356870" marR="193040" indent="-344805">
              <a:lnSpc>
                <a:spcPts val="2590"/>
              </a:lnSpc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Logical</a:t>
            </a:r>
            <a:r>
              <a:rPr sz="2700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700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physical</a:t>
            </a:r>
            <a:r>
              <a:rPr sz="27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addresses</a:t>
            </a:r>
            <a:r>
              <a:rPr sz="2700" spc="-1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7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7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r>
              <a:rPr sz="27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sz="2700" spc="-10" dirty="0">
                <a:solidFill>
                  <a:srgbClr val="C00000"/>
                </a:solidFill>
                <a:latin typeface="Calibri"/>
                <a:cs typeface="Calibri"/>
              </a:rPr>
              <a:t>compile-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7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7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load-time</a:t>
            </a:r>
            <a:r>
              <a:rPr sz="27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libri"/>
                <a:cs typeface="Calibri"/>
              </a:rPr>
              <a:t>address-binding schemes;</a:t>
            </a:r>
            <a:endParaRPr sz="2700" dirty="0">
              <a:latin typeface="Calibri"/>
              <a:cs typeface="Calibri"/>
            </a:endParaRPr>
          </a:p>
          <a:p>
            <a:pPr marL="356870" marR="147320" indent="-344805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logical</a:t>
            </a:r>
            <a:r>
              <a:rPr sz="2700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(virtual)</a:t>
            </a:r>
            <a:r>
              <a:rPr sz="27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7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libri"/>
                <a:cs typeface="Calibri"/>
              </a:rPr>
              <a:t>physical</a:t>
            </a:r>
            <a:r>
              <a:rPr sz="2700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addresses</a:t>
            </a:r>
            <a:r>
              <a:rPr sz="2700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differ</a:t>
            </a:r>
            <a:r>
              <a:rPr sz="27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sz="2700" spc="-20" dirty="0">
                <a:solidFill>
                  <a:srgbClr val="C00000"/>
                </a:solidFill>
                <a:latin typeface="Calibri"/>
                <a:cs typeface="Calibri"/>
              </a:rPr>
              <a:t>execution-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sz="2700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libri"/>
                <a:cs typeface="Calibri"/>
              </a:rPr>
              <a:t>address-</a:t>
            </a:r>
            <a:r>
              <a:rPr sz="2700" dirty="0">
                <a:solidFill>
                  <a:srgbClr val="C00000"/>
                </a:solidFill>
                <a:latin typeface="Calibri"/>
                <a:cs typeface="Calibri"/>
              </a:rPr>
              <a:t>binding</a:t>
            </a:r>
            <a:r>
              <a:rPr sz="27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libri"/>
                <a:cs typeface="Calibri"/>
              </a:rPr>
              <a:t>scheme</a:t>
            </a:r>
            <a:endParaRPr sz="2700" dirty="0">
              <a:latin typeface="Calibri"/>
              <a:cs typeface="Calibri"/>
            </a:endParaRPr>
          </a:p>
          <a:p>
            <a:pPr marL="356870" marR="513715" indent="-344805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Logical</a:t>
            </a:r>
            <a:r>
              <a:rPr sz="2700" b="1" spc="-9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address</a:t>
            </a:r>
            <a:r>
              <a:rPr sz="27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space</a:t>
            </a:r>
            <a:r>
              <a:rPr sz="2700" b="1" spc="-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logical addresses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generated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endParaRPr sz="2700" dirty="0">
              <a:latin typeface="Calibri"/>
              <a:cs typeface="Calibri"/>
            </a:endParaRPr>
          </a:p>
          <a:p>
            <a:pPr marL="356870" marR="130810" indent="-344170">
              <a:lnSpc>
                <a:spcPct val="79900"/>
              </a:lnSpc>
              <a:spcBef>
                <a:spcPts val="675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Physical</a:t>
            </a:r>
            <a:r>
              <a:rPr sz="27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address</a:t>
            </a:r>
            <a:r>
              <a:rPr sz="27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space</a:t>
            </a:r>
            <a:r>
              <a:rPr sz="27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physical addresses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generated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771" y="1754672"/>
            <a:ext cx="838098" cy="559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20001" y="1831849"/>
            <a:ext cx="960755" cy="358431"/>
          </a:xfrm>
          <a:prstGeom prst="rect">
            <a:avLst/>
          </a:prstGeom>
          <a:ln w="25400">
            <a:solidFill>
              <a:srgbClr val="F79646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319405">
              <a:spcBef>
                <a:spcPts val="635"/>
              </a:spcBef>
            </a:pPr>
            <a:r>
              <a:rPr spc="-25" dirty="0">
                <a:latin typeface="Calibri"/>
                <a:cs typeface="Calibri"/>
              </a:rPr>
              <a:t>CPU</a:t>
            </a:r>
            <a:endParaRPr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74101" y="1869733"/>
            <a:ext cx="643255" cy="323215"/>
            <a:chOff x="7150100" y="1869732"/>
            <a:chExt cx="643255" cy="323215"/>
          </a:xfrm>
        </p:grpSpPr>
        <p:sp>
          <p:nvSpPr>
            <p:cNvPr id="9" name="object 9"/>
            <p:cNvSpPr/>
            <p:nvPr/>
          </p:nvSpPr>
          <p:spPr>
            <a:xfrm>
              <a:off x="7162800" y="1882432"/>
              <a:ext cx="617855" cy="297815"/>
            </a:xfrm>
            <a:custGeom>
              <a:avLst/>
              <a:gdLst/>
              <a:ahLst/>
              <a:cxnLst/>
              <a:rect l="l" t="t" r="r" b="b"/>
              <a:pathLst>
                <a:path w="617854" h="297814">
                  <a:moveTo>
                    <a:pt x="468376" y="0"/>
                  </a:moveTo>
                  <a:lnTo>
                    <a:pt x="468376" y="74447"/>
                  </a:lnTo>
                  <a:lnTo>
                    <a:pt x="0" y="74447"/>
                  </a:lnTo>
                  <a:lnTo>
                    <a:pt x="0" y="223354"/>
                  </a:lnTo>
                  <a:lnTo>
                    <a:pt x="468376" y="223354"/>
                  </a:lnTo>
                  <a:lnTo>
                    <a:pt x="468376" y="297802"/>
                  </a:lnTo>
                  <a:lnTo>
                    <a:pt x="617270" y="148894"/>
                  </a:lnTo>
                  <a:lnTo>
                    <a:pt x="468376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62800" y="1882432"/>
              <a:ext cx="617855" cy="297815"/>
            </a:xfrm>
            <a:custGeom>
              <a:avLst/>
              <a:gdLst/>
              <a:ahLst/>
              <a:cxnLst/>
              <a:rect l="l" t="t" r="r" b="b"/>
              <a:pathLst>
                <a:path w="617854" h="297814">
                  <a:moveTo>
                    <a:pt x="0" y="74447"/>
                  </a:moveTo>
                  <a:lnTo>
                    <a:pt x="468376" y="74447"/>
                  </a:lnTo>
                  <a:lnTo>
                    <a:pt x="468376" y="0"/>
                  </a:lnTo>
                  <a:lnTo>
                    <a:pt x="617270" y="148894"/>
                  </a:lnTo>
                  <a:lnTo>
                    <a:pt x="468376" y="297802"/>
                  </a:lnTo>
                  <a:lnTo>
                    <a:pt x="468376" y="223354"/>
                  </a:lnTo>
                  <a:lnTo>
                    <a:pt x="0" y="223354"/>
                  </a:lnTo>
                  <a:lnTo>
                    <a:pt x="0" y="74447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5756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232" y="195717"/>
            <a:ext cx="11756923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384175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0000"/>
                </a:solidFill>
              </a:rPr>
              <a:t>Memory-</a:t>
            </a:r>
            <a:r>
              <a:rPr sz="4000" dirty="0">
                <a:solidFill>
                  <a:srgbClr val="FF0000"/>
                </a:solidFill>
              </a:rPr>
              <a:t>Management</a:t>
            </a:r>
            <a:r>
              <a:rPr sz="4000" spc="-114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Unit</a:t>
            </a:r>
            <a:r>
              <a:rPr sz="4000" spc="-60" dirty="0">
                <a:solidFill>
                  <a:srgbClr val="FF0000"/>
                </a:solidFill>
              </a:rPr>
              <a:t> </a:t>
            </a:r>
            <a:r>
              <a:rPr sz="4000" spc="-20" dirty="0">
                <a:solidFill>
                  <a:srgbClr val="FF0000"/>
                </a:solidFill>
              </a:rPr>
              <a:t>(</a:t>
            </a:r>
            <a:r>
              <a:rPr sz="2200" spc="-20" dirty="0">
                <a:solidFill>
                  <a:srgbClr val="FF0000"/>
                </a:solidFill>
              </a:rPr>
              <a:t>MMU</a:t>
            </a:r>
            <a:r>
              <a:rPr sz="4000" spc="-20" dirty="0">
                <a:solidFill>
                  <a:srgbClr val="FF0000"/>
                </a:solidFill>
              </a:rPr>
              <a:t>)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135" y="1400154"/>
            <a:ext cx="11759381" cy="43710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spcBef>
                <a:spcPts val="105"/>
              </a:spcBef>
              <a:buFont typeface="Arial"/>
              <a:buChar char="•"/>
              <a:tabLst>
                <a:tab pos="356870" algn="l"/>
              </a:tabLst>
            </a:pPr>
            <a:r>
              <a:rPr sz="2200" spc="-10" dirty="0">
                <a:latin typeface="Calibri"/>
                <a:cs typeface="Calibri"/>
              </a:rPr>
              <a:t>Hardware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virtual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physical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address</a:t>
            </a:r>
            <a:endParaRPr sz="2200" dirty="0">
              <a:latin typeface="Calibri"/>
              <a:cs typeface="Calibri"/>
            </a:endParaRPr>
          </a:p>
          <a:p>
            <a:pPr marL="356870" indent="-344170">
              <a:spcBef>
                <a:spcPts val="2640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Many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possible</a:t>
            </a:r>
            <a:endParaRPr sz="2200" dirty="0">
              <a:latin typeface="Calibri"/>
              <a:cs typeface="Calibri"/>
            </a:endParaRPr>
          </a:p>
          <a:p>
            <a:pPr marL="356870" marR="59690" indent="-344805">
              <a:lnSpc>
                <a:spcPts val="2110"/>
              </a:lnSpc>
              <a:spcBef>
                <a:spcPts val="2625"/>
              </a:spcBef>
              <a:buFont typeface="Arial"/>
              <a:buChar char="•"/>
              <a:tabLst>
                <a:tab pos="356870" algn="l"/>
              </a:tabLst>
            </a:pPr>
            <a:r>
              <a:rPr sz="2200" spc="-1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consider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simple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scheme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relocation</a:t>
            </a:r>
            <a:r>
              <a:rPr sz="2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register</a:t>
            </a:r>
            <a:r>
              <a:rPr sz="2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user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30"/>
              </a:spcBef>
              <a:buFont typeface="Arial"/>
              <a:buChar char="–"/>
              <a:tabLst>
                <a:tab pos="756285" algn="l"/>
              </a:tabLst>
            </a:pPr>
            <a:r>
              <a:rPr sz="2000" b="1" spc="-10" dirty="0">
                <a:solidFill>
                  <a:srgbClr val="0000FF"/>
                </a:solidFill>
                <a:latin typeface="Calibri"/>
                <a:cs typeface="Calibri"/>
              </a:rPr>
              <a:t>relocation</a:t>
            </a:r>
            <a:r>
              <a:rPr sz="2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alibri"/>
                <a:cs typeface="Calibri"/>
              </a:rPr>
              <a:t>register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000" spc="-25" dirty="0">
                <a:latin typeface="Calibri"/>
                <a:cs typeface="Calibri"/>
              </a:rPr>
              <a:t>MS-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80x86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relocation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registers</a:t>
            </a:r>
            <a:endParaRPr sz="2000" dirty="0">
              <a:latin typeface="Calibri"/>
              <a:cs typeface="Calibri"/>
            </a:endParaRPr>
          </a:p>
          <a:p>
            <a:pPr lvl="1">
              <a:spcBef>
                <a:spcPts val="700"/>
              </a:spcBef>
              <a:buFont typeface="Arial"/>
              <a:buChar char="–"/>
            </a:pPr>
            <a:endParaRPr sz="2000" dirty="0">
              <a:latin typeface="Calibri"/>
              <a:cs typeface="Calibri"/>
            </a:endParaRPr>
          </a:p>
          <a:p>
            <a:pPr marL="356870" marR="701040" indent="-344805">
              <a:lnSpc>
                <a:spcPts val="2110"/>
              </a:lnSpc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deals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logical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addresses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max);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never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real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physical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R+max)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2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Say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25</a:t>
            </a:r>
            <a:endParaRPr sz="2000" dirty="0">
              <a:latin typeface="Calibri"/>
              <a:cs typeface="Calibri"/>
            </a:endParaRPr>
          </a:p>
          <a:p>
            <a:pPr marL="756285" marR="224790" lvl="1" indent="-287020">
              <a:lnSpc>
                <a:spcPts val="1920"/>
              </a:lnSpc>
              <a:spcBef>
                <a:spcPts val="465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20" dirty="0">
                <a:latin typeface="Calibri"/>
                <a:cs typeface="Calibri"/>
              </a:rPr>
              <a:t>Execution-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binding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reference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location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bound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addresses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23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361" y="437444"/>
            <a:ext cx="9065342" cy="39690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67055" marR="5080" indent="-55499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0000"/>
                </a:solidFill>
              </a:rPr>
              <a:t>Dynamic</a:t>
            </a:r>
            <a:r>
              <a:rPr sz="2500" spc="-70" dirty="0">
                <a:solidFill>
                  <a:srgbClr val="FF0000"/>
                </a:solidFill>
              </a:rPr>
              <a:t> </a:t>
            </a:r>
            <a:r>
              <a:rPr sz="2500" spc="-10" dirty="0">
                <a:solidFill>
                  <a:srgbClr val="FF0000"/>
                </a:solidFill>
              </a:rPr>
              <a:t>relocation</a:t>
            </a:r>
            <a:r>
              <a:rPr sz="2500" spc="-55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using</a:t>
            </a:r>
            <a:r>
              <a:rPr sz="2500" spc="-90" dirty="0">
                <a:solidFill>
                  <a:srgbClr val="FF0000"/>
                </a:solidFill>
              </a:rPr>
              <a:t> </a:t>
            </a:r>
            <a:r>
              <a:rPr sz="2500" spc="-50" dirty="0">
                <a:solidFill>
                  <a:srgbClr val="FF0000"/>
                </a:solidFill>
              </a:rPr>
              <a:t>a </a:t>
            </a:r>
            <a:r>
              <a:rPr sz="2500" spc="-10" dirty="0">
                <a:solidFill>
                  <a:srgbClr val="FF0000"/>
                </a:solidFill>
              </a:rPr>
              <a:t>relocation</a:t>
            </a:r>
            <a:r>
              <a:rPr sz="2500" spc="-70" dirty="0">
                <a:solidFill>
                  <a:srgbClr val="FF0000"/>
                </a:solidFill>
              </a:rPr>
              <a:t> </a:t>
            </a:r>
            <a:r>
              <a:rPr sz="2500" spc="-10" dirty="0">
                <a:solidFill>
                  <a:srgbClr val="FF0000"/>
                </a:solidFill>
              </a:rPr>
              <a:t>register</a:t>
            </a:r>
            <a:endParaRPr sz="2500" dirty="0">
              <a:solidFill>
                <a:srgbClr val="FF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3160" y="1478293"/>
            <a:ext cx="5947410" cy="3936365"/>
            <a:chOff x="1819160" y="1478292"/>
            <a:chExt cx="5947410" cy="3936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160" y="1478292"/>
              <a:ext cx="5358320" cy="3936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72200" y="16764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762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762000" y="11430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72200" y="16764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0"/>
                  </a:lnTo>
                  <a:lnTo>
                    <a:pt x="76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1800" y="2057400"/>
              <a:ext cx="978535" cy="188595"/>
            </a:xfrm>
            <a:custGeom>
              <a:avLst/>
              <a:gdLst/>
              <a:ahLst/>
              <a:cxnLst/>
              <a:rect l="l" t="t" r="r" b="b"/>
              <a:pathLst>
                <a:path w="978534" h="188594">
                  <a:moveTo>
                    <a:pt x="0" y="0"/>
                  </a:moveTo>
                  <a:lnTo>
                    <a:pt x="978255" y="188125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76832" y="2187486"/>
              <a:ext cx="83820" cy="87630"/>
            </a:xfrm>
            <a:custGeom>
              <a:avLst/>
              <a:gdLst/>
              <a:ahLst/>
              <a:cxnLst/>
              <a:rect l="l" t="t" r="r" b="b"/>
              <a:pathLst>
                <a:path w="83820" h="87630">
                  <a:moveTo>
                    <a:pt x="16789" y="0"/>
                  </a:moveTo>
                  <a:lnTo>
                    <a:pt x="83223" y="58039"/>
                  </a:lnTo>
                  <a:lnTo>
                    <a:pt x="0" y="87299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0200" y="1676400"/>
              <a:ext cx="597535" cy="0"/>
            </a:xfrm>
            <a:custGeom>
              <a:avLst/>
              <a:gdLst/>
              <a:ahLst/>
              <a:cxnLst/>
              <a:rect l="l" t="t" r="r" b="b"/>
              <a:pathLst>
                <a:path w="597535">
                  <a:moveTo>
                    <a:pt x="0" y="0"/>
                  </a:moveTo>
                  <a:lnTo>
                    <a:pt x="597027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31027" y="163195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46540" y="2379979"/>
            <a:ext cx="1102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20" dirty="0">
                <a:latin typeface="Calibri"/>
                <a:cs typeface="Calibri"/>
              </a:rPr>
              <a:t>Relocatable code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8007" y="1492961"/>
            <a:ext cx="605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14000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004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8922" y="3056633"/>
            <a:ext cx="3047949" cy="33469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22032" y="1135315"/>
            <a:ext cx="625856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3200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processes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resides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3048000" y="2233828"/>
            <a:ext cx="9144000" cy="686200"/>
          </a:xfrm>
          <a:prstGeom prst="rect">
            <a:avLst/>
          </a:prstGeom>
        </p:spPr>
        <p:txBody>
          <a:bodyPr vert="horz" wrap="square" lIns="0" tIns="13092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Contiguous</a:t>
            </a:r>
            <a:r>
              <a:rPr sz="3600" spc="-175" dirty="0"/>
              <a:t> </a:t>
            </a:r>
            <a:r>
              <a:rPr sz="3600" spc="-10" dirty="0"/>
              <a:t>Allocation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2165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924" y="559510"/>
            <a:ext cx="7865805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524635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Contiguous</a:t>
            </a:r>
            <a:r>
              <a:rPr sz="4000" spc="-15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Allocation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924" y="1789314"/>
            <a:ext cx="9891250" cy="24968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688975" indent="-344805"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Main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usually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divided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two </a:t>
            </a:r>
            <a:r>
              <a:rPr sz="3200" spc="-10" dirty="0">
                <a:latin typeface="Calibri"/>
                <a:cs typeface="Calibri"/>
              </a:rPr>
              <a:t>partitions:</a:t>
            </a:r>
            <a:endParaRPr sz="3200" dirty="0">
              <a:latin typeface="Calibri"/>
              <a:cs typeface="Calibri"/>
            </a:endParaRPr>
          </a:p>
          <a:p>
            <a:pPr marL="755650" marR="5080" lvl="1" indent="-286385"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Resident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usually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low </a:t>
            </a:r>
            <a:r>
              <a:rPr sz="2800" spc="-10" dirty="0">
                <a:latin typeface="Calibri"/>
                <a:cs typeface="Calibri"/>
              </a:rPr>
              <a:t>memory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User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memory</a:t>
            </a:r>
            <a:endParaRPr sz="2800" dirty="0">
              <a:latin typeface="Calibri"/>
              <a:cs typeface="Calibri"/>
            </a:endParaRPr>
          </a:p>
          <a:p>
            <a:pPr marL="755650" marR="290830" lvl="1" indent="-286385"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single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contiguous </a:t>
            </a:r>
            <a:r>
              <a:rPr sz="2800" b="1" dirty="0">
                <a:latin typeface="Calibri"/>
                <a:cs typeface="Calibri"/>
              </a:rPr>
              <a:t>section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memory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405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8063" y="214515"/>
            <a:ext cx="604901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Contiguous</a:t>
            </a:r>
            <a:r>
              <a:rPr sz="4000" spc="-170" dirty="0"/>
              <a:t> </a:t>
            </a:r>
            <a:r>
              <a:rPr sz="4000" dirty="0">
                <a:solidFill>
                  <a:srgbClr val="FF0000"/>
                </a:solidFill>
              </a:rPr>
              <a:t>Allocation</a:t>
            </a:r>
            <a:r>
              <a:rPr sz="4000" spc="-150" dirty="0"/>
              <a:t> </a:t>
            </a:r>
            <a:r>
              <a:rPr sz="4000" spc="-10" dirty="0"/>
              <a:t>(</a:t>
            </a:r>
            <a:r>
              <a:rPr sz="4000" spc="-10" dirty="0">
                <a:solidFill>
                  <a:srgbClr val="FF0000"/>
                </a:solidFill>
              </a:rPr>
              <a:t>Cont</a:t>
            </a:r>
            <a:r>
              <a:rPr sz="4000" spc="-10" dirty="0"/>
              <a:t>.)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29265" y="1097886"/>
            <a:ext cx="9891252" cy="272702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170">
              <a:spcBef>
                <a:spcPts val="484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Multiple-</a:t>
            </a:r>
            <a:r>
              <a:rPr sz="3000" spc="-10" dirty="0">
                <a:latin typeface="Calibri"/>
                <a:cs typeface="Calibri"/>
              </a:rPr>
              <a:t>partition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allocation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33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Divide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several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Fixed</a:t>
            </a:r>
            <a:r>
              <a:rPr sz="2600" b="1" spc="-11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size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partition</a:t>
            </a:r>
            <a:endParaRPr sz="2600" dirty="0">
              <a:latin typeface="Calibri"/>
              <a:cs typeface="Calibri"/>
            </a:endParaRPr>
          </a:p>
          <a:p>
            <a:pPr marL="755650" lvl="1" indent="-286385">
              <a:spcBef>
                <a:spcPts val="31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stores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endParaRPr sz="2600" dirty="0">
              <a:latin typeface="Calibri"/>
              <a:cs typeface="Calibri"/>
            </a:endParaRPr>
          </a:p>
          <a:p>
            <a:pPr marL="755650" marR="5080" lvl="1" indent="-286385">
              <a:lnSpc>
                <a:spcPts val="2810"/>
              </a:lnSpc>
              <a:spcBef>
                <a:spcPts val="665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Degree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multiprogramming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partitions</a:t>
            </a:r>
            <a:endParaRPr sz="2600" dirty="0">
              <a:latin typeface="Calibri"/>
              <a:cs typeface="Calibri"/>
            </a:endParaRPr>
          </a:p>
          <a:p>
            <a:pPr marL="755650" lvl="1" indent="-286385">
              <a:spcBef>
                <a:spcPts val="27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free,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load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job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queue</a:t>
            </a:r>
            <a:endParaRPr sz="2600" dirty="0">
              <a:latin typeface="Calibri"/>
              <a:cs typeface="Calibri"/>
            </a:endParaRPr>
          </a:p>
          <a:p>
            <a:pPr marL="755650" lvl="1" indent="-286385">
              <a:spcBef>
                <a:spcPts val="31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MFT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(IBM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OS/360)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87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8063" y="214515"/>
            <a:ext cx="604901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Contiguous</a:t>
            </a:r>
            <a:r>
              <a:rPr sz="4000" spc="-170" dirty="0"/>
              <a:t> </a:t>
            </a:r>
            <a:r>
              <a:rPr sz="4000" dirty="0"/>
              <a:t>Allocation</a:t>
            </a:r>
            <a:r>
              <a:rPr sz="4000" spc="-150" dirty="0"/>
              <a:t> </a:t>
            </a:r>
            <a:r>
              <a:rPr sz="4000" spc="-10" dirty="0"/>
              <a:t>(Cont.)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3290" y="1020572"/>
            <a:ext cx="11484078" cy="24551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spcBef>
                <a:spcPts val="105"/>
              </a:spcBef>
              <a:buFont typeface="Arial"/>
              <a:buChar char="•"/>
              <a:tabLst>
                <a:tab pos="356870" algn="l"/>
              </a:tabLst>
            </a:pPr>
            <a:r>
              <a:rPr sz="2200" spc="-10" dirty="0">
                <a:latin typeface="Calibri"/>
                <a:cs typeface="Calibri"/>
              </a:rPr>
              <a:t>Multiple-partition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allocation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b="1" spc="-20" dirty="0">
                <a:latin typeface="Calibri"/>
                <a:cs typeface="Calibri"/>
              </a:rPr>
              <a:t>Variable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partition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scheme</a:t>
            </a:r>
            <a:endParaRPr sz="2000" dirty="0">
              <a:latin typeface="Calibri"/>
              <a:cs typeface="Calibri"/>
            </a:endParaRPr>
          </a:p>
          <a:p>
            <a:pPr marL="756285" marR="610235" lvl="1" indent="-287020">
              <a:lnSpc>
                <a:spcPts val="1920"/>
              </a:lnSpc>
              <a:spcBef>
                <a:spcPts val="46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Hole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size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</a:t>
            </a:r>
            <a:r>
              <a:rPr sz="2000" spc="-10" dirty="0">
                <a:latin typeface="Calibri"/>
                <a:cs typeface="Calibri"/>
              </a:rPr>
              <a:t>scattered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throughout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Keeps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1920"/>
              </a:lnSpc>
              <a:spcBef>
                <a:spcPts val="46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arrives,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 </a:t>
            </a:r>
            <a:r>
              <a:rPr sz="2000" dirty="0">
                <a:latin typeface="Calibri"/>
                <a:cs typeface="Calibri"/>
              </a:rPr>
              <a:t>enough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accommodate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</a:t>
            </a:r>
            <a:endParaRPr sz="2000" dirty="0">
              <a:latin typeface="Calibri"/>
              <a:cs typeface="Calibri"/>
            </a:endParaRPr>
          </a:p>
          <a:p>
            <a:pPr marL="756285" marR="713740" lvl="1" indent="-287020">
              <a:lnSpc>
                <a:spcPts val="192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partition,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adjacent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partitions combined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Operating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maintains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about:</a:t>
            </a:r>
            <a:endParaRPr sz="2000" dirty="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  <a:tabLst>
                <a:tab pos="3237230" algn="l"/>
              </a:tabLst>
            </a:pPr>
            <a:r>
              <a:rPr sz="2000" dirty="0">
                <a:latin typeface="Calibri"/>
                <a:cs typeface="Calibri"/>
              </a:rPr>
              <a:t>a)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partitions</a:t>
            </a:r>
            <a:r>
              <a:rPr sz="2000" dirty="0">
                <a:latin typeface="Calibri"/>
                <a:cs typeface="Calibri"/>
              </a:rPr>
              <a:t>	b)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(hole)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5050" y="4366819"/>
          <a:ext cx="1143000" cy="2132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62585"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2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6921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7355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03850" y="4366819"/>
          <a:ext cx="1143000" cy="2132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62585"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32650" y="4366819"/>
          <a:ext cx="1143000" cy="2132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62585"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61450" y="4366819"/>
          <a:ext cx="1143000" cy="2132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62585"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800600" y="5516168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9400" y="5516168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58200" y="5516168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05000" y="4343401"/>
            <a:ext cx="1143000" cy="33598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57150" algn="ctr">
              <a:spcBef>
                <a:spcPts val="940"/>
              </a:spcBef>
            </a:pPr>
            <a:r>
              <a:rPr sz="1400" spc="-25" dirty="0">
                <a:latin typeface="Arial"/>
                <a:cs typeface="Arial"/>
              </a:rPr>
              <a:t>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5000" y="4724401"/>
            <a:ext cx="1143000" cy="102335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500"/>
              </a:spcBef>
            </a:pPr>
            <a:endParaRPr>
              <a:latin typeface="Times New Roman"/>
              <a:cs typeface="Times New Roman"/>
            </a:endParaRPr>
          </a:p>
          <a:p>
            <a:pPr marL="243840"/>
            <a:r>
              <a:rPr spc="-20" dirty="0">
                <a:latin typeface="Calibri"/>
                <a:cs typeface="Calibri"/>
              </a:rPr>
              <a:t>Hole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649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2190" y="214515"/>
            <a:ext cx="756412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Dynamic</a:t>
            </a:r>
            <a:r>
              <a:rPr sz="4000" spc="-114" dirty="0">
                <a:solidFill>
                  <a:srgbClr val="FF0000"/>
                </a:solidFill>
              </a:rPr>
              <a:t> </a:t>
            </a:r>
            <a:r>
              <a:rPr sz="4000" spc="-30" dirty="0">
                <a:solidFill>
                  <a:srgbClr val="FF0000"/>
                </a:solidFill>
              </a:rPr>
              <a:t>Storage-</a:t>
            </a:r>
            <a:r>
              <a:rPr sz="4000" dirty="0">
                <a:solidFill>
                  <a:srgbClr val="FF0000"/>
                </a:solidFill>
              </a:rPr>
              <a:t>Allocation</a:t>
            </a:r>
            <a:r>
              <a:rPr sz="4000" spc="-114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Problem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710" y="1076832"/>
            <a:ext cx="10815484" cy="2816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5735">
              <a:lnSpc>
                <a:spcPct val="15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How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satisfy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request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size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n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from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list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free</a:t>
            </a:r>
            <a:r>
              <a:rPr spc="-10" dirty="0">
                <a:latin typeface="Arial"/>
                <a:cs typeface="Arial"/>
              </a:rPr>
              <a:t> holes? </a:t>
            </a:r>
            <a:r>
              <a:rPr dirty="0">
                <a:latin typeface="Arial"/>
                <a:cs typeface="Arial"/>
              </a:rPr>
              <a:t>Dynamic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storage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allocation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problem</a:t>
            </a:r>
            <a:endParaRPr dirty="0">
              <a:latin typeface="Arial"/>
              <a:cs typeface="Arial"/>
            </a:endParaRPr>
          </a:p>
          <a:p>
            <a:pPr marL="429259" indent="-344805">
              <a:spcBef>
                <a:spcPts val="760"/>
              </a:spcBef>
              <a:buFont typeface="Arial"/>
              <a:buChar char="•"/>
              <a:tabLst>
                <a:tab pos="429259" algn="l"/>
              </a:tabLst>
            </a:pPr>
            <a:r>
              <a:rPr sz="2000" b="1" spc="-25" dirty="0">
                <a:solidFill>
                  <a:srgbClr val="3366FF"/>
                </a:solidFill>
                <a:latin typeface="Calibri"/>
                <a:cs typeface="Calibri"/>
              </a:rPr>
              <a:t>First-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fit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first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enough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200"/>
              </a:spcBef>
              <a:buClr>
                <a:srgbClr val="3366FF"/>
              </a:buClr>
              <a:buFont typeface="Arial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428625" marR="5080" indent="-344170">
              <a:lnSpc>
                <a:spcPct val="70000"/>
              </a:lnSpc>
              <a:buFont typeface="Arial"/>
              <a:buChar char="•"/>
              <a:tabLst>
                <a:tab pos="428625" algn="l"/>
              </a:tabLst>
            </a:pPr>
            <a:r>
              <a:rPr sz="2000" b="1" spc="-20" dirty="0">
                <a:solidFill>
                  <a:srgbClr val="3366FF"/>
                </a:solidFill>
                <a:latin typeface="Calibri"/>
                <a:cs typeface="Calibri"/>
              </a:rPr>
              <a:t>Best-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fit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smallest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enough;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 </a:t>
            </a:r>
            <a:r>
              <a:rPr sz="2000" dirty="0">
                <a:latin typeface="Calibri"/>
                <a:cs typeface="Calibri"/>
              </a:rPr>
              <a:t>entire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unless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  <a:p>
            <a:pPr marL="828040" lvl="1" indent="-286385">
              <a:lnSpc>
                <a:spcPts val="1930"/>
              </a:lnSpc>
              <a:buFont typeface="Arial"/>
              <a:buChar char="–"/>
              <a:tabLst>
                <a:tab pos="828040" algn="l"/>
              </a:tabLst>
            </a:pPr>
            <a:r>
              <a:rPr dirty="0">
                <a:latin typeface="Calibri"/>
                <a:cs typeface="Calibri"/>
              </a:rPr>
              <a:t>Produces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smallest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leftover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hole</a:t>
            </a:r>
            <a:endParaRPr dirty="0">
              <a:latin typeface="Calibri"/>
              <a:cs typeface="Calibri"/>
            </a:endParaRPr>
          </a:p>
          <a:p>
            <a:pPr marL="428625" indent="-344170">
              <a:lnSpc>
                <a:spcPts val="2285"/>
              </a:lnSpc>
              <a:spcBef>
                <a:spcPts val="1720"/>
              </a:spcBef>
              <a:buFont typeface="Arial"/>
              <a:buChar char="•"/>
              <a:tabLst>
                <a:tab pos="428625" algn="l"/>
              </a:tabLst>
            </a:pPr>
            <a:r>
              <a:rPr sz="2000" b="1" spc="-40" dirty="0">
                <a:solidFill>
                  <a:srgbClr val="3366FF"/>
                </a:solidFill>
                <a:latin typeface="Calibri"/>
                <a:cs typeface="Calibri"/>
              </a:rPr>
              <a:t>Worst-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fit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largest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hole;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list</a:t>
            </a:r>
            <a:endParaRPr sz="2000" dirty="0">
              <a:latin typeface="Calibri"/>
              <a:cs typeface="Calibri"/>
            </a:endParaRPr>
          </a:p>
          <a:p>
            <a:pPr marL="828040" lvl="1" indent="-286385">
              <a:lnSpc>
                <a:spcPts val="2045"/>
              </a:lnSpc>
              <a:buFont typeface="Arial"/>
              <a:buChar char="–"/>
              <a:tabLst>
                <a:tab pos="828040" algn="l"/>
              </a:tabLst>
            </a:pPr>
            <a:r>
              <a:rPr dirty="0">
                <a:latin typeface="Calibri"/>
                <a:cs typeface="Calibri"/>
              </a:rPr>
              <a:t>Produces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largest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leftover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hole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39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2826" y="367853"/>
            <a:ext cx="8612259" cy="39690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917575" marR="5080" indent="-90551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0000"/>
                </a:solidFill>
              </a:rPr>
              <a:t>Hardware</a:t>
            </a:r>
            <a:r>
              <a:rPr sz="2500" spc="-95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Support</a:t>
            </a:r>
            <a:r>
              <a:rPr sz="2500" spc="-114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for</a:t>
            </a:r>
            <a:r>
              <a:rPr sz="2500" spc="-110" dirty="0">
                <a:solidFill>
                  <a:srgbClr val="FF0000"/>
                </a:solidFill>
              </a:rPr>
              <a:t> </a:t>
            </a:r>
            <a:r>
              <a:rPr sz="2500" spc="-10" dirty="0">
                <a:solidFill>
                  <a:srgbClr val="FF0000"/>
                </a:solidFill>
              </a:rPr>
              <a:t>Relocation </a:t>
            </a:r>
            <a:r>
              <a:rPr sz="2500" dirty="0">
                <a:solidFill>
                  <a:srgbClr val="FF0000"/>
                </a:solidFill>
              </a:rPr>
              <a:t>and</a:t>
            </a:r>
            <a:r>
              <a:rPr sz="2500" spc="-70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Limit</a:t>
            </a:r>
            <a:r>
              <a:rPr sz="2500" spc="-50" dirty="0">
                <a:solidFill>
                  <a:srgbClr val="FF0000"/>
                </a:solidFill>
              </a:rPr>
              <a:t> </a:t>
            </a:r>
            <a:r>
              <a:rPr sz="2500" spc="-10" dirty="0">
                <a:solidFill>
                  <a:srgbClr val="FF0000"/>
                </a:solidFill>
              </a:rPr>
              <a:t>Registers</a:t>
            </a:r>
            <a:endParaRPr sz="2500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3304" y="3922535"/>
            <a:ext cx="5142357" cy="25264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8940" y="1358901"/>
            <a:ext cx="852614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8900" indent="-287020"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b="1" spc="-10" dirty="0">
                <a:latin typeface="Calibri"/>
                <a:cs typeface="Calibri"/>
              </a:rPr>
              <a:t>Relocation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registers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protect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other,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changing </a:t>
            </a:r>
            <a:r>
              <a:rPr spc="-25" dirty="0">
                <a:latin typeface="Calibri"/>
                <a:cs typeface="Calibri"/>
              </a:rPr>
              <a:t>operating-</a:t>
            </a:r>
            <a:r>
              <a:rPr dirty="0">
                <a:latin typeface="Calibri"/>
                <a:cs typeface="Calibri"/>
              </a:rPr>
              <a:t>system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data</a:t>
            </a:r>
            <a:endParaRPr>
              <a:latin typeface="Calibri"/>
              <a:cs typeface="Calibri"/>
            </a:endParaRPr>
          </a:p>
          <a:p>
            <a:pPr marL="755650" lvl="1" indent="-285750">
              <a:buFont typeface="Arial"/>
              <a:buChar char="•"/>
              <a:tabLst>
                <a:tab pos="755650" algn="l"/>
              </a:tabLst>
            </a:pPr>
            <a:r>
              <a:rPr spc="-10" dirty="0">
                <a:latin typeface="Calibri"/>
                <a:cs typeface="Calibri"/>
              </a:rPr>
              <a:t>Relocation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register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smallest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physical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</a:t>
            </a:r>
            <a:endParaRPr>
              <a:latin typeface="Calibri"/>
              <a:cs typeface="Calibri"/>
            </a:endParaRPr>
          </a:p>
          <a:p>
            <a:pPr marL="756285" marR="5080" lvl="1" indent="-287020">
              <a:buFont typeface="Arial"/>
              <a:buChar char="•"/>
              <a:tabLst>
                <a:tab pos="756285" algn="l"/>
              </a:tabLst>
            </a:pPr>
            <a:r>
              <a:rPr dirty="0">
                <a:latin typeface="Calibri"/>
                <a:cs typeface="Calibri"/>
              </a:rPr>
              <a:t>Limit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register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contains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range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logical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must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less </a:t>
            </a:r>
            <a:r>
              <a:rPr dirty="0">
                <a:latin typeface="Calibri"/>
                <a:cs typeface="Calibri"/>
              </a:rPr>
              <a:t>than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limit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register</a:t>
            </a:r>
            <a:endParaRPr>
              <a:latin typeface="Calibri"/>
              <a:cs typeface="Calibri"/>
            </a:endParaRPr>
          </a:p>
          <a:p>
            <a:pPr marL="755650" lvl="1" indent="-285750">
              <a:buFont typeface="Arial"/>
              <a:buChar char="•"/>
              <a:tabLst>
                <a:tab pos="755650" algn="l"/>
              </a:tabLst>
            </a:pPr>
            <a:r>
              <a:rPr spc="-10" dirty="0">
                <a:latin typeface="Calibri"/>
                <a:cs typeface="Calibri"/>
              </a:rPr>
              <a:t>Context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switch</a:t>
            </a:r>
            <a:endParaRPr>
              <a:latin typeface="Calibri"/>
              <a:cs typeface="Calibri"/>
            </a:endParaRPr>
          </a:p>
          <a:p>
            <a:pPr marL="755650" lvl="1" indent="-285750">
              <a:buFont typeface="Arial"/>
              <a:buChar char="•"/>
              <a:tabLst>
                <a:tab pos="755650" algn="l"/>
              </a:tabLst>
            </a:pPr>
            <a:r>
              <a:rPr dirty="0">
                <a:latin typeface="Calibri"/>
                <a:cs typeface="Calibri"/>
              </a:rPr>
              <a:t>MMU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maps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logical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dynamically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1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0775" y="214515"/>
            <a:ext cx="3056255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0000"/>
                </a:solidFill>
              </a:rPr>
              <a:t>Fragmentation</a:t>
            </a:r>
            <a:endParaRPr sz="400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935" y="1185114"/>
            <a:ext cx="11257936" cy="46761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170">
              <a:spcBef>
                <a:spcPts val="484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Processes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loaded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removed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memory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33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broken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little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pieces</a:t>
            </a:r>
            <a:endParaRPr sz="2600" dirty="0">
              <a:latin typeface="Calibri"/>
              <a:cs typeface="Calibri"/>
            </a:endParaRPr>
          </a:p>
          <a:p>
            <a:pPr lvl="1">
              <a:spcBef>
                <a:spcPts val="1010"/>
              </a:spcBef>
              <a:buFont typeface="Arial"/>
              <a:buChar char="–"/>
            </a:pPr>
            <a:endParaRPr sz="2600" dirty="0">
              <a:latin typeface="Calibri"/>
              <a:cs typeface="Calibri"/>
            </a:endParaRPr>
          </a:p>
          <a:p>
            <a:pPr marL="356870" marR="5080" indent="-344805">
              <a:lnSpc>
                <a:spcPts val="3240"/>
              </a:lnSpc>
              <a:buFont typeface="Arial"/>
              <a:buChar char="•"/>
              <a:tabLst>
                <a:tab pos="356870" algn="l"/>
              </a:tabLst>
            </a:pPr>
            <a:r>
              <a:rPr sz="3000" b="1" dirty="0">
                <a:solidFill>
                  <a:srgbClr val="3366FF"/>
                </a:solidFill>
                <a:latin typeface="Calibri"/>
                <a:cs typeface="Calibri"/>
              </a:rPr>
              <a:t>External</a:t>
            </a:r>
            <a:r>
              <a:rPr sz="3000"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3366FF"/>
                </a:solidFill>
                <a:latin typeface="Calibri"/>
                <a:cs typeface="Calibri"/>
              </a:rPr>
              <a:t>Fragmentation</a:t>
            </a:r>
            <a:r>
              <a:rPr sz="30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total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space </a:t>
            </a:r>
            <a:r>
              <a:rPr sz="3000" dirty="0">
                <a:latin typeface="Calibri"/>
                <a:cs typeface="Calibri"/>
              </a:rPr>
              <a:t>exists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satisfy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request,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but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contiguous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>
              <a:spcBef>
                <a:spcPts val="1315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356870" marR="790575" indent="-344805">
              <a:lnSpc>
                <a:spcPts val="3240"/>
              </a:lnSpc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First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analysis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reveals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N</a:t>
            </a:r>
            <a:r>
              <a:rPr sz="3000" i="1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blocks allocated,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0.5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N</a:t>
            </a:r>
            <a:r>
              <a:rPr sz="3000" i="1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blocks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lost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fragmentation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28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1/3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unusable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366FF"/>
                </a:solidFill>
                <a:latin typeface="Calibri"/>
                <a:cs typeface="Calibri"/>
              </a:rPr>
              <a:t>50-</a:t>
            </a:r>
            <a:r>
              <a:rPr sz="2600" b="1" dirty="0">
                <a:solidFill>
                  <a:srgbClr val="3366FF"/>
                </a:solidFill>
                <a:latin typeface="Calibri"/>
                <a:cs typeface="Calibri"/>
              </a:rPr>
              <a:t>percent</a:t>
            </a:r>
            <a:r>
              <a:rPr sz="2600" b="1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3366FF"/>
                </a:solidFill>
                <a:latin typeface="Calibri"/>
                <a:cs typeface="Calibri"/>
              </a:rPr>
              <a:t>rule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75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075690">
              <a:lnSpc>
                <a:spcPct val="100000"/>
              </a:lnSpc>
              <a:spcBef>
                <a:spcPts val="90"/>
              </a:spcBef>
            </a:pPr>
            <a:r>
              <a:rPr spc="-25" dirty="0">
                <a:solidFill>
                  <a:srgbClr val="FF0000"/>
                </a:solidFill>
              </a:rPr>
              <a:t>Fragmentation</a:t>
            </a:r>
            <a:r>
              <a:rPr spc="-16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141" y="1513726"/>
            <a:ext cx="11179277" cy="463780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indent="-344170">
              <a:spcBef>
                <a:spcPts val="484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Reduce</a:t>
            </a:r>
            <a:r>
              <a:rPr sz="3000" spc="-1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external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fragmentation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3366FF"/>
                </a:solidFill>
                <a:latin typeface="Calibri"/>
                <a:cs typeface="Calibri"/>
              </a:rPr>
              <a:t>compaction</a:t>
            </a:r>
            <a:endParaRPr sz="3000" dirty="0">
              <a:latin typeface="Calibri"/>
              <a:cs typeface="Calibri"/>
            </a:endParaRPr>
          </a:p>
          <a:p>
            <a:pPr marL="756285" marR="668655" lvl="1" indent="-286385">
              <a:lnSpc>
                <a:spcPts val="2810"/>
              </a:lnSpc>
              <a:spcBef>
                <a:spcPts val="68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Shuffle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contents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memory together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</a:t>
            </a:r>
            <a:endParaRPr sz="2600" dirty="0">
              <a:latin typeface="Calibri"/>
              <a:cs typeface="Calibri"/>
            </a:endParaRPr>
          </a:p>
          <a:p>
            <a:pPr marL="756285" marR="438150" lvl="1" indent="-286385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Compaction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only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Calibri"/>
                <a:cs typeface="Calibri"/>
              </a:rPr>
              <a:t>relocation</a:t>
            </a:r>
            <a:r>
              <a:rPr sz="26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6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endParaRPr sz="2600" dirty="0">
              <a:latin typeface="Calibri"/>
              <a:cs typeface="Calibri"/>
            </a:endParaRPr>
          </a:p>
          <a:p>
            <a:pPr marL="1155065" lvl="2" indent="-227965">
              <a:spcBef>
                <a:spcPts val="26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dirty="0">
                <a:latin typeface="Calibri"/>
                <a:cs typeface="Calibri"/>
              </a:rPr>
              <a:t>Change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relocation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reg.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275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20" dirty="0">
                <a:latin typeface="Calibri"/>
                <a:cs typeface="Calibri"/>
              </a:rPr>
              <a:t>Cost</a:t>
            </a:r>
            <a:endParaRPr sz="2600" dirty="0">
              <a:latin typeface="Calibri"/>
              <a:cs typeface="Calibri"/>
            </a:endParaRPr>
          </a:p>
          <a:p>
            <a:pPr lvl="1">
              <a:spcBef>
                <a:spcPts val="480"/>
              </a:spcBef>
              <a:buFont typeface="Arial"/>
              <a:buChar char="–"/>
            </a:pPr>
            <a:endParaRPr sz="2600" dirty="0">
              <a:latin typeface="Calibri"/>
              <a:cs typeface="Calibri"/>
            </a:endParaRPr>
          </a:p>
          <a:p>
            <a:pPr marL="356870" marR="5080" indent="-344805">
              <a:lnSpc>
                <a:spcPts val="3240"/>
              </a:lnSpc>
              <a:buFont typeface="Arial"/>
              <a:buChar char="•"/>
              <a:tabLst>
                <a:tab pos="356870" algn="l"/>
              </a:tabLst>
            </a:pPr>
            <a:r>
              <a:rPr sz="3000" b="1" dirty="0">
                <a:solidFill>
                  <a:srgbClr val="3366FF"/>
                </a:solidFill>
                <a:latin typeface="Calibri"/>
                <a:cs typeface="Calibri"/>
              </a:rPr>
              <a:t>Internal</a:t>
            </a:r>
            <a:r>
              <a:rPr sz="30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3366FF"/>
                </a:solidFill>
                <a:latin typeface="Calibri"/>
                <a:cs typeface="Calibri"/>
              </a:rPr>
              <a:t>Fragmentation</a:t>
            </a:r>
            <a:r>
              <a:rPr sz="3000" b="1" spc="-9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allocated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may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slightly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larger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requested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memory;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size </a:t>
            </a:r>
            <a:r>
              <a:rPr sz="3000" spc="-10" dirty="0">
                <a:latin typeface="Calibri"/>
                <a:cs typeface="Calibri"/>
              </a:rPr>
              <a:t>difference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internal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partition,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but </a:t>
            </a:r>
            <a:r>
              <a:rPr sz="3000" dirty="0">
                <a:latin typeface="Calibri"/>
                <a:cs typeface="Calibri"/>
              </a:rPr>
              <a:t>not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being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used</a:t>
            </a:r>
            <a:endParaRPr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640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3979" y="1838185"/>
            <a:ext cx="6903091" cy="45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2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0976" y="342393"/>
            <a:ext cx="1515745" cy="69532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>
                <a:solidFill>
                  <a:srgbClr val="FF0000"/>
                </a:solidFill>
              </a:rPr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6581" y="1334516"/>
            <a:ext cx="10923638" cy="45676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Physical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noncontiguous;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dirty="0">
                <a:latin typeface="Calibri"/>
                <a:cs typeface="Calibri"/>
              </a:rPr>
              <a:t>process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allocates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physical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whenever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latter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available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590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Divide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fixed-</a:t>
            </a:r>
            <a:r>
              <a:rPr sz="2000" dirty="0">
                <a:latin typeface="Calibri"/>
                <a:cs typeface="Calibri"/>
              </a:rPr>
              <a:t>sized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frames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dirty="0">
                <a:latin typeface="Calibri"/>
                <a:cs typeface="Calibri"/>
              </a:rPr>
              <a:t>Size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power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between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512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bytes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16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Mbytes</a:t>
            </a:r>
            <a:endParaRPr dirty="0">
              <a:latin typeface="Calibri"/>
              <a:cs typeface="Calibri"/>
            </a:endParaRPr>
          </a:p>
          <a:p>
            <a:pPr lvl="1">
              <a:spcBef>
                <a:spcPts val="190"/>
              </a:spcBef>
              <a:buFont typeface="Arial"/>
              <a:buChar char="–"/>
            </a:pP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Divide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size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pages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439"/>
              </a:spcBef>
              <a:buFont typeface="Arial"/>
              <a:buChar char="–"/>
              <a:tabLst>
                <a:tab pos="756285" algn="l"/>
              </a:tabLst>
            </a:pPr>
            <a:r>
              <a:rPr spc="-90" dirty="0">
                <a:latin typeface="Calibri"/>
                <a:cs typeface="Calibri"/>
              </a:rPr>
              <a:t>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run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program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pages, need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free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frames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load </a:t>
            </a:r>
            <a:r>
              <a:rPr spc="-10" dirty="0">
                <a:latin typeface="Calibri"/>
                <a:cs typeface="Calibri"/>
              </a:rPr>
              <a:t>program</a:t>
            </a:r>
            <a:endParaRPr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dirty="0">
              <a:latin typeface="Calibri"/>
              <a:cs typeface="Calibri"/>
            </a:endParaRPr>
          </a:p>
          <a:p>
            <a:pPr lvl="1">
              <a:spcBef>
                <a:spcPts val="155"/>
              </a:spcBef>
              <a:buFont typeface="Arial"/>
              <a:buChar char="–"/>
            </a:pPr>
            <a:endParaRPr dirty="0">
              <a:latin typeface="Calibri"/>
              <a:cs typeface="Calibri"/>
            </a:endParaRPr>
          </a:p>
          <a:p>
            <a:pPr marL="356870" indent="-344170"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Backing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likewise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split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pages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1760"/>
              </a:spcBef>
              <a:buFont typeface="Arial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356870" indent="-344170"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Set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sz="2000" b="1" spc="-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0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translate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logica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physical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addresses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555"/>
              </a:spcBef>
              <a:buFont typeface="Arial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356870" indent="-344170"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keeps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frames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3625" y="3508857"/>
            <a:ext cx="898207" cy="150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1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697" y="567566"/>
            <a:ext cx="10515600" cy="939603"/>
          </a:xfrm>
          <a:prstGeom prst="rect">
            <a:avLst/>
          </a:prstGeom>
        </p:spPr>
        <p:txBody>
          <a:bodyPr vert="horz" wrap="square" lIns="0" tIns="442836" rIns="0" bIns="0" rtlCol="0" anchor="ctr">
            <a:spAutoFit/>
          </a:bodyPr>
          <a:lstStyle/>
          <a:p>
            <a:pPr marL="64262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FF0000"/>
                </a:solidFill>
              </a:rPr>
              <a:t>Paging</a:t>
            </a:r>
            <a:r>
              <a:rPr sz="3200" spc="-10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Model</a:t>
            </a:r>
            <a:r>
              <a:rPr sz="3200" spc="-4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of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Logical</a:t>
            </a:r>
            <a:r>
              <a:rPr sz="3200" spc="-4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and</a:t>
            </a:r>
            <a:r>
              <a:rPr sz="3200" spc="-4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Physical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Memory</a:t>
            </a:r>
            <a:endParaRPr sz="3200" dirty="0">
              <a:solidFill>
                <a:srgbClr val="FF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30477" y="1856089"/>
            <a:ext cx="9085007" cy="4612640"/>
            <a:chOff x="1932762" y="1207160"/>
            <a:chExt cx="4938395" cy="461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2762" y="1207160"/>
              <a:ext cx="4938153" cy="46124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95600" y="1905000"/>
              <a:ext cx="1054735" cy="132080"/>
            </a:xfrm>
            <a:custGeom>
              <a:avLst/>
              <a:gdLst/>
              <a:ahLst/>
              <a:cxnLst/>
              <a:rect l="l" t="t" r="r" b="b"/>
              <a:pathLst>
                <a:path w="1054735" h="132080">
                  <a:moveTo>
                    <a:pt x="0" y="0"/>
                  </a:moveTo>
                  <a:lnTo>
                    <a:pt x="1054328" y="131787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68788" y="1983232"/>
              <a:ext cx="81280" cy="88265"/>
            </a:xfrm>
            <a:custGeom>
              <a:avLst/>
              <a:gdLst/>
              <a:ahLst/>
              <a:cxnLst/>
              <a:rect l="l" t="t" r="r" b="b"/>
              <a:pathLst>
                <a:path w="81279" h="88264">
                  <a:moveTo>
                    <a:pt x="11036" y="0"/>
                  </a:moveTo>
                  <a:lnTo>
                    <a:pt x="81127" y="53555"/>
                  </a:lnTo>
                  <a:lnTo>
                    <a:pt x="0" y="88214"/>
                  </a:lnTo>
                </a:path>
              </a:pathLst>
            </a:custGeom>
            <a:ln w="12699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24400" y="2171700"/>
              <a:ext cx="1130935" cy="113664"/>
            </a:xfrm>
            <a:custGeom>
              <a:avLst/>
              <a:gdLst/>
              <a:ahLst/>
              <a:cxnLst/>
              <a:rect l="l" t="t" r="r" b="b"/>
              <a:pathLst>
                <a:path w="1130935" h="113664">
                  <a:moveTo>
                    <a:pt x="0" y="0"/>
                  </a:moveTo>
                  <a:lnTo>
                    <a:pt x="1130490" y="113042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74639" y="2232939"/>
              <a:ext cx="80645" cy="88900"/>
            </a:xfrm>
            <a:custGeom>
              <a:avLst/>
              <a:gdLst/>
              <a:ahLst/>
              <a:cxnLst/>
              <a:rect l="l" t="t" r="r" b="b"/>
              <a:pathLst>
                <a:path w="80645" h="88900">
                  <a:moveTo>
                    <a:pt x="8851" y="0"/>
                  </a:moveTo>
                  <a:lnTo>
                    <a:pt x="80251" y="51816"/>
                  </a:lnTo>
                  <a:lnTo>
                    <a:pt x="0" y="88455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45740" y="4742179"/>
            <a:ext cx="3803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translate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logical</a:t>
            </a:r>
            <a:r>
              <a:rPr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physical addresses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93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045" y="314271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88265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Address</a:t>
            </a:r>
            <a:r>
              <a:rPr sz="4000" spc="-150" dirty="0">
                <a:solidFill>
                  <a:srgbClr val="FF0000"/>
                </a:solidFill>
              </a:rPr>
              <a:t> </a:t>
            </a:r>
            <a:r>
              <a:rPr sz="4000" spc="-30" dirty="0">
                <a:solidFill>
                  <a:srgbClr val="FF0000"/>
                </a:solidFill>
              </a:rPr>
              <a:t>Translation</a:t>
            </a:r>
            <a:r>
              <a:rPr sz="4000" spc="-11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Scheme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4740" y="1331329"/>
            <a:ext cx="7511415" cy="169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spcBef>
                <a:spcPts val="105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divided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into: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sz="2000" b="1" spc="-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number</a:t>
            </a:r>
            <a:r>
              <a:rPr sz="20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(</a:t>
            </a:r>
            <a:r>
              <a:rPr sz="2000" b="1" i="1" dirty="0">
                <a:solidFill>
                  <a:srgbClr val="3366FF"/>
                </a:solidFill>
                <a:latin typeface="Calibri"/>
                <a:cs typeface="Calibri"/>
              </a:rPr>
              <a:t>p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)</a:t>
            </a:r>
            <a:r>
              <a:rPr sz="2000" b="1" spc="-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index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sz="2000" b="1" spc="-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endParaRPr sz="2000" dirty="0">
              <a:latin typeface="Calibri"/>
              <a:cs typeface="Calibri"/>
            </a:endParaRPr>
          </a:p>
          <a:p>
            <a:pPr marL="1155065" lvl="2" indent="-228600">
              <a:lnSpc>
                <a:spcPts val="2035"/>
              </a:lnSpc>
              <a:spcBef>
                <a:spcPts val="10"/>
              </a:spcBef>
              <a:buFont typeface="Arial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contains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address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page in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physical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memory</a:t>
            </a:r>
            <a:endParaRPr sz="1700" dirty="0">
              <a:latin typeface="Calibri"/>
              <a:cs typeface="Calibri"/>
            </a:endParaRPr>
          </a:p>
          <a:p>
            <a:pPr marL="756285" lvl="1" indent="-286385">
              <a:lnSpc>
                <a:spcPts val="2395"/>
              </a:lnSpc>
              <a:buFont typeface="Arial"/>
              <a:buChar char="–"/>
              <a:tabLst>
                <a:tab pos="756285" algn="l"/>
              </a:tabLst>
            </a:pP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sz="2000"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offset</a:t>
            </a:r>
            <a:r>
              <a:rPr sz="2000" b="1" spc="-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(</a:t>
            </a:r>
            <a:r>
              <a:rPr sz="2000" b="1" i="1" dirty="0">
                <a:solidFill>
                  <a:srgbClr val="3366FF"/>
                </a:solidFill>
                <a:latin typeface="Calibri"/>
                <a:cs typeface="Calibri"/>
              </a:rPr>
              <a:t>d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)</a:t>
            </a:r>
            <a:r>
              <a:rPr sz="2000"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offset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page</a:t>
            </a:r>
            <a:endParaRPr sz="2000" dirty="0">
              <a:latin typeface="Calibri"/>
              <a:cs typeface="Calibri"/>
            </a:endParaRPr>
          </a:p>
          <a:p>
            <a:pPr marL="1155065" marR="5080" lvl="2" indent="-228600">
              <a:lnSpc>
                <a:spcPts val="1630"/>
              </a:lnSpc>
              <a:spcBef>
                <a:spcPts val="409"/>
              </a:spcBef>
              <a:buFont typeface="Arial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combined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address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physical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memory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address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that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sent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memory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unit</a:t>
            </a:r>
            <a:endParaRPr sz="17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93554" y="3923195"/>
          <a:ext cx="3105785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220"/>
                <a:gridCol w="1472565"/>
              </a:tblGrid>
              <a:tr h="323850">
                <a:tc>
                  <a:txBody>
                    <a:bodyPr/>
                    <a:lstStyle/>
                    <a:p>
                      <a:pPr marL="56515">
                        <a:lnSpc>
                          <a:spcPts val="1614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age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number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15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offset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R="208279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i="1" spc="-50" dirty="0">
                          <a:latin typeface="Arial"/>
                          <a:cs typeface="Arial"/>
                        </a:rPr>
                        <a:t>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i="1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71139" y="3847402"/>
            <a:ext cx="5662930" cy="164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7275">
              <a:spcBef>
                <a:spcPts val="100"/>
              </a:spcBef>
            </a:pPr>
            <a:r>
              <a:rPr spc="-50" dirty="0">
                <a:latin typeface="Arial"/>
                <a:cs typeface="Arial"/>
              </a:rPr>
              <a:t>p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dirty="0">
              <a:latin typeface="Arial"/>
              <a:cs typeface="Arial"/>
            </a:endParaRPr>
          </a:p>
          <a:p>
            <a:pPr>
              <a:spcBef>
                <a:spcPts val="919"/>
              </a:spcBef>
            </a:pPr>
            <a:endParaRPr dirty="0">
              <a:latin typeface="Arial"/>
              <a:cs typeface="Arial"/>
            </a:endParaRPr>
          </a:p>
          <a:p>
            <a:pPr marL="1626235">
              <a:tabLst>
                <a:tab pos="3238500" algn="l"/>
              </a:tabLst>
            </a:pPr>
            <a:r>
              <a:rPr sz="2700" i="1" baseline="3086" dirty="0">
                <a:latin typeface="Arial"/>
                <a:cs typeface="Arial"/>
              </a:rPr>
              <a:t>m</a:t>
            </a:r>
            <a:r>
              <a:rPr sz="2700" i="1" spc="-75" baseline="3086" dirty="0">
                <a:latin typeface="Arial"/>
                <a:cs typeface="Arial"/>
              </a:rPr>
              <a:t> </a:t>
            </a:r>
            <a:r>
              <a:rPr sz="2700" i="1" baseline="3086" dirty="0">
                <a:latin typeface="Arial"/>
                <a:cs typeface="Arial"/>
              </a:rPr>
              <a:t>-</a:t>
            </a:r>
            <a:r>
              <a:rPr sz="2700" i="1" spc="-15" baseline="3086" dirty="0">
                <a:latin typeface="Arial"/>
                <a:cs typeface="Arial"/>
              </a:rPr>
              <a:t> </a:t>
            </a:r>
            <a:r>
              <a:rPr sz="2700" i="1" spc="-75" baseline="3086" dirty="0">
                <a:latin typeface="Arial"/>
                <a:cs typeface="Arial"/>
              </a:rPr>
              <a:t>n</a:t>
            </a:r>
            <a:r>
              <a:rPr sz="2700" i="1" baseline="3086" dirty="0">
                <a:latin typeface="Arial"/>
                <a:cs typeface="Arial"/>
              </a:rPr>
              <a:t>	</a:t>
            </a:r>
            <a:r>
              <a:rPr i="1" spc="-50" dirty="0">
                <a:latin typeface="Arial"/>
                <a:cs typeface="Arial"/>
              </a:rPr>
              <a:t>n</a:t>
            </a:r>
            <a:endParaRPr dirty="0">
              <a:latin typeface="Arial"/>
              <a:cs typeface="Arial"/>
            </a:endParaRPr>
          </a:p>
          <a:p>
            <a:pPr marL="63500">
              <a:spcBef>
                <a:spcPts val="775"/>
              </a:spcBef>
              <a:tabLst>
                <a:tab pos="3498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given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logical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address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space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2</a:t>
            </a:r>
            <a:r>
              <a:rPr sz="2025" b="1" i="1" baseline="24691" dirty="0">
                <a:latin typeface="Calibri"/>
                <a:cs typeface="Calibri"/>
              </a:rPr>
              <a:t>m</a:t>
            </a:r>
            <a:r>
              <a:rPr sz="2025" b="1" i="1" spc="-37" baseline="24691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page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size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2</a:t>
            </a:r>
            <a:r>
              <a:rPr sz="2025" b="1" spc="-37" baseline="24691" dirty="0">
                <a:latin typeface="Calibri"/>
                <a:cs typeface="Calibri"/>
              </a:rPr>
              <a:t>n</a:t>
            </a:r>
            <a:endParaRPr sz="2025" baseline="24691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988300" y="3035301"/>
            <a:ext cx="787400" cy="1158875"/>
            <a:chOff x="6464300" y="3035300"/>
            <a:chExt cx="787400" cy="1158875"/>
          </a:xfrm>
        </p:grpSpPr>
        <p:sp>
          <p:nvSpPr>
            <p:cNvPr id="7" name="object 7"/>
            <p:cNvSpPr/>
            <p:nvPr/>
          </p:nvSpPr>
          <p:spPr>
            <a:xfrm>
              <a:off x="6477000" y="3048000"/>
              <a:ext cx="762000" cy="1133475"/>
            </a:xfrm>
            <a:custGeom>
              <a:avLst/>
              <a:gdLst/>
              <a:ahLst/>
              <a:cxnLst/>
              <a:rect l="l" t="t" r="r" b="b"/>
              <a:pathLst>
                <a:path w="762000" h="1133475">
                  <a:moveTo>
                    <a:pt x="0" y="0"/>
                  </a:moveTo>
                  <a:lnTo>
                    <a:pt x="762000" y="0"/>
                  </a:lnTo>
                  <a:lnTo>
                    <a:pt x="762000" y="1133475"/>
                  </a:lnTo>
                  <a:lnTo>
                    <a:pt x="0" y="113347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77000" y="3614737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77000" y="3767137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645400" y="3048001"/>
            <a:ext cx="101600" cy="560705"/>
            <a:chOff x="6121400" y="3048000"/>
            <a:chExt cx="101600" cy="560705"/>
          </a:xfrm>
        </p:grpSpPr>
        <p:sp>
          <p:nvSpPr>
            <p:cNvPr id="11" name="object 11"/>
            <p:cNvSpPr/>
            <p:nvPr/>
          </p:nvSpPr>
          <p:spPr>
            <a:xfrm>
              <a:off x="6172200" y="3048000"/>
              <a:ext cx="0" cy="554355"/>
            </a:xfrm>
            <a:custGeom>
              <a:avLst/>
              <a:gdLst/>
              <a:ahLst/>
              <a:cxnLst/>
              <a:rect l="l" t="t" r="r" b="b"/>
              <a:pathLst>
                <a:path h="554354">
                  <a:moveTo>
                    <a:pt x="0" y="0"/>
                  </a:moveTo>
                  <a:lnTo>
                    <a:pt x="0" y="554164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27750" y="3525964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01231" y="3218179"/>
            <a:ext cx="559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offset</a:t>
            </a:r>
            <a:endParaRPr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0289" y="3402888"/>
            <a:ext cx="471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>
                <a:latin typeface="Calibri"/>
                <a:cs typeface="Calibri"/>
              </a:rPr>
              <a:t>page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20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974214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Paging</a:t>
            </a:r>
            <a:r>
              <a:rPr sz="4000" spc="-200" dirty="0"/>
              <a:t> </a:t>
            </a:r>
            <a:r>
              <a:rPr sz="4000" spc="-10" dirty="0"/>
              <a:t>Hardware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723" y="917727"/>
            <a:ext cx="6772263" cy="40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3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0014" y="182372"/>
            <a:ext cx="323850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Paging</a:t>
            </a:r>
            <a:r>
              <a:rPr sz="4000" spc="-16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Example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7534" y="5964025"/>
            <a:ext cx="2683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spcBef>
                <a:spcPts val="100"/>
              </a:spcBef>
              <a:tabLst>
                <a:tab pos="1545590" algn="l"/>
              </a:tabLst>
            </a:pPr>
            <a:r>
              <a:rPr i="1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=2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 </a:t>
            </a:r>
            <a:r>
              <a:rPr i="1" spc="-25" dirty="0">
                <a:latin typeface="Arial"/>
                <a:cs typeface="Arial"/>
              </a:rPr>
              <a:t>m</a:t>
            </a:r>
            <a:r>
              <a:rPr spc="-25" dirty="0">
                <a:latin typeface="Arial"/>
                <a:cs typeface="Arial"/>
              </a:rPr>
              <a:t>=4</a:t>
            </a:r>
            <a:r>
              <a:rPr dirty="0">
                <a:latin typeface="Arial"/>
                <a:cs typeface="Arial"/>
              </a:rPr>
              <a:t>	32-</a:t>
            </a:r>
            <a:r>
              <a:rPr spc="-20" dirty="0">
                <a:latin typeface="Arial"/>
                <a:cs typeface="Arial"/>
              </a:rPr>
              <a:t>byte </a:t>
            </a:r>
            <a:r>
              <a:rPr dirty="0">
                <a:latin typeface="Arial"/>
                <a:cs typeface="Arial"/>
              </a:rPr>
              <a:t>memory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4-</a:t>
            </a:r>
            <a:r>
              <a:rPr dirty="0">
                <a:latin typeface="Arial"/>
                <a:cs typeface="Arial"/>
              </a:rPr>
              <a:t>byte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pages</a:t>
            </a:r>
            <a:endParaRPr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7370" y="1273567"/>
            <a:ext cx="3753900" cy="4686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31340" y="1288173"/>
            <a:ext cx="19367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Logical</a:t>
            </a:r>
            <a:r>
              <a:rPr spc="3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16 </a:t>
            </a:r>
            <a:r>
              <a:rPr spc="-10" dirty="0">
                <a:latin typeface="Calibri"/>
                <a:cs typeface="Calibri"/>
              </a:rPr>
              <a:t>Page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size=4</a:t>
            </a:r>
            <a:endParaRPr>
              <a:latin typeface="Calibri"/>
              <a:cs typeface="Calibri"/>
            </a:endParaRPr>
          </a:p>
          <a:p>
            <a:pPr marL="12700"/>
            <a:r>
              <a:rPr spc="-10" dirty="0">
                <a:latin typeface="Calibri"/>
                <a:cs typeface="Calibri"/>
              </a:rPr>
              <a:t>Physical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memory=32</a:t>
            </a:r>
            <a:endParaRPr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0140" y="3827691"/>
            <a:ext cx="107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User’s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view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8264" y="837145"/>
            <a:ext cx="1598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Logical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0 </a:t>
            </a:r>
            <a:r>
              <a:rPr spc="-10" dirty="0">
                <a:latin typeface="Calibri"/>
                <a:cs typeface="Calibri"/>
              </a:rPr>
              <a:t>(0*4+0)</a:t>
            </a:r>
            <a:endParaRPr>
              <a:latin typeface="Calibri"/>
              <a:cs typeface="Calibri"/>
            </a:endParaRPr>
          </a:p>
          <a:p>
            <a:pPr marL="12700" marR="20320"/>
            <a:r>
              <a:rPr spc="-10" dirty="0">
                <a:latin typeface="Calibri"/>
                <a:cs typeface="Calibri"/>
              </a:rPr>
              <a:t>Physical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address: (5*4+0)=20</a:t>
            </a:r>
            <a:endParaRPr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8264" y="2208745"/>
            <a:ext cx="1598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Logical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3 </a:t>
            </a:r>
            <a:r>
              <a:rPr spc="-10" dirty="0">
                <a:latin typeface="Calibri"/>
                <a:cs typeface="Calibri"/>
              </a:rPr>
              <a:t>(0*4+3)</a:t>
            </a:r>
            <a:endParaRPr>
              <a:latin typeface="Calibri"/>
              <a:cs typeface="Calibri"/>
            </a:endParaRPr>
          </a:p>
          <a:p>
            <a:pPr marL="12700" marR="20320"/>
            <a:r>
              <a:rPr spc="-10" dirty="0">
                <a:latin typeface="Calibri"/>
                <a:cs typeface="Calibri"/>
              </a:rPr>
              <a:t>Physical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address: (5*4+0)=23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8264" y="3580345"/>
            <a:ext cx="1598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Logical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4 </a:t>
            </a:r>
            <a:r>
              <a:rPr spc="-10" dirty="0">
                <a:latin typeface="Calibri"/>
                <a:cs typeface="Calibri"/>
              </a:rPr>
              <a:t>(1*4+0)</a:t>
            </a:r>
            <a:endParaRPr>
              <a:latin typeface="Calibri"/>
              <a:cs typeface="Calibri"/>
            </a:endParaRPr>
          </a:p>
          <a:p>
            <a:pPr marL="12700" marR="20320"/>
            <a:r>
              <a:rPr spc="-10" dirty="0">
                <a:latin typeface="Calibri"/>
                <a:cs typeface="Calibri"/>
              </a:rPr>
              <a:t>Physical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address: (6*4+0)=24</a:t>
            </a:r>
            <a:endParaRPr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8263" y="4951945"/>
            <a:ext cx="17145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Logical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25" dirty="0">
                <a:latin typeface="Calibri"/>
                <a:cs typeface="Calibri"/>
              </a:rPr>
              <a:t> 13 </a:t>
            </a:r>
            <a:r>
              <a:rPr spc="-10" dirty="0">
                <a:latin typeface="Calibri"/>
                <a:cs typeface="Calibri"/>
              </a:rPr>
              <a:t>(3*4+1)</a:t>
            </a:r>
            <a:endParaRPr>
              <a:latin typeface="Calibri"/>
              <a:cs typeface="Calibri"/>
            </a:endParaRPr>
          </a:p>
          <a:p>
            <a:pPr marL="12700" marR="135890"/>
            <a:r>
              <a:rPr spc="-10" dirty="0">
                <a:latin typeface="Calibri"/>
                <a:cs typeface="Calibri"/>
              </a:rPr>
              <a:t>Physical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address: (2*4+1)</a:t>
            </a:r>
            <a:endParaRPr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7692" y="4753749"/>
            <a:ext cx="2376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Run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binding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18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88595" algn="ctr">
              <a:lnSpc>
                <a:spcPct val="100000"/>
              </a:lnSpc>
              <a:spcBef>
                <a:spcPts val="90"/>
              </a:spcBef>
            </a:pPr>
            <a:r>
              <a:rPr spc="-20" dirty="0">
                <a:solidFill>
                  <a:srgbClr val="FF0000"/>
                </a:solidFill>
              </a:rPr>
              <a:t>Implementation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Page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626" y="1189900"/>
            <a:ext cx="10020054" cy="4418261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6870" indent="-344170">
              <a:spcBef>
                <a:spcPts val="134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For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each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process,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Page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table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kept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main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memory</a:t>
            </a:r>
            <a:endParaRPr sz="2700" dirty="0">
              <a:latin typeface="Calibri"/>
              <a:cs typeface="Calibri"/>
            </a:endParaRPr>
          </a:p>
          <a:p>
            <a:pPr marL="356870" indent="-344170">
              <a:spcBef>
                <a:spcPts val="1245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spc="-20" dirty="0">
                <a:solidFill>
                  <a:srgbClr val="3366FF"/>
                </a:solidFill>
                <a:latin typeface="Calibri"/>
                <a:cs typeface="Calibri"/>
              </a:rPr>
              <a:t>Page-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700" b="1" spc="-10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base</a:t>
            </a:r>
            <a:r>
              <a:rPr sz="2700" b="1" spc="-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27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(PTBR)</a:t>
            </a:r>
            <a:r>
              <a:rPr sz="2700" b="1" spc="-7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points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page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table</a:t>
            </a:r>
            <a:endParaRPr sz="2700" dirty="0">
              <a:latin typeface="Calibri"/>
              <a:cs typeface="Calibri"/>
            </a:endParaRPr>
          </a:p>
          <a:p>
            <a:pPr marL="356870" marR="537845" indent="-344805">
              <a:lnSpc>
                <a:spcPts val="2900"/>
              </a:lnSpc>
              <a:spcBef>
                <a:spcPts val="1630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spc="-20" dirty="0">
                <a:solidFill>
                  <a:srgbClr val="3366FF"/>
                </a:solidFill>
                <a:latin typeface="Calibri"/>
                <a:cs typeface="Calibri"/>
              </a:rPr>
              <a:t>Page-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700" b="1" spc="-1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length</a:t>
            </a:r>
            <a:r>
              <a:rPr sz="2700"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2700" b="1" spc="-9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(PTLR)</a:t>
            </a:r>
            <a:r>
              <a:rPr sz="2700" b="1" spc="-8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indicates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size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page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table</a:t>
            </a:r>
            <a:endParaRPr sz="2700" dirty="0">
              <a:latin typeface="Calibri"/>
              <a:cs typeface="Calibri"/>
            </a:endParaRPr>
          </a:p>
          <a:p>
            <a:pPr marL="356870" marR="5080" indent="-344805">
              <a:lnSpc>
                <a:spcPts val="2930"/>
              </a:lnSpc>
              <a:spcBef>
                <a:spcPts val="1570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In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scheme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every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data/instruction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access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requires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two </a:t>
            </a:r>
            <a:r>
              <a:rPr sz="2700" dirty="0">
                <a:latin typeface="Calibri"/>
                <a:cs typeface="Calibri"/>
              </a:rPr>
              <a:t>memory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accesses</a:t>
            </a:r>
            <a:endParaRPr sz="2700" dirty="0">
              <a:latin typeface="Calibri"/>
              <a:cs typeface="Calibri"/>
            </a:endParaRPr>
          </a:p>
          <a:p>
            <a:pPr marL="469900">
              <a:spcBef>
                <a:spcPts val="25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instruction</a:t>
            </a:r>
            <a:endParaRPr sz="2400" dirty="0">
              <a:latin typeface="Calibri"/>
              <a:cs typeface="Calibri"/>
            </a:endParaRPr>
          </a:p>
          <a:p>
            <a:pPr marL="356235" marR="450215" indent="-344170">
              <a:lnSpc>
                <a:spcPct val="89900"/>
              </a:lnSpc>
              <a:spcBef>
                <a:spcPts val="1565"/>
              </a:spcBef>
              <a:buFont typeface="Arial"/>
              <a:buChar char="•"/>
              <a:tabLst>
                <a:tab pos="356235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two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memory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access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solved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special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fast-</a:t>
            </a:r>
            <a:r>
              <a:rPr sz="2700" dirty="0">
                <a:latin typeface="Calibri"/>
                <a:cs typeface="Calibri"/>
              </a:rPr>
              <a:t>lookup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hardware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cache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called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associative</a:t>
            </a:r>
            <a:r>
              <a:rPr sz="2700" b="1" spc="-1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700" b="1" spc="-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translation</a:t>
            </a:r>
            <a:r>
              <a:rPr sz="27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look-aside</a:t>
            </a:r>
            <a:r>
              <a:rPr sz="2700" b="1" spc="-1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buffers (TLBs)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98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29222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</a:rPr>
              <a:t>Associative</a:t>
            </a:r>
            <a:r>
              <a:rPr spc="-17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memory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0007" y="2138362"/>
            <a:ext cx="44005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2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7588045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27698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</a:rPr>
              <a:t>Associative</a:t>
            </a:r>
            <a:r>
              <a:rPr spc="-17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2200" y="1734166"/>
            <a:ext cx="550672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sz="2700" spc="-10" dirty="0">
                <a:latin typeface="Calibri"/>
                <a:cs typeface="Calibri"/>
              </a:rPr>
              <a:t>Associative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memory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parallel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search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740" y="4533443"/>
            <a:ext cx="6861175" cy="1171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Address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translation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(p,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d)</a:t>
            </a:r>
            <a:endParaRPr sz="2700">
              <a:latin typeface="Calibri"/>
              <a:cs typeface="Calibri"/>
            </a:endParaRPr>
          </a:p>
          <a:p>
            <a:pPr marL="638810" lvl="1" indent="-285115">
              <a:spcBef>
                <a:spcPts val="10"/>
              </a:spcBef>
              <a:buFont typeface="Arial"/>
              <a:buChar char="–"/>
              <a:tabLst>
                <a:tab pos="63881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register,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#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out</a:t>
            </a:r>
            <a:endParaRPr sz="2400">
              <a:latin typeface="Calibri"/>
              <a:cs typeface="Calibri"/>
            </a:endParaRPr>
          </a:p>
          <a:p>
            <a:pPr marL="638810" lvl="1" indent="-285115">
              <a:buFont typeface="Arial"/>
              <a:buChar char="–"/>
              <a:tabLst>
                <a:tab pos="638810" algn="l"/>
              </a:tabLst>
            </a:pPr>
            <a:r>
              <a:rPr sz="2400" dirty="0">
                <a:latin typeface="Calibri"/>
                <a:cs typeface="Calibri"/>
              </a:rPr>
              <a:t>Otherwise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#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327245"/>
              </p:ext>
            </p:extLst>
          </p:nvPr>
        </p:nvGraphicFramePr>
        <p:xfrm>
          <a:off x="4459308" y="2254720"/>
          <a:ext cx="2895600" cy="167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4572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#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Frame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#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62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88595">
              <a:lnSpc>
                <a:spcPct val="100000"/>
              </a:lnSpc>
              <a:spcBef>
                <a:spcPts val="90"/>
              </a:spcBef>
            </a:pPr>
            <a:r>
              <a:rPr spc="-20" dirty="0">
                <a:solidFill>
                  <a:srgbClr val="FF0000"/>
                </a:solidFill>
              </a:rPr>
              <a:t>Implementation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1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Page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2619" y="1910715"/>
            <a:ext cx="11916697" cy="49472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6870" indent="-344170">
              <a:spcBef>
                <a:spcPts val="580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For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table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kept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memory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480"/>
              </a:spcBef>
              <a:buFont typeface="Arial"/>
              <a:buChar char="•"/>
              <a:tabLst>
                <a:tab pos="356870" algn="l"/>
              </a:tabLst>
            </a:pPr>
            <a:r>
              <a:rPr b="1" spc="-20" dirty="0">
                <a:solidFill>
                  <a:srgbClr val="3366FF"/>
                </a:solidFill>
                <a:latin typeface="Calibri"/>
                <a:cs typeface="Calibri"/>
              </a:rPr>
              <a:t>Page-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base</a:t>
            </a:r>
            <a:r>
              <a:rPr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(PTBR)</a:t>
            </a:r>
            <a:r>
              <a:rPr b="1" spc="-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points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table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480"/>
              </a:spcBef>
              <a:buFont typeface="Arial"/>
              <a:buChar char="•"/>
              <a:tabLst>
                <a:tab pos="356870" algn="l"/>
              </a:tabLst>
            </a:pPr>
            <a:r>
              <a:rPr b="1" spc="-20" dirty="0">
                <a:solidFill>
                  <a:srgbClr val="3366FF"/>
                </a:solidFill>
                <a:latin typeface="Calibri"/>
                <a:cs typeface="Calibri"/>
              </a:rPr>
              <a:t>Page-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length</a:t>
            </a:r>
            <a:r>
              <a:rPr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(PTLR)</a:t>
            </a:r>
            <a:r>
              <a:rPr b="1" spc="-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indicates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table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480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scheme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every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data/instruction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requires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two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accesses</a:t>
            </a:r>
            <a:endParaRPr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One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page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instruction</a:t>
            </a:r>
            <a:endParaRPr sz="1500" dirty="0">
              <a:latin typeface="Calibri"/>
              <a:cs typeface="Calibri"/>
            </a:endParaRPr>
          </a:p>
          <a:p>
            <a:pPr marL="356870" marR="5080" indent="-344805">
              <a:lnSpc>
                <a:spcPct val="80000"/>
              </a:lnSpc>
              <a:spcBef>
                <a:spcPts val="900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two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problem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solved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use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special</a:t>
            </a:r>
            <a:r>
              <a:rPr spc="-20" dirty="0">
                <a:latin typeface="Calibri"/>
                <a:cs typeface="Calibri"/>
              </a:rPr>
              <a:t> fast-</a:t>
            </a:r>
            <a:r>
              <a:rPr spc="-10" dirty="0">
                <a:latin typeface="Calibri"/>
                <a:cs typeface="Calibri"/>
              </a:rPr>
              <a:t>lookup hardware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cache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called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associative</a:t>
            </a:r>
            <a:r>
              <a:rPr b="1" spc="-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translation</a:t>
            </a:r>
            <a:r>
              <a:rPr b="1" spc="-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look-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aside</a:t>
            </a:r>
            <a:r>
              <a:rPr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buffers</a:t>
            </a:r>
            <a:r>
              <a:rPr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(TLBs)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40"/>
              </a:spcBef>
              <a:buFont typeface="Arial"/>
              <a:buChar char="•"/>
            </a:pP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TLBs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typically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small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(64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1,024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entries)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2160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On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TLB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miss,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loaded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TLB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faster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next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time</a:t>
            </a:r>
            <a:endParaRPr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500" spc="-10" dirty="0">
                <a:latin typeface="Calibri"/>
                <a:cs typeface="Calibri"/>
              </a:rPr>
              <a:t>Replacement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policies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must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10" dirty="0">
                <a:latin typeface="Calibri"/>
                <a:cs typeface="Calibri"/>
              </a:rPr>
              <a:t> considered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(LRU)</a:t>
            </a:r>
            <a:endParaRPr sz="1500" dirty="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Some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entries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66FF"/>
                </a:solidFill>
                <a:latin typeface="Calibri"/>
                <a:cs typeface="Calibri"/>
              </a:rPr>
              <a:t>wired</a:t>
            </a:r>
            <a:r>
              <a:rPr sz="1500" b="1" spc="-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366FF"/>
                </a:solidFill>
                <a:latin typeface="Calibri"/>
                <a:cs typeface="Calibri"/>
              </a:rPr>
              <a:t>down</a:t>
            </a:r>
            <a:r>
              <a:rPr sz="15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permanent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fast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access</a:t>
            </a:r>
            <a:endParaRPr sz="15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sz="1500" dirty="0">
              <a:latin typeface="Calibri"/>
              <a:cs typeface="Calibri"/>
            </a:endParaRPr>
          </a:p>
          <a:p>
            <a:pPr lvl="1">
              <a:spcBef>
                <a:spcPts val="355"/>
              </a:spcBef>
              <a:buFont typeface="Arial"/>
              <a:buChar char="–"/>
            </a:pPr>
            <a:endParaRPr sz="1500" dirty="0">
              <a:latin typeface="Calibri"/>
              <a:cs typeface="Calibri"/>
            </a:endParaRPr>
          </a:p>
          <a:p>
            <a:pPr marL="356870" marR="187960" indent="-344805">
              <a:lnSpc>
                <a:spcPct val="80000"/>
              </a:lnSpc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Some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TLBs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address-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space</a:t>
            </a:r>
            <a:r>
              <a:rPr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366FF"/>
                </a:solidFill>
                <a:latin typeface="Calibri"/>
                <a:cs typeface="Calibri"/>
              </a:rPr>
              <a:t>identifiers</a:t>
            </a:r>
            <a:r>
              <a:rPr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66FF"/>
                </a:solidFill>
                <a:latin typeface="Calibri"/>
                <a:cs typeface="Calibri"/>
              </a:rPr>
              <a:t>(ASIDs)</a:t>
            </a:r>
            <a:r>
              <a:rPr b="1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TLB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entry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uniquely </a:t>
            </a:r>
            <a:r>
              <a:rPr dirty="0">
                <a:latin typeface="Calibri"/>
                <a:cs typeface="Calibri"/>
              </a:rPr>
              <a:t>identifies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(PID)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provide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address-</a:t>
            </a:r>
            <a:r>
              <a:rPr dirty="0">
                <a:latin typeface="Calibri"/>
                <a:cs typeface="Calibri"/>
              </a:rPr>
              <a:t>space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protection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process</a:t>
            </a:r>
            <a:endParaRPr dirty="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Otherwise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flush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every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context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switch</a:t>
            </a:r>
            <a:endParaRPr sz="1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8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619" y="0"/>
            <a:ext cx="11914239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56642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Paging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Hardware</a:t>
            </a:r>
            <a:r>
              <a:rPr spc="-1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With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TLB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697" y="1365338"/>
            <a:ext cx="7776825" cy="461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2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167130">
              <a:lnSpc>
                <a:spcPct val="100000"/>
              </a:lnSpc>
              <a:spcBef>
                <a:spcPts val="90"/>
              </a:spcBef>
            </a:pPr>
            <a:r>
              <a:rPr spc="-35" dirty="0">
                <a:solidFill>
                  <a:srgbClr val="FF0000"/>
                </a:solidFill>
              </a:rPr>
              <a:t>Effective</a:t>
            </a:r>
            <a:r>
              <a:rPr spc="-1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Access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7522" y="1865937"/>
            <a:ext cx="10284542" cy="44953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ts val="2285"/>
              </a:lnSpc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2000" spc="-10" dirty="0">
                <a:latin typeface="Calibri"/>
                <a:cs typeface="Calibri"/>
              </a:rPr>
              <a:t>Associative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Lookup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unit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045"/>
              </a:lnSpc>
              <a:buFont typeface="Arial"/>
              <a:buChar char="–"/>
              <a:tabLst>
                <a:tab pos="756285" algn="l"/>
              </a:tabLst>
            </a:pPr>
            <a:r>
              <a:rPr dirty="0">
                <a:latin typeface="Calibri"/>
                <a:cs typeface="Calibri"/>
              </a:rPr>
              <a:t>Can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&lt;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10%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time</a:t>
            </a:r>
            <a:endParaRPr dirty="0">
              <a:latin typeface="Calibri"/>
              <a:cs typeface="Calibri"/>
            </a:endParaRPr>
          </a:p>
          <a:p>
            <a:pPr marL="356870" indent="-344170">
              <a:lnSpc>
                <a:spcPts val="2285"/>
              </a:lnSpc>
              <a:spcBef>
                <a:spcPts val="193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Hit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Symbol"/>
                <a:cs typeface="Symbol"/>
              </a:rPr>
              <a:t></a:t>
            </a:r>
            <a:endParaRPr sz="2000" dirty="0">
              <a:latin typeface="Symbol"/>
              <a:cs typeface="Symbol"/>
            </a:endParaRPr>
          </a:p>
          <a:p>
            <a:pPr marL="756285" marR="768350" lvl="1" indent="-287020">
              <a:lnSpc>
                <a:spcPct val="70000"/>
              </a:lnSpc>
              <a:spcBef>
                <a:spcPts val="535"/>
              </a:spcBef>
              <a:buFont typeface="Arial"/>
              <a:buChar char="–"/>
              <a:tabLst>
                <a:tab pos="756285" algn="l"/>
              </a:tabLst>
            </a:pPr>
            <a:r>
              <a:rPr dirty="0">
                <a:latin typeface="Calibri"/>
                <a:cs typeface="Calibri"/>
              </a:rPr>
              <a:t>Hit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ratio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percentage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found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associative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registers;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ratio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related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TLB</a:t>
            </a:r>
            <a:endParaRPr dirty="0">
              <a:latin typeface="Calibri"/>
              <a:cs typeface="Calibri"/>
            </a:endParaRPr>
          </a:p>
          <a:p>
            <a:pPr marL="356870" indent="-344170">
              <a:spcBef>
                <a:spcPts val="193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80%,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TLB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10" dirty="0">
                <a:latin typeface="Calibri"/>
                <a:cs typeface="Calibri"/>
              </a:rPr>
              <a:t>access</a:t>
            </a:r>
            <a:endParaRPr sz="2000" dirty="0">
              <a:latin typeface="Calibri"/>
              <a:cs typeface="Calibri"/>
            </a:endParaRPr>
          </a:p>
          <a:p>
            <a:pPr marL="356870" indent="-344170">
              <a:lnSpc>
                <a:spcPts val="2280"/>
              </a:lnSpc>
              <a:spcBef>
                <a:spcPts val="1920"/>
              </a:spcBef>
              <a:buFont typeface="Arial"/>
              <a:buChar char="•"/>
              <a:tabLst>
                <a:tab pos="356870" algn="l"/>
              </a:tabLst>
            </a:pPr>
            <a:r>
              <a:rPr sz="2000" b="1" spc="-10" dirty="0">
                <a:solidFill>
                  <a:srgbClr val="3366FF"/>
                </a:solidFill>
                <a:latin typeface="Calibri"/>
                <a:cs typeface="Calibri"/>
              </a:rPr>
              <a:t>Effective</a:t>
            </a:r>
            <a:r>
              <a:rPr sz="20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Access</a:t>
            </a:r>
            <a:r>
              <a:rPr sz="2000" b="1" spc="-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Time</a:t>
            </a:r>
            <a:r>
              <a:rPr sz="2000"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3366FF"/>
                </a:solidFill>
                <a:latin typeface="Calibri"/>
                <a:cs typeface="Calibri"/>
              </a:rPr>
              <a:t>(EAT)</a:t>
            </a:r>
            <a:endParaRPr sz="2000" dirty="0">
              <a:latin typeface="Calibri"/>
              <a:cs typeface="Calibri"/>
            </a:endParaRPr>
          </a:p>
          <a:p>
            <a:pPr marL="2075814">
              <a:lnSpc>
                <a:spcPts val="2280"/>
              </a:lnSpc>
            </a:pPr>
            <a:r>
              <a:rPr sz="2000" spc="-65" dirty="0">
                <a:latin typeface="Calibri"/>
                <a:cs typeface="Calibri"/>
              </a:rPr>
              <a:t>EAT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(100 +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(200 +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dirty="0">
                <a:latin typeface="Calibri"/>
                <a:cs typeface="Calibri"/>
              </a:rPr>
              <a:t>)(1 –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Symbol"/>
                <a:cs typeface="Symbol"/>
              </a:rPr>
              <a:t></a:t>
            </a:r>
            <a:r>
              <a:rPr sz="2000" spc="-2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411480" indent="-398780">
              <a:lnSpc>
                <a:spcPts val="2285"/>
              </a:lnSpc>
              <a:spcBef>
                <a:spcPts val="1920"/>
              </a:spcBef>
              <a:buFont typeface="Arial"/>
              <a:buChar char="•"/>
              <a:tabLst>
                <a:tab pos="411480" algn="l"/>
              </a:tabLst>
            </a:pP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80%,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TLB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search, 100ns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10" dirty="0">
                <a:latin typeface="Calibri"/>
                <a:cs typeface="Calibri"/>
              </a:rPr>
              <a:t>access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ts val="2045"/>
              </a:lnSpc>
              <a:tabLst>
                <a:tab pos="756285" algn="l"/>
              </a:tabLst>
            </a:pPr>
            <a:r>
              <a:rPr spc="-50" dirty="0">
                <a:latin typeface="Arial"/>
                <a:cs typeface="Arial"/>
              </a:rPr>
              <a:t>–</a:t>
            </a:r>
            <a:r>
              <a:rPr dirty="0">
                <a:latin typeface="Arial"/>
                <a:cs typeface="Arial"/>
              </a:rPr>
              <a:t>	</a:t>
            </a:r>
            <a:r>
              <a:rPr spc="-45" dirty="0">
                <a:latin typeface="Calibri"/>
                <a:cs typeface="Calibri"/>
              </a:rPr>
              <a:t>EAT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0.80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120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+ 0.20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220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140ns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240"/>
              </a:spcBef>
            </a:pPr>
            <a:endParaRPr dirty="0">
              <a:latin typeface="Calibri"/>
              <a:cs typeface="Calibri"/>
            </a:endParaRPr>
          </a:p>
          <a:p>
            <a:pPr marL="356870" marR="5080" indent="-344170">
              <a:lnSpc>
                <a:spcPct val="70000"/>
              </a:lnSpc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better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98%,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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TLB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access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ts val="1930"/>
              </a:lnSpc>
              <a:tabLst>
                <a:tab pos="756285" algn="l"/>
              </a:tabLst>
            </a:pPr>
            <a:r>
              <a:rPr spc="-50" dirty="0">
                <a:latin typeface="Arial"/>
                <a:cs typeface="Arial"/>
              </a:rPr>
              <a:t>–</a:t>
            </a:r>
            <a:r>
              <a:rPr dirty="0">
                <a:latin typeface="Arial"/>
                <a:cs typeface="Arial"/>
              </a:rPr>
              <a:t>	</a:t>
            </a:r>
            <a:r>
              <a:rPr spc="-45" dirty="0">
                <a:latin typeface="Calibri"/>
                <a:cs typeface="Calibri"/>
              </a:rPr>
              <a:t>EAT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0.98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120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+ 0.02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220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122ns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3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84" y="82346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35636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Memory</a:t>
            </a:r>
            <a:r>
              <a:rPr spc="-114" dirty="0"/>
              <a:t> </a:t>
            </a:r>
            <a:r>
              <a:rPr spc="-10" dirty="0">
                <a:solidFill>
                  <a:srgbClr val="FF0000"/>
                </a:solidFill>
              </a:rPr>
              <a:t>Protection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773" y="1901599"/>
            <a:ext cx="11493909" cy="307776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6235" marR="79375" indent="-344170" algn="just">
              <a:lnSpc>
                <a:spcPts val="211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protection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implemented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associating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protection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bit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indicate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read-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read-</a:t>
            </a:r>
            <a:r>
              <a:rPr sz="2200" dirty="0">
                <a:latin typeface="Calibri"/>
                <a:cs typeface="Calibri"/>
              </a:rPr>
              <a:t>write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allowed</a:t>
            </a:r>
            <a:endParaRPr sz="2200" dirty="0">
              <a:latin typeface="Calibri"/>
              <a:cs typeface="Calibri"/>
            </a:endParaRPr>
          </a:p>
          <a:p>
            <a:pPr marL="754380" lvl="1" indent="-284480" algn="just">
              <a:spcBef>
                <a:spcPts val="30"/>
              </a:spcBef>
              <a:buFont typeface="Arial"/>
              <a:buChar char="–"/>
              <a:tabLst>
                <a:tab pos="754380" algn="l"/>
              </a:tabLst>
            </a:pPr>
            <a:r>
              <a:rPr sz="2000" dirty="0">
                <a:latin typeface="Calibri"/>
                <a:cs typeface="Calibri"/>
              </a:rPr>
              <a:t>Can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30" dirty="0">
                <a:latin typeface="Calibri"/>
                <a:cs typeface="Calibri"/>
              </a:rPr>
              <a:t> execute-</a:t>
            </a:r>
            <a:r>
              <a:rPr sz="2000" spc="-10" dirty="0">
                <a:latin typeface="Calibri"/>
                <a:cs typeface="Calibri"/>
              </a:rPr>
              <a:t>only,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25" dirty="0">
                <a:latin typeface="Calibri"/>
                <a:cs typeface="Calibri"/>
              </a:rPr>
              <a:t> on</a:t>
            </a:r>
            <a:endParaRPr sz="2000" dirty="0">
              <a:latin typeface="Calibri"/>
              <a:cs typeface="Calibri"/>
            </a:endParaRPr>
          </a:p>
          <a:p>
            <a:pPr marL="356870" indent="-344170">
              <a:spcBef>
                <a:spcPts val="1910"/>
              </a:spcBef>
              <a:buFont typeface="Arial"/>
              <a:buChar char="•"/>
              <a:tabLst>
                <a:tab pos="356870" algn="l"/>
              </a:tabLst>
            </a:pPr>
            <a:r>
              <a:rPr sz="2200" b="1" spc="-35" dirty="0">
                <a:solidFill>
                  <a:srgbClr val="3366FF"/>
                </a:solidFill>
                <a:latin typeface="Calibri"/>
                <a:cs typeface="Calibri"/>
              </a:rPr>
              <a:t>Valid-</a:t>
            </a:r>
            <a:r>
              <a:rPr sz="2200" b="1" spc="-10" dirty="0">
                <a:solidFill>
                  <a:srgbClr val="3366FF"/>
                </a:solidFill>
                <a:latin typeface="Calibri"/>
                <a:cs typeface="Calibri"/>
              </a:rPr>
              <a:t>invalid</a:t>
            </a:r>
            <a:r>
              <a:rPr sz="2200" b="1" spc="-11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attached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 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table:</a:t>
            </a:r>
            <a:endParaRPr sz="2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1920"/>
              </a:lnSpc>
              <a:spcBef>
                <a:spcPts val="475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“valid”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process’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logical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page</a:t>
            </a:r>
            <a:endParaRPr sz="2000" dirty="0">
              <a:latin typeface="Calibri"/>
              <a:cs typeface="Calibri"/>
            </a:endParaRPr>
          </a:p>
          <a:p>
            <a:pPr marL="756285" marR="550545" lvl="1" indent="-287020">
              <a:lnSpc>
                <a:spcPts val="192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“invalid”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process’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logical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space</a:t>
            </a:r>
            <a:endParaRPr sz="2000" dirty="0">
              <a:latin typeface="Calibri"/>
              <a:cs typeface="Calibri"/>
            </a:endParaRPr>
          </a:p>
          <a:p>
            <a:pPr marL="754380" lvl="1" indent="-284480" algn="just">
              <a:spcBef>
                <a:spcPts val="15"/>
              </a:spcBef>
              <a:buFont typeface="Arial"/>
              <a:buChar char="–"/>
              <a:tabLst>
                <a:tab pos="754380" algn="l"/>
              </a:tabLst>
            </a:pP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PTLR</a:t>
            </a:r>
            <a:endParaRPr sz="2000" dirty="0">
              <a:latin typeface="Calibri"/>
              <a:cs typeface="Calibri"/>
            </a:endParaRPr>
          </a:p>
          <a:p>
            <a:pPr marL="356870" indent="-344170">
              <a:spcBef>
                <a:spcPts val="2390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Any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violations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trap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kernel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743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0244" y="39852"/>
            <a:ext cx="2661920" cy="787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49860" marR="5080" indent="-137795">
              <a:lnSpc>
                <a:spcPct val="100000"/>
              </a:lnSpc>
              <a:spcBef>
                <a:spcPts val="95"/>
              </a:spcBef>
            </a:pPr>
            <a:r>
              <a:rPr sz="2500" spc="-20" dirty="0"/>
              <a:t>Valid</a:t>
            </a:r>
            <a:r>
              <a:rPr sz="2500" spc="-70" dirty="0"/>
              <a:t> </a:t>
            </a:r>
            <a:r>
              <a:rPr sz="2500" dirty="0"/>
              <a:t>(v)</a:t>
            </a:r>
            <a:r>
              <a:rPr sz="2500" spc="-45" dirty="0"/>
              <a:t> </a:t>
            </a:r>
            <a:r>
              <a:rPr sz="2500" dirty="0"/>
              <a:t>or</a:t>
            </a:r>
            <a:r>
              <a:rPr sz="2500" spc="-40" dirty="0"/>
              <a:t> </a:t>
            </a:r>
            <a:r>
              <a:rPr sz="2500" spc="-10" dirty="0"/>
              <a:t>Invalid</a:t>
            </a:r>
            <a:r>
              <a:rPr sz="2500" spc="-50" dirty="0"/>
              <a:t> </a:t>
            </a:r>
            <a:r>
              <a:rPr sz="2500" spc="-25" dirty="0"/>
              <a:t>(i) </a:t>
            </a:r>
            <a:r>
              <a:rPr sz="2500" dirty="0"/>
              <a:t>Bit</a:t>
            </a:r>
            <a:r>
              <a:rPr sz="2500" spc="-75" dirty="0"/>
              <a:t> </a:t>
            </a:r>
            <a:r>
              <a:rPr sz="2500" dirty="0"/>
              <a:t>In</a:t>
            </a:r>
            <a:r>
              <a:rPr sz="2500" spc="-45" dirty="0"/>
              <a:t> </a:t>
            </a:r>
            <a:r>
              <a:rPr sz="2500" dirty="0"/>
              <a:t>A</a:t>
            </a:r>
            <a:r>
              <a:rPr sz="2500" spc="-30" dirty="0"/>
              <a:t> </a:t>
            </a:r>
            <a:r>
              <a:rPr sz="2500" dirty="0"/>
              <a:t>Page</a:t>
            </a:r>
            <a:r>
              <a:rPr sz="2500" spc="-50" dirty="0"/>
              <a:t> </a:t>
            </a:r>
            <a:r>
              <a:rPr sz="2500" spc="-20" dirty="0"/>
              <a:t>Table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4400" y="1344980"/>
            <a:ext cx="5505424" cy="47779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64739" y="1084580"/>
            <a:ext cx="314960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14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bit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 space</a:t>
            </a:r>
            <a:r>
              <a:rPr spc="3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(0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16383) Page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2KB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480"/>
              </a:spcBef>
            </a:pPr>
            <a:r>
              <a:rPr dirty="0">
                <a:latin typeface="Calibri"/>
                <a:cs typeface="Calibri"/>
              </a:rPr>
              <a:t>Process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P1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10468</a:t>
            </a:r>
            <a:endParaRPr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0651" y="4877524"/>
            <a:ext cx="786765" cy="539115"/>
            <a:chOff x="1136650" y="4877523"/>
            <a:chExt cx="786765" cy="539115"/>
          </a:xfrm>
        </p:grpSpPr>
        <p:sp>
          <p:nvSpPr>
            <p:cNvPr id="6" name="object 6"/>
            <p:cNvSpPr/>
            <p:nvPr/>
          </p:nvSpPr>
          <p:spPr>
            <a:xfrm>
              <a:off x="1143000" y="4883873"/>
              <a:ext cx="774065" cy="526415"/>
            </a:xfrm>
            <a:custGeom>
              <a:avLst/>
              <a:gdLst/>
              <a:ahLst/>
              <a:cxnLst/>
              <a:rect l="l" t="t" r="r" b="b"/>
              <a:pathLst>
                <a:path w="774064" h="526414">
                  <a:moveTo>
                    <a:pt x="0" y="526326"/>
                  </a:moveTo>
                  <a:lnTo>
                    <a:pt x="773823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8825" y="4883873"/>
              <a:ext cx="88265" cy="80010"/>
            </a:xfrm>
            <a:custGeom>
              <a:avLst/>
              <a:gdLst/>
              <a:ahLst/>
              <a:cxnLst/>
              <a:rect l="l" t="t" r="r" b="b"/>
              <a:pathLst>
                <a:path w="88264" h="80010">
                  <a:moveTo>
                    <a:pt x="0" y="6095"/>
                  </a:moveTo>
                  <a:lnTo>
                    <a:pt x="88011" y="0"/>
                  </a:lnTo>
                  <a:lnTo>
                    <a:pt x="49999" y="79603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07540" y="5580379"/>
            <a:ext cx="212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Internal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fragmentation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341" y="5580379"/>
            <a:ext cx="1890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PTLR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(length)</a:t>
            </a:r>
            <a:endParaRPr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898650" y="2244090"/>
          <a:ext cx="838200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64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DDC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DEF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DDC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345864" y="222752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P1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5141" y="1878685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P2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789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761" y="1541781"/>
            <a:ext cx="10402529" cy="443623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6870" indent="-344170">
              <a:spcBef>
                <a:spcPts val="385"/>
              </a:spcBef>
              <a:buFont typeface="Arial"/>
              <a:buChar char="•"/>
              <a:tabLst>
                <a:tab pos="356870" algn="l"/>
              </a:tabLst>
            </a:pP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users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spcBef>
                <a:spcPts val="29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editor</a:t>
            </a:r>
            <a:endParaRPr sz="2400" dirty="0">
              <a:latin typeface="Calibri"/>
              <a:cs typeface="Calibri"/>
            </a:endParaRPr>
          </a:p>
          <a:p>
            <a:pPr marL="356870" indent="-344170">
              <a:spcBef>
                <a:spcPts val="290"/>
              </a:spcBef>
              <a:buFont typeface="Arial"/>
              <a:buChar char="•"/>
              <a:tabLst>
                <a:tab pos="356870" algn="l"/>
              </a:tabLst>
            </a:pPr>
            <a:r>
              <a:rPr sz="2400" spc="-55" dirty="0">
                <a:latin typeface="Calibri"/>
                <a:cs typeface="Calibri"/>
              </a:rPr>
              <a:t>Text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editor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150KB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50KB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50KB)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spcBef>
                <a:spcPts val="285"/>
              </a:spcBef>
              <a:buFont typeface="Arial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8000KB!</a:t>
            </a:r>
            <a:endParaRPr sz="2400" dirty="0">
              <a:latin typeface="Calibri"/>
              <a:cs typeface="Calibri"/>
            </a:endParaRPr>
          </a:p>
          <a:p>
            <a:pPr marL="356870" indent="-344170">
              <a:spcBef>
                <a:spcPts val="290"/>
              </a:spcBef>
              <a:buFont typeface="Arial"/>
              <a:buChar char="•"/>
              <a:tabLst>
                <a:tab pos="356870" algn="l"/>
              </a:tabLst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Shared</a:t>
            </a:r>
            <a:r>
              <a:rPr sz="2400" b="1" spc="-1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366FF"/>
                </a:solidFill>
                <a:latin typeface="Calibri"/>
                <a:cs typeface="Calibri"/>
              </a:rPr>
              <a:t>code</a:t>
            </a:r>
            <a:endParaRPr sz="2400" dirty="0">
              <a:latin typeface="Calibri"/>
              <a:cs typeface="Calibri"/>
            </a:endParaRPr>
          </a:p>
          <a:p>
            <a:pPr marL="754380" marR="29209" lvl="1" indent="-285115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read-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reentrant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among 	</a:t>
            </a:r>
            <a:r>
              <a:rPr sz="2400" dirty="0">
                <a:latin typeface="Calibri"/>
                <a:cs typeface="Calibri"/>
              </a:rPr>
              <a:t>processes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editors,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compilers,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window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systems)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220"/>
              </a:spcBef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Code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never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</a:t>
            </a:r>
            <a:endParaRPr sz="2000" dirty="0">
              <a:latin typeface="Calibri"/>
              <a:cs typeface="Calibri"/>
            </a:endParaRPr>
          </a:p>
          <a:p>
            <a:pPr marL="356870" indent="-344170">
              <a:spcBef>
                <a:spcPts val="270"/>
              </a:spcBef>
              <a:buFont typeface="Arial"/>
              <a:buChar char="•"/>
              <a:tabLst>
                <a:tab pos="356870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editor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</a:t>
            </a:r>
            <a:endParaRPr sz="2400" dirty="0">
              <a:latin typeface="Calibri"/>
              <a:cs typeface="Calibri"/>
            </a:endParaRPr>
          </a:p>
          <a:p>
            <a:pPr marL="356870" indent="-344170">
              <a:spcBef>
                <a:spcPts val="290"/>
              </a:spcBef>
              <a:buFont typeface="Arial"/>
              <a:buChar char="•"/>
              <a:tabLst>
                <a:tab pos="356870" algn="l"/>
              </a:tabLst>
            </a:pPr>
            <a:r>
              <a:rPr sz="2400" spc="-50" dirty="0">
                <a:latin typeface="Calibri"/>
                <a:cs typeface="Calibri"/>
              </a:rPr>
              <a:t>Total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consumption</a:t>
            </a:r>
            <a:endParaRPr sz="2400" dirty="0">
              <a:latin typeface="Calibri"/>
              <a:cs typeface="Calibri"/>
            </a:endParaRPr>
          </a:p>
          <a:p>
            <a:pPr marL="469900">
              <a:spcBef>
                <a:spcPts val="254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Calibri"/>
                <a:cs typeface="Calibri"/>
              </a:rPr>
              <a:t>40*50+150=2150KB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-24577"/>
            <a:ext cx="9200535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05156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Shared</a:t>
            </a:r>
            <a:r>
              <a:rPr spc="-21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Pages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8356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54305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Shared</a:t>
            </a:r>
            <a:r>
              <a:rPr sz="4000" spc="-170" dirty="0"/>
              <a:t> </a:t>
            </a:r>
            <a:r>
              <a:rPr sz="4000" dirty="0"/>
              <a:t>Pages</a:t>
            </a:r>
            <a:r>
              <a:rPr sz="4000" spc="-155" dirty="0"/>
              <a:t> </a:t>
            </a:r>
            <a:r>
              <a:rPr sz="4000" spc="-10" dirty="0"/>
              <a:t>Example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055" y="1013108"/>
            <a:ext cx="5221757" cy="525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5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26746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Data</a:t>
            </a:r>
            <a:r>
              <a:rPr spc="-1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share:</a:t>
            </a:r>
            <a:r>
              <a:rPr spc="-1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676400" y="1905001"/>
            <a:ext cx="3962400" cy="2677795"/>
          </a:xfrm>
          <a:custGeom>
            <a:avLst/>
            <a:gdLst/>
            <a:ahLst/>
            <a:cxnLst/>
            <a:rect l="l" t="t" r="r" b="b"/>
            <a:pathLst>
              <a:path w="3962400" h="2677795">
                <a:moveTo>
                  <a:pt x="0" y="0"/>
                </a:moveTo>
                <a:lnTo>
                  <a:pt x="3962400" y="0"/>
                </a:lnTo>
                <a:lnTo>
                  <a:pt x="3962400" y="2677655"/>
                </a:lnTo>
                <a:lnTo>
                  <a:pt x="0" y="2677655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141" y="1928876"/>
            <a:ext cx="62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main()</a:t>
            </a: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2508" y="2477515"/>
            <a:ext cx="141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shmid,f,key=3,i,pid; </a:t>
            </a:r>
            <a:r>
              <a:rPr sz="1200" dirty="0">
                <a:latin typeface="Calibri"/>
                <a:cs typeface="Calibri"/>
              </a:rPr>
              <a:t>char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*ptr;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5931" y="3026155"/>
            <a:ext cx="30746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shmid=shmget((key_t)key,100,IPC_CREAT|0666); ptr=shmat(shmid,NULL,0);</a:t>
            </a:r>
            <a:endParaRPr sz="1200">
              <a:latin typeface="Calibri"/>
              <a:cs typeface="Calibri"/>
            </a:endParaRPr>
          </a:p>
          <a:p>
            <a:pPr marL="48895" marR="492759"/>
            <a:r>
              <a:rPr sz="1200" spc="-10" dirty="0">
                <a:latin typeface="Calibri"/>
                <a:cs typeface="Calibri"/>
              </a:rPr>
              <a:t>printf("shmid=%d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ptr=%u\n",shmid,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ptr); </a:t>
            </a:r>
            <a:r>
              <a:rPr sz="1200" spc="-10" dirty="0">
                <a:latin typeface="Calibri"/>
                <a:cs typeface="Calibri"/>
              </a:rPr>
              <a:t>strcpy(ptr,"hello");</a:t>
            </a:r>
            <a:endParaRPr sz="1200">
              <a:latin typeface="Calibri"/>
              <a:cs typeface="Calibri"/>
            </a:endParaRPr>
          </a:p>
          <a:p>
            <a:pPr marL="12700"/>
            <a:r>
              <a:rPr sz="1200" spc="-10" dirty="0">
                <a:latin typeface="Calibri"/>
                <a:cs typeface="Calibri"/>
              </a:rPr>
              <a:t>i=shmdt((char*)ptr);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5140" y="4123435"/>
            <a:ext cx="736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6000" y="2133601"/>
            <a:ext cx="3657600" cy="2400935"/>
          </a:xfrm>
          <a:custGeom>
            <a:avLst/>
            <a:gdLst/>
            <a:ahLst/>
            <a:cxnLst/>
            <a:rect l="l" t="t" r="r" b="b"/>
            <a:pathLst>
              <a:path w="3657600" h="2400935">
                <a:moveTo>
                  <a:pt x="0" y="0"/>
                </a:moveTo>
                <a:lnTo>
                  <a:pt x="3657600" y="0"/>
                </a:lnTo>
                <a:lnTo>
                  <a:pt x="3657600" y="2400655"/>
                </a:lnTo>
                <a:lnTo>
                  <a:pt x="0" y="240065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4741" y="2157476"/>
            <a:ext cx="62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main()</a:t>
            </a:r>
            <a:endParaRPr sz="1200">
              <a:latin typeface="Calibri"/>
              <a:cs typeface="Calibri"/>
            </a:endParaRPr>
          </a:p>
          <a:p>
            <a:pPr marL="12700"/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2108" y="2706115"/>
            <a:ext cx="141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shmid,f,key=3,i,pid; </a:t>
            </a:r>
            <a:r>
              <a:rPr sz="1200" dirty="0">
                <a:latin typeface="Calibri"/>
                <a:cs typeface="Calibri"/>
              </a:rPr>
              <a:t>char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*ptr;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2109" y="3254755"/>
            <a:ext cx="3038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shmid=shmget((key_t)key,100,IPC_CREAT|0666); ptr=shmat(shmid,NULL,0);</a:t>
            </a:r>
            <a:endParaRPr sz="1200">
              <a:latin typeface="Calibri"/>
              <a:cs typeface="Calibri"/>
            </a:endParaRPr>
          </a:p>
          <a:p>
            <a:pPr marL="12700" marR="492759"/>
            <a:r>
              <a:rPr sz="1200" spc="-10" dirty="0">
                <a:latin typeface="Calibri"/>
                <a:cs typeface="Calibri"/>
              </a:rPr>
              <a:t>printf("shmid=%d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ptr=%u\n",shmid,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ptr); </a:t>
            </a:r>
            <a:r>
              <a:rPr sz="1200" spc="-10" dirty="0">
                <a:latin typeface="Calibri"/>
                <a:cs typeface="Calibri"/>
              </a:rPr>
              <a:t>printf("\nstr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%s\n",ptr);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4740" y="3986276"/>
            <a:ext cx="736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2340" y="1541779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0" dirty="0">
                <a:latin typeface="Calibri"/>
                <a:cs typeface="Calibri"/>
              </a:rPr>
              <a:t>writer.c</a:t>
            </a:r>
            <a:endParaRPr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89063" y="1705914"/>
            <a:ext cx="844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reader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.c</a:t>
            </a:r>
            <a:endParaRPr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95800" y="5105400"/>
            <a:ext cx="2514600" cy="1066800"/>
          </a:xfrm>
          <a:custGeom>
            <a:avLst/>
            <a:gdLst/>
            <a:ahLst/>
            <a:cxnLst/>
            <a:rect l="l" t="t" r="r" b="b"/>
            <a:pathLst>
              <a:path w="2514600" h="1066800">
                <a:moveTo>
                  <a:pt x="0" y="0"/>
                </a:moveTo>
                <a:lnTo>
                  <a:pt x="2514600" y="0"/>
                </a:lnTo>
                <a:lnTo>
                  <a:pt x="25146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79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53000" y="5334001"/>
            <a:ext cx="457200" cy="307777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>
              <a:spcBef>
                <a:spcPts val="240"/>
              </a:spcBef>
            </a:pPr>
            <a:r>
              <a:rPr spc="-25" dirty="0">
                <a:latin typeface="Calibri"/>
                <a:cs typeface="Calibri"/>
              </a:rPr>
              <a:t>ptr</a:t>
            </a:r>
            <a:endParaRPr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84450" y="3727451"/>
            <a:ext cx="5107940" cy="1797685"/>
            <a:chOff x="1060450" y="3727450"/>
            <a:chExt cx="5107940" cy="1797685"/>
          </a:xfrm>
        </p:grpSpPr>
        <p:sp>
          <p:nvSpPr>
            <p:cNvPr id="18" name="object 18"/>
            <p:cNvSpPr/>
            <p:nvPr/>
          </p:nvSpPr>
          <p:spPr>
            <a:xfrm>
              <a:off x="1066800" y="3733800"/>
              <a:ext cx="2352675" cy="1777364"/>
            </a:xfrm>
            <a:custGeom>
              <a:avLst/>
              <a:gdLst/>
              <a:ahLst/>
              <a:cxnLst/>
              <a:rect l="l" t="t" r="r" b="b"/>
              <a:pathLst>
                <a:path w="2352675" h="1777364">
                  <a:moveTo>
                    <a:pt x="0" y="0"/>
                  </a:moveTo>
                  <a:lnTo>
                    <a:pt x="2352167" y="1777288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31375" y="5429681"/>
              <a:ext cx="87630" cy="81915"/>
            </a:xfrm>
            <a:custGeom>
              <a:avLst/>
              <a:gdLst/>
              <a:ahLst/>
              <a:cxnLst/>
              <a:rect l="l" t="t" r="r" b="b"/>
              <a:pathLst>
                <a:path w="87629" h="81914">
                  <a:moveTo>
                    <a:pt x="53594" y="0"/>
                  </a:moveTo>
                  <a:lnTo>
                    <a:pt x="87591" y="81407"/>
                  </a:lnTo>
                  <a:lnTo>
                    <a:pt x="0" y="70929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86200" y="4045432"/>
              <a:ext cx="2275840" cy="1473835"/>
            </a:xfrm>
            <a:custGeom>
              <a:avLst/>
              <a:gdLst/>
              <a:ahLst/>
              <a:cxnLst/>
              <a:rect l="l" t="t" r="r" b="b"/>
              <a:pathLst>
                <a:path w="2275840" h="1473835">
                  <a:moveTo>
                    <a:pt x="0" y="1473238"/>
                  </a:moveTo>
                  <a:lnTo>
                    <a:pt x="2275446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73521" y="4045432"/>
              <a:ext cx="88265" cy="78740"/>
            </a:xfrm>
            <a:custGeom>
              <a:avLst/>
              <a:gdLst/>
              <a:ahLst/>
              <a:cxnLst/>
              <a:rect l="l" t="t" r="r" b="b"/>
              <a:pathLst>
                <a:path w="88264" h="78739">
                  <a:moveTo>
                    <a:pt x="0" y="4102"/>
                  </a:moveTo>
                  <a:lnTo>
                    <a:pt x="88125" y="0"/>
                  </a:lnTo>
                  <a:lnTo>
                    <a:pt x="48310" y="78727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241540" y="5536445"/>
            <a:ext cx="808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Shared memory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471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9246" y="74108"/>
            <a:ext cx="6486832" cy="1202496"/>
          </a:xfrm>
          <a:prstGeom prst="rect">
            <a:avLst/>
          </a:prstGeom>
        </p:spPr>
        <p:txBody>
          <a:bodyPr vert="horz" wrap="square" lIns="0" tIns="520306" rIns="0" bIns="0" rtlCol="0" anchor="ctr">
            <a:spAutoFit/>
          </a:bodyPr>
          <a:lstStyle/>
          <a:p>
            <a:pPr marL="1770380">
              <a:lnSpc>
                <a:spcPct val="100000"/>
              </a:lnSpc>
              <a:spcBef>
                <a:spcPts val="90"/>
              </a:spcBef>
            </a:pPr>
            <a:r>
              <a:rPr spc="-20" dirty="0">
                <a:solidFill>
                  <a:srgbClr val="FF0000"/>
                </a:solidFill>
              </a:rPr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9297" y="2667117"/>
            <a:ext cx="4312920" cy="37712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2331720">
              <a:lnSpc>
                <a:spcPct val="90000"/>
              </a:lnSpc>
              <a:spcBef>
                <a:spcPts val="434"/>
              </a:spcBef>
            </a:pPr>
            <a:r>
              <a:rPr sz="2700" dirty="0">
                <a:latin typeface="Calibri"/>
                <a:cs typeface="Calibri"/>
              </a:rPr>
              <a:t>main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program </a:t>
            </a:r>
            <a:r>
              <a:rPr sz="2700" spc="-10" dirty="0">
                <a:latin typeface="Calibri"/>
                <a:cs typeface="Calibri"/>
              </a:rPr>
              <a:t>procedure function method object</a:t>
            </a:r>
            <a:endParaRPr sz="2700" dirty="0">
              <a:latin typeface="Calibri"/>
              <a:cs typeface="Calibri"/>
            </a:endParaRPr>
          </a:p>
          <a:p>
            <a:pPr marL="12700" marR="5080">
              <a:lnSpc>
                <a:spcPts val="2930"/>
              </a:lnSpc>
              <a:spcBef>
                <a:spcPts val="20"/>
              </a:spcBef>
            </a:pPr>
            <a:r>
              <a:rPr sz="2700" dirty="0">
                <a:latin typeface="Calibri"/>
                <a:cs typeface="Calibri"/>
              </a:rPr>
              <a:t>local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variables,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global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variables </a:t>
            </a:r>
            <a:r>
              <a:rPr sz="2700" dirty="0">
                <a:latin typeface="Calibri"/>
                <a:cs typeface="Calibri"/>
              </a:rPr>
              <a:t>common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block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2700"/>
              </a:lnSpc>
            </a:pPr>
            <a:r>
              <a:rPr sz="2700" spc="-10" dirty="0">
                <a:latin typeface="Calibri"/>
                <a:cs typeface="Calibri"/>
              </a:rPr>
              <a:t>stack</a:t>
            </a:r>
            <a:endParaRPr sz="2700" dirty="0">
              <a:latin typeface="Calibri"/>
              <a:cs typeface="Calibri"/>
            </a:endParaRPr>
          </a:p>
          <a:p>
            <a:pPr marL="12700" marR="2512060">
              <a:lnSpc>
                <a:spcPts val="2900"/>
              </a:lnSpc>
              <a:spcBef>
                <a:spcPts val="225"/>
              </a:spcBef>
            </a:pPr>
            <a:r>
              <a:rPr sz="2700" dirty="0">
                <a:latin typeface="Calibri"/>
                <a:cs typeface="Calibri"/>
              </a:rPr>
              <a:t>symbol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table </a:t>
            </a:r>
            <a:r>
              <a:rPr sz="2700" spc="-10" dirty="0">
                <a:latin typeface="Calibri"/>
                <a:cs typeface="Calibri"/>
              </a:rPr>
              <a:t>arrays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4568" y="1276604"/>
            <a:ext cx="10825315" cy="141872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6870" marR="71120" indent="-344805">
              <a:lnSpc>
                <a:spcPct val="69600"/>
              </a:lnSpc>
              <a:spcBef>
                <a:spcPts val="109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Memory-</a:t>
            </a:r>
            <a:r>
              <a:rPr sz="2700" spc="-20" dirty="0">
                <a:latin typeface="Calibri"/>
                <a:cs typeface="Calibri"/>
              </a:rPr>
              <a:t>management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scheme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supports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view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of </a:t>
            </a:r>
            <a:r>
              <a:rPr sz="2700" spc="-10" dirty="0">
                <a:latin typeface="Calibri"/>
                <a:cs typeface="Calibri"/>
              </a:rPr>
              <a:t>memory</a:t>
            </a:r>
            <a:endParaRPr sz="2700" dirty="0">
              <a:latin typeface="Calibri"/>
              <a:cs typeface="Calibri"/>
            </a:endParaRPr>
          </a:p>
          <a:p>
            <a:pPr marL="356870" indent="-344170">
              <a:lnSpc>
                <a:spcPts val="3100"/>
              </a:lnSpc>
              <a:spcBef>
                <a:spcPts val="430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collection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segments</a:t>
            </a:r>
            <a:endParaRPr sz="2700" dirty="0">
              <a:latin typeface="Calibri"/>
              <a:cs typeface="Calibri"/>
            </a:endParaRPr>
          </a:p>
          <a:p>
            <a:pPr marL="469900">
              <a:lnSpc>
                <a:spcPts val="2395"/>
              </a:lnSpc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15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25" dirty="0">
                <a:latin typeface="Calibri"/>
                <a:cs typeface="Calibri"/>
              </a:rPr>
              <a:t> as:</a:t>
            </a:r>
            <a:endParaRPr sz="2400" dirty="0">
              <a:latin typeface="Calibri"/>
              <a:cs typeface="Calibri"/>
            </a:endParaRPr>
          </a:p>
          <a:p>
            <a:pPr marR="5080" algn="r">
              <a:lnSpc>
                <a:spcPts val="1810"/>
              </a:lnSpc>
            </a:pPr>
            <a:r>
              <a:rPr dirty="0">
                <a:latin typeface="Calibri"/>
                <a:cs typeface="Calibri"/>
              </a:rPr>
              <a:t>Compiler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generates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3541" y="2959100"/>
            <a:ext cx="2124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segments</a:t>
            </a:r>
            <a:endParaRPr>
              <a:latin typeface="Calibri"/>
              <a:cs typeface="Calibri"/>
            </a:endParaRPr>
          </a:p>
          <a:p>
            <a:pPr marL="12700"/>
            <a:r>
              <a:rPr dirty="0">
                <a:latin typeface="Calibri"/>
                <a:cs typeface="Calibri"/>
              </a:rPr>
              <a:t>Loader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assign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seg#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61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1" y="-13680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72834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User’s</a:t>
            </a:r>
            <a:r>
              <a:rPr spc="-9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View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Program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65693" y="1260786"/>
            <a:ext cx="4107815" cy="4838700"/>
            <a:chOff x="841692" y="1260786"/>
            <a:chExt cx="4107815" cy="4838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692" y="1260786"/>
              <a:ext cx="3695693" cy="48386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62400" y="4571999"/>
              <a:ext cx="981075" cy="754380"/>
            </a:xfrm>
            <a:custGeom>
              <a:avLst/>
              <a:gdLst/>
              <a:ahLst/>
              <a:cxnLst/>
              <a:rect l="l" t="t" r="r" b="b"/>
              <a:pathLst>
                <a:path w="981075" h="754379">
                  <a:moveTo>
                    <a:pt x="0" y="0"/>
                  </a:moveTo>
                  <a:lnTo>
                    <a:pt x="980630" y="754329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5540" y="5244642"/>
              <a:ext cx="87630" cy="81915"/>
            </a:xfrm>
            <a:custGeom>
              <a:avLst/>
              <a:gdLst/>
              <a:ahLst/>
              <a:cxnLst/>
              <a:rect l="l" t="t" r="r" b="b"/>
              <a:pathLst>
                <a:path w="87629" h="81914">
                  <a:moveTo>
                    <a:pt x="54203" y="0"/>
                  </a:moveTo>
                  <a:lnTo>
                    <a:pt x="87490" y="81699"/>
                  </a:lnTo>
                  <a:lnTo>
                    <a:pt x="0" y="70459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65341" y="1770379"/>
            <a:ext cx="262064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865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User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specifies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address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two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quantities</a:t>
            </a:r>
            <a:endParaRPr>
              <a:latin typeface="Calibri"/>
              <a:cs typeface="Calibri"/>
            </a:endParaRPr>
          </a:p>
          <a:p>
            <a:pPr marL="357505" indent="-344805">
              <a:buAutoNum type="alphaLcParenBoth"/>
              <a:tabLst>
                <a:tab pos="357505" algn="l"/>
              </a:tabLst>
            </a:pPr>
            <a:r>
              <a:rPr dirty="0">
                <a:latin typeface="Calibri"/>
                <a:cs typeface="Calibri"/>
              </a:rPr>
              <a:t>Segment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name</a:t>
            </a:r>
            <a:endParaRPr>
              <a:latin typeface="Calibri"/>
              <a:cs typeface="Calibri"/>
            </a:endParaRPr>
          </a:p>
          <a:p>
            <a:pPr marL="357505" indent="-344805">
              <a:buAutoNum type="alphaLcParenBoth"/>
              <a:tabLst>
                <a:tab pos="357505" algn="l"/>
              </a:tabLst>
            </a:pPr>
            <a:r>
              <a:rPr dirty="0">
                <a:latin typeface="Calibri"/>
                <a:cs typeface="Calibri"/>
              </a:rPr>
              <a:t>Segment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offset</a:t>
            </a:r>
            <a:endParaRPr>
              <a:latin typeface="Calibri"/>
              <a:cs typeface="Calibri"/>
            </a:endParaRPr>
          </a:p>
          <a:p>
            <a:pPr>
              <a:spcBef>
                <a:spcPts val="2120"/>
              </a:spcBef>
            </a:pPr>
            <a:endParaRPr>
              <a:latin typeface="Calibri"/>
              <a:cs typeface="Calibri"/>
            </a:endParaRPr>
          </a:p>
          <a:p>
            <a:pPr marL="12700" marR="5080"/>
            <a:r>
              <a:rPr dirty="0">
                <a:latin typeface="Calibri"/>
                <a:cs typeface="Calibri"/>
              </a:rPr>
              <a:t>Logical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address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contains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tuple</a:t>
            </a:r>
            <a:endParaRPr>
              <a:latin typeface="Calibri"/>
              <a:cs typeface="Calibri"/>
            </a:endParaRPr>
          </a:p>
          <a:p>
            <a:pPr marL="12700"/>
            <a:r>
              <a:rPr spc="-10" dirty="0">
                <a:latin typeface="Calibri"/>
                <a:cs typeface="Calibri"/>
              </a:rPr>
              <a:t>&lt;segment#,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offset&gt;</a:t>
            </a:r>
            <a:endParaRPr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3340" y="5342851"/>
            <a:ext cx="37477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spc="-10" dirty="0">
                <a:latin typeface="Calibri"/>
                <a:cs typeface="Calibri"/>
              </a:rPr>
              <a:t>Variable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segments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without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order</a:t>
            </a:r>
            <a:endParaRPr>
              <a:latin typeface="Calibri"/>
              <a:cs typeface="Calibri"/>
            </a:endParaRPr>
          </a:p>
          <a:p>
            <a:pPr marL="298450" indent="-285750">
              <a:buFont typeface="Arial"/>
              <a:buChar char="•"/>
              <a:tabLst>
                <a:tab pos="298450" algn="l"/>
              </a:tabLst>
            </a:pPr>
            <a:r>
              <a:rPr dirty="0">
                <a:latin typeface="Calibri"/>
                <a:cs typeface="Calibri"/>
              </a:rPr>
              <a:t>Length=&gt;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purpose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program</a:t>
            </a:r>
            <a:endParaRPr>
              <a:latin typeface="Calibri"/>
              <a:cs typeface="Calibri"/>
            </a:endParaRPr>
          </a:p>
          <a:p>
            <a:pPr marL="298450" indent="-285750">
              <a:buFont typeface="Arial"/>
              <a:buChar char="•"/>
              <a:tabLst>
                <a:tab pos="298450" algn="l"/>
              </a:tabLst>
            </a:pPr>
            <a:r>
              <a:rPr dirty="0">
                <a:latin typeface="Calibri"/>
                <a:cs typeface="Calibri"/>
              </a:rPr>
              <a:t>Elements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identified by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offset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675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9832"/>
            <a:ext cx="608711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Logical</a:t>
            </a:r>
            <a:r>
              <a:rPr sz="4000" spc="-12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View</a:t>
            </a:r>
            <a:r>
              <a:rPr sz="4000" spc="-5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of</a:t>
            </a:r>
            <a:r>
              <a:rPr sz="4000" spc="-7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Segmentation</a:t>
            </a:r>
            <a:endParaRPr sz="4000" dirty="0">
              <a:solidFill>
                <a:srgbClr val="FF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65450" y="1165225"/>
            <a:ext cx="2908300" cy="3975100"/>
            <a:chOff x="1441450" y="1165225"/>
            <a:chExt cx="2908300" cy="3975100"/>
          </a:xfrm>
        </p:grpSpPr>
        <p:sp>
          <p:nvSpPr>
            <p:cNvPr id="4" name="object 4"/>
            <p:cNvSpPr/>
            <p:nvPr/>
          </p:nvSpPr>
          <p:spPr>
            <a:xfrm>
              <a:off x="1447800" y="1171575"/>
              <a:ext cx="2895600" cy="3962400"/>
            </a:xfrm>
            <a:custGeom>
              <a:avLst/>
              <a:gdLst/>
              <a:ahLst/>
              <a:cxnLst/>
              <a:rect l="l" t="t" r="r" b="b"/>
              <a:pathLst>
                <a:path w="2895600" h="3962400">
                  <a:moveTo>
                    <a:pt x="0" y="1981200"/>
                  </a:moveTo>
                  <a:lnTo>
                    <a:pt x="556" y="1925745"/>
                  </a:lnTo>
                  <a:lnTo>
                    <a:pt x="2215" y="1870667"/>
                  </a:lnTo>
                  <a:lnTo>
                    <a:pt x="4962" y="1815987"/>
                  </a:lnTo>
                  <a:lnTo>
                    <a:pt x="8783" y="1761723"/>
                  </a:lnTo>
                  <a:lnTo>
                    <a:pt x="13663" y="1707895"/>
                  </a:lnTo>
                  <a:lnTo>
                    <a:pt x="19588" y="1654524"/>
                  </a:lnTo>
                  <a:lnTo>
                    <a:pt x="26543" y="1601629"/>
                  </a:lnTo>
                  <a:lnTo>
                    <a:pt x="34514" y="1549230"/>
                  </a:lnTo>
                  <a:lnTo>
                    <a:pt x="43486" y="1497347"/>
                  </a:lnTo>
                  <a:lnTo>
                    <a:pt x="53444" y="1446000"/>
                  </a:lnTo>
                  <a:lnTo>
                    <a:pt x="64375" y="1395209"/>
                  </a:lnTo>
                  <a:lnTo>
                    <a:pt x="76263" y="1344993"/>
                  </a:lnTo>
                  <a:lnTo>
                    <a:pt x="89095" y="1295373"/>
                  </a:lnTo>
                  <a:lnTo>
                    <a:pt x="102855" y="1246367"/>
                  </a:lnTo>
                  <a:lnTo>
                    <a:pt x="117529" y="1197997"/>
                  </a:lnTo>
                  <a:lnTo>
                    <a:pt x="133103" y="1150282"/>
                  </a:lnTo>
                  <a:lnTo>
                    <a:pt x="149561" y="1103242"/>
                  </a:lnTo>
                  <a:lnTo>
                    <a:pt x="166891" y="1056897"/>
                  </a:lnTo>
                  <a:lnTo>
                    <a:pt x="185076" y="1011266"/>
                  </a:lnTo>
                  <a:lnTo>
                    <a:pt x="204103" y="966370"/>
                  </a:lnTo>
                  <a:lnTo>
                    <a:pt x="223957" y="922228"/>
                  </a:lnTo>
                  <a:lnTo>
                    <a:pt x="244623" y="878860"/>
                  </a:lnTo>
                  <a:lnTo>
                    <a:pt x="266087" y="836286"/>
                  </a:lnTo>
                  <a:lnTo>
                    <a:pt x="288335" y="794526"/>
                  </a:lnTo>
                  <a:lnTo>
                    <a:pt x="311351" y="753600"/>
                  </a:lnTo>
                  <a:lnTo>
                    <a:pt x="335122" y="713527"/>
                  </a:lnTo>
                  <a:lnTo>
                    <a:pt x="359633" y="674328"/>
                  </a:lnTo>
                  <a:lnTo>
                    <a:pt x="384870" y="636022"/>
                  </a:lnTo>
                  <a:lnTo>
                    <a:pt x="410817" y="598629"/>
                  </a:lnTo>
                  <a:lnTo>
                    <a:pt x="437460" y="562170"/>
                  </a:lnTo>
                  <a:lnTo>
                    <a:pt x="464786" y="526663"/>
                  </a:lnTo>
                  <a:lnTo>
                    <a:pt x="492779" y="492129"/>
                  </a:lnTo>
                  <a:lnTo>
                    <a:pt x="521424" y="458588"/>
                  </a:lnTo>
                  <a:lnTo>
                    <a:pt x="550708" y="426059"/>
                  </a:lnTo>
                  <a:lnTo>
                    <a:pt x="580616" y="394563"/>
                  </a:lnTo>
                  <a:lnTo>
                    <a:pt x="611133" y="364119"/>
                  </a:lnTo>
                  <a:lnTo>
                    <a:pt x="642244" y="334747"/>
                  </a:lnTo>
                  <a:lnTo>
                    <a:pt x="673936" y="306466"/>
                  </a:lnTo>
                  <a:lnTo>
                    <a:pt x="706194" y="279298"/>
                  </a:lnTo>
                  <a:lnTo>
                    <a:pt x="739003" y="253262"/>
                  </a:lnTo>
                  <a:lnTo>
                    <a:pt x="772348" y="228376"/>
                  </a:lnTo>
                  <a:lnTo>
                    <a:pt x="806216" y="204663"/>
                  </a:lnTo>
                  <a:lnTo>
                    <a:pt x="840592" y="182140"/>
                  </a:lnTo>
                  <a:lnTo>
                    <a:pt x="875460" y="160829"/>
                  </a:lnTo>
                  <a:lnTo>
                    <a:pt x="910808" y="140749"/>
                  </a:lnTo>
                  <a:lnTo>
                    <a:pt x="946619" y="121919"/>
                  </a:lnTo>
                  <a:lnTo>
                    <a:pt x="982880" y="104360"/>
                  </a:lnTo>
                  <a:lnTo>
                    <a:pt x="1019576" y="88092"/>
                  </a:lnTo>
                  <a:lnTo>
                    <a:pt x="1056693" y="73134"/>
                  </a:lnTo>
                  <a:lnTo>
                    <a:pt x="1094216" y="59507"/>
                  </a:lnTo>
                  <a:lnTo>
                    <a:pt x="1132130" y="47230"/>
                  </a:lnTo>
                  <a:lnTo>
                    <a:pt x="1170422" y="36322"/>
                  </a:lnTo>
                  <a:lnTo>
                    <a:pt x="1209075" y="26805"/>
                  </a:lnTo>
                  <a:lnTo>
                    <a:pt x="1248077" y="18697"/>
                  </a:lnTo>
                  <a:lnTo>
                    <a:pt x="1287413" y="12019"/>
                  </a:lnTo>
                  <a:lnTo>
                    <a:pt x="1327067" y="6790"/>
                  </a:lnTo>
                  <a:lnTo>
                    <a:pt x="1367026" y="3031"/>
                  </a:lnTo>
                  <a:lnTo>
                    <a:pt x="1407275" y="761"/>
                  </a:lnTo>
                  <a:lnTo>
                    <a:pt x="1447800" y="0"/>
                  </a:lnTo>
                  <a:lnTo>
                    <a:pt x="1488324" y="761"/>
                  </a:lnTo>
                  <a:lnTo>
                    <a:pt x="1528574" y="3031"/>
                  </a:lnTo>
                  <a:lnTo>
                    <a:pt x="1568533" y="6790"/>
                  </a:lnTo>
                  <a:lnTo>
                    <a:pt x="1608188" y="12019"/>
                  </a:lnTo>
                  <a:lnTo>
                    <a:pt x="1647524" y="18697"/>
                  </a:lnTo>
                  <a:lnTo>
                    <a:pt x="1686527" y="26805"/>
                  </a:lnTo>
                  <a:lnTo>
                    <a:pt x="1725181" y="36322"/>
                  </a:lnTo>
                  <a:lnTo>
                    <a:pt x="1763473" y="47230"/>
                  </a:lnTo>
                  <a:lnTo>
                    <a:pt x="1801387" y="59507"/>
                  </a:lnTo>
                  <a:lnTo>
                    <a:pt x="1838911" y="73134"/>
                  </a:lnTo>
                  <a:lnTo>
                    <a:pt x="1876027" y="88092"/>
                  </a:lnTo>
                  <a:lnTo>
                    <a:pt x="1912724" y="104360"/>
                  </a:lnTo>
                  <a:lnTo>
                    <a:pt x="1948985" y="121919"/>
                  </a:lnTo>
                  <a:lnTo>
                    <a:pt x="1984797" y="140749"/>
                  </a:lnTo>
                  <a:lnTo>
                    <a:pt x="2020144" y="160829"/>
                  </a:lnTo>
                  <a:lnTo>
                    <a:pt x="2055013" y="182140"/>
                  </a:lnTo>
                  <a:lnTo>
                    <a:pt x="2089388" y="204663"/>
                  </a:lnTo>
                  <a:lnTo>
                    <a:pt x="2123256" y="228376"/>
                  </a:lnTo>
                  <a:lnTo>
                    <a:pt x="2156602" y="253262"/>
                  </a:lnTo>
                  <a:lnTo>
                    <a:pt x="2189411" y="279298"/>
                  </a:lnTo>
                  <a:lnTo>
                    <a:pt x="2221668" y="306466"/>
                  </a:lnTo>
                  <a:lnTo>
                    <a:pt x="2253360" y="334747"/>
                  </a:lnTo>
                  <a:lnTo>
                    <a:pt x="2284472" y="364119"/>
                  </a:lnTo>
                  <a:lnTo>
                    <a:pt x="2314989" y="394563"/>
                  </a:lnTo>
                  <a:lnTo>
                    <a:pt x="2344896" y="426059"/>
                  </a:lnTo>
                  <a:lnTo>
                    <a:pt x="2374180" y="458588"/>
                  </a:lnTo>
                  <a:lnTo>
                    <a:pt x="2402826" y="492129"/>
                  </a:lnTo>
                  <a:lnTo>
                    <a:pt x="2430818" y="526663"/>
                  </a:lnTo>
                  <a:lnTo>
                    <a:pt x="2458143" y="562170"/>
                  </a:lnTo>
                  <a:lnTo>
                    <a:pt x="2484787" y="598629"/>
                  </a:lnTo>
                  <a:lnTo>
                    <a:pt x="2510734" y="636022"/>
                  </a:lnTo>
                  <a:lnTo>
                    <a:pt x="2535970" y="674328"/>
                  </a:lnTo>
                  <a:lnTo>
                    <a:pt x="2560481" y="713527"/>
                  </a:lnTo>
                  <a:lnTo>
                    <a:pt x="2584252" y="753600"/>
                  </a:lnTo>
                  <a:lnTo>
                    <a:pt x="2607268" y="794526"/>
                  </a:lnTo>
                  <a:lnTo>
                    <a:pt x="2629515" y="836286"/>
                  </a:lnTo>
                  <a:lnTo>
                    <a:pt x="2650979" y="878860"/>
                  </a:lnTo>
                  <a:lnTo>
                    <a:pt x="2671646" y="922228"/>
                  </a:lnTo>
                  <a:lnTo>
                    <a:pt x="2691499" y="966370"/>
                  </a:lnTo>
                  <a:lnTo>
                    <a:pt x="2710526" y="1011266"/>
                  </a:lnTo>
                  <a:lnTo>
                    <a:pt x="2728711" y="1056897"/>
                  </a:lnTo>
                  <a:lnTo>
                    <a:pt x="2746040" y="1103242"/>
                  </a:lnTo>
                  <a:lnTo>
                    <a:pt x="2762498" y="1150282"/>
                  </a:lnTo>
                  <a:lnTo>
                    <a:pt x="2778072" y="1197997"/>
                  </a:lnTo>
                  <a:lnTo>
                    <a:pt x="2792746" y="1246367"/>
                  </a:lnTo>
                  <a:lnTo>
                    <a:pt x="2806506" y="1295373"/>
                  </a:lnTo>
                  <a:lnTo>
                    <a:pt x="2819337" y="1344993"/>
                  </a:lnTo>
                  <a:lnTo>
                    <a:pt x="2831225" y="1395209"/>
                  </a:lnTo>
                  <a:lnTo>
                    <a:pt x="2842156" y="1446000"/>
                  </a:lnTo>
                  <a:lnTo>
                    <a:pt x="2852114" y="1497347"/>
                  </a:lnTo>
                  <a:lnTo>
                    <a:pt x="2861086" y="1549230"/>
                  </a:lnTo>
                  <a:lnTo>
                    <a:pt x="2869056" y="1601629"/>
                  </a:lnTo>
                  <a:lnTo>
                    <a:pt x="2876011" y="1654524"/>
                  </a:lnTo>
                  <a:lnTo>
                    <a:pt x="2881936" y="1707895"/>
                  </a:lnTo>
                  <a:lnTo>
                    <a:pt x="2886816" y="1761723"/>
                  </a:lnTo>
                  <a:lnTo>
                    <a:pt x="2890637" y="1815987"/>
                  </a:lnTo>
                  <a:lnTo>
                    <a:pt x="2893384" y="1870667"/>
                  </a:lnTo>
                  <a:lnTo>
                    <a:pt x="2895043" y="1925745"/>
                  </a:lnTo>
                  <a:lnTo>
                    <a:pt x="2895600" y="1981200"/>
                  </a:lnTo>
                  <a:lnTo>
                    <a:pt x="2895043" y="2036655"/>
                  </a:lnTo>
                  <a:lnTo>
                    <a:pt x="2893384" y="2091733"/>
                  </a:lnTo>
                  <a:lnTo>
                    <a:pt x="2890637" y="2146414"/>
                  </a:lnTo>
                  <a:lnTo>
                    <a:pt x="2886816" y="2200679"/>
                  </a:lnTo>
                  <a:lnTo>
                    <a:pt x="2881936" y="2254507"/>
                  </a:lnTo>
                  <a:lnTo>
                    <a:pt x="2876011" y="2307878"/>
                  </a:lnTo>
                  <a:lnTo>
                    <a:pt x="2869056" y="2360774"/>
                  </a:lnTo>
                  <a:lnTo>
                    <a:pt x="2861086" y="2413173"/>
                  </a:lnTo>
                  <a:lnTo>
                    <a:pt x="2852114" y="2465056"/>
                  </a:lnTo>
                  <a:lnTo>
                    <a:pt x="2842156" y="2516403"/>
                  </a:lnTo>
                  <a:lnTo>
                    <a:pt x="2831225" y="2567195"/>
                  </a:lnTo>
                  <a:lnTo>
                    <a:pt x="2819337" y="2617411"/>
                  </a:lnTo>
                  <a:lnTo>
                    <a:pt x="2806506" y="2667032"/>
                  </a:lnTo>
                  <a:lnTo>
                    <a:pt x="2792746" y="2716037"/>
                  </a:lnTo>
                  <a:lnTo>
                    <a:pt x="2778072" y="2764407"/>
                  </a:lnTo>
                  <a:lnTo>
                    <a:pt x="2762498" y="2812122"/>
                  </a:lnTo>
                  <a:lnTo>
                    <a:pt x="2746040" y="2859162"/>
                  </a:lnTo>
                  <a:lnTo>
                    <a:pt x="2728711" y="2905508"/>
                  </a:lnTo>
                  <a:lnTo>
                    <a:pt x="2710526" y="2951139"/>
                  </a:lnTo>
                  <a:lnTo>
                    <a:pt x="2691499" y="2996035"/>
                  </a:lnTo>
                  <a:lnTo>
                    <a:pt x="2671646" y="3040177"/>
                  </a:lnTo>
                  <a:lnTo>
                    <a:pt x="2650979" y="3083545"/>
                  </a:lnTo>
                  <a:lnTo>
                    <a:pt x="2629515" y="3126119"/>
                  </a:lnTo>
                  <a:lnTo>
                    <a:pt x="2607268" y="3167879"/>
                  </a:lnTo>
                  <a:lnTo>
                    <a:pt x="2584252" y="3208805"/>
                  </a:lnTo>
                  <a:lnTo>
                    <a:pt x="2560481" y="3248877"/>
                  </a:lnTo>
                  <a:lnTo>
                    <a:pt x="2535970" y="3288076"/>
                  </a:lnTo>
                  <a:lnTo>
                    <a:pt x="2510734" y="3326382"/>
                  </a:lnTo>
                  <a:lnTo>
                    <a:pt x="2484787" y="3363775"/>
                  </a:lnTo>
                  <a:lnTo>
                    <a:pt x="2458143" y="3400234"/>
                  </a:lnTo>
                  <a:lnTo>
                    <a:pt x="2430818" y="3435741"/>
                  </a:lnTo>
                  <a:lnTo>
                    <a:pt x="2402826" y="3470274"/>
                  </a:lnTo>
                  <a:lnTo>
                    <a:pt x="2374180" y="3503815"/>
                  </a:lnTo>
                  <a:lnTo>
                    <a:pt x="2344896" y="3536344"/>
                  </a:lnTo>
                  <a:lnTo>
                    <a:pt x="2314989" y="3567840"/>
                  </a:lnTo>
                  <a:lnTo>
                    <a:pt x="2284472" y="3598284"/>
                  </a:lnTo>
                  <a:lnTo>
                    <a:pt x="2253360" y="3627656"/>
                  </a:lnTo>
                  <a:lnTo>
                    <a:pt x="2221668" y="3655936"/>
                  </a:lnTo>
                  <a:lnTo>
                    <a:pt x="2189411" y="3683104"/>
                  </a:lnTo>
                  <a:lnTo>
                    <a:pt x="2156602" y="3709140"/>
                  </a:lnTo>
                  <a:lnTo>
                    <a:pt x="2123256" y="3734025"/>
                  </a:lnTo>
                  <a:lnTo>
                    <a:pt x="2089388" y="3757738"/>
                  </a:lnTo>
                  <a:lnTo>
                    <a:pt x="2055013" y="3780261"/>
                  </a:lnTo>
                  <a:lnTo>
                    <a:pt x="2020144" y="3801572"/>
                  </a:lnTo>
                  <a:lnTo>
                    <a:pt x="1984797" y="3821652"/>
                  </a:lnTo>
                  <a:lnTo>
                    <a:pt x="1948985" y="3840481"/>
                  </a:lnTo>
                  <a:lnTo>
                    <a:pt x="1912724" y="3858040"/>
                  </a:lnTo>
                  <a:lnTo>
                    <a:pt x="1876027" y="3874308"/>
                  </a:lnTo>
                  <a:lnTo>
                    <a:pt x="1838911" y="3889265"/>
                  </a:lnTo>
                  <a:lnTo>
                    <a:pt x="1801387" y="3902893"/>
                  </a:lnTo>
                  <a:lnTo>
                    <a:pt x="1763473" y="3915170"/>
                  </a:lnTo>
                  <a:lnTo>
                    <a:pt x="1725181" y="3926077"/>
                  </a:lnTo>
                  <a:lnTo>
                    <a:pt x="1686527" y="3935595"/>
                  </a:lnTo>
                  <a:lnTo>
                    <a:pt x="1647524" y="3943702"/>
                  </a:lnTo>
                  <a:lnTo>
                    <a:pt x="1608188" y="3950380"/>
                  </a:lnTo>
                  <a:lnTo>
                    <a:pt x="1568533" y="3955609"/>
                  </a:lnTo>
                  <a:lnTo>
                    <a:pt x="1528574" y="3959368"/>
                  </a:lnTo>
                  <a:lnTo>
                    <a:pt x="1488324" y="3961638"/>
                  </a:lnTo>
                  <a:lnTo>
                    <a:pt x="1447800" y="3962400"/>
                  </a:lnTo>
                  <a:lnTo>
                    <a:pt x="1407275" y="3961638"/>
                  </a:lnTo>
                  <a:lnTo>
                    <a:pt x="1367026" y="3959368"/>
                  </a:lnTo>
                  <a:lnTo>
                    <a:pt x="1327067" y="3955609"/>
                  </a:lnTo>
                  <a:lnTo>
                    <a:pt x="1287413" y="3950380"/>
                  </a:lnTo>
                  <a:lnTo>
                    <a:pt x="1248077" y="3943702"/>
                  </a:lnTo>
                  <a:lnTo>
                    <a:pt x="1209075" y="3935595"/>
                  </a:lnTo>
                  <a:lnTo>
                    <a:pt x="1170422" y="3926077"/>
                  </a:lnTo>
                  <a:lnTo>
                    <a:pt x="1132130" y="3915170"/>
                  </a:lnTo>
                  <a:lnTo>
                    <a:pt x="1094216" y="3902893"/>
                  </a:lnTo>
                  <a:lnTo>
                    <a:pt x="1056693" y="3889265"/>
                  </a:lnTo>
                  <a:lnTo>
                    <a:pt x="1019576" y="3874308"/>
                  </a:lnTo>
                  <a:lnTo>
                    <a:pt x="982880" y="3858040"/>
                  </a:lnTo>
                  <a:lnTo>
                    <a:pt x="946619" y="3840481"/>
                  </a:lnTo>
                  <a:lnTo>
                    <a:pt x="910808" y="3821652"/>
                  </a:lnTo>
                  <a:lnTo>
                    <a:pt x="875460" y="3801572"/>
                  </a:lnTo>
                  <a:lnTo>
                    <a:pt x="840592" y="3780261"/>
                  </a:lnTo>
                  <a:lnTo>
                    <a:pt x="806216" y="3757738"/>
                  </a:lnTo>
                  <a:lnTo>
                    <a:pt x="772348" y="3734025"/>
                  </a:lnTo>
                  <a:lnTo>
                    <a:pt x="739003" y="3709140"/>
                  </a:lnTo>
                  <a:lnTo>
                    <a:pt x="706194" y="3683104"/>
                  </a:lnTo>
                  <a:lnTo>
                    <a:pt x="673936" y="3655936"/>
                  </a:lnTo>
                  <a:lnTo>
                    <a:pt x="642244" y="3627656"/>
                  </a:lnTo>
                  <a:lnTo>
                    <a:pt x="611133" y="3598284"/>
                  </a:lnTo>
                  <a:lnTo>
                    <a:pt x="580616" y="3567840"/>
                  </a:lnTo>
                  <a:lnTo>
                    <a:pt x="550708" y="3536344"/>
                  </a:lnTo>
                  <a:lnTo>
                    <a:pt x="521424" y="3503815"/>
                  </a:lnTo>
                  <a:lnTo>
                    <a:pt x="492779" y="3470274"/>
                  </a:lnTo>
                  <a:lnTo>
                    <a:pt x="464786" y="3435741"/>
                  </a:lnTo>
                  <a:lnTo>
                    <a:pt x="437460" y="3400234"/>
                  </a:lnTo>
                  <a:lnTo>
                    <a:pt x="410817" y="3363775"/>
                  </a:lnTo>
                  <a:lnTo>
                    <a:pt x="384870" y="3326382"/>
                  </a:lnTo>
                  <a:lnTo>
                    <a:pt x="359633" y="3288076"/>
                  </a:lnTo>
                  <a:lnTo>
                    <a:pt x="335122" y="3248877"/>
                  </a:lnTo>
                  <a:lnTo>
                    <a:pt x="311351" y="3208805"/>
                  </a:lnTo>
                  <a:lnTo>
                    <a:pt x="288335" y="3167879"/>
                  </a:lnTo>
                  <a:lnTo>
                    <a:pt x="266087" y="3126119"/>
                  </a:lnTo>
                  <a:lnTo>
                    <a:pt x="244623" y="3083545"/>
                  </a:lnTo>
                  <a:lnTo>
                    <a:pt x="223957" y="3040177"/>
                  </a:lnTo>
                  <a:lnTo>
                    <a:pt x="204103" y="2996035"/>
                  </a:lnTo>
                  <a:lnTo>
                    <a:pt x="185076" y="2951139"/>
                  </a:lnTo>
                  <a:lnTo>
                    <a:pt x="166891" y="2905508"/>
                  </a:lnTo>
                  <a:lnTo>
                    <a:pt x="149561" y="2859162"/>
                  </a:lnTo>
                  <a:lnTo>
                    <a:pt x="133103" y="2812122"/>
                  </a:lnTo>
                  <a:lnTo>
                    <a:pt x="117529" y="2764407"/>
                  </a:lnTo>
                  <a:lnTo>
                    <a:pt x="102855" y="2716037"/>
                  </a:lnTo>
                  <a:lnTo>
                    <a:pt x="89095" y="2667032"/>
                  </a:lnTo>
                  <a:lnTo>
                    <a:pt x="76263" y="2617411"/>
                  </a:lnTo>
                  <a:lnTo>
                    <a:pt x="64375" y="2567195"/>
                  </a:lnTo>
                  <a:lnTo>
                    <a:pt x="53444" y="2516403"/>
                  </a:lnTo>
                  <a:lnTo>
                    <a:pt x="43486" y="2465056"/>
                  </a:lnTo>
                  <a:lnTo>
                    <a:pt x="34514" y="2413173"/>
                  </a:lnTo>
                  <a:lnTo>
                    <a:pt x="26543" y="2360774"/>
                  </a:lnTo>
                  <a:lnTo>
                    <a:pt x="19588" y="2307878"/>
                  </a:lnTo>
                  <a:lnTo>
                    <a:pt x="13663" y="2254507"/>
                  </a:lnTo>
                  <a:lnTo>
                    <a:pt x="8783" y="2200679"/>
                  </a:lnTo>
                  <a:lnTo>
                    <a:pt x="4962" y="2146414"/>
                  </a:lnTo>
                  <a:lnTo>
                    <a:pt x="2215" y="2091733"/>
                  </a:lnTo>
                  <a:lnTo>
                    <a:pt x="556" y="2036655"/>
                  </a:lnTo>
                  <a:lnTo>
                    <a:pt x="0" y="1981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5000" y="1857375"/>
              <a:ext cx="990600" cy="533400"/>
            </a:xfrm>
            <a:custGeom>
              <a:avLst/>
              <a:gdLst/>
              <a:ahLst/>
              <a:cxnLst/>
              <a:rect l="l" t="t" r="r" b="b"/>
              <a:pathLst>
                <a:path w="990600" h="533400">
                  <a:moveTo>
                    <a:pt x="990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990600" y="5334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29000" y="1857376"/>
            <a:ext cx="990600" cy="40139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algn="ctr">
              <a:spcBef>
                <a:spcPts val="969"/>
              </a:spcBef>
            </a:pPr>
            <a:r>
              <a:rPr spc="-50" dirty="0"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76600" y="30003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76600" y="3000375"/>
            <a:ext cx="914400" cy="60529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>
              <a:spcBef>
                <a:spcPts val="400"/>
              </a:spcBef>
            </a:pPr>
            <a:endParaRPr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pc="-50"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24400" y="2466975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914400" y="0"/>
                </a:moveTo>
                <a:lnTo>
                  <a:pt x="0" y="0"/>
                </a:lnTo>
                <a:lnTo>
                  <a:pt x="0" y="381000"/>
                </a:lnTo>
                <a:lnTo>
                  <a:pt x="914400" y="3810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24400" y="2466975"/>
            <a:ext cx="914400" cy="32444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spcBef>
                <a:spcPts val="370"/>
              </a:spcBef>
            </a:pPr>
            <a:r>
              <a:rPr spc="-50" dirty="0"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48200" y="3457575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0"/>
                </a:moveTo>
                <a:lnTo>
                  <a:pt x="0" y="0"/>
                </a:lnTo>
                <a:lnTo>
                  <a:pt x="0" y="533400"/>
                </a:lnTo>
                <a:lnTo>
                  <a:pt x="914400" y="5334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48200" y="3457576"/>
            <a:ext cx="914400" cy="40139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algn="ctr">
              <a:spcBef>
                <a:spcPts val="969"/>
              </a:spcBef>
            </a:pPr>
            <a:r>
              <a:rPr spc="-50" dirty="0">
                <a:latin typeface="Arial"/>
                <a:cs typeface="Arial"/>
              </a:rPr>
              <a:t>4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156450" y="1165225"/>
          <a:ext cx="1143000" cy="396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533400"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117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EDE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625507" y="5283314"/>
            <a:ext cx="5273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870200" algn="l"/>
              </a:tabLst>
            </a:pPr>
            <a:r>
              <a:rPr dirty="0">
                <a:latin typeface="Arial"/>
                <a:cs typeface="Arial"/>
              </a:rPr>
              <a:t>user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space</a:t>
            </a:r>
            <a:r>
              <a:rPr dirty="0">
                <a:latin typeface="Arial"/>
                <a:cs typeface="Arial"/>
              </a:rPr>
              <a:t>	physical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memory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space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59825" y="5884989"/>
            <a:ext cx="7603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>
                <a:latin typeface="Calibri"/>
                <a:cs typeface="Calibri"/>
              </a:rPr>
              <a:t>Long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term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scheduler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allocates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segments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program</a:t>
            </a:r>
            <a:endParaRPr>
              <a:latin typeface="Calibri"/>
              <a:cs typeface="Calibri"/>
            </a:endParaRPr>
          </a:p>
          <a:p>
            <a:pPr marL="298450" indent="-285750">
              <a:buFont typeface="Arial"/>
              <a:buChar char="•"/>
              <a:tabLst>
                <a:tab pos="298450" algn="l"/>
              </a:tabLst>
            </a:pPr>
            <a:r>
              <a:rPr spc="-10" dirty="0">
                <a:latin typeface="Calibri"/>
                <a:cs typeface="Calibri"/>
              </a:rPr>
              <a:t>Variable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size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partition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scheme</a:t>
            </a:r>
            <a:endParaRPr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4549" y="4810569"/>
            <a:ext cx="7391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Logical </a:t>
            </a:r>
            <a:r>
              <a:rPr spc="-25" dirty="0">
                <a:latin typeface="Calibri"/>
                <a:cs typeface="Calibri"/>
              </a:rPr>
              <a:t>address </a:t>
            </a:r>
            <a:r>
              <a:rPr spc="-10" dirty="0">
                <a:latin typeface="Calibri"/>
                <a:cs typeface="Calibri"/>
              </a:rPr>
              <a:t>space</a:t>
            </a:r>
            <a:endParaRPr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6926" y="867448"/>
            <a:ext cx="145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Logical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address</a:t>
            </a:r>
            <a:endParaRPr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5725" y="867448"/>
            <a:ext cx="2523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&lt;segment-</a:t>
            </a:r>
            <a:r>
              <a:rPr b="1" spc="-25" dirty="0">
                <a:latin typeface="Calibri"/>
                <a:cs typeface="Calibri"/>
              </a:rPr>
              <a:t>number,</a:t>
            </a:r>
            <a:r>
              <a:rPr b="1" spc="-10" dirty="0">
                <a:latin typeface="Calibri"/>
                <a:cs typeface="Calibri"/>
              </a:rPr>
              <a:t> offset&gt;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626" y="559510"/>
            <a:ext cx="12504174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960755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0000"/>
                </a:solidFill>
              </a:rPr>
              <a:t>Segmentation</a:t>
            </a:r>
            <a:r>
              <a:rPr sz="4000" spc="-12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Architecture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7419" y="1496305"/>
            <a:ext cx="11454581" cy="49575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Logical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address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consists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two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tuple:</a:t>
            </a:r>
            <a:endParaRPr sz="2700" dirty="0">
              <a:latin typeface="Calibri"/>
              <a:cs typeface="Calibri"/>
            </a:endParaRPr>
          </a:p>
          <a:p>
            <a:pPr marL="1841500"/>
            <a:r>
              <a:rPr sz="2700" spc="-10" dirty="0">
                <a:latin typeface="Calibri"/>
                <a:cs typeface="Calibri"/>
              </a:rPr>
              <a:t>&lt;segment-</a:t>
            </a:r>
            <a:r>
              <a:rPr sz="2700" spc="-35" dirty="0">
                <a:latin typeface="Calibri"/>
                <a:cs typeface="Calibri"/>
              </a:rPr>
              <a:t>number,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offset&gt;</a:t>
            </a:r>
            <a:endParaRPr sz="2700" dirty="0">
              <a:latin typeface="Calibri"/>
              <a:cs typeface="Calibri"/>
            </a:endParaRPr>
          </a:p>
          <a:p>
            <a:pPr marL="356870" marR="7620" indent="-344805">
              <a:lnSpc>
                <a:spcPts val="2590"/>
              </a:lnSpc>
              <a:spcBef>
                <a:spcPts val="1470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Segment</a:t>
            </a:r>
            <a:r>
              <a:rPr sz="2700" b="1" spc="-1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700" b="1" spc="-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maps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two-</a:t>
            </a:r>
            <a:r>
              <a:rPr sz="2700" spc="-10" dirty="0">
                <a:latin typeface="Calibri"/>
                <a:cs typeface="Calibri"/>
              </a:rPr>
              <a:t>dimensional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logical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address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physical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address;</a:t>
            </a:r>
            <a:endParaRPr sz="2700" dirty="0">
              <a:latin typeface="Calibri"/>
              <a:cs typeface="Calibri"/>
            </a:endParaRPr>
          </a:p>
          <a:p>
            <a:pPr marL="356870" indent="-344170">
              <a:spcBef>
                <a:spcPts val="2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Each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table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entry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has:</a:t>
            </a:r>
            <a:endParaRPr sz="2700" dirty="0">
              <a:latin typeface="Calibri"/>
              <a:cs typeface="Calibri"/>
            </a:endParaRPr>
          </a:p>
          <a:p>
            <a:pPr marL="754380" marR="448945" lvl="1" indent="-285115">
              <a:lnSpc>
                <a:spcPct val="80000"/>
              </a:lnSpc>
              <a:spcBef>
                <a:spcPts val="585"/>
              </a:spcBef>
              <a:buFont typeface="Arial"/>
              <a:buChar char="–"/>
              <a:tabLst>
                <a:tab pos="756285" algn="l"/>
              </a:tabLst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base</a:t>
            </a:r>
            <a:r>
              <a:rPr sz="2400" b="1" spc="-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segments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buFont typeface="Arial"/>
              <a:buChar char="–"/>
              <a:tabLst>
                <a:tab pos="755015" algn="l"/>
              </a:tabLst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limit</a:t>
            </a:r>
            <a:r>
              <a:rPr sz="24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</a:t>
            </a:r>
            <a:endParaRPr sz="2400" dirty="0">
              <a:latin typeface="Calibri"/>
              <a:cs typeface="Calibri"/>
            </a:endParaRPr>
          </a:p>
          <a:p>
            <a:pPr marL="356870" marR="835660" indent="-344805">
              <a:lnSpc>
                <a:spcPts val="2590"/>
              </a:lnSpc>
              <a:spcBef>
                <a:spcPts val="1455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Segment-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700" b="1" spc="-1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base</a:t>
            </a:r>
            <a:r>
              <a:rPr sz="2700"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2700" b="1" spc="-10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(STBR)</a:t>
            </a:r>
            <a:r>
              <a:rPr sz="2700"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points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segment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table’s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location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memory</a:t>
            </a:r>
            <a:endParaRPr sz="2700" dirty="0">
              <a:latin typeface="Calibri"/>
              <a:cs typeface="Calibri"/>
            </a:endParaRPr>
          </a:p>
          <a:p>
            <a:pPr marL="356870" marR="5080" indent="-344805">
              <a:lnSpc>
                <a:spcPts val="2590"/>
              </a:lnSpc>
              <a:spcBef>
                <a:spcPts val="1495"/>
              </a:spcBef>
              <a:buFont typeface="Arial"/>
              <a:buChar char="•"/>
              <a:tabLst>
                <a:tab pos="356870" algn="l"/>
              </a:tabLst>
            </a:pP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Segment-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2700" b="1" spc="-1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length</a:t>
            </a:r>
            <a:r>
              <a:rPr sz="27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register</a:t>
            </a:r>
            <a:r>
              <a:rPr sz="2700" b="1" spc="-8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(STLR)</a:t>
            </a:r>
            <a:r>
              <a:rPr sz="2700" b="1" spc="-7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indicates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number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segments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program;</a:t>
            </a:r>
            <a:endParaRPr sz="2700" dirty="0">
              <a:latin typeface="Calibri"/>
              <a:cs typeface="Calibri"/>
            </a:endParaRPr>
          </a:p>
          <a:p>
            <a:pPr marL="1755775">
              <a:spcBef>
                <a:spcPts val="25"/>
              </a:spcBef>
            </a:pPr>
            <a:r>
              <a:rPr sz="2700" dirty="0">
                <a:latin typeface="Calibri"/>
                <a:cs typeface="Calibri"/>
              </a:rPr>
              <a:t>segment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b="1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7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legal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7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&lt;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STLR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05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10045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Example</a:t>
            </a:r>
            <a:r>
              <a:rPr sz="4000" spc="-140" dirty="0"/>
              <a:t> </a:t>
            </a:r>
            <a:r>
              <a:rPr sz="4000" dirty="0"/>
              <a:t>of</a:t>
            </a:r>
            <a:r>
              <a:rPr sz="4000" spc="-80" dirty="0"/>
              <a:t> </a:t>
            </a:r>
            <a:r>
              <a:rPr sz="4000" spc="-10" dirty="0"/>
              <a:t>Segmentation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968" y="1728238"/>
            <a:ext cx="5749912" cy="50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3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82296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Segmentation</a:t>
            </a:r>
            <a:r>
              <a:rPr spc="-135" dirty="0"/>
              <a:t> </a:t>
            </a:r>
            <a:r>
              <a:rPr spc="-10" dirty="0"/>
              <a:t>Hardware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959" y="1856695"/>
            <a:ext cx="6921464" cy="485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2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10045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Example</a:t>
            </a:r>
            <a:r>
              <a:rPr sz="4000" spc="-140" dirty="0"/>
              <a:t> </a:t>
            </a:r>
            <a:r>
              <a:rPr sz="4000" dirty="0"/>
              <a:t>of</a:t>
            </a:r>
            <a:r>
              <a:rPr sz="4000" spc="-80" dirty="0"/>
              <a:t> </a:t>
            </a:r>
            <a:r>
              <a:rPr sz="4000" spc="-10" dirty="0"/>
              <a:t>Segmentation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2117" y="1845414"/>
            <a:ext cx="5749912" cy="50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6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000125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0000"/>
                </a:solidFill>
              </a:rPr>
              <a:t>Segmentation</a:t>
            </a:r>
            <a:r>
              <a:rPr sz="4000" spc="-12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Architecture</a:t>
            </a:r>
            <a:endParaRPr sz="4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9433" y="1394766"/>
            <a:ext cx="9623118" cy="49968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indent="-344170">
              <a:spcBef>
                <a:spcPts val="459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Protection</a:t>
            </a:r>
            <a:endParaRPr sz="3000" dirty="0">
              <a:latin typeface="Calibri"/>
              <a:cs typeface="Calibri"/>
            </a:endParaRPr>
          </a:p>
          <a:p>
            <a:pPr marL="356870" indent="-344170">
              <a:spcBef>
                <a:spcPts val="359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Protection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bits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associated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segments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3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segment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associate:</a:t>
            </a:r>
            <a:endParaRPr sz="2600" dirty="0">
              <a:latin typeface="Calibri"/>
              <a:cs typeface="Calibri"/>
            </a:endParaRPr>
          </a:p>
          <a:p>
            <a:pPr marL="1155065" lvl="2" indent="-227965">
              <a:spcBef>
                <a:spcPts val="33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spc="-10" dirty="0">
                <a:latin typeface="Calibri"/>
                <a:cs typeface="Calibri"/>
              </a:rPr>
              <a:t>validation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 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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illegal</a:t>
            </a:r>
            <a:r>
              <a:rPr sz="2200" spc="-10" dirty="0">
                <a:latin typeface="Calibri"/>
                <a:cs typeface="Calibri"/>
              </a:rPr>
              <a:t> segment</a:t>
            </a:r>
            <a:endParaRPr sz="2200" dirty="0">
              <a:latin typeface="Calibri"/>
              <a:cs typeface="Calibri"/>
            </a:endParaRPr>
          </a:p>
          <a:p>
            <a:pPr marL="1155065" lvl="2" indent="-228600">
              <a:spcBef>
                <a:spcPts val="240"/>
              </a:spcBef>
              <a:buFont typeface="Arial"/>
              <a:buChar char="•"/>
              <a:tabLst>
                <a:tab pos="1155065" algn="l"/>
              </a:tabLst>
            </a:pPr>
            <a:r>
              <a:rPr sz="2200" spc="-25" dirty="0">
                <a:latin typeface="Calibri"/>
                <a:cs typeface="Calibri"/>
              </a:rPr>
              <a:t>read/write/execute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privileges</a:t>
            </a:r>
            <a:endParaRPr sz="2200" dirty="0">
              <a:latin typeface="Calibri"/>
              <a:cs typeface="Calibri"/>
            </a:endParaRPr>
          </a:p>
          <a:p>
            <a:pPr marL="356870" indent="-344170">
              <a:spcBef>
                <a:spcPts val="30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Code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sharing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occurs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segment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level</a:t>
            </a:r>
            <a:endParaRPr sz="3000" dirty="0">
              <a:latin typeface="Calibri"/>
              <a:cs typeface="Calibri"/>
            </a:endParaRPr>
          </a:p>
          <a:p>
            <a:pPr marL="356870" marR="5080" indent="-344805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Since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segments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vary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length,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allocation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dynamic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storage-</a:t>
            </a:r>
            <a:r>
              <a:rPr sz="3000" spc="-10" dirty="0">
                <a:latin typeface="Calibri"/>
                <a:cs typeface="Calibri"/>
              </a:rPr>
              <a:t>allocation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problem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28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Long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scheduler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spcBef>
                <a:spcPts val="3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fit,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etc</a:t>
            </a:r>
            <a:endParaRPr sz="2600" dirty="0">
              <a:latin typeface="Calibri"/>
              <a:cs typeface="Calibri"/>
            </a:endParaRPr>
          </a:p>
          <a:p>
            <a:pPr marL="356870" indent="-344170">
              <a:spcBef>
                <a:spcPts val="34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Fragmentation</a:t>
            </a:r>
            <a:endParaRPr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927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042" y="214515"/>
            <a:ext cx="5395595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Segmentation</a:t>
            </a:r>
            <a:r>
              <a:rPr sz="4000" spc="-110" dirty="0"/>
              <a:t> </a:t>
            </a:r>
            <a:r>
              <a:rPr sz="4000" dirty="0"/>
              <a:t>with</a:t>
            </a:r>
            <a:r>
              <a:rPr sz="4000" spc="-45" dirty="0"/>
              <a:t> </a:t>
            </a:r>
            <a:r>
              <a:rPr sz="4000" spc="-10" dirty="0"/>
              <a:t>Paging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07540" y="1143211"/>
            <a:ext cx="7753350" cy="23666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</a:pPr>
            <a:r>
              <a:rPr sz="3200" dirty="0">
                <a:latin typeface="Calibri"/>
                <a:cs typeface="Calibri"/>
              </a:rPr>
              <a:t>Key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idea:</a:t>
            </a:r>
            <a:endParaRPr sz="3200">
              <a:latin typeface="Calibri"/>
              <a:cs typeface="Calibri"/>
            </a:endParaRPr>
          </a:p>
          <a:p>
            <a:pPr marL="12700">
              <a:spcBef>
                <a:spcPts val="770"/>
              </a:spcBef>
            </a:pPr>
            <a:r>
              <a:rPr sz="3200" dirty="0">
                <a:latin typeface="Calibri"/>
                <a:cs typeface="Calibri"/>
              </a:rPr>
              <a:t>Segments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splitted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pages</a:t>
            </a:r>
            <a:endParaRPr sz="3200">
              <a:latin typeface="Calibri"/>
              <a:cs typeface="Calibri"/>
            </a:endParaRPr>
          </a:p>
          <a:p>
            <a:pPr>
              <a:spcBef>
                <a:spcPts val="146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frames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52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8239" y="221463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198245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Segmentation</a:t>
            </a:r>
            <a:r>
              <a:rPr sz="4000" spc="-110" dirty="0"/>
              <a:t> </a:t>
            </a:r>
            <a:r>
              <a:rPr sz="4000" dirty="0"/>
              <a:t>with</a:t>
            </a:r>
            <a:r>
              <a:rPr sz="4000" spc="-45" dirty="0"/>
              <a:t> </a:t>
            </a:r>
            <a:r>
              <a:rPr sz="4000" spc="-10" dirty="0"/>
              <a:t>Paging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907540" y="1187259"/>
            <a:ext cx="7677784" cy="4053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spcBef>
                <a:spcPts val="105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Supports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segmentation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paging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GB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Up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16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&lt;selector(16),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offset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(32)&gt;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Divided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partitions</a:t>
            </a:r>
            <a:endParaRPr sz="2000">
              <a:latin typeface="Calibri"/>
              <a:cs typeface="Calibri"/>
            </a:endParaRPr>
          </a:p>
          <a:p>
            <a:pPr marL="1155065" marR="262255" lvl="2" indent="-228600">
              <a:lnSpc>
                <a:spcPts val="1630"/>
              </a:lnSpc>
              <a:spcBef>
                <a:spcPts val="409"/>
              </a:spcBef>
              <a:buFont typeface="Arial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First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partition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up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8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segments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private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process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(kept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3366FF"/>
                </a:solidFill>
                <a:latin typeface="Calibri"/>
                <a:cs typeface="Calibri"/>
              </a:rPr>
              <a:t>local descriptor</a:t>
            </a:r>
            <a:r>
              <a:rPr sz="1700" b="1" spc="-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1700" b="1" spc="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3366FF"/>
                </a:solidFill>
                <a:latin typeface="Calibri"/>
                <a:cs typeface="Calibri"/>
              </a:rPr>
              <a:t>LDT</a:t>
            </a:r>
            <a:r>
              <a:rPr sz="1700" spc="-20" dirty="0">
                <a:latin typeface="Calibri"/>
                <a:cs typeface="Calibri"/>
              </a:rPr>
              <a:t>)</a:t>
            </a:r>
            <a:endParaRPr sz="1700">
              <a:latin typeface="Calibri"/>
              <a:cs typeface="Calibri"/>
            </a:endParaRPr>
          </a:p>
          <a:p>
            <a:pPr marL="1155065" lvl="2" indent="-227965">
              <a:lnSpc>
                <a:spcPts val="1835"/>
              </a:lnSpc>
              <a:spcBef>
                <a:spcPts val="15"/>
              </a:spcBef>
              <a:buFont typeface="Arial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Second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partition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up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8K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segments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shared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among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processes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(kept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35" dirty="0">
                <a:latin typeface="Calibri"/>
                <a:cs typeface="Calibri"/>
              </a:rPr>
              <a:t>in</a:t>
            </a:r>
            <a:endParaRPr sz="1700">
              <a:latin typeface="Calibri"/>
              <a:cs typeface="Calibri"/>
            </a:endParaRPr>
          </a:p>
          <a:p>
            <a:pPr marL="1155700">
              <a:lnSpc>
                <a:spcPts val="1835"/>
              </a:lnSpc>
            </a:pPr>
            <a:r>
              <a:rPr sz="1700" b="1" dirty="0">
                <a:solidFill>
                  <a:srgbClr val="3366FF"/>
                </a:solidFill>
                <a:latin typeface="Calibri"/>
                <a:cs typeface="Calibri"/>
              </a:rPr>
              <a:t>global</a:t>
            </a:r>
            <a:r>
              <a:rPr sz="17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3366FF"/>
                </a:solidFill>
                <a:latin typeface="Calibri"/>
                <a:cs typeface="Calibri"/>
              </a:rPr>
              <a:t>descriptor</a:t>
            </a:r>
            <a:r>
              <a:rPr sz="17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3366FF"/>
                </a:solidFill>
                <a:latin typeface="Calibri"/>
                <a:cs typeface="Calibri"/>
              </a:rPr>
              <a:t>table</a:t>
            </a:r>
            <a:r>
              <a:rPr sz="17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3366FF"/>
                </a:solidFill>
                <a:latin typeface="Calibri"/>
                <a:cs typeface="Calibri"/>
              </a:rPr>
              <a:t>GDT</a:t>
            </a:r>
            <a:r>
              <a:rPr sz="1700" spc="-20" dirty="0">
                <a:latin typeface="Calibri"/>
                <a:cs typeface="Calibri"/>
              </a:rPr>
              <a:t>)</a:t>
            </a:r>
            <a:endParaRPr sz="1700">
              <a:latin typeface="Calibri"/>
              <a:cs typeface="Calibri"/>
            </a:endParaRPr>
          </a:p>
          <a:p>
            <a:pPr>
              <a:spcBef>
                <a:spcPts val="540"/>
              </a:spcBef>
            </a:pPr>
            <a:endParaRPr sz="1700">
              <a:latin typeface="Calibri"/>
              <a:cs typeface="Calibri"/>
            </a:endParaRPr>
          </a:p>
          <a:p>
            <a:pPr marL="356870" indent="-344170"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CPU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(six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Segment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Reg.)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spcBef>
                <a:spcPts val="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segmentation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ts val="2035"/>
              </a:lnSpc>
              <a:spcBef>
                <a:spcPts val="15"/>
              </a:spcBef>
              <a:buFont typeface="Arial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produces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linear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addresses</a:t>
            </a:r>
            <a:endParaRPr sz="1700">
              <a:latin typeface="Calibri"/>
              <a:cs typeface="Calibri"/>
            </a:endParaRPr>
          </a:p>
          <a:p>
            <a:pPr marL="756285" lvl="1" indent="-286385">
              <a:lnSpc>
                <a:spcPts val="2395"/>
              </a:lnSpc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32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740" y="5216762"/>
            <a:ext cx="389699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2990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1939" y="5521515"/>
            <a:ext cx="467995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generates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physical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address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main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memory</a:t>
            </a:r>
            <a:endParaRPr sz="1700">
              <a:latin typeface="Calibri"/>
              <a:cs typeface="Calibri"/>
            </a:endParaRPr>
          </a:p>
          <a:p>
            <a:pPr marL="240665" indent="-227965"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Paging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units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form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equivalent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MMU</a:t>
            </a:r>
            <a:endParaRPr sz="1700">
              <a:latin typeface="Calibri"/>
              <a:cs typeface="Calibri"/>
            </a:endParaRPr>
          </a:p>
          <a:p>
            <a:pPr marL="240665" indent="-227965"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Pages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sizes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4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KB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43773" y="5211051"/>
            <a:ext cx="1071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Intel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80386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3772" y="5759691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IBM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OS/2</a:t>
            </a:r>
            <a:endParaRPr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80250" y="1885951"/>
          <a:ext cx="289560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965200"/>
                <a:gridCol w="96520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S(13)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G(1)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P(2)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64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29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48000" y="2747384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779780" marR="5080" indent="-268605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Logical</a:t>
            </a:r>
            <a:r>
              <a:rPr sz="2500" spc="-90" dirty="0"/>
              <a:t> </a:t>
            </a:r>
            <a:r>
              <a:rPr sz="2500" dirty="0"/>
              <a:t>to</a:t>
            </a:r>
            <a:r>
              <a:rPr sz="2500" spc="-60" dirty="0"/>
              <a:t> </a:t>
            </a:r>
            <a:r>
              <a:rPr sz="2500" spc="-10" dirty="0"/>
              <a:t>Physical</a:t>
            </a:r>
            <a:r>
              <a:rPr sz="2500" spc="-65" dirty="0"/>
              <a:t> </a:t>
            </a:r>
            <a:r>
              <a:rPr sz="2500" spc="-10" dirty="0"/>
              <a:t>Address </a:t>
            </a:r>
            <a:r>
              <a:rPr sz="2500" spc="-25" dirty="0"/>
              <a:t>Translation</a:t>
            </a:r>
            <a:r>
              <a:rPr sz="2500" spc="-85" dirty="0"/>
              <a:t> </a:t>
            </a:r>
            <a:r>
              <a:rPr sz="2500" dirty="0"/>
              <a:t>in</a:t>
            </a:r>
            <a:r>
              <a:rPr sz="2500" spc="-5" dirty="0"/>
              <a:t> </a:t>
            </a:r>
            <a:r>
              <a:rPr sz="2500" spc="-10" dirty="0"/>
              <a:t>Pentium</a:t>
            </a:r>
            <a:endParaRPr sz="25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538" y="4415414"/>
            <a:ext cx="5807735" cy="11840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019" y="1137954"/>
            <a:ext cx="8115546" cy="13261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77940" y="3294379"/>
            <a:ext cx="1414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Page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table=2</a:t>
            </a:r>
            <a:r>
              <a:rPr spc="-30" baseline="25462" dirty="0">
                <a:latin typeface="Calibri"/>
                <a:cs typeface="Calibri"/>
              </a:rPr>
              <a:t>20 </a:t>
            </a:r>
            <a:r>
              <a:rPr spc="-10" dirty="0">
                <a:latin typeface="Calibri"/>
                <a:cs typeface="Calibri"/>
              </a:rPr>
              <a:t>entries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21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2298" y="248320"/>
            <a:ext cx="2708910" cy="69532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FF0000"/>
                </a:solidFill>
              </a:rPr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226" y="1318324"/>
            <a:ext cx="10756489" cy="4269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427990" indent="-344805">
              <a:spcBef>
                <a:spcPts val="9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Code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but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rarely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used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unusual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routines,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structures</a:t>
            </a:r>
            <a:endParaRPr sz="2800" dirty="0">
              <a:latin typeface="Calibri"/>
              <a:cs typeface="Calibri"/>
            </a:endParaRPr>
          </a:p>
          <a:p>
            <a:pPr marL="356870" indent="-344170">
              <a:spcBef>
                <a:spcPts val="75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time</a:t>
            </a:r>
            <a:endParaRPr sz="3200" dirty="0">
              <a:latin typeface="Calibri"/>
              <a:cs typeface="Calibri"/>
            </a:endParaRPr>
          </a:p>
          <a:p>
            <a:pPr marL="356870" marR="690880" indent="-344805"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Consider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partially-loaded program</a:t>
            </a:r>
            <a:endParaRPr sz="3200" dirty="0">
              <a:latin typeface="Calibri"/>
              <a:cs typeface="Calibri"/>
            </a:endParaRPr>
          </a:p>
          <a:p>
            <a:pPr marL="755650" marR="5080" lvl="1" indent="-286385">
              <a:spcBef>
                <a:spcPts val="68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longer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constrained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physical memory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programs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physical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memory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More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accommodated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578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6992" y="38658"/>
            <a:ext cx="3811270" cy="787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5080" indent="41402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0000"/>
                </a:solidFill>
              </a:rPr>
              <a:t>Virtual</a:t>
            </a:r>
            <a:r>
              <a:rPr sz="2500" spc="-90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Memory</a:t>
            </a:r>
            <a:r>
              <a:rPr sz="2500" spc="-55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That</a:t>
            </a:r>
            <a:r>
              <a:rPr sz="2500" spc="-70" dirty="0">
                <a:solidFill>
                  <a:srgbClr val="FF0000"/>
                </a:solidFill>
              </a:rPr>
              <a:t> </a:t>
            </a:r>
            <a:r>
              <a:rPr sz="2500" spc="-25" dirty="0">
                <a:solidFill>
                  <a:srgbClr val="FF0000"/>
                </a:solidFill>
              </a:rPr>
              <a:t>is </a:t>
            </a:r>
            <a:r>
              <a:rPr sz="2500" dirty="0">
                <a:solidFill>
                  <a:srgbClr val="FF0000"/>
                </a:solidFill>
              </a:rPr>
              <a:t>Larger</a:t>
            </a:r>
            <a:r>
              <a:rPr sz="2500" spc="-114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Than</a:t>
            </a:r>
            <a:r>
              <a:rPr sz="2500" spc="-114" dirty="0">
                <a:solidFill>
                  <a:srgbClr val="FF0000"/>
                </a:solidFill>
              </a:rPr>
              <a:t> </a:t>
            </a:r>
            <a:r>
              <a:rPr sz="2500" dirty="0">
                <a:solidFill>
                  <a:srgbClr val="FF0000"/>
                </a:solidFill>
              </a:rPr>
              <a:t>Physical</a:t>
            </a:r>
            <a:r>
              <a:rPr sz="2500" spc="-100" dirty="0">
                <a:solidFill>
                  <a:srgbClr val="FF0000"/>
                </a:solidFill>
              </a:rPr>
              <a:t> </a:t>
            </a:r>
            <a:r>
              <a:rPr sz="2500" spc="-10" dirty="0">
                <a:solidFill>
                  <a:srgbClr val="FF0000"/>
                </a:solidFill>
              </a:rPr>
              <a:t>Memory</a:t>
            </a:r>
            <a:endParaRPr sz="2500" dirty="0">
              <a:solidFill>
                <a:srgbClr val="FF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941" y="1033311"/>
            <a:ext cx="6413411" cy="50851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5139" y="2989579"/>
            <a:ext cx="1169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Large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virtual space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8538" y="5808903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Small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memory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898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9097" y="403415"/>
            <a:ext cx="12238703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81356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Classical</a:t>
            </a:r>
            <a:r>
              <a:rPr spc="-19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1787" y="1932710"/>
            <a:ext cx="9276653" cy="378180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spcBef>
                <a:spcPts val="869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P1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arrives</a:t>
            </a:r>
            <a:endParaRPr sz="3200" dirty="0">
              <a:latin typeface="Calibri"/>
              <a:cs typeface="Calibri"/>
            </a:endParaRPr>
          </a:p>
          <a:p>
            <a:pPr marL="356870" marR="5080" indent="-344805"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=&gt;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frames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 </a:t>
            </a:r>
            <a:r>
              <a:rPr sz="3200" spc="-10" dirty="0">
                <a:latin typeface="Calibri"/>
                <a:cs typeface="Calibri"/>
              </a:rPr>
              <a:t>available</a:t>
            </a:r>
            <a:endParaRPr sz="3200" dirty="0">
              <a:latin typeface="Calibri"/>
              <a:cs typeface="Calibri"/>
            </a:endParaRPr>
          </a:p>
          <a:p>
            <a:pPr marL="356870" indent="-344170"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Allocate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frames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P1</a:t>
            </a:r>
            <a:endParaRPr sz="3200" dirty="0">
              <a:latin typeface="Calibri"/>
              <a:cs typeface="Calibri"/>
            </a:endParaRPr>
          </a:p>
          <a:p>
            <a:pPr marL="356870" indent="-344170">
              <a:spcBef>
                <a:spcPts val="765"/>
              </a:spcBef>
              <a:buFont typeface="Arial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P1</a:t>
            </a:r>
            <a:endParaRPr sz="3200" dirty="0">
              <a:latin typeface="Calibri"/>
              <a:cs typeface="Calibri"/>
            </a:endParaRPr>
          </a:p>
          <a:p>
            <a:pPr>
              <a:spcBef>
                <a:spcPts val="2745"/>
              </a:spcBef>
            </a:pPr>
            <a:endParaRPr sz="3200" dirty="0">
              <a:latin typeface="Calibri"/>
              <a:cs typeface="Calibri"/>
            </a:endParaRPr>
          </a:p>
          <a:p>
            <a:pPr marL="165100">
              <a:spcBef>
                <a:spcPts val="5"/>
              </a:spcBef>
            </a:pPr>
            <a:r>
              <a:rPr sz="3600" spc="-10" dirty="0">
                <a:solidFill>
                  <a:srgbClr val="FF0000"/>
                </a:solidFill>
                <a:latin typeface="Calibri"/>
                <a:cs typeface="Calibri"/>
              </a:rPr>
              <a:t>Allocate</a:t>
            </a:r>
            <a:r>
              <a:rPr sz="3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3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3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Calibri"/>
                <a:cs typeface="Calibri"/>
              </a:rPr>
              <a:t>frames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69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2840" y="464630"/>
            <a:ext cx="2708910" cy="69532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178116"/>
            <a:ext cx="8090534" cy="5287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6870" marR="264160" indent="-344805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6870" algn="l"/>
              </a:tabLst>
            </a:pPr>
            <a:r>
              <a:rPr sz="2500" b="1" dirty="0">
                <a:solidFill>
                  <a:srgbClr val="3366FF"/>
                </a:solidFill>
                <a:latin typeface="Calibri"/>
                <a:cs typeface="Calibri"/>
              </a:rPr>
              <a:t>Virtual</a:t>
            </a:r>
            <a:r>
              <a:rPr sz="2500" b="1" spc="-8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–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separation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logical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from </a:t>
            </a:r>
            <a:r>
              <a:rPr sz="2500" spc="-10" dirty="0">
                <a:latin typeface="Calibri"/>
                <a:cs typeface="Calibri"/>
              </a:rPr>
              <a:t>physical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memory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spcBef>
                <a:spcPts val="30"/>
              </a:spcBef>
              <a:buFont typeface="Arial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Extremely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available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programmer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ts val="2635"/>
              </a:lnSpc>
              <a:buFont typeface="Arial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Concentrate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</a:t>
            </a:r>
            <a:endParaRPr sz="2200">
              <a:latin typeface="Calibri"/>
              <a:cs typeface="Calibri"/>
            </a:endParaRPr>
          </a:p>
          <a:p>
            <a:pPr marL="356870" marR="1016635" indent="-344805">
              <a:lnSpc>
                <a:spcPts val="2400"/>
              </a:lnSpc>
              <a:spcBef>
                <a:spcPts val="575"/>
              </a:spcBef>
              <a:buFont typeface="Arial"/>
              <a:buChar char="•"/>
              <a:tabLst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Only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part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program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needs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for </a:t>
            </a:r>
            <a:r>
              <a:rPr sz="2500" spc="-10" dirty="0">
                <a:latin typeface="Calibri"/>
                <a:cs typeface="Calibri"/>
              </a:rPr>
              <a:t>execution</a:t>
            </a:r>
            <a:endParaRPr sz="2500">
              <a:latin typeface="Calibri"/>
              <a:cs typeface="Calibri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545"/>
              </a:spcBef>
              <a:buFont typeface="Arial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therefore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much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physical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space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spcBef>
                <a:spcPts val="20"/>
              </a:spcBef>
              <a:buFont typeface="Arial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Starts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allocates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contiguous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Physical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1155065" lvl="2" indent="-227965">
              <a:spcBef>
                <a:spcPts val="10"/>
              </a:spcBef>
              <a:buFont typeface="Arial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Collection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frame</a:t>
            </a:r>
            <a:endParaRPr sz="19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1900">
              <a:latin typeface="Calibri"/>
              <a:cs typeface="Calibri"/>
            </a:endParaRPr>
          </a:p>
          <a:p>
            <a:pPr lvl="2">
              <a:spcBef>
                <a:spcPts val="90"/>
              </a:spcBef>
              <a:buFont typeface="Arial"/>
              <a:buChar char="•"/>
            </a:pPr>
            <a:endParaRPr sz="1900">
              <a:latin typeface="Calibri"/>
              <a:cs typeface="Calibri"/>
            </a:endParaRPr>
          </a:p>
          <a:p>
            <a:pPr marL="356870" indent="-344170">
              <a:buFont typeface="Arial"/>
              <a:buChar char="•"/>
              <a:tabLst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Virtual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implemented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via: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Demand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paging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Demand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segmentation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11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2833" y="-115406"/>
            <a:ext cx="10515600" cy="1125551"/>
          </a:xfrm>
          <a:prstGeom prst="rect">
            <a:avLst/>
          </a:prstGeom>
        </p:spPr>
        <p:txBody>
          <a:bodyPr vert="horz" wrap="square" lIns="0" tIns="444106" rIns="0" bIns="0" rtlCol="0" anchor="ctr">
            <a:spAutoFit/>
          </a:bodyPr>
          <a:lstStyle/>
          <a:p>
            <a:pPr marL="180403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0000"/>
                </a:solidFill>
              </a:rPr>
              <a:t>Demand</a:t>
            </a:r>
            <a:r>
              <a:rPr spc="-1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116" y="1159827"/>
            <a:ext cx="9391814" cy="380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Bring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needed</a:t>
            </a:r>
            <a:endParaRPr sz="3000" dirty="0">
              <a:latin typeface="Calibri"/>
              <a:cs typeface="Calibri"/>
            </a:endParaRPr>
          </a:p>
          <a:p>
            <a:pPr>
              <a:spcBef>
                <a:spcPts val="655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356870" marR="5080" indent="-344805">
              <a:lnSpc>
                <a:spcPct val="80000"/>
              </a:lnSpc>
              <a:buFont typeface="Arial"/>
              <a:buChar char="•"/>
              <a:tabLst>
                <a:tab pos="356870" algn="l"/>
              </a:tabLst>
            </a:pPr>
            <a:r>
              <a:rPr sz="3000" b="1" dirty="0">
                <a:solidFill>
                  <a:srgbClr val="3366FF"/>
                </a:solidFill>
                <a:latin typeface="Calibri"/>
                <a:cs typeface="Calibri"/>
              </a:rPr>
              <a:t>Lazy</a:t>
            </a:r>
            <a:r>
              <a:rPr sz="3000" b="1" spc="-1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3366FF"/>
                </a:solidFill>
                <a:latin typeface="Calibri"/>
                <a:cs typeface="Calibri"/>
              </a:rPr>
              <a:t>swapper</a:t>
            </a:r>
            <a:r>
              <a:rPr sz="30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never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swaps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into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memory </a:t>
            </a:r>
            <a:r>
              <a:rPr sz="3000" dirty="0">
                <a:latin typeface="Calibri"/>
                <a:cs typeface="Calibri"/>
              </a:rPr>
              <a:t>unless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needed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Swapper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deals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pages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366FF"/>
                </a:solidFill>
                <a:latin typeface="Calibri"/>
                <a:cs typeface="Calibri"/>
              </a:rPr>
              <a:t>pager</a:t>
            </a:r>
            <a:endParaRPr sz="2600" dirty="0">
              <a:latin typeface="Calibri"/>
              <a:cs typeface="Calibri"/>
            </a:endParaRPr>
          </a:p>
          <a:p>
            <a:pPr marL="356870" indent="-344170">
              <a:spcBef>
                <a:spcPts val="3105"/>
              </a:spcBef>
              <a:buFont typeface="Arial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Less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I/O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needed,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unnecessary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I/O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needed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spcBef>
                <a:spcPts val="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More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users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541" y="5256338"/>
            <a:ext cx="553910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Page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Symbol"/>
                <a:cs typeface="Symbol"/>
              </a:rPr>
              <a:t>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reference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it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invalid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reference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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abort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buFont typeface="Arial"/>
              <a:buChar char="–"/>
              <a:tabLst>
                <a:tab pos="756285" algn="l"/>
              </a:tabLst>
            </a:pPr>
            <a:r>
              <a:rPr sz="2600" spc="-20" dirty="0">
                <a:latin typeface="Calibri"/>
                <a:cs typeface="Calibri"/>
              </a:rPr>
              <a:t>not-</a:t>
            </a:r>
            <a:r>
              <a:rPr sz="2600" spc="-10" dirty="0">
                <a:latin typeface="Calibri"/>
                <a:cs typeface="Calibri"/>
              </a:rPr>
              <a:t>in-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Symbol"/>
                <a:cs typeface="Symbol"/>
              </a:rPr>
              <a:t>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bring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memory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5941" y="5266651"/>
            <a:ext cx="21824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Valid</a:t>
            </a:r>
            <a:r>
              <a:rPr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address information</a:t>
            </a:r>
            <a:r>
              <a:rPr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pc="-10" dirty="0">
                <a:solidFill>
                  <a:srgbClr val="FF0000"/>
                </a:solidFill>
                <a:latin typeface="Calibri"/>
                <a:cs typeface="Calibri"/>
              </a:rPr>
              <a:t>available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pc="-25" dirty="0">
                <a:solidFill>
                  <a:srgbClr val="FF0000"/>
                </a:solidFill>
                <a:latin typeface="Calibri"/>
                <a:cs typeface="Calibri"/>
              </a:rPr>
              <a:t> PCB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627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764355"/>
            <a:ext cx="10515600" cy="527105"/>
          </a:xfrm>
          <a:prstGeom prst="rect">
            <a:avLst/>
          </a:prstGeom>
        </p:spPr>
        <p:txBody>
          <a:bodyPr vert="horz" wrap="square" lIns="0" tIns="141007" rIns="0" bIns="0" rtlCol="0" anchor="ctr">
            <a:spAutoFit/>
          </a:bodyPr>
          <a:lstStyle/>
          <a:p>
            <a:pPr marL="2425065" marR="5080" indent="-539750">
              <a:lnSpc>
                <a:spcPct val="100000"/>
              </a:lnSpc>
              <a:spcBef>
                <a:spcPts val="95"/>
              </a:spcBef>
            </a:pPr>
            <a:r>
              <a:rPr sz="2500" spc="-40" dirty="0"/>
              <a:t>Transfer</a:t>
            </a:r>
            <a:r>
              <a:rPr sz="2500" spc="-90" dirty="0"/>
              <a:t> </a:t>
            </a:r>
            <a:r>
              <a:rPr sz="2500" dirty="0"/>
              <a:t>of</a:t>
            </a:r>
            <a:r>
              <a:rPr sz="2500" spc="-55" dirty="0"/>
              <a:t> </a:t>
            </a:r>
            <a:r>
              <a:rPr sz="2500" dirty="0"/>
              <a:t>a</a:t>
            </a:r>
            <a:r>
              <a:rPr sz="2500" spc="-50" dirty="0"/>
              <a:t> </a:t>
            </a:r>
            <a:r>
              <a:rPr sz="2500" dirty="0"/>
              <a:t>Paged</a:t>
            </a:r>
            <a:r>
              <a:rPr sz="2500" spc="-50" dirty="0"/>
              <a:t> </a:t>
            </a:r>
            <a:r>
              <a:rPr sz="2500" dirty="0"/>
              <a:t>Memory</a:t>
            </a:r>
            <a:r>
              <a:rPr sz="2500" spc="-40" dirty="0"/>
              <a:t> </a:t>
            </a:r>
            <a:r>
              <a:rPr sz="2500" spc="-25" dirty="0"/>
              <a:t>to </a:t>
            </a:r>
            <a:r>
              <a:rPr sz="2500" dirty="0"/>
              <a:t>Contiguous</a:t>
            </a:r>
            <a:r>
              <a:rPr sz="2500" spc="-110" dirty="0"/>
              <a:t> </a:t>
            </a:r>
            <a:r>
              <a:rPr sz="2500" dirty="0"/>
              <a:t>Disk</a:t>
            </a:r>
            <a:r>
              <a:rPr sz="2500" spc="-55" dirty="0"/>
              <a:t> </a:t>
            </a:r>
            <a:r>
              <a:rPr sz="2500" spc="-10" dirty="0"/>
              <a:t>Space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0622" y="1375402"/>
            <a:ext cx="5657824" cy="51839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7541" y="1160779"/>
            <a:ext cx="259016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2705" indent="-287020"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>
                <a:latin typeface="Calibri"/>
                <a:cs typeface="Calibri"/>
              </a:rPr>
              <a:t>When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want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to </a:t>
            </a:r>
            <a:r>
              <a:rPr spc="-20" dirty="0">
                <a:latin typeface="Calibri"/>
                <a:cs typeface="Calibri"/>
              </a:rPr>
              <a:t>execute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swap </a:t>
            </a:r>
            <a:r>
              <a:rPr spc="-25" dirty="0">
                <a:latin typeface="Calibri"/>
                <a:cs typeface="Calibri"/>
              </a:rPr>
              <a:t>in</a:t>
            </a:r>
            <a:endParaRPr>
              <a:latin typeface="Calibri"/>
              <a:cs typeface="Calibri"/>
            </a:endParaRPr>
          </a:p>
          <a:p>
            <a:pPr marL="299085" marR="5080" indent="-287020">
              <a:spcBef>
                <a:spcPts val="2160"/>
              </a:spcBef>
              <a:buFont typeface="Arial"/>
              <a:buChar char="•"/>
              <a:tabLst>
                <a:tab pos="299085" algn="l"/>
              </a:tabLst>
            </a:pPr>
            <a:r>
              <a:rPr spc="-10" dirty="0">
                <a:latin typeface="Calibri"/>
                <a:cs typeface="Calibri"/>
              </a:rPr>
              <a:t>Instead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swap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entire process,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load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page</a:t>
            </a:r>
            <a:endParaRPr>
              <a:latin typeface="Calibri"/>
              <a:cs typeface="Calibri"/>
            </a:endParaRPr>
          </a:p>
          <a:p>
            <a:pPr marL="298450" indent="-285750">
              <a:spcBef>
                <a:spcPts val="2160"/>
              </a:spcBef>
              <a:buFont typeface="Arial"/>
              <a:buChar char="•"/>
              <a:tabLst>
                <a:tab pos="298450" algn="l"/>
              </a:tabLst>
            </a:pPr>
            <a:r>
              <a:rPr spc="-10" dirty="0">
                <a:latin typeface="Calibri"/>
                <a:cs typeface="Calibri"/>
              </a:rPr>
              <a:t>Pager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94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8910" y="48183"/>
            <a:ext cx="3844925" cy="787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Page</a:t>
            </a:r>
            <a:r>
              <a:rPr sz="2500" spc="-105" dirty="0"/>
              <a:t> </a:t>
            </a:r>
            <a:r>
              <a:rPr sz="2500" spc="-25" dirty="0"/>
              <a:t>Table</a:t>
            </a:r>
            <a:r>
              <a:rPr sz="2500" spc="-85" dirty="0"/>
              <a:t> </a:t>
            </a:r>
            <a:r>
              <a:rPr sz="2500" dirty="0"/>
              <a:t>When</a:t>
            </a:r>
            <a:r>
              <a:rPr sz="2500" spc="-100" dirty="0"/>
              <a:t> </a:t>
            </a:r>
            <a:r>
              <a:rPr sz="2500" dirty="0"/>
              <a:t>Some</a:t>
            </a:r>
            <a:r>
              <a:rPr sz="2500" spc="-65" dirty="0"/>
              <a:t> </a:t>
            </a:r>
            <a:r>
              <a:rPr sz="2500" spc="-10" dirty="0"/>
              <a:t>Pages </a:t>
            </a:r>
            <a:r>
              <a:rPr sz="2500" dirty="0"/>
              <a:t>Are</a:t>
            </a:r>
            <a:r>
              <a:rPr sz="2500" spc="-50" dirty="0"/>
              <a:t> </a:t>
            </a:r>
            <a:r>
              <a:rPr sz="2500" dirty="0"/>
              <a:t>Not</a:t>
            </a:r>
            <a:r>
              <a:rPr sz="2500" spc="-55" dirty="0"/>
              <a:t> </a:t>
            </a:r>
            <a:r>
              <a:rPr sz="2500" dirty="0"/>
              <a:t>in</a:t>
            </a:r>
            <a:r>
              <a:rPr sz="2500" spc="-45" dirty="0"/>
              <a:t> </a:t>
            </a:r>
            <a:r>
              <a:rPr sz="2500" dirty="0"/>
              <a:t>Main</a:t>
            </a:r>
            <a:r>
              <a:rPr sz="2500" spc="-45" dirty="0"/>
              <a:t> </a:t>
            </a:r>
            <a:r>
              <a:rPr sz="2500" spc="-10" dirty="0"/>
              <a:t>Memory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2066" y="978053"/>
            <a:ext cx="5356212" cy="51958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83741" y="5123179"/>
            <a:ext cx="326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Pager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loads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few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necessary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in </a:t>
            </a:r>
            <a:r>
              <a:rPr spc="-10" dirty="0">
                <a:latin typeface="Calibri"/>
                <a:cs typeface="Calibri"/>
              </a:rPr>
              <a:t>memory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348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8286" y="266193"/>
            <a:ext cx="3534410" cy="69532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Valid-</a:t>
            </a:r>
            <a:r>
              <a:rPr dirty="0"/>
              <a:t>Invalid</a:t>
            </a:r>
            <a:r>
              <a:rPr spc="-200" dirty="0"/>
              <a:t> </a:t>
            </a:r>
            <a:r>
              <a:rPr spc="-25" dirty="0"/>
              <a:t>Bit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4590" y="5979346"/>
            <a:ext cx="700722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11000"/>
              </a:lnSpc>
              <a:spcBef>
                <a:spcPts val="100"/>
              </a:spcBef>
              <a:buChar char="•"/>
              <a:tabLst>
                <a:tab pos="353695" algn="l"/>
                <a:tab pos="356870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translation,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valid–invalid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entry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fault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03650" y="2297113"/>
            <a:ext cx="2870200" cy="3590925"/>
            <a:chOff x="2279650" y="2297112"/>
            <a:chExt cx="2870200" cy="3590925"/>
          </a:xfrm>
        </p:grpSpPr>
        <p:sp>
          <p:nvSpPr>
            <p:cNvPr id="5" name="object 5"/>
            <p:cNvSpPr/>
            <p:nvPr/>
          </p:nvSpPr>
          <p:spPr>
            <a:xfrm>
              <a:off x="2332037" y="2708909"/>
              <a:ext cx="2707005" cy="3178810"/>
            </a:xfrm>
            <a:custGeom>
              <a:avLst/>
              <a:gdLst/>
              <a:ahLst/>
              <a:cxnLst/>
              <a:rect l="l" t="t" r="r" b="b"/>
              <a:pathLst>
                <a:path w="2707004" h="3178810">
                  <a:moveTo>
                    <a:pt x="2660967" y="45720"/>
                  </a:moveTo>
                  <a:lnTo>
                    <a:pt x="2649537" y="45720"/>
                  </a:lnTo>
                  <a:lnTo>
                    <a:pt x="2649537" y="57150"/>
                  </a:lnTo>
                  <a:lnTo>
                    <a:pt x="2649537" y="3121660"/>
                  </a:lnTo>
                  <a:lnTo>
                    <a:pt x="57150" y="3121660"/>
                  </a:lnTo>
                  <a:lnTo>
                    <a:pt x="57150" y="57150"/>
                  </a:lnTo>
                  <a:lnTo>
                    <a:pt x="2649537" y="57150"/>
                  </a:lnTo>
                  <a:lnTo>
                    <a:pt x="2649537" y="45720"/>
                  </a:lnTo>
                  <a:lnTo>
                    <a:pt x="45720" y="45720"/>
                  </a:lnTo>
                  <a:lnTo>
                    <a:pt x="45720" y="57150"/>
                  </a:lnTo>
                  <a:lnTo>
                    <a:pt x="45720" y="3121660"/>
                  </a:lnTo>
                  <a:lnTo>
                    <a:pt x="45720" y="3133090"/>
                  </a:lnTo>
                  <a:lnTo>
                    <a:pt x="2660967" y="3133090"/>
                  </a:lnTo>
                  <a:lnTo>
                    <a:pt x="2660967" y="3121977"/>
                  </a:lnTo>
                  <a:lnTo>
                    <a:pt x="2660967" y="3121660"/>
                  </a:lnTo>
                  <a:lnTo>
                    <a:pt x="2660967" y="57150"/>
                  </a:lnTo>
                  <a:lnTo>
                    <a:pt x="2660967" y="56515"/>
                  </a:lnTo>
                  <a:lnTo>
                    <a:pt x="2660967" y="45720"/>
                  </a:lnTo>
                  <a:close/>
                </a:path>
                <a:path w="2707004" h="3178810">
                  <a:moveTo>
                    <a:pt x="2706687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34290"/>
                  </a:lnTo>
                  <a:lnTo>
                    <a:pt x="0" y="3144520"/>
                  </a:lnTo>
                  <a:lnTo>
                    <a:pt x="0" y="3178810"/>
                  </a:lnTo>
                  <a:lnTo>
                    <a:pt x="2706687" y="3178810"/>
                  </a:lnTo>
                  <a:lnTo>
                    <a:pt x="2706687" y="3144837"/>
                  </a:lnTo>
                  <a:lnTo>
                    <a:pt x="2706687" y="3144520"/>
                  </a:lnTo>
                  <a:lnTo>
                    <a:pt x="2706687" y="33655"/>
                  </a:lnTo>
                  <a:lnTo>
                    <a:pt x="2672384" y="33655"/>
                  </a:lnTo>
                  <a:lnTo>
                    <a:pt x="2672384" y="3144520"/>
                  </a:lnTo>
                  <a:lnTo>
                    <a:pt x="34290" y="3144520"/>
                  </a:lnTo>
                  <a:lnTo>
                    <a:pt x="34290" y="34290"/>
                  </a:lnTo>
                  <a:lnTo>
                    <a:pt x="34290" y="33020"/>
                  </a:lnTo>
                  <a:lnTo>
                    <a:pt x="2706687" y="33020"/>
                  </a:lnTo>
                  <a:lnTo>
                    <a:pt x="2706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0" y="311626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0" y="352266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0" y="392906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000" y="433546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474186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000" y="5484812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5859463"/>
              <a:ext cx="2857500" cy="0"/>
            </a:xfrm>
            <a:custGeom>
              <a:avLst/>
              <a:gdLst/>
              <a:ahLst/>
              <a:cxnLst/>
              <a:rect l="l" t="t" r="r" b="b"/>
              <a:pathLst>
                <a:path w="2857500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57700" y="2303462"/>
              <a:ext cx="0" cy="3556000"/>
            </a:xfrm>
            <a:custGeom>
              <a:avLst/>
              <a:gdLst/>
              <a:ahLst/>
              <a:cxnLst/>
              <a:rect l="l" t="t" r="r" b="b"/>
              <a:pathLst>
                <a:path h="3556000">
                  <a:moveTo>
                    <a:pt x="0" y="0"/>
                  </a:moveTo>
                  <a:lnTo>
                    <a:pt x="0" y="3556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84049" y="4423244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4049" y="5458345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61573" y="4931194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Arial"/>
                <a:cs typeface="Arial"/>
              </a:rPr>
              <a:t>….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4336" y="1045769"/>
            <a:ext cx="6361430" cy="32518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6870" marR="5080" indent="-344805">
              <a:lnSpc>
                <a:spcPts val="2180"/>
              </a:lnSpc>
              <a:spcBef>
                <a:spcPts val="34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valid–invalid</a:t>
            </a:r>
            <a:r>
              <a:rPr sz="2000" dirty="0">
                <a:latin typeface="Calibri"/>
                <a:cs typeface="Calibri"/>
              </a:rPr>
              <a:t> 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associated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in-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0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366FF"/>
                </a:solidFill>
                <a:latin typeface="Calibri"/>
                <a:cs typeface="Calibri"/>
              </a:rPr>
              <a:t>resident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not-</a:t>
            </a:r>
            <a:r>
              <a:rPr sz="2000" spc="-20" dirty="0">
                <a:latin typeface="Calibri"/>
                <a:cs typeface="Calibri"/>
              </a:rPr>
              <a:t>in-</a:t>
            </a:r>
            <a:r>
              <a:rPr sz="2000" spc="-10" dirty="0">
                <a:latin typeface="Calibri"/>
                <a:cs typeface="Calibri"/>
              </a:rPr>
              <a:t>memory)</a:t>
            </a:r>
            <a:endParaRPr sz="2000">
              <a:latin typeface="Calibri"/>
              <a:cs typeface="Calibri"/>
            </a:endParaRPr>
          </a:p>
          <a:p>
            <a:pPr marL="356870" indent="-344170">
              <a:spcBef>
                <a:spcPts val="185"/>
              </a:spcBef>
              <a:buFont typeface="Arial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Initially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valid–invalid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entries</a:t>
            </a:r>
            <a:endParaRPr sz="2000">
              <a:latin typeface="Calibri"/>
              <a:cs typeface="Calibri"/>
            </a:endParaRPr>
          </a:p>
          <a:p>
            <a:pPr marL="356870" indent="-344170">
              <a:spcBef>
                <a:spcPts val="240"/>
              </a:spcBef>
              <a:buFont typeface="Arial"/>
              <a:buChar char="•"/>
              <a:tabLst>
                <a:tab pos="356870" algn="l"/>
              </a:tabLst>
            </a:pPr>
            <a:r>
              <a:rPr sz="2000" spc="-10" dirty="0">
                <a:latin typeface="Calibri"/>
                <a:cs typeface="Calibri"/>
              </a:rPr>
              <a:t>Example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snapshot:</a:t>
            </a:r>
            <a:endParaRPr sz="2000">
              <a:latin typeface="Calibri"/>
              <a:cs typeface="Calibri"/>
            </a:endParaRPr>
          </a:p>
          <a:p>
            <a:pPr marL="2068195" algn="just">
              <a:spcBef>
                <a:spcPts val="310"/>
              </a:spcBef>
              <a:tabLst>
                <a:tab pos="3763010" algn="l"/>
              </a:tabLst>
            </a:pPr>
            <a:r>
              <a:rPr sz="2000" dirty="0">
                <a:latin typeface="Arial"/>
                <a:cs typeface="Arial"/>
              </a:rPr>
              <a:t>Frame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#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valid-</a:t>
            </a:r>
            <a:r>
              <a:rPr sz="2000" dirty="0">
                <a:latin typeface="Arial"/>
                <a:cs typeface="Arial"/>
              </a:rPr>
              <a:t>invalid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bit</a:t>
            </a:r>
            <a:endParaRPr sz="2000">
              <a:latin typeface="Arial"/>
              <a:cs typeface="Arial"/>
            </a:endParaRPr>
          </a:p>
          <a:p>
            <a:pPr marL="3831590" marR="2390775" algn="just">
              <a:lnSpc>
                <a:spcPts val="3150"/>
              </a:lnSpc>
              <a:spcBef>
                <a:spcPts val="229"/>
              </a:spcBef>
            </a:pPr>
            <a:r>
              <a:rPr b="1" spc="-50" dirty="0">
                <a:solidFill>
                  <a:srgbClr val="FF0000"/>
                </a:solidFill>
                <a:latin typeface="Arial"/>
                <a:cs typeface="Arial"/>
              </a:rPr>
              <a:t>v v v</a:t>
            </a:r>
            <a:endParaRPr>
              <a:latin typeface="Arial"/>
              <a:cs typeface="Arial"/>
            </a:endParaRPr>
          </a:p>
          <a:p>
            <a:pPr marL="1436370" algn="ctr">
              <a:spcBef>
                <a:spcPts val="1025"/>
              </a:spcBef>
            </a:pPr>
            <a:r>
              <a:rPr b="1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2604" y="4392198"/>
            <a:ext cx="12020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dirty="0">
                <a:latin typeface="Arial"/>
                <a:cs typeface="Arial"/>
              </a:rPr>
              <a:t>page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92875" y="5563387"/>
            <a:ext cx="1045210" cy="101600"/>
            <a:chOff x="4968875" y="5563387"/>
            <a:chExt cx="1045210" cy="101600"/>
          </a:xfrm>
        </p:grpSpPr>
        <p:sp>
          <p:nvSpPr>
            <p:cNvPr id="20" name="object 20"/>
            <p:cNvSpPr/>
            <p:nvPr/>
          </p:nvSpPr>
          <p:spPr>
            <a:xfrm>
              <a:off x="4968875" y="5614193"/>
              <a:ext cx="1038860" cy="0"/>
            </a:xfrm>
            <a:custGeom>
              <a:avLst/>
              <a:gdLst/>
              <a:ahLst/>
              <a:cxnLst/>
              <a:rect l="l" t="t" r="r" b="b"/>
              <a:pathLst>
                <a:path w="1038860">
                  <a:moveTo>
                    <a:pt x="0" y="0"/>
                  </a:moveTo>
                  <a:lnTo>
                    <a:pt x="1038352" y="0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31027" y="5569737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49"/>
                  </a:lnTo>
                  <a:lnTo>
                    <a:pt x="0" y="88899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74940" y="5427979"/>
            <a:ext cx="74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20" dirty="0">
                <a:latin typeface="Calibri"/>
                <a:cs typeface="Calibri"/>
              </a:rPr>
              <a:t>Disk address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029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6472" y="189993"/>
            <a:ext cx="2349500" cy="69532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Page</a:t>
            </a:r>
            <a:r>
              <a:rPr spc="-225" dirty="0"/>
              <a:t> </a:t>
            </a:r>
            <a:r>
              <a:rPr spc="-10" dirty="0"/>
              <a:t>Fault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739" y="1197355"/>
            <a:ext cx="8718550" cy="46710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687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memory,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system:</a:t>
            </a:r>
            <a:endParaRPr sz="2400">
              <a:latin typeface="Calibri"/>
              <a:cs typeface="Calibri"/>
            </a:endParaRPr>
          </a:p>
          <a:p>
            <a:pPr marL="966469">
              <a:spcBef>
                <a:spcPts val="254"/>
              </a:spcBef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page</a:t>
            </a:r>
            <a:r>
              <a:rPr sz="2400"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366FF"/>
                </a:solidFill>
                <a:latin typeface="Calibri"/>
                <a:cs typeface="Calibri"/>
              </a:rPr>
              <a:t>fault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525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buAutoNum type="arabicPeriod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PCB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decide:</a:t>
            </a:r>
            <a:endParaRPr sz="2400">
              <a:latin typeface="Calibri"/>
              <a:cs typeface="Calibri"/>
            </a:endParaRPr>
          </a:p>
          <a:p>
            <a:pPr marL="810895" lvl="1" indent="-340995">
              <a:spcBef>
                <a:spcPts val="310"/>
              </a:spcBef>
              <a:buFont typeface="Arial"/>
              <a:buChar char="–"/>
              <a:tabLst>
                <a:tab pos="810895" algn="l"/>
              </a:tabLst>
            </a:pPr>
            <a:r>
              <a:rPr sz="2400" spc="-10" dirty="0">
                <a:latin typeface="Calibri"/>
                <a:cs typeface="Calibri"/>
              </a:rPr>
              <a:t>Invalid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abort</a:t>
            </a:r>
            <a:endParaRPr sz="2400">
              <a:latin typeface="Calibri"/>
              <a:cs typeface="Calibri"/>
            </a:endParaRPr>
          </a:p>
          <a:p>
            <a:pPr marL="810895" lvl="1" indent="-340995">
              <a:spcBef>
                <a:spcPts val="265"/>
              </a:spcBef>
              <a:buFont typeface="Arial"/>
              <a:buChar char="–"/>
              <a:tabLst>
                <a:tab pos="810895" algn="l"/>
              </a:tabLst>
            </a:pPr>
            <a:r>
              <a:rPr sz="2400" dirty="0">
                <a:latin typeface="Calibri"/>
                <a:cs typeface="Calibri"/>
              </a:rPr>
              <a:t>Just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(load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page)</a:t>
            </a:r>
            <a:endParaRPr sz="2400">
              <a:latin typeface="Calibri"/>
              <a:cs typeface="Calibri"/>
            </a:endParaRPr>
          </a:p>
          <a:p>
            <a:pPr marL="354965" indent="-342265">
              <a:spcBef>
                <a:spcPts val="290"/>
              </a:spcBef>
              <a:buAutoNum type="arabicPeriod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  <a:p>
            <a:pPr marL="354965" indent="-342265">
              <a:spcBef>
                <a:spcPts val="285"/>
              </a:spcBef>
              <a:buAutoNum type="arabicPeriod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Swap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  <a:p>
            <a:pPr marL="354330" marR="2249170" indent="-342265">
              <a:lnSpc>
                <a:spcPts val="2590"/>
              </a:lnSpc>
              <a:spcBef>
                <a:spcPts val="620"/>
              </a:spcBef>
              <a:buAutoNum type="arabicPeriod"/>
              <a:tabLst>
                <a:tab pos="356870" algn="l"/>
              </a:tabLst>
            </a:pPr>
            <a:r>
              <a:rPr sz="2400" dirty="0">
                <a:latin typeface="Calibri"/>
                <a:cs typeface="Calibri"/>
              </a:rPr>
              <a:t>Reset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 	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endParaRPr sz="2400">
              <a:latin typeface="Calibri"/>
              <a:cs typeface="Calibri"/>
            </a:endParaRPr>
          </a:p>
          <a:p>
            <a:pPr marL="354965" indent="-342265">
              <a:spcBef>
                <a:spcPts val="250"/>
              </a:spcBef>
              <a:buAutoNum type="arabicPeriod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Restart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fault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595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7325" y="342493"/>
            <a:ext cx="5979795" cy="45339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What</a:t>
            </a:r>
            <a:r>
              <a:rPr sz="2800" spc="-80" dirty="0"/>
              <a:t> </a:t>
            </a:r>
            <a:r>
              <a:rPr sz="2800" dirty="0"/>
              <a:t>Happens if</a:t>
            </a:r>
            <a:r>
              <a:rPr sz="2800" spc="-60" dirty="0"/>
              <a:t> </a:t>
            </a:r>
            <a:r>
              <a:rPr sz="2800" dirty="0"/>
              <a:t>There</a:t>
            </a:r>
            <a:r>
              <a:rPr sz="2800" spc="-25" dirty="0"/>
              <a:t> </a:t>
            </a:r>
            <a:r>
              <a:rPr sz="2800" dirty="0"/>
              <a:t>is</a:t>
            </a:r>
            <a:r>
              <a:rPr sz="2800" spc="-45" dirty="0"/>
              <a:t> </a:t>
            </a:r>
            <a:r>
              <a:rPr sz="2800" dirty="0"/>
              <a:t>no</a:t>
            </a:r>
            <a:r>
              <a:rPr sz="2800" spc="-40" dirty="0"/>
              <a:t> </a:t>
            </a:r>
            <a:r>
              <a:rPr sz="2800" dirty="0"/>
              <a:t>Free</a:t>
            </a:r>
            <a:r>
              <a:rPr sz="2800" spc="-55" dirty="0"/>
              <a:t> </a:t>
            </a:r>
            <a:r>
              <a:rPr sz="2800" spc="-10" dirty="0"/>
              <a:t>Frame?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831341" y="1035812"/>
            <a:ext cx="3313429" cy="171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pc="-10" dirty="0">
                <a:latin typeface="Calibri"/>
                <a:cs typeface="Calibri"/>
              </a:rPr>
              <a:t>Example</a:t>
            </a:r>
            <a:endParaRPr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40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frames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memory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8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10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pages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lnSpc>
                <a:spcPts val="1795"/>
              </a:lnSpc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5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them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never</a:t>
            </a:r>
            <a:r>
              <a:rPr sz="1500" spc="-20" dirty="0">
                <a:latin typeface="Calibri"/>
                <a:cs typeface="Calibri"/>
              </a:rPr>
              <a:t> used</a:t>
            </a:r>
            <a:endParaRPr sz="1500">
              <a:latin typeface="Calibri"/>
              <a:cs typeface="Calibri"/>
            </a:endParaRPr>
          </a:p>
          <a:p>
            <a:pPr marL="356870" indent="-344170">
              <a:lnSpc>
                <a:spcPts val="2155"/>
              </a:lnSpc>
              <a:buFont typeface="Arial"/>
              <a:buChar char="•"/>
              <a:tabLst>
                <a:tab pos="356870" algn="l"/>
              </a:tabLst>
            </a:pPr>
            <a:r>
              <a:rPr spc="-20" dirty="0">
                <a:latin typeface="Calibri"/>
                <a:cs typeface="Calibri"/>
              </a:rPr>
              <a:t>Two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options</a:t>
            </a:r>
            <a:endParaRPr>
              <a:latin typeface="Calibri"/>
              <a:cs typeface="Calibri"/>
            </a:endParaRPr>
          </a:p>
          <a:p>
            <a:pPr marL="756285" lvl="1" indent="-286385"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Run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4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(10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pages)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Run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8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(5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pages)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340" y="2727452"/>
            <a:ext cx="4235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pc="-10" dirty="0">
                <a:latin typeface="Calibri"/>
                <a:cs typeface="Calibri"/>
              </a:rPr>
              <a:t>Increase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degree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multiprogramming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340" y="2882948"/>
            <a:ext cx="2672080" cy="14204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469900">
              <a:spcBef>
                <a:spcPts val="1045"/>
              </a:spcBef>
              <a:tabLst>
                <a:tab pos="756285" algn="l"/>
              </a:tabLst>
            </a:pPr>
            <a:r>
              <a:rPr sz="1500" spc="-50" dirty="0">
                <a:latin typeface="Arial"/>
                <a:cs typeface="Arial"/>
              </a:rPr>
              <a:t>–</a:t>
            </a:r>
            <a:r>
              <a:rPr sz="1500" dirty="0">
                <a:latin typeface="Arial"/>
                <a:cs typeface="Arial"/>
              </a:rPr>
              <a:t>	</a:t>
            </a:r>
            <a:r>
              <a:rPr sz="1500" dirty="0">
                <a:latin typeface="Calibri"/>
                <a:cs typeface="Calibri"/>
              </a:rPr>
              <a:t>Over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allocating memory</a:t>
            </a:r>
            <a:endParaRPr sz="1500">
              <a:latin typeface="Calibri"/>
              <a:cs typeface="Calibri"/>
            </a:endParaRPr>
          </a:p>
          <a:p>
            <a:pPr marL="356870" indent="-344170">
              <a:spcBef>
                <a:spcPts val="1750"/>
              </a:spcBef>
              <a:buFont typeface="Arial"/>
              <a:buChar char="•"/>
              <a:tabLst>
                <a:tab pos="356870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Page</a:t>
            </a:r>
            <a:r>
              <a:rPr sz="2800" b="1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fault</a:t>
            </a:r>
            <a:endParaRPr sz="2800">
              <a:latin typeface="Calibri"/>
              <a:cs typeface="Calibri"/>
            </a:endParaRPr>
          </a:p>
          <a:p>
            <a:pPr marL="469900">
              <a:spcBef>
                <a:spcPts val="5"/>
              </a:spcBef>
            </a:pP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sz="26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free</a:t>
            </a:r>
            <a:r>
              <a:rPr sz="26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Calibri"/>
                <a:cs typeface="Calibri"/>
              </a:rPr>
              <a:t>frame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1340" y="4281933"/>
            <a:ext cx="7449184" cy="17170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>
              <a:spcBef>
                <a:spcPts val="110"/>
              </a:spcBef>
              <a:tabLst>
                <a:tab pos="756285" algn="l"/>
              </a:tabLst>
            </a:pPr>
            <a:r>
              <a:rPr sz="1500" spc="-50" dirty="0">
                <a:latin typeface="Arial"/>
                <a:cs typeface="Arial"/>
              </a:rPr>
              <a:t>–</a:t>
            </a:r>
            <a:r>
              <a:rPr sz="1500" dirty="0">
                <a:latin typeface="Arial"/>
                <a:cs typeface="Arial"/>
              </a:rPr>
              <a:t>	</a:t>
            </a:r>
            <a:r>
              <a:rPr sz="1500" spc="-25" dirty="0">
                <a:latin typeface="Calibri"/>
                <a:cs typeface="Calibri"/>
              </a:rPr>
              <a:t>Terminate? </a:t>
            </a:r>
            <a:r>
              <a:rPr sz="1500" dirty="0">
                <a:latin typeface="Calibri"/>
                <a:cs typeface="Calibri"/>
              </a:rPr>
              <a:t>swap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out?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replace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page?</a:t>
            </a:r>
            <a:endParaRPr sz="1500">
              <a:latin typeface="Calibri"/>
              <a:cs typeface="Calibri"/>
            </a:endParaRPr>
          </a:p>
          <a:p>
            <a:pPr marL="356870" indent="-344170">
              <a:spcBef>
                <a:spcPts val="1789"/>
              </a:spcBef>
              <a:buFont typeface="Arial"/>
              <a:buChar char="•"/>
              <a:tabLst>
                <a:tab pos="356870" algn="l"/>
              </a:tabLst>
            </a:pPr>
            <a:r>
              <a:rPr b="1" dirty="0">
                <a:solidFill>
                  <a:srgbClr val="0070C0"/>
                </a:solidFill>
                <a:latin typeface="Calibri"/>
                <a:cs typeface="Calibri"/>
              </a:rPr>
              <a:t>Page</a:t>
            </a:r>
            <a:r>
              <a:rPr b="1" spc="-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70C0"/>
                </a:solidFill>
                <a:latin typeface="Calibri"/>
                <a:cs typeface="Calibri"/>
              </a:rPr>
              <a:t>replacement</a:t>
            </a:r>
            <a:r>
              <a:rPr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some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memory,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really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out</a:t>
            </a:r>
            <a:endParaRPr>
              <a:latin typeface="Calibri"/>
              <a:cs typeface="Calibri"/>
            </a:endParaRPr>
          </a:p>
          <a:p>
            <a:pPr marL="469900">
              <a:spcBef>
                <a:spcPts val="1810"/>
              </a:spcBef>
              <a:tabLst>
                <a:tab pos="756285" algn="l"/>
              </a:tabLst>
            </a:pPr>
            <a:r>
              <a:rPr sz="1500" spc="-50" dirty="0">
                <a:latin typeface="Arial"/>
                <a:cs typeface="Arial"/>
              </a:rPr>
              <a:t>–</a:t>
            </a:r>
            <a:r>
              <a:rPr sz="1500" dirty="0">
                <a:latin typeface="Arial"/>
                <a:cs typeface="Arial"/>
              </a:rPr>
              <a:t>	</a:t>
            </a:r>
            <a:r>
              <a:rPr sz="1500" spc="-10" dirty="0">
                <a:latin typeface="Calibri"/>
                <a:cs typeface="Calibri"/>
              </a:rPr>
              <a:t>Performance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want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algorithm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will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result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minimum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page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faults</a:t>
            </a:r>
            <a:endParaRPr sz="1500">
              <a:latin typeface="Calibri"/>
              <a:cs typeface="Calibri"/>
            </a:endParaRPr>
          </a:p>
          <a:p>
            <a:pPr marL="356870" indent="-344170">
              <a:spcBef>
                <a:spcPts val="1789"/>
              </a:spcBef>
              <a:buFont typeface="Arial"/>
              <a:buChar char="•"/>
              <a:tabLst>
                <a:tab pos="356870" algn="l"/>
              </a:tabLst>
            </a:pPr>
            <a:r>
              <a:rPr dirty="0">
                <a:latin typeface="Calibri"/>
                <a:cs typeface="Calibri"/>
              </a:rPr>
              <a:t>Same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page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may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brought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several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times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3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050" y="1087907"/>
            <a:ext cx="6127724" cy="51124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9229" y="-23392"/>
            <a:ext cx="6164580" cy="1529715"/>
          </a:xfrm>
          <a:prstGeom prst="rect">
            <a:avLst/>
          </a:prstGeom>
        </p:spPr>
        <p:txBody>
          <a:bodyPr vert="horz" wrap="square" lIns="0" tIns="25146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4000" dirty="0"/>
              <a:t>Steps</a:t>
            </a:r>
            <a:r>
              <a:rPr sz="4000" spc="-95" dirty="0"/>
              <a:t> </a:t>
            </a:r>
            <a:r>
              <a:rPr sz="4000" dirty="0"/>
              <a:t>in</a:t>
            </a:r>
            <a:r>
              <a:rPr sz="4000" spc="-65" dirty="0"/>
              <a:t> </a:t>
            </a:r>
            <a:r>
              <a:rPr sz="4000" dirty="0"/>
              <a:t>Handling</a:t>
            </a:r>
            <a:r>
              <a:rPr sz="4000" spc="-100" dirty="0"/>
              <a:t> </a:t>
            </a:r>
            <a:r>
              <a:rPr sz="4000" dirty="0"/>
              <a:t>a</a:t>
            </a:r>
            <a:r>
              <a:rPr sz="4000" spc="-60" dirty="0"/>
              <a:t> </a:t>
            </a:r>
            <a:r>
              <a:rPr sz="4000" dirty="0"/>
              <a:t>Page</a:t>
            </a:r>
            <a:r>
              <a:rPr sz="4000" spc="-90" dirty="0"/>
              <a:t> </a:t>
            </a:r>
            <a:r>
              <a:rPr sz="4000" spc="-10" dirty="0"/>
              <a:t>Fault</a:t>
            </a:r>
            <a:endParaRPr sz="4000"/>
          </a:p>
          <a:p>
            <a:pPr marL="1610360" marR="3990975">
              <a:lnSpc>
                <a:spcPct val="100000"/>
              </a:lnSpc>
              <a:spcBef>
                <a:spcPts val="845"/>
              </a:spcBef>
            </a:pPr>
            <a:r>
              <a:rPr sz="1800" spc="-20" dirty="0"/>
              <a:t>Check </a:t>
            </a:r>
            <a:r>
              <a:rPr sz="1800" spc="-25" dirty="0"/>
              <a:t>PCB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99119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03415"/>
            <a:ext cx="10515600" cy="1248982"/>
          </a:xfrm>
          <a:prstGeom prst="rect">
            <a:avLst/>
          </a:prstGeom>
        </p:spPr>
        <p:txBody>
          <a:bodyPr vert="horz" wrap="square" lIns="0" tIns="566343" rIns="0" bIns="0" rtlCol="0" anchor="ctr">
            <a:spAutoFit/>
          </a:bodyPr>
          <a:lstStyle/>
          <a:p>
            <a:pPr marL="1216025">
              <a:lnSpc>
                <a:spcPct val="100000"/>
              </a:lnSpc>
              <a:spcBef>
                <a:spcPts val="90"/>
              </a:spcBef>
            </a:pPr>
            <a:r>
              <a:rPr dirty="0"/>
              <a:t>Pure</a:t>
            </a:r>
            <a:r>
              <a:rPr spc="-155" dirty="0"/>
              <a:t> </a:t>
            </a:r>
            <a:r>
              <a:rPr dirty="0"/>
              <a:t>Demand</a:t>
            </a:r>
            <a:r>
              <a:rPr spc="-105" dirty="0"/>
              <a:t> </a:t>
            </a:r>
            <a:r>
              <a:rPr spc="-10" dirty="0"/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340" y="1374104"/>
            <a:ext cx="8376284" cy="490537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6870" indent="-344170">
              <a:spcBef>
                <a:spcPts val="445"/>
              </a:spcBef>
              <a:buFont typeface="Arial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Extreme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case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start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process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no</a:t>
            </a:r>
            <a:r>
              <a:rPr sz="2700" i="1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pages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memory</a:t>
            </a:r>
            <a:endParaRPr sz="2700">
              <a:latin typeface="Calibri"/>
              <a:cs typeface="Calibri"/>
            </a:endParaRPr>
          </a:p>
          <a:p>
            <a:pPr marL="754380" marR="5080" lvl="1" indent="-285115">
              <a:lnSpc>
                <a:spcPts val="2590"/>
              </a:lnSpc>
              <a:spcBef>
                <a:spcPts val="630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non- 	</a:t>
            </a:r>
            <a:r>
              <a:rPr sz="2400" spc="-10" dirty="0">
                <a:latin typeface="Calibri"/>
                <a:cs typeface="Calibri"/>
              </a:rPr>
              <a:t>memory-resident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fault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spcBef>
                <a:spcPts val="25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Swap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page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spcBef>
                <a:spcPts val="290"/>
              </a:spcBef>
              <a:buFont typeface="Arial"/>
              <a:buChar char="–"/>
              <a:tabLst>
                <a:tab pos="755015" algn="l"/>
              </a:tabLst>
            </a:pP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Pure</a:t>
            </a:r>
            <a:r>
              <a:rPr sz="2400" b="1" spc="-9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demand</a:t>
            </a:r>
            <a:r>
              <a:rPr sz="24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paging</a:t>
            </a:r>
            <a:endParaRPr sz="2400">
              <a:latin typeface="Calibri"/>
              <a:cs typeface="Calibri"/>
            </a:endParaRPr>
          </a:p>
          <a:p>
            <a:pPr marL="356870" marR="275590" indent="-344805">
              <a:lnSpc>
                <a:spcPts val="2930"/>
              </a:lnSpc>
              <a:spcBef>
                <a:spcPts val="655"/>
              </a:spcBef>
              <a:buFont typeface="Arial"/>
              <a:buChar char="•"/>
              <a:tabLst>
                <a:tab pos="356870" algn="l"/>
              </a:tabLst>
            </a:pPr>
            <a:r>
              <a:rPr sz="2700" spc="-25" dirty="0">
                <a:latin typeface="Calibri"/>
                <a:cs typeface="Calibri"/>
              </a:rPr>
              <a:t>Actually,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given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instruction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could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access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multiple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pages (instruction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+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data)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-&gt;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multiple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page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faults</a:t>
            </a:r>
            <a:endParaRPr sz="2700">
              <a:latin typeface="Calibri"/>
              <a:cs typeface="Calibri"/>
            </a:endParaRPr>
          </a:p>
          <a:p>
            <a:pPr marL="755015" lvl="1" indent="-285115">
              <a:spcBef>
                <a:spcPts val="254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Pain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decreased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locality</a:t>
            </a:r>
            <a:r>
              <a:rPr sz="24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reference</a:t>
            </a:r>
            <a:endParaRPr sz="2400">
              <a:latin typeface="Calibri"/>
              <a:cs typeface="Calibri"/>
            </a:endParaRPr>
          </a:p>
          <a:p>
            <a:pPr marL="356870" indent="-344170">
              <a:spcBef>
                <a:spcPts val="300"/>
              </a:spcBef>
              <a:buFont typeface="Arial"/>
              <a:buChar char="•"/>
              <a:tabLst>
                <a:tab pos="356870" algn="l"/>
              </a:tabLst>
            </a:pP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700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support</a:t>
            </a:r>
            <a:r>
              <a:rPr sz="27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needed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demand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paging</a:t>
            </a:r>
            <a:endParaRPr sz="2700">
              <a:latin typeface="Calibri"/>
              <a:cs typeface="Calibri"/>
            </a:endParaRPr>
          </a:p>
          <a:p>
            <a:pPr marL="755015" lvl="1" indent="-285115">
              <a:spcBef>
                <a:spcPts val="32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Page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invalid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bit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spcBef>
                <a:spcPts val="29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Secondary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(swap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swap</a:t>
            </a:r>
            <a:r>
              <a:rPr sz="2400" b="1" spc="-9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space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754380" lvl="1" indent="-285115">
              <a:spcBef>
                <a:spcPts val="290"/>
              </a:spcBef>
              <a:buFont typeface="Arial"/>
              <a:buChar char="–"/>
              <a:tabLst>
                <a:tab pos="754380" algn="l"/>
              </a:tabLst>
            </a:pPr>
            <a:r>
              <a:rPr sz="2400" spc="-10" dirty="0">
                <a:latin typeface="Calibri"/>
                <a:cs typeface="Calibri"/>
              </a:rPr>
              <a:t>Instruction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fault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055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-461"/>
            <a:ext cx="7491095" cy="1261745"/>
          </a:xfrm>
          <a:prstGeom prst="rect">
            <a:avLst/>
          </a:prstGeom>
        </p:spPr>
        <p:txBody>
          <a:bodyPr vert="horz" wrap="square" lIns="0" tIns="228600" rIns="0" bIns="0" rtlCol="0" anchor="ctr">
            <a:spAutoFit/>
          </a:bodyPr>
          <a:lstStyle/>
          <a:p>
            <a:pPr marL="952500">
              <a:lnSpc>
                <a:spcPct val="100000"/>
              </a:lnSpc>
              <a:spcBef>
                <a:spcPts val="1800"/>
              </a:spcBef>
            </a:pPr>
            <a:r>
              <a:rPr sz="4000" spc="-10" dirty="0"/>
              <a:t>Performance</a:t>
            </a:r>
            <a:r>
              <a:rPr sz="4000" spc="-105" dirty="0"/>
              <a:t> </a:t>
            </a:r>
            <a:r>
              <a:rPr sz="4000" dirty="0"/>
              <a:t>of</a:t>
            </a:r>
            <a:r>
              <a:rPr sz="4000" spc="-80" dirty="0"/>
              <a:t> </a:t>
            </a:r>
            <a:r>
              <a:rPr sz="4000" dirty="0"/>
              <a:t>Demand</a:t>
            </a:r>
            <a:r>
              <a:rPr sz="4000" spc="-90" dirty="0"/>
              <a:t> </a:t>
            </a:r>
            <a:r>
              <a:rPr sz="4000" spc="-10" dirty="0"/>
              <a:t>Paging</a:t>
            </a:r>
            <a:endParaRPr sz="4000"/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000" dirty="0"/>
              <a:t>Demand</a:t>
            </a:r>
            <a:r>
              <a:rPr sz="2000" spc="-60" dirty="0"/>
              <a:t> </a:t>
            </a:r>
            <a:r>
              <a:rPr sz="2000" dirty="0"/>
              <a:t>paging</a:t>
            </a:r>
            <a:r>
              <a:rPr sz="2000" spc="-90" dirty="0"/>
              <a:t> </a:t>
            </a:r>
            <a:r>
              <a:rPr sz="2000" spc="-10" dirty="0"/>
              <a:t>affects</a:t>
            </a:r>
            <a:r>
              <a:rPr sz="2000" spc="-15" dirty="0"/>
              <a:t> </a:t>
            </a:r>
            <a:r>
              <a:rPr sz="2000" dirty="0"/>
              <a:t>the</a:t>
            </a:r>
            <a:r>
              <a:rPr sz="2000" spc="-75" dirty="0"/>
              <a:t> </a:t>
            </a:r>
            <a:r>
              <a:rPr sz="2000" dirty="0"/>
              <a:t>performance</a:t>
            </a:r>
            <a:r>
              <a:rPr sz="2000" spc="-10" dirty="0"/>
              <a:t> </a:t>
            </a:r>
            <a:r>
              <a:rPr sz="2000" dirty="0"/>
              <a:t>of</a:t>
            </a:r>
            <a:r>
              <a:rPr sz="2000" spc="-70" dirty="0"/>
              <a:t> </a:t>
            </a:r>
            <a:r>
              <a:rPr sz="2000" dirty="0"/>
              <a:t>the</a:t>
            </a:r>
            <a:r>
              <a:rPr sz="2000" spc="-75" dirty="0"/>
              <a:t> </a:t>
            </a:r>
            <a:r>
              <a:rPr sz="2000" dirty="0"/>
              <a:t>computer</a:t>
            </a:r>
            <a:r>
              <a:rPr sz="2000" spc="-25" dirty="0"/>
              <a:t> </a:t>
            </a:r>
            <a:r>
              <a:rPr sz="2000" spc="-10" dirty="0"/>
              <a:t>systems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2059940" y="1526540"/>
            <a:ext cx="6801484" cy="479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spcBef>
                <a:spcPts val="10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Page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Fault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Rate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Symbol"/>
                <a:cs typeface="Symbol"/>
              </a:rPr>
              <a:t>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Calibri"/>
                <a:cs typeface="Calibri"/>
              </a:rPr>
              <a:t>p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dirty="0">
                <a:latin typeface="Symbol"/>
                <a:cs typeface="Symbol"/>
              </a:rPr>
              <a:t>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  <a:p>
            <a:pPr marL="756285" lvl="1" indent="-286385"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p</a:t>
            </a:r>
            <a:r>
              <a:rPr sz="2600" i="1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faults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p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reference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fault</a:t>
            </a:r>
            <a:endParaRPr sz="2600">
              <a:latin typeface="Calibri"/>
              <a:cs typeface="Calibri"/>
            </a:endParaRPr>
          </a:p>
          <a:p>
            <a:pPr marL="356870" indent="-344170">
              <a:spcBef>
                <a:spcPts val="2480"/>
              </a:spcBef>
              <a:buFont typeface="Arial"/>
              <a:buChar char="•"/>
              <a:tabLst>
                <a:tab pos="356870" algn="l"/>
              </a:tabLst>
            </a:pPr>
            <a:r>
              <a:rPr sz="3000" spc="-25" dirty="0">
                <a:latin typeface="Calibri"/>
                <a:cs typeface="Calibri"/>
              </a:rPr>
              <a:t>Effective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Access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(EAT)</a:t>
            </a:r>
            <a:endParaRPr sz="3000">
              <a:latin typeface="Calibri"/>
              <a:cs typeface="Calibri"/>
            </a:endParaRPr>
          </a:p>
          <a:p>
            <a:pPr marL="2176780"/>
            <a:r>
              <a:rPr sz="3000" spc="-90" dirty="0">
                <a:latin typeface="Calibri"/>
                <a:cs typeface="Calibri"/>
              </a:rPr>
              <a:t>EAT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=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(1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p</a:t>
            </a:r>
            <a:r>
              <a:rPr sz="3000" dirty="0">
                <a:latin typeface="Calibri"/>
                <a:cs typeface="Calibri"/>
              </a:rPr>
              <a:t>)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x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access</a:t>
            </a:r>
            <a:endParaRPr sz="3000">
              <a:latin typeface="Calibri"/>
              <a:cs typeface="Calibri"/>
            </a:endParaRPr>
          </a:p>
          <a:p>
            <a:pPr marL="2868295"/>
            <a:r>
              <a:rPr sz="3000" dirty="0">
                <a:latin typeface="Calibri"/>
                <a:cs typeface="Calibri"/>
              </a:rPr>
              <a:t>+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p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(page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fault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overhead</a:t>
            </a:r>
            <a:endParaRPr sz="3000">
              <a:latin typeface="Calibri"/>
              <a:cs typeface="Calibri"/>
            </a:endParaRPr>
          </a:p>
          <a:p>
            <a:pPr marL="3807460"/>
            <a:r>
              <a:rPr sz="3000" dirty="0">
                <a:latin typeface="Calibri"/>
                <a:cs typeface="Calibri"/>
              </a:rPr>
              <a:t>+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swap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out</a:t>
            </a:r>
            <a:endParaRPr sz="3000">
              <a:latin typeface="Calibri"/>
              <a:cs typeface="Calibri"/>
            </a:endParaRPr>
          </a:p>
          <a:p>
            <a:pPr marL="3807460"/>
            <a:r>
              <a:rPr sz="3000" dirty="0">
                <a:latin typeface="Calibri"/>
                <a:cs typeface="Calibri"/>
              </a:rPr>
              <a:t>+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swap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</a:t>
            </a:r>
            <a:endParaRPr sz="3000">
              <a:latin typeface="Calibri"/>
              <a:cs typeface="Calibri"/>
            </a:endParaRPr>
          </a:p>
          <a:p>
            <a:pPr marL="3807460"/>
            <a:r>
              <a:rPr sz="3000" dirty="0">
                <a:latin typeface="Calibri"/>
                <a:cs typeface="Calibri"/>
              </a:rPr>
              <a:t>+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restart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overhead</a:t>
            </a:r>
            <a:endParaRPr sz="3000">
              <a:latin typeface="Calibri"/>
              <a:cs typeface="Calibri"/>
            </a:endParaRPr>
          </a:p>
          <a:p>
            <a:pPr marL="4554220"/>
            <a:r>
              <a:rPr sz="3000" spc="-50" dirty="0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668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5184" y="214515"/>
            <a:ext cx="5101590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Demand</a:t>
            </a:r>
            <a:r>
              <a:rPr sz="4000" spc="-130" dirty="0"/>
              <a:t> </a:t>
            </a:r>
            <a:r>
              <a:rPr sz="4000" dirty="0"/>
              <a:t>Paging</a:t>
            </a:r>
            <a:r>
              <a:rPr sz="4000" spc="-85" dirty="0"/>
              <a:t> </a:t>
            </a:r>
            <a:r>
              <a:rPr sz="4000" spc="-10" dirty="0"/>
              <a:t>Example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754299" y="1096772"/>
            <a:ext cx="6736715" cy="5481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indent="-344170">
              <a:spcBef>
                <a:spcPts val="105"/>
              </a:spcBef>
              <a:buFont typeface="Arial"/>
              <a:buChar char="•"/>
              <a:tabLst>
                <a:tab pos="357505" algn="l"/>
              </a:tabLst>
            </a:pP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nanoseconds</a:t>
            </a:r>
            <a:endParaRPr sz="2200">
              <a:latin typeface="Calibri"/>
              <a:cs typeface="Calibri"/>
            </a:endParaRPr>
          </a:p>
          <a:p>
            <a:pPr marL="357505" indent="-344170">
              <a:buFont typeface="Arial"/>
              <a:buChar char="•"/>
              <a:tabLst>
                <a:tab pos="357505" algn="l"/>
              </a:tabLst>
            </a:pPr>
            <a:r>
              <a:rPr sz="2200" spc="-20" dirty="0">
                <a:latin typeface="Calibri"/>
                <a:cs typeface="Calibri"/>
              </a:rPr>
              <a:t>Average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page-</a:t>
            </a:r>
            <a:r>
              <a:rPr sz="2200" dirty="0">
                <a:latin typeface="Calibri"/>
                <a:cs typeface="Calibri"/>
              </a:rPr>
              <a:t>fault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milliseconds</a:t>
            </a:r>
            <a:endParaRPr sz="2200">
              <a:latin typeface="Calibri"/>
              <a:cs typeface="Calibri"/>
            </a:endParaRPr>
          </a:p>
          <a:p>
            <a:pPr marL="357505" indent="-344805">
              <a:spcBef>
                <a:spcPts val="2115"/>
              </a:spcBef>
              <a:buFont typeface="Arial"/>
              <a:buChar char="•"/>
              <a:tabLst>
                <a:tab pos="357505" algn="l"/>
              </a:tabLst>
            </a:pPr>
            <a:r>
              <a:rPr sz="2200" spc="-60" dirty="0">
                <a:latin typeface="Calibri"/>
                <a:cs typeface="Calibri"/>
              </a:rPr>
              <a:t>EAT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p)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(8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milliseconds)</a:t>
            </a:r>
            <a:endParaRPr sz="2200">
              <a:latin typeface="Calibri"/>
              <a:cs typeface="Calibri"/>
            </a:endParaRPr>
          </a:p>
          <a:p>
            <a:pPr marL="862965"/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8,000,000</a:t>
            </a:r>
            <a:endParaRPr sz="2200">
              <a:latin typeface="Calibri"/>
              <a:cs typeface="Calibri"/>
            </a:endParaRPr>
          </a:p>
          <a:p>
            <a:pPr marL="899794"/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7,999,800</a:t>
            </a:r>
            <a:endParaRPr sz="2200">
              <a:latin typeface="Calibri"/>
              <a:cs typeface="Calibri"/>
            </a:endParaRPr>
          </a:p>
          <a:p>
            <a:pPr marL="356870" marR="619125" indent="-344805">
              <a:buFont typeface="Arial"/>
              <a:buChar char="•"/>
              <a:tabLst>
                <a:tab pos="582295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1,000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causes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then 	</a:t>
            </a:r>
            <a:r>
              <a:rPr sz="2200" spc="-50" dirty="0">
                <a:latin typeface="Calibri"/>
                <a:cs typeface="Calibri"/>
              </a:rPr>
              <a:t>EAT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8.2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microseconds.</a:t>
            </a:r>
            <a:endParaRPr sz="2200">
              <a:latin typeface="Calibri"/>
              <a:cs typeface="Calibri"/>
            </a:endParaRPr>
          </a:p>
          <a:p>
            <a:pPr marL="390525"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slowdown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40!!</a:t>
            </a:r>
            <a:endParaRPr sz="2200">
              <a:latin typeface="Calibri"/>
              <a:cs typeface="Calibri"/>
            </a:endParaRPr>
          </a:p>
          <a:p>
            <a:pPr marL="356870" indent="-344170">
              <a:buFont typeface="Arial"/>
              <a:buChar char="•"/>
              <a:tabLst>
                <a:tab pos="35687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want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performance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degradation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&lt;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percent</a:t>
            </a:r>
            <a:endParaRPr sz="2200">
              <a:latin typeface="Calibri"/>
              <a:cs typeface="Calibri"/>
            </a:endParaRPr>
          </a:p>
          <a:p>
            <a:pPr marL="470534">
              <a:lnSpc>
                <a:spcPts val="2160"/>
              </a:lnSpc>
              <a:tabLst>
                <a:tab pos="756920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220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7,999,800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75692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20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7,999,800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</a:t>
            </a:r>
            <a:endParaRPr sz="2000">
              <a:latin typeface="Calibri"/>
              <a:cs typeface="Calibri"/>
            </a:endParaRPr>
          </a:p>
          <a:p>
            <a:pPr marL="470534">
              <a:tabLst>
                <a:tab pos="756920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.0000025</a:t>
            </a:r>
            <a:endParaRPr sz="2000">
              <a:latin typeface="Calibri"/>
              <a:cs typeface="Calibri"/>
            </a:endParaRPr>
          </a:p>
          <a:p>
            <a:pPr marL="470534">
              <a:tabLst>
                <a:tab pos="756920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fault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400,000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accesses</a:t>
            </a:r>
            <a:endParaRPr sz="2000">
              <a:latin typeface="Calibri"/>
              <a:cs typeface="Calibri"/>
            </a:endParaRPr>
          </a:p>
          <a:p>
            <a:pPr marL="165735">
              <a:spcBef>
                <a:spcPts val="209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Better</a:t>
            </a:r>
            <a:r>
              <a:rPr sz="20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utilization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swap</a:t>
            </a:r>
            <a:r>
              <a:rPr sz="20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space</a:t>
            </a:r>
            <a:endParaRPr sz="2000">
              <a:latin typeface="Calibri"/>
              <a:cs typeface="Calibri"/>
            </a:endParaRPr>
          </a:p>
          <a:p>
            <a:pPr marR="5080" algn="r">
              <a:spcBef>
                <a:spcPts val="1300"/>
              </a:spcBef>
            </a:pPr>
            <a:r>
              <a:rPr dirty="0">
                <a:latin typeface="Calibri"/>
                <a:cs typeface="Calibri"/>
              </a:rPr>
              <a:t>Swap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space</a:t>
            </a:r>
            <a:endParaRPr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15351" y="4488843"/>
            <a:ext cx="1365885" cy="2037714"/>
            <a:chOff x="6991350" y="4488843"/>
            <a:chExt cx="1365885" cy="20377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8244" y="4488843"/>
              <a:ext cx="1048482" cy="20376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10400" y="6324579"/>
              <a:ext cx="345440" cy="120650"/>
            </a:xfrm>
            <a:custGeom>
              <a:avLst/>
              <a:gdLst/>
              <a:ahLst/>
              <a:cxnLst/>
              <a:rect l="l" t="t" r="r" b="b"/>
              <a:pathLst>
                <a:path w="345440" h="120650">
                  <a:moveTo>
                    <a:pt x="0" y="120154"/>
                  </a:moveTo>
                  <a:lnTo>
                    <a:pt x="34537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25918" y="6299156"/>
              <a:ext cx="130175" cy="126364"/>
            </a:xfrm>
            <a:custGeom>
              <a:avLst/>
              <a:gdLst/>
              <a:ahLst/>
              <a:cxnLst/>
              <a:rect l="l" t="t" r="r" b="b"/>
              <a:pathLst>
                <a:path w="130175" h="126364">
                  <a:moveTo>
                    <a:pt x="0" y="0"/>
                  </a:moveTo>
                  <a:lnTo>
                    <a:pt x="129857" y="25425"/>
                  </a:lnTo>
                  <a:lnTo>
                    <a:pt x="43815" y="1259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562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0590" y="214515"/>
            <a:ext cx="5826125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Need</a:t>
            </a:r>
            <a:r>
              <a:rPr sz="4000" spc="-140" dirty="0"/>
              <a:t> </a:t>
            </a:r>
            <a:r>
              <a:rPr sz="4000" dirty="0"/>
              <a:t>For</a:t>
            </a:r>
            <a:r>
              <a:rPr sz="4000" spc="-90" dirty="0"/>
              <a:t> </a:t>
            </a:r>
            <a:r>
              <a:rPr sz="4000" dirty="0"/>
              <a:t>Page</a:t>
            </a:r>
            <a:r>
              <a:rPr sz="4000" spc="-125" dirty="0"/>
              <a:t> </a:t>
            </a:r>
            <a:r>
              <a:rPr sz="4000" spc="-10" dirty="0"/>
              <a:t>Replacement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9520" y="973975"/>
            <a:ext cx="7003994" cy="5072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7140" y="867651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P1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140" y="3763327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P2</a:t>
            </a:r>
            <a:endParaRPr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92300" y="837171"/>
            <a:ext cx="2921000" cy="1309370"/>
            <a:chOff x="368300" y="837171"/>
            <a:chExt cx="2921000" cy="1309370"/>
          </a:xfrm>
        </p:grpSpPr>
        <p:sp>
          <p:nvSpPr>
            <p:cNvPr id="7" name="object 7"/>
            <p:cNvSpPr/>
            <p:nvPr/>
          </p:nvSpPr>
          <p:spPr>
            <a:xfrm>
              <a:off x="381000" y="849871"/>
              <a:ext cx="533400" cy="369570"/>
            </a:xfrm>
            <a:custGeom>
              <a:avLst/>
              <a:gdLst/>
              <a:ahLst/>
              <a:cxnLst/>
              <a:rect l="l" t="t" r="r" b="b"/>
              <a:pathLst>
                <a:path w="533400" h="369569">
                  <a:moveTo>
                    <a:pt x="348729" y="0"/>
                  </a:moveTo>
                  <a:lnTo>
                    <a:pt x="348729" y="92328"/>
                  </a:lnTo>
                  <a:lnTo>
                    <a:pt x="0" y="92328"/>
                  </a:lnTo>
                  <a:lnTo>
                    <a:pt x="0" y="276999"/>
                  </a:lnTo>
                  <a:lnTo>
                    <a:pt x="348729" y="276999"/>
                  </a:lnTo>
                  <a:lnTo>
                    <a:pt x="348729" y="369328"/>
                  </a:lnTo>
                  <a:lnTo>
                    <a:pt x="533400" y="184657"/>
                  </a:lnTo>
                  <a:lnTo>
                    <a:pt x="34872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849871"/>
              <a:ext cx="533400" cy="369570"/>
            </a:xfrm>
            <a:custGeom>
              <a:avLst/>
              <a:gdLst/>
              <a:ahLst/>
              <a:cxnLst/>
              <a:rect l="l" t="t" r="r" b="b"/>
              <a:pathLst>
                <a:path w="533400" h="369569">
                  <a:moveTo>
                    <a:pt x="0" y="92328"/>
                  </a:moveTo>
                  <a:lnTo>
                    <a:pt x="348729" y="92328"/>
                  </a:lnTo>
                  <a:lnTo>
                    <a:pt x="348729" y="0"/>
                  </a:lnTo>
                  <a:lnTo>
                    <a:pt x="533400" y="184657"/>
                  </a:lnTo>
                  <a:lnTo>
                    <a:pt x="348729" y="369328"/>
                  </a:lnTo>
                  <a:lnTo>
                    <a:pt x="348729" y="276999"/>
                  </a:lnTo>
                  <a:lnTo>
                    <a:pt x="0" y="276999"/>
                  </a:lnTo>
                  <a:lnTo>
                    <a:pt x="0" y="92328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1800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3048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1800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30480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83939" y="2284667"/>
            <a:ext cx="1638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b="1" spc="-50" dirty="0">
                <a:latin typeface="Calibri"/>
                <a:cs typeface="Calibri"/>
              </a:rPr>
              <a:t>K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37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0590" y="214515"/>
            <a:ext cx="5826125" cy="63627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Need</a:t>
            </a:r>
            <a:r>
              <a:rPr sz="4000" spc="-140" dirty="0"/>
              <a:t> </a:t>
            </a:r>
            <a:r>
              <a:rPr sz="4000" dirty="0"/>
              <a:t>For</a:t>
            </a:r>
            <a:r>
              <a:rPr sz="4000" spc="-90" dirty="0"/>
              <a:t> </a:t>
            </a:r>
            <a:r>
              <a:rPr sz="4000" dirty="0"/>
              <a:t>Page</a:t>
            </a:r>
            <a:r>
              <a:rPr sz="4000" spc="-125" dirty="0"/>
              <a:t> </a:t>
            </a:r>
            <a:r>
              <a:rPr sz="4000" spc="-10" dirty="0"/>
              <a:t>Replacement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9520" y="973975"/>
            <a:ext cx="7003994" cy="5072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7140" y="867651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P1</a:t>
            </a:r>
            <a:endParaRPr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92301" y="3732772"/>
            <a:ext cx="1226185" cy="814069"/>
            <a:chOff x="368300" y="3732771"/>
            <a:chExt cx="1226185" cy="814069"/>
          </a:xfrm>
        </p:grpSpPr>
        <p:sp>
          <p:nvSpPr>
            <p:cNvPr id="6" name="object 6"/>
            <p:cNvSpPr/>
            <p:nvPr/>
          </p:nvSpPr>
          <p:spPr>
            <a:xfrm>
              <a:off x="381000" y="3745471"/>
              <a:ext cx="533400" cy="369570"/>
            </a:xfrm>
            <a:custGeom>
              <a:avLst/>
              <a:gdLst/>
              <a:ahLst/>
              <a:cxnLst/>
              <a:rect l="l" t="t" r="r" b="b"/>
              <a:pathLst>
                <a:path w="533400" h="369570">
                  <a:moveTo>
                    <a:pt x="348729" y="0"/>
                  </a:moveTo>
                  <a:lnTo>
                    <a:pt x="348729" y="92329"/>
                  </a:lnTo>
                  <a:lnTo>
                    <a:pt x="0" y="92329"/>
                  </a:lnTo>
                  <a:lnTo>
                    <a:pt x="0" y="276999"/>
                  </a:lnTo>
                  <a:lnTo>
                    <a:pt x="348729" y="276999"/>
                  </a:lnTo>
                  <a:lnTo>
                    <a:pt x="348729" y="369328"/>
                  </a:lnTo>
                  <a:lnTo>
                    <a:pt x="533400" y="184658"/>
                  </a:lnTo>
                  <a:lnTo>
                    <a:pt x="34872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3745471"/>
              <a:ext cx="533400" cy="369570"/>
            </a:xfrm>
            <a:custGeom>
              <a:avLst/>
              <a:gdLst/>
              <a:ahLst/>
              <a:cxnLst/>
              <a:rect l="l" t="t" r="r" b="b"/>
              <a:pathLst>
                <a:path w="533400" h="369570">
                  <a:moveTo>
                    <a:pt x="0" y="92329"/>
                  </a:moveTo>
                  <a:lnTo>
                    <a:pt x="348729" y="92329"/>
                  </a:lnTo>
                  <a:lnTo>
                    <a:pt x="348729" y="0"/>
                  </a:lnTo>
                  <a:lnTo>
                    <a:pt x="533400" y="184658"/>
                  </a:lnTo>
                  <a:lnTo>
                    <a:pt x="348729" y="369328"/>
                  </a:lnTo>
                  <a:lnTo>
                    <a:pt x="348729" y="276999"/>
                  </a:lnTo>
                  <a:lnTo>
                    <a:pt x="0" y="276999"/>
                  </a:lnTo>
                  <a:lnTo>
                    <a:pt x="0" y="9232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41917" y="4495800"/>
              <a:ext cx="645795" cy="0"/>
            </a:xfrm>
            <a:custGeom>
              <a:avLst/>
              <a:gdLst/>
              <a:ahLst/>
              <a:cxnLst/>
              <a:rect l="l" t="t" r="r" b="b"/>
              <a:pathLst>
                <a:path w="645794">
                  <a:moveTo>
                    <a:pt x="0" y="0"/>
                  </a:moveTo>
                  <a:lnTo>
                    <a:pt x="64570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11427" y="445135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08623" y="3763327"/>
            <a:ext cx="669925" cy="82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P2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1945"/>
              </a:spcBef>
            </a:pPr>
            <a:r>
              <a:rPr spc="-25" dirty="0">
                <a:latin typeface="Calibri"/>
                <a:cs typeface="Calibri"/>
              </a:rPr>
              <a:t>PC</a:t>
            </a:r>
            <a:endParaRPr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3939" y="2284667"/>
            <a:ext cx="1638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b="1" spc="-50" dirty="0">
                <a:latin typeface="Calibri"/>
                <a:cs typeface="Calibri"/>
              </a:rPr>
              <a:t>K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541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40208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Basic</a:t>
            </a:r>
            <a:r>
              <a:rPr sz="4000" spc="-135" dirty="0"/>
              <a:t> </a:t>
            </a:r>
            <a:r>
              <a:rPr sz="4000" dirty="0"/>
              <a:t>Page</a:t>
            </a:r>
            <a:r>
              <a:rPr sz="4000" spc="-105" dirty="0"/>
              <a:t> </a:t>
            </a:r>
            <a:r>
              <a:rPr sz="4000" spc="-10" dirty="0"/>
              <a:t>Replacement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07540" y="1393240"/>
            <a:ext cx="8376920" cy="445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81000"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200" dirty="0">
                <a:latin typeface="Calibri"/>
                <a:cs typeface="Calibri"/>
              </a:rPr>
              <a:t>Find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desired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disk</a:t>
            </a:r>
            <a:endParaRPr sz="2200">
              <a:latin typeface="Calibri"/>
              <a:cs typeface="Calibri"/>
            </a:endParaRPr>
          </a:p>
          <a:p>
            <a:pPr marL="393700" indent="-381000">
              <a:lnSpc>
                <a:spcPts val="2375"/>
              </a:lnSpc>
              <a:spcBef>
                <a:spcPts val="2115"/>
              </a:spcBef>
              <a:buAutoNum type="arabicPeriod"/>
              <a:tabLst>
                <a:tab pos="393700" algn="l"/>
              </a:tabLst>
            </a:pPr>
            <a:r>
              <a:rPr sz="2200" dirty="0">
                <a:latin typeface="Calibri"/>
                <a:cs typeface="Calibri"/>
              </a:rPr>
              <a:t>Find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frame:</a:t>
            </a:r>
            <a:endParaRPr sz="2200">
              <a:latin typeface="Calibri"/>
              <a:cs typeface="Calibri"/>
            </a:endParaRPr>
          </a:p>
          <a:p>
            <a:pPr marL="793115" lvl="1" indent="-210820">
              <a:lnSpc>
                <a:spcPts val="2115"/>
              </a:lnSpc>
              <a:buChar char="-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marL="393700" marR="593725" lvl="1" indent="399415">
              <a:lnSpc>
                <a:spcPts val="2110"/>
              </a:lnSpc>
              <a:spcBef>
                <a:spcPts val="245"/>
              </a:spcBef>
              <a:buChar char="-"/>
              <a:tabLst>
                <a:tab pos="793115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page</a:t>
            </a:r>
            <a:r>
              <a:rPr sz="22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replacement</a:t>
            </a:r>
            <a:r>
              <a:rPr sz="22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algorithm</a:t>
            </a:r>
            <a:r>
              <a:rPr sz="2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select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victim</a:t>
            </a:r>
            <a:r>
              <a:rPr sz="2200" b="1" spc="-8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frame</a:t>
            </a:r>
            <a:r>
              <a:rPr sz="22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(of</a:t>
            </a:r>
            <a:r>
              <a:rPr sz="2200"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that</a:t>
            </a:r>
            <a:r>
              <a:rPr sz="2200" b="1" spc="-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66FF"/>
                </a:solidFill>
                <a:latin typeface="Calibri"/>
                <a:cs typeface="Calibri"/>
              </a:rPr>
              <a:t>process)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ts val="2135"/>
              </a:lnSpc>
            </a:pP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-</a:t>
            </a:r>
            <a:r>
              <a:rPr sz="22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Write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victim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disk</a:t>
            </a:r>
            <a:endParaRPr sz="2200">
              <a:latin typeface="Calibri"/>
              <a:cs typeface="Calibri"/>
            </a:endParaRPr>
          </a:p>
          <a:p>
            <a:pPr marL="393700" marR="260350" indent="-381635">
              <a:lnSpc>
                <a:spcPts val="2110"/>
              </a:lnSpc>
              <a:spcBef>
                <a:spcPts val="2625"/>
              </a:spcBef>
              <a:buAutoNum type="arabicPeriod" startAt="3"/>
              <a:tabLst>
                <a:tab pos="393700" algn="l"/>
              </a:tabLst>
            </a:pPr>
            <a:r>
              <a:rPr sz="2200" dirty="0">
                <a:latin typeface="Calibri"/>
                <a:cs typeface="Calibri"/>
              </a:rPr>
              <a:t>Bring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desired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(newly)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frame;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page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tables</a:t>
            </a:r>
            <a:endParaRPr sz="2200">
              <a:latin typeface="Calibri"/>
              <a:cs typeface="Calibri"/>
            </a:endParaRPr>
          </a:p>
          <a:p>
            <a:pPr marL="393065" indent="-380365">
              <a:spcBef>
                <a:spcPts val="2135"/>
              </a:spcBef>
              <a:buAutoNum type="arabicPeriod" startAt="3"/>
              <a:tabLst>
                <a:tab pos="393065" algn="l"/>
              </a:tabLst>
            </a:pPr>
            <a:r>
              <a:rPr sz="2200" dirty="0">
                <a:latin typeface="Calibri"/>
                <a:cs typeface="Calibri"/>
              </a:rPr>
              <a:t>Continue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restarting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caused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trap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459"/>
              </a:spcBef>
            </a:pPr>
            <a:endParaRPr sz="2200">
              <a:latin typeface="Calibri"/>
              <a:cs typeface="Calibri"/>
            </a:endParaRPr>
          </a:p>
          <a:p>
            <a:pPr marL="393065" marR="71755" indent="-381000">
              <a:lnSpc>
                <a:spcPts val="2110"/>
              </a:lnSpc>
            </a:pP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Note</a:t>
            </a:r>
            <a:r>
              <a:rPr sz="22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now</a:t>
            </a:r>
            <a:r>
              <a:rPr sz="22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potentially</a:t>
            </a:r>
            <a:r>
              <a:rPr sz="22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2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page</a:t>
            </a:r>
            <a:r>
              <a:rPr sz="22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C00000"/>
                </a:solidFill>
                <a:latin typeface="Calibri"/>
                <a:cs typeface="Calibri"/>
              </a:rPr>
              <a:t>transfers</a:t>
            </a:r>
            <a:r>
              <a:rPr sz="22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2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page</a:t>
            </a:r>
            <a:r>
              <a:rPr sz="22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fault</a:t>
            </a:r>
            <a:r>
              <a:rPr sz="22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22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increasing</a:t>
            </a:r>
            <a:r>
              <a:rPr sz="22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Effective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r>
              <a:rPr sz="2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sz="22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95453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Page</a:t>
            </a:r>
            <a:r>
              <a:rPr sz="4000" spc="-185" dirty="0"/>
              <a:t> </a:t>
            </a:r>
            <a:r>
              <a:rPr sz="4000" spc="-10" dirty="0"/>
              <a:t>Replacement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982696" y="2297429"/>
            <a:ext cx="1206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710"/>
              </a:lnSpc>
            </a:pPr>
            <a:r>
              <a:rPr spc="-50" dirty="0">
                <a:latin typeface="Calibri"/>
                <a:cs typeface="Calibri"/>
              </a:rPr>
              <a:t>5</a:t>
            </a:r>
            <a:endParaRPr>
              <a:latin typeface="Calibri"/>
              <a:cs typeface="Calibri"/>
            </a:endParaRPr>
          </a:p>
          <a:p>
            <a:pPr>
              <a:spcBef>
                <a:spcPts val="240"/>
              </a:spcBef>
            </a:pPr>
            <a:r>
              <a:rPr spc="-50" dirty="0">
                <a:latin typeface="Calibri"/>
                <a:cs typeface="Calibri"/>
              </a:rPr>
              <a:t>6</a:t>
            </a:r>
            <a:endParaRPr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1811501"/>
            <a:ext cx="7000875" cy="42845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7150" y="2437447"/>
            <a:ext cx="146050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6510">
              <a:spcBef>
                <a:spcPts val="340"/>
              </a:spcBef>
            </a:pPr>
            <a:r>
              <a:rPr spc="-50" dirty="0">
                <a:latin typeface="Calibri"/>
                <a:cs typeface="Calibri"/>
              </a:rPr>
              <a:t>5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235"/>
              </a:spcBef>
            </a:pPr>
            <a:r>
              <a:rPr spc="-50" dirty="0">
                <a:latin typeface="Calibri"/>
                <a:cs typeface="Calibri"/>
              </a:rPr>
              <a:t>6</a:t>
            </a:r>
            <a:endParaRPr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44700" y="2806700"/>
            <a:ext cx="406400" cy="330200"/>
            <a:chOff x="520700" y="2806700"/>
            <a:chExt cx="406400" cy="330200"/>
          </a:xfrm>
        </p:grpSpPr>
        <p:sp>
          <p:nvSpPr>
            <p:cNvPr id="7" name="object 7"/>
            <p:cNvSpPr/>
            <p:nvPr/>
          </p:nvSpPr>
          <p:spPr>
            <a:xfrm>
              <a:off x="53340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228600" y="0"/>
                  </a:moveTo>
                  <a:lnTo>
                    <a:pt x="2286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304800"/>
                  </a:lnTo>
                  <a:lnTo>
                    <a:pt x="3810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3400" y="28194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76200"/>
                  </a:moveTo>
                  <a:lnTo>
                    <a:pt x="228600" y="76200"/>
                  </a:lnTo>
                  <a:lnTo>
                    <a:pt x="228600" y="0"/>
                  </a:lnTo>
                  <a:lnTo>
                    <a:pt x="381000" y="152400"/>
                  </a:lnTo>
                  <a:lnTo>
                    <a:pt x="228600" y="30480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047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59510"/>
            <a:ext cx="10515600" cy="936795"/>
          </a:xfrm>
          <a:prstGeom prst="rect">
            <a:avLst/>
          </a:prstGeom>
        </p:spPr>
        <p:txBody>
          <a:bodyPr vert="horz" wrap="square" lIns="0" tIns="318135" rIns="0" bIns="0" rtlCol="0" anchor="ctr">
            <a:spAutoFit/>
          </a:bodyPr>
          <a:lstStyle/>
          <a:p>
            <a:pPr marL="195453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Page</a:t>
            </a:r>
            <a:r>
              <a:rPr sz="4000" spc="-185" dirty="0"/>
              <a:t> </a:t>
            </a:r>
            <a:r>
              <a:rPr sz="4000" spc="-10" dirty="0"/>
              <a:t>Replacement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445" y="1024231"/>
            <a:ext cx="7026177" cy="51792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98140" y="2414118"/>
            <a:ext cx="141605" cy="6584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pc="-50" dirty="0">
                <a:latin typeface="Calibri"/>
                <a:cs typeface="Calibri"/>
              </a:rPr>
              <a:t>5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330"/>
              </a:spcBef>
            </a:pPr>
            <a:r>
              <a:rPr spc="-50" dirty="0">
                <a:latin typeface="Calibri"/>
                <a:cs typeface="Calibri"/>
              </a:rPr>
              <a:t>6</a:t>
            </a:r>
            <a:endParaRPr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6464" y="398002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0" dirty="0">
                <a:latin typeface="Calibri"/>
                <a:cs typeface="Calibri"/>
              </a:rPr>
              <a:t>6</a:t>
            </a:r>
            <a:endParaRPr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5941" y="243354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0" dirty="0">
                <a:latin typeface="Calibri"/>
                <a:cs typeface="Calibri"/>
              </a:rPr>
              <a:t>5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948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5388" y="176213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First-In-First-Out (FIFO) Algorithm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5135" y="1035050"/>
            <a:ext cx="11051459" cy="57626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Reference string: </a:t>
            </a:r>
            <a:r>
              <a:rPr lang="en-US" altLang="en-US" b="1" dirty="0" smtClean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3 frames (3 pages can be in memory at a time per process)</a:t>
            </a:r>
          </a:p>
          <a:p>
            <a:pPr eaLnBrk="1" hangingPunct="1">
              <a:buFont typeface="Monotype Sorts" pitchFamily="-84" charset="2"/>
              <a:buNone/>
            </a:pPr>
            <a:endParaRPr lang="en-US" altLang="en-US" dirty="0" smtClean="0"/>
          </a:p>
          <a:p>
            <a:pPr eaLnBrk="1" hangingPunct="1">
              <a:buFont typeface="Monotype Sorts" pitchFamily="-84" charset="2"/>
              <a:buNone/>
            </a:pPr>
            <a:endParaRPr lang="en-US" altLang="en-US" dirty="0" smtClean="0"/>
          </a:p>
          <a:p>
            <a:pPr eaLnBrk="1" hangingPunct="1">
              <a:buFont typeface="Monotype Sorts" pitchFamily="-84" charset="2"/>
              <a:buNone/>
            </a:pP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pPr eaLnBrk="1" hangingPunct="1">
              <a:buFont typeface="Monotype Sorts" pitchFamily="-84" charset="2"/>
              <a:buNone/>
            </a:pPr>
            <a:endParaRPr lang="en-US" altLang="en-US" sz="800" dirty="0"/>
          </a:p>
          <a:p>
            <a:pPr eaLnBrk="1" hangingPunct="1">
              <a:buFont typeface="Monotype Sorts" pitchFamily="-84" charset="2"/>
              <a:buNone/>
            </a:pPr>
            <a:endParaRPr lang="en-US" altLang="en-US" sz="800" dirty="0"/>
          </a:p>
          <a:p>
            <a:pPr eaLnBrk="1" hangingPunct="1">
              <a:buFont typeface="Monotype Sorts" pitchFamily="-84" charset="2"/>
              <a:buNone/>
            </a:pPr>
            <a:endParaRPr lang="en-US" altLang="en-US" dirty="0" smtClean="0"/>
          </a:p>
          <a:p>
            <a:pPr eaLnBrk="1" hangingPunct="1"/>
            <a:r>
              <a:rPr lang="en-US" altLang="en-US" dirty="0" smtClean="0"/>
              <a:t>Can vary by reference string: consider 1,2,3,4,1,2,5,1,2,3,4,5</a:t>
            </a:r>
          </a:p>
          <a:p>
            <a:pPr lvl="1" eaLnBrk="1" hangingPunct="1"/>
            <a:r>
              <a:rPr lang="en-US" altLang="en-US" dirty="0" smtClean="0"/>
              <a:t>Adding more frames can cause more page faults!</a:t>
            </a:r>
          </a:p>
          <a:p>
            <a:pPr lvl="2" eaLnBrk="1" hangingPunct="1"/>
            <a:r>
              <a:rPr lang="en-US" altLang="en-US" b="1" dirty="0" err="1" smtClean="0">
                <a:solidFill>
                  <a:srgbClr val="3366FF"/>
                </a:solidFill>
              </a:rPr>
              <a:t>Belady</a:t>
            </a:r>
            <a:r>
              <a:rPr lang="ja-JP" altLang="en-US" b="1" dirty="0" smtClean="0">
                <a:solidFill>
                  <a:srgbClr val="3366FF"/>
                </a:solidFill>
              </a:rPr>
              <a:t>’</a:t>
            </a:r>
            <a:r>
              <a:rPr lang="en-US" altLang="ja-JP" b="1" dirty="0" smtClean="0">
                <a:solidFill>
                  <a:srgbClr val="3366FF"/>
                </a:solidFill>
              </a:rPr>
              <a:t>s Anomaly</a:t>
            </a:r>
            <a:endParaRPr lang="en-US" altLang="en-US" sz="800" dirty="0"/>
          </a:p>
        </p:txBody>
      </p:sp>
      <p:sp>
        <p:nvSpPr>
          <p:cNvPr id="47108" name="Text Box 16"/>
          <p:cNvSpPr txBox="1">
            <a:spLocks noChangeArrowheads="1"/>
          </p:cNvSpPr>
          <p:nvPr/>
        </p:nvSpPr>
        <p:spPr bwMode="auto">
          <a:xfrm>
            <a:off x="2886997" y="3916362"/>
            <a:ext cx="163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MS PGothic" panose="020B0600070205080204" pitchFamily="34" charset="-128"/>
              </a:rPr>
              <a:t>15 page faults</a:t>
            </a:r>
          </a:p>
        </p:txBody>
      </p:sp>
      <p:pic>
        <p:nvPicPr>
          <p:cNvPr id="4710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80" y="2034381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632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b="1" dirty="0" err="1" smtClean="0">
                <a:solidFill>
                  <a:srgbClr val="FF0000"/>
                </a:solidFill>
                <a:latin typeface="Roboto" pitchFamily="2" charset="0"/>
              </a:rPr>
              <a:t>Bélády’s</a:t>
            </a:r>
            <a:r>
              <a:rPr lang="en-IN" altLang="en-US" b="1" dirty="0" smtClean="0">
                <a:solidFill>
                  <a:srgbClr val="FF0000"/>
                </a:solidFill>
                <a:latin typeface="Roboto" pitchFamily="2" charset="0"/>
              </a:rPr>
              <a:t> anomaly</a:t>
            </a:r>
            <a:r>
              <a:rPr lang="en-IN" altLang="en-US" dirty="0" smtClean="0">
                <a:solidFill>
                  <a:srgbClr val="FF0000"/>
                </a:solidFill>
                <a:latin typeface="Roboto" pitchFamily="2" charset="0"/>
              </a:rPr>
              <a:t> </a:t>
            </a:r>
            <a:r>
              <a:rPr lang="en-IN" altLang="en-US" dirty="0" smtClean="0">
                <a:latin typeface="Roboto" pitchFamily="2" charset="0"/>
              </a:rPr>
              <a:t>is the name given to the phenomenon where increasing the number of page frames results in an increase in the number of page faults for a given memory access pattern.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891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225" y="612828"/>
            <a:ext cx="10628672" cy="5329237"/>
          </a:xfrm>
        </p:spPr>
      </p:pic>
    </p:spTree>
    <p:extLst>
      <p:ext uri="{BB962C8B-B14F-4D97-AF65-F5344CB8AC3E}">
        <p14:creationId xmlns:p14="http://schemas.microsoft.com/office/powerpoint/2010/main" val="329491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4050" y="584200"/>
            <a:ext cx="8115300" cy="5276850"/>
          </a:xfrm>
        </p:spPr>
      </p:pic>
    </p:spTree>
    <p:extLst>
      <p:ext uri="{BB962C8B-B14F-4D97-AF65-F5344CB8AC3E}">
        <p14:creationId xmlns:p14="http://schemas.microsoft.com/office/powerpoint/2010/main" val="406077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692400" y="214313"/>
            <a:ext cx="77343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FIFO Illustrating Belady</a:t>
            </a:r>
            <a:r>
              <a:rPr lang="ja-JP" altLang="en-US" smtClean="0"/>
              <a:t>’</a:t>
            </a:r>
            <a:r>
              <a:rPr lang="en-US" altLang="ja-JP" smtClean="0"/>
              <a:t>s Anomaly</a:t>
            </a:r>
            <a:endParaRPr lang="en-US" altLang="en-US" smtClean="0"/>
          </a:p>
        </p:txBody>
      </p:sp>
      <p:pic>
        <p:nvPicPr>
          <p:cNvPr id="52227" name="Picture 1" descr="9_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97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3300" y="13811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Optimal Algorithm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071715" y="1119189"/>
            <a:ext cx="10481187" cy="4986643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 smtClean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 smtClean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 smtClean="0"/>
              <a:t>Used for measuring how well your algorithm performs</a:t>
            </a:r>
          </a:p>
        </p:txBody>
      </p:sp>
      <p:pic>
        <p:nvPicPr>
          <p:cNvPr id="542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1" y="3159126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0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2426" y="124184"/>
            <a:ext cx="7673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>
                <a:solidFill>
                  <a:srgbClr val="FF0000"/>
                </a:solidFill>
              </a:rPr>
              <a:t>Least Recently Used (LRU)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934065" y="727076"/>
            <a:ext cx="10392696" cy="4835525"/>
          </a:xfrm>
        </p:spPr>
        <p:txBody>
          <a:bodyPr rtlCol="0">
            <a:normAutofit fontScale="85000" lnSpcReduction="20000"/>
          </a:bodyPr>
          <a:lstStyle/>
          <a:p>
            <a:pPr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None/>
              <a:defRPr/>
            </a:pPr>
            <a:endParaRPr lang="en-US" altLang="en-US" dirty="0"/>
          </a:p>
          <a:p>
            <a:pPr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buNone/>
              <a:defRPr/>
            </a:pPr>
            <a:endParaRPr lang="en-US" altLang="en-US" dirty="0"/>
          </a:p>
        </p:txBody>
      </p:sp>
      <p:pic>
        <p:nvPicPr>
          <p:cNvPr id="56324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88" y="2363788"/>
            <a:ext cx="6902450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18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1277" y="969859"/>
            <a:ext cx="10215592" cy="5067147"/>
          </a:xfrm>
        </p:spPr>
      </p:pic>
    </p:spTree>
    <p:extLst>
      <p:ext uri="{BB962C8B-B14F-4D97-AF65-F5344CB8AC3E}">
        <p14:creationId xmlns:p14="http://schemas.microsoft.com/office/powerpoint/2010/main" val="230930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4226" y="755650"/>
            <a:ext cx="8220484" cy="1581150"/>
          </a:xfrm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813" y="2600325"/>
            <a:ext cx="8652387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766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380" y="854076"/>
            <a:ext cx="9488129" cy="5310750"/>
          </a:xfrm>
        </p:spPr>
      </p:pic>
    </p:spTree>
    <p:extLst>
      <p:ext uri="{BB962C8B-B14F-4D97-AF65-F5344CB8AC3E}">
        <p14:creationId xmlns:p14="http://schemas.microsoft.com/office/powerpoint/2010/main" val="25328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1988" y="784225"/>
            <a:ext cx="8178800" cy="5508420"/>
          </a:xfrm>
        </p:spPr>
      </p:pic>
    </p:spTree>
    <p:extLst>
      <p:ext uri="{BB962C8B-B14F-4D97-AF65-F5344CB8AC3E}">
        <p14:creationId xmlns:p14="http://schemas.microsoft.com/office/powerpoint/2010/main" val="151396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855663"/>
            <a:ext cx="9891252" cy="4972050"/>
          </a:xfrm>
        </p:spPr>
      </p:pic>
    </p:spTree>
    <p:extLst>
      <p:ext uri="{BB962C8B-B14F-4D97-AF65-F5344CB8AC3E}">
        <p14:creationId xmlns:p14="http://schemas.microsoft.com/office/powerpoint/2010/main" val="353990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5164" y="539751"/>
            <a:ext cx="9127122" cy="5300610"/>
          </a:xfrm>
        </p:spPr>
      </p:pic>
    </p:spTree>
    <p:extLst>
      <p:ext uri="{BB962C8B-B14F-4D97-AF65-F5344CB8AC3E}">
        <p14:creationId xmlns:p14="http://schemas.microsoft.com/office/powerpoint/2010/main" val="89010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5651" y="495301"/>
            <a:ext cx="8831667" cy="4293009"/>
          </a:xfrm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5137151"/>
            <a:ext cx="21145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185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5440</TotalTime>
  <Words>3570</Words>
  <Application>Microsoft Office PowerPoint</Application>
  <PresentationFormat>Widescreen</PresentationFormat>
  <Paragraphs>592</Paragraphs>
  <Slides>87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8" baseType="lpstr">
      <vt:lpstr>MS PGothic</vt:lpstr>
      <vt:lpstr>MS PGothic</vt:lpstr>
      <vt:lpstr>Arial</vt:lpstr>
      <vt:lpstr>Calibri</vt:lpstr>
      <vt:lpstr>Calibri Light</vt:lpstr>
      <vt:lpstr>Helvetica</vt:lpstr>
      <vt:lpstr>Monotype Sorts</vt:lpstr>
      <vt:lpstr>Roboto</vt:lpstr>
      <vt:lpstr>Symbol</vt:lpstr>
      <vt:lpstr>Times New Roman</vt:lpstr>
      <vt:lpstr>Office Theme</vt:lpstr>
      <vt:lpstr>Unit-3</vt:lpstr>
      <vt:lpstr>Memory view of a process</vt:lpstr>
      <vt:lpstr>Memory view of a process</vt:lpstr>
      <vt:lpstr>PowerPoint Presentation</vt:lpstr>
      <vt:lpstr>Process Memory Usage Requirements</vt:lpstr>
      <vt:lpstr>Virtual and Physical Memory Related System Calls</vt:lpstr>
      <vt:lpstr>Virtual and Physical Memory Related System Calls</vt:lpstr>
      <vt:lpstr>Memory Management in Operating System</vt:lpstr>
      <vt:lpstr>PowerPoint Presentation</vt:lpstr>
      <vt:lpstr>Background Multiple processes resides in memory</vt:lpstr>
      <vt:lpstr>Base and Limit Registers</vt:lpstr>
      <vt:lpstr>Hardware Address Protection with Base and Limit Registers</vt:lpstr>
      <vt:lpstr>Address Binding</vt:lpstr>
      <vt:lpstr>Multistep Processing of a User Program</vt:lpstr>
      <vt:lpstr>Binding of Instructions and Data to Memory</vt:lpstr>
      <vt:lpstr>Logical vs. Physical Address Space</vt:lpstr>
      <vt:lpstr>Memory-Management Unit (MMU)</vt:lpstr>
      <vt:lpstr>Dynamic relocation using a relocation register</vt:lpstr>
      <vt:lpstr>Contiguous Allocation</vt:lpstr>
      <vt:lpstr>Contiguous Allocation</vt:lpstr>
      <vt:lpstr>Contiguous Allocation (Cont.)</vt:lpstr>
      <vt:lpstr>Contiguous Allocation (Cont.)</vt:lpstr>
      <vt:lpstr>Dynamic Storage-Allocation Problem</vt:lpstr>
      <vt:lpstr>Hardware Support for Relocation and Limit Registers</vt:lpstr>
      <vt:lpstr>Fragmentation</vt:lpstr>
      <vt:lpstr>Fragmentation (Cont.)</vt:lpstr>
      <vt:lpstr>PowerPoint Presentation</vt:lpstr>
      <vt:lpstr>Paging</vt:lpstr>
      <vt:lpstr>Paging Model of Logical and Physical Memory</vt:lpstr>
      <vt:lpstr>Address Translation Scheme</vt:lpstr>
      <vt:lpstr>Paging Hardware</vt:lpstr>
      <vt:lpstr>Paging Example</vt:lpstr>
      <vt:lpstr>Implementation of Page Table</vt:lpstr>
      <vt:lpstr>Associative memory</vt:lpstr>
      <vt:lpstr>Associative Memory</vt:lpstr>
      <vt:lpstr>Implementation of Page Table</vt:lpstr>
      <vt:lpstr>Paging Hardware With TLB</vt:lpstr>
      <vt:lpstr>Effective Access Time</vt:lpstr>
      <vt:lpstr>Memory Protection</vt:lpstr>
      <vt:lpstr>Valid (v) or Invalid (i) Bit In A Page Table</vt:lpstr>
      <vt:lpstr>Shared Pages Example</vt:lpstr>
      <vt:lpstr>Shared Pages Example</vt:lpstr>
      <vt:lpstr>Data share: example</vt:lpstr>
      <vt:lpstr>Segmentation</vt:lpstr>
      <vt:lpstr>User’s View of a Program</vt:lpstr>
      <vt:lpstr>Logical View of Segmentation</vt:lpstr>
      <vt:lpstr>Segmentation Architecture</vt:lpstr>
      <vt:lpstr>Example of Segmentation</vt:lpstr>
      <vt:lpstr>Segmentation Hardware</vt:lpstr>
      <vt:lpstr>Example of Segmentation</vt:lpstr>
      <vt:lpstr>Segmentation Architecture</vt:lpstr>
      <vt:lpstr>Segmentation with Paging</vt:lpstr>
      <vt:lpstr>Segmentation with Paging</vt:lpstr>
      <vt:lpstr>Logical to Physical Address Translation in Pentium</vt:lpstr>
      <vt:lpstr>Background</vt:lpstr>
      <vt:lpstr>Virtual Memory That is Larger Than Physical Memory</vt:lpstr>
      <vt:lpstr>Classical paging</vt:lpstr>
      <vt:lpstr>Background</vt:lpstr>
      <vt:lpstr>Demand Paging</vt:lpstr>
      <vt:lpstr>Transfer of a Paged Memory to Contiguous Disk Space</vt:lpstr>
      <vt:lpstr>Page Table When Some Pages Are Not in Main Memory</vt:lpstr>
      <vt:lpstr>Valid-Invalid Bit</vt:lpstr>
      <vt:lpstr>Page Fault</vt:lpstr>
      <vt:lpstr>What Happens if There is no Free Frame?</vt:lpstr>
      <vt:lpstr>Steps in Handling a Page Fault Check PCB</vt:lpstr>
      <vt:lpstr>Pure Demand Paging</vt:lpstr>
      <vt:lpstr>Performance of Demand Paging Demand paging affects the performance of the computer systems</vt:lpstr>
      <vt:lpstr>Demand Paging Example</vt:lpstr>
      <vt:lpstr>Need For Page Replacement</vt:lpstr>
      <vt:lpstr>Need For Page Replacement</vt:lpstr>
      <vt:lpstr>Basic Page Replacement</vt:lpstr>
      <vt:lpstr>Page Replacement</vt:lpstr>
      <vt:lpstr>Page Replacement</vt:lpstr>
      <vt:lpstr>First-In-First-Out (FIFO) Algorithm</vt:lpstr>
      <vt:lpstr>PowerPoint Presentation</vt:lpstr>
      <vt:lpstr>PowerPoint Presentation</vt:lpstr>
      <vt:lpstr>PowerPoint Presentation</vt:lpstr>
      <vt:lpstr>FIFO Illustrating Belady’s Anomaly</vt:lpstr>
      <vt:lpstr>Optimal Algorithm</vt:lpstr>
      <vt:lpstr>Least Recently Used (LRU)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Unit-2</dc:title>
  <dc:creator>cse33</dc:creator>
  <cp:lastModifiedBy>cse33</cp:lastModifiedBy>
  <cp:revision>46</cp:revision>
  <dcterms:created xsi:type="dcterms:W3CDTF">2025-07-26T08:07:16Z</dcterms:created>
  <dcterms:modified xsi:type="dcterms:W3CDTF">2026-08-18T10:56:20Z</dcterms:modified>
</cp:coreProperties>
</file>